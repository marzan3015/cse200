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22.xml"/>
  <Override ContentType="application/vnd.openxmlformats-officedocument.presentationml.notesSlide+xml" PartName="/ppt/notesSlides/notesSlide311.xml"/>
  <Override ContentType="application/vnd.openxmlformats-officedocument.presentationml.notesSlide+xml" PartName="/ppt/notesSlides/notesSlide39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206.xml"/>
  <Override ContentType="application/vnd.openxmlformats-officedocument.presentationml.notesSlide+xml" PartName="/ppt/notesSlides/notesSlide230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03.xml"/>
  <Override ContentType="application/vnd.openxmlformats-officedocument.presentationml.notesSlide+xml" PartName="/ppt/notesSlides/notesSlide389.xml"/>
  <Override ContentType="application/vnd.openxmlformats-officedocument.presentationml.notesSlide+xml" PartName="/ppt/notesSlides/notesSlide400.xml"/>
  <Override ContentType="application/vnd.openxmlformats-officedocument.presentationml.notesSlide+xml" PartName="/ppt/notesSlides/notesSlide214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90.xml"/>
  <Override ContentType="application/vnd.openxmlformats-officedocument.presentationml.notesSlide+xml" PartName="/ppt/notesSlides/notesSlide407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423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293.xml"/>
  <Override ContentType="application/vnd.openxmlformats-officedocument.presentationml.notesSlide+xml" PartName="/ppt/notesSlides/notesSlide27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326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374.xml"/>
  <Override ContentType="application/vnd.openxmlformats-officedocument.presentationml.notesSlide+xml" PartName="/ppt/notesSlides/notesSlide229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261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358.xml"/>
  <Override ContentType="application/vnd.openxmlformats-officedocument.presentationml.notesSlide+xml" PartName="/ppt/notesSlides/notesSlide342.xml"/>
  <Override ContentType="application/vnd.openxmlformats-officedocument.presentationml.notesSlide+xml" PartName="/ppt/notesSlides/notesSlide270.xml"/>
  <Override ContentType="application/vnd.openxmlformats-officedocument.presentationml.notesSlide+xml" PartName="/ppt/notesSlides/notesSlide253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3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432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351.xml"/>
  <Override ContentType="application/vnd.openxmlformats-officedocument.presentationml.notesSlide+xml" PartName="/ppt/notesSlides/notesSlide319.xml"/>
  <Override ContentType="application/vnd.openxmlformats-officedocument.presentationml.notesSlide+xml" PartName="/ppt/notesSlides/notesSlide334.xml"/>
  <Override ContentType="application/vnd.openxmlformats-officedocument.presentationml.notesSlide+xml" PartName="/ppt/notesSlides/notesSlide349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366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285.xml"/>
  <Override ContentType="application/vnd.openxmlformats-officedocument.presentationml.notesSlide+xml" PartName="/ppt/notesSlides/notesSlide415.xml"/>
  <Override ContentType="application/vnd.openxmlformats-officedocument.presentationml.notesSlide+xml" PartName="/ppt/notesSlides/notesSlide268.xml"/>
  <Override ContentType="application/vnd.openxmlformats-officedocument.presentationml.notesSlide+xml" PartName="/ppt/notesSlides/notesSlide30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213.xml"/>
  <Override ContentType="application/vnd.openxmlformats-officedocument.presentationml.notesSlide+xml" PartName="/ppt/notesSlides/notesSlide388.xml"/>
  <Override ContentType="application/vnd.openxmlformats-officedocument.presentationml.notesSlide+xml" PartName="/ppt/notesSlides/notesSlide223.xml"/>
  <Override ContentType="application/vnd.openxmlformats-officedocument.presentationml.notesSlide+xml" PartName="/ppt/notesSlides/notesSlide40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231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320.xml"/>
  <Override ContentType="application/vnd.openxmlformats-officedocument.presentationml.notesSlide+xml" PartName="/ppt/notesSlides/notesSlide246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373.xml"/>
  <Override ContentType="application/vnd.openxmlformats-officedocument.presentationml.notesSlide+xml" PartName="/ppt/notesSlides/notesSlide39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357.xml"/>
  <Override ContentType="application/vnd.openxmlformats-officedocument.presentationml.notesSlide+xml" PartName="/ppt/notesSlides/notesSlide424.xml"/>
  <Override ContentType="application/vnd.openxmlformats-officedocument.presentationml.notesSlide+xml" PartName="/ppt/notesSlides/notesSlide294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25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341.xml"/>
  <Override ContentType="application/vnd.openxmlformats-officedocument.presentationml.notesSlide+xml" PartName="/ppt/notesSlides/notesSlide367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278.xml"/>
  <Override ContentType="application/vnd.openxmlformats-officedocument.presentationml.notesSlide+xml" PartName="/ppt/notesSlides/notesSlide414.xml"/>
  <Override ContentType="application/vnd.openxmlformats-officedocument.presentationml.notesSlide+xml" PartName="/ppt/notesSlides/notesSlide2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245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431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26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335.xml"/>
  <Override ContentType="application/vnd.openxmlformats-officedocument.presentationml.notesSlide+xml" PartName="/ppt/notesSlides/notesSlide318.xml"/>
  <Override ContentType="application/vnd.openxmlformats-officedocument.presentationml.notesSlide+xml" PartName="/ppt/notesSlides/notesSlide284.xml"/>
  <Override ContentType="application/vnd.openxmlformats-officedocument.presentationml.notesSlide+xml" PartName="/ppt/notesSlides/notesSlide352.xml"/>
  <Override ContentType="application/vnd.openxmlformats-officedocument.presentationml.notesSlide+xml" PartName="/ppt/notesSlides/notesSlide267.xml"/>
  <Override ContentType="application/vnd.openxmlformats-officedocument.presentationml.notesSlide+xml" PartName="/ppt/notesSlides/notesSlide429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207.xml"/>
  <Override ContentType="application/vnd.openxmlformats-officedocument.presentationml.notesSlide+xml" PartName="/ppt/notesSlides/notesSlide299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291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239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409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17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372.xml"/>
  <Override ContentType="application/vnd.openxmlformats-officedocument.presentationml.notesSlide+xml" PartName="/ppt/notesSlides/notesSlide263.xml"/>
  <Override ContentType="application/vnd.openxmlformats-officedocument.presentationml.notesSlide+xml" PartName="/ppt/notesSlides/notesSlide259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220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30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3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16.xml"/>
  <Override ContentType="application/vnd.openxmlformats-officedocument.presentationml.notesSlide+xml" PartName="/ppt/notesSlides/notesSlide387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21.xml"/>
  <Override ContentType="application/vnd.openxmlformats-officedocument.presentationml.notesSlide+xml" PartName="/ppt/notesSlides/notesSlide430.xml"/>
  <Override ContentType="application/vnd.openxmlformats-officedocument.presentationml.notesSlide+xml" PartName="/ppt/notesSlides/notesSlide287.xml"/>
  <Override ContentType="application/vnd.openxmlformats-officedocument.presentationml.notesSlide+xml" PartName="/ppt/notesSlides/notesSlide392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308.xml"/>
  <Override ContentType="application/vnd.openxmlformats-officedocument.presentationml.notesSlide+xml" PartName="/ppt/notesSlides/notesSlide279.xml"/>
  <Override ContentType="application/vnd.openxmlformats-officedocument.presentationml.notesSlide+xml" PartName="/ppt/notesSlides/notesSlide236.xml"/>
  <Override ContentType="application/vnd.openxmlformats-officedocument.presentationml.notesSlide+xml" PartName="/ppt/notesSlides/notesSlide244.xml"/>
  <Override ContentType="application/vnd.openxmlformats-officedocument.presentationml.notesSlide+xml" PartName="/ppt/notesSlides/notesSlide201.xml"/>
  <Override ContentType="application/vnd.openxmlformats-officedocument.presentationml.notesSlide+xml" PartName="/ppt/notesSlides/notesSlide402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0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321.xml"/>
  <Override ContentType="application/vnd.openxmlformats-officedocument.presentationml.notesSlide+xml" PartName="/ppt/notesSlides/notesSlide364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17.xml"/>
  <Override ContentType="application/vnd.openxmlformats-officedocument.presentationml.notesSlide+xml" PartName="/ppt/notesSlides/notesSlide336.xml"/>
  <Override ContentType="application/vnd.openxmlformats-officedocument.presentationml.notesSlide+xml" PartName="/ppt/notesSlides/notesSlide272.xml"/>
  <Override ContentType="application/vnd.openxmlformats-officedocument.presentationml.notesSlide+xml" PartName="/ppt/notesSlides/notesSlide379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371.xml"/>
  <Override ContentType="application/vnd.openxmlformats-officedocument.presentationml.notesSlide+xml" PartName="/ppt/notesSlides/notesSlide215.xml"/>
  <Override ContentType="application/vnd.openxmlformats-officedocument.presentationml.notesSlide+xml" PartName="/ppt/notesSlides/notesSlide401.xml"/>
  <Override ContentType="application/vnd.openxmlformats-officedocument.presentationml.notesSlide+xml" PartName="/ppt/notesSlides/notesSlide258.xml"/>
  <Override ContentType="application/vnd.openxmlformats-officedocument.presentationml.notesSlide+xml" PartName="/ppt/notesSlides/notesSlide292.xml"/>
  <Override ContentType="application/vnd.openxmlformats-officedocument.presentationml.notesSlide+xml" PartName="/ppt/notesSlides/notesSlide337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343.xml"/>
  <Override ContentType="application/vnd.openxmlformats-officedocument.presentationml.notesSlide+xml" PartName="/ppt/notesSlides/notesSlide300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38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26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221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309.xml"/>
  <Override ContentType="application/vnd.openxmlformats-officedocument.presentationml.notesSlide+xml" PartName="/ppt/notesSlides/notesSlide359.xml"/>
  <Override ContentType="application/vnd.openxmlformats-officedocument.presentationml.notesSlide+xml" PartName="/ppt/notesSlides/notesSlide316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43.xml"/>
  <Override ContentType="application/vnd.openxmlformats-officedocument.presentationml.notesSlide+xml" PartName="/ppt/notesSlides/notesSlide200.xml"/>
  <Override ContentType="application/vnd.openxmlformats-officedocument.presentationml.notesSlide+xml" PartName="/ppt/notesSlides/notesSlide350.xml"/>
  <Override ContentType="application/vnd.openxmlformats-officedocument.presentationml.notesSlide+xml" PartName="/ppt/notesSlides/notesSlide393.xml"/>
  <Override ContentType="application/vnd.openxmlformats-officedocument.presentationml.notesSlide+xml" PartName="/ppt/notesSlides/notesSlide209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422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271.xml"/>
  <Override ContentType="application/vnd.openxmlformats-officedocument.presentationml.notesSlide+xml" PartName="/ppt/notesSlides/notesSlide365.xml"/>
  <Override ContentType="application/vnd.openxmlformats-officedocument.presentationml.notesSlide+xml" PartName="/ppt/notesSlides/notesSlide416.xml"/>
  <Override ContentType="application/vnd.openxmlformats-officedocument.presentationml.notesSlide+xml" PartName="/ppt/notesSlides/notesSlide237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286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32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354.xml"/>
  <Override ContentType="application/vnd.openxmlformats-officedocument.presentationml.notesSlide+xml" PartName="/ppt/notesSlides/notesSlide257.xml"/>
  <Override ContentType="application/vnd.openxmlformats-officedocument.presentationml.notesSlide+xml" PartName="/ppt/notesSlides/notesSlide26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249.xml"/>
  <Override ContentType="application/vnd.openxmlformats-officedocument.presentationml.notesSlide+xml" PartName="/ppt/notesSlides/notesSlide273.xml"/>
  <Override ContentType="application/vnd.openxmlformats-officedocument.presentationml.notesSlide+xml" PartName="/ppt/notesSlides/notesSlide338.xml"/>
  <Override ContentType="application/vnd.openxmlformats-officedocument.presentationml.notesSlide+xml" PartName="/ppt/notesSlides/notesSlide362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427.xml"/>
  <Override ContentType="application/vnd.openxmlformats-officedocument.presentationml.notesSlide+xml" PartName="/ppt/notesSlides/notesSlide346.xml"/>
  <Override ContentType="application/vnd.openxmlformats-officedocument.presentationml.notesSlide+xml" PartName="/ppt/notesSlides/notesSlide369.xml"/>
  <Override ContentType="application/vnd.openxmlformats-officedocument.presentationml.notesSlide+xml" PartName="/ppt/notesSlides/notesSlide250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02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4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34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81.xml"/>
  <Override ContentType="application/vnd.openxmlformats-officedocument.presentationml.notesSlide+xml" PartName="/ppt/notesSlides/notesSlide331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0.xml"/>
  <Override ContentType="application/vnd.openxmlformats-officedocument.presentationml.notesSlide+xml" PartName="/ppt/notesSlides/notesSlide377.xml"/>
  <Override ContentType="application/vnd.openxmlformats-officedocument.presentationml.notesSlide+xml" PartName="/ppt/notesSlides/notesSlide315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404.xml"/>
  <Override ContentType="application/vnd.openxmlformats-officedocument.presentationml.notesSlide+xml" PartName="/ppt/notesSlides/notesSlide394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296.xml"/>
  <Override ContentType="application/vnd.openxmlformats-officedocument.presentationml.notesSlide+xml" PartName="/ppt/notesSlides/notesSlide385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30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23.xml"/>
  <Override ContentType="application/vnd.openxmlformats-officedocument.presentationml.notesSlide+xml" PartName="/ppt/notesSlides/notesSlide370.xml"/>
  <Override ContentType="application/vnd.openxmlformats-officedocument.presentationml.notesSlide+xml" PartName="/ppt/notesSlides/notesSlide225.xml"/>
  <Override ContentType="application/vnd.openxmlformats-officedocument.presentationml.notesSlide+xml" PartName="/ppt/notesSlides/notesSlide242.xml"/>
  <Override ContentType="application/vnd.openxmlformats-officedocument.presentationml.notesSlide+xml" PartName="/ppt/notesSlides/notesSlide329.xml"/>
  <Override ContentType="application/vnd.openxmlformats-officedocument.presentationml.notesSlide+xml" PartName="/ppt/notesSlides/notesSlide290.xml"/>
  <Override ContentType="application/vnd.openxmlformats-officedocument.presentationml.notesSlide+xml" PartName="/ppt/notesSlides/notesSlide418.xml"/>
  <Override ContentType="application/vnd.openxmlformats-officedocument.presentationml.notesSlide+xml" PartName="/ppt/notesSlides/notesSlide274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45.xml"/>
  <Override ContentType="application/vnd.openxmlformats-officedocument.presentationml.notesSlide+xml" PartName="/ppt/notesSlides/notesSlide256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363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266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03.xml"/>
  <Override ContentType="application/vnd.openxmlformats-officedocument.presentationml.notesSlide+xml" PartName="/ppt/notesSlides/notesSlide330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289.xml"/>
  <Override ContentType="application/vnd.openxmlformats-officedocument.presentationml.notesSlide+xml" PartName="/ppt/notesSlides/notesSlide280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217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31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339.xml"/>
  <Override ContentType="application/vnd.openxmlformats-officedocument.presentationml.notesSlide+xml" PartName="/ppt/notesSlides/notesSlide251.xml"/>
  <Override ContentType="application/vnd.openxmlformats-officedocument.presentationml.notesSlide+xml" PartName="/ppt/notesSlides/notesSlide295.xml"/>
  <Override ContentType="application/vnd.openxmlformats-officedocument.presentationml.notesSlide+xml" PartName="/ppt/notesSlides/notesSlide384.xml"/>
  <Override ContentType="application/vnd.openxmlformats-officedocument.presentationml.notesSlide+xml" PartName="/ppt/notesSlides/notesSlide324.xml"/>
  <Override ContentType="application/vnd.openxmlformats-officedocument.presentationml.notesSlide+xml" PartName="/ppt/notesSlides/notesSlide235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199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288.xml"/>
  <Override ContentType="application/vnd.openxmlformats-officedocument.presentationml.notesSlide+xml" PartName="/ppt/notesSlides/notesSlide21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07.xml"/>
  <Override ContentType="application/vnd.openxmlformats-officedocument.presentationml.notesSlide+xml" PartName="/ppt/notesSlides/notesSlide378.xml"/>
  <Override ContentType="application/vnd.openxmlformats-officedocument.presentationml.notesSlide+xml" PartName="/ppt/notesSlides/notesSlide395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224.xml"/>
  <Override ContentType="application/vnd.openxmlformats-officedocument.presentationml.notesSlide+xml" PartName="/ppt/notesSlides/notesSlide403.xml"/>
  <Override ContentType="application/vnd.openxmlformats-officedocument.presentationml.notesSlide+xml" PartName="/ppt/notesSlides/notesSlide241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20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40.xml"/>
  <Override ContentType="application/vnd.openxmlformats-officedocument.presentationml.notesSlide+xml" PartName="/ppt/notesSlides/notesSlide425.xml"/>
  <Override ContentType="application/vnd.openxmlformats-officedocument.presentationml.notesSlide+xml" PartName="/ppt/notesSlides/notesSlide283.xml"/>
  <Override ContentType="application/vnd.openxmlformats-officedocument.presentationml.notesSlide+xml" PartName="/ppt/notesSlides/notesSlide232.xml"/>
  <Override ContentType="application/vnd.openxmlformats-officedocument.presentationml.notesSlide+xml" PartName="/ppt/notesSlides/notesSlide275.xml"/>
  <Override ContentType="application/vnd.openxmlformats-officedocument.presentationml.notesSlide+xml" PartName="/ppt/notesSlides/notesSlide380.xml"/>
  <Override ContentType="application/vnd.openxmlformats-officedocument.presentationml.notesSlide+xml" PartName="/ppt/notesSlides/notesSlide328.xml"/>
  <Override ContentType="application/vnd.openxmlformats-officedocument.presentationml.notesSlide+xml" PartName="/ppt/notesSlides/notesSlide360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3.xml"/>
  <Override ContentType="application/vnd.openxmlformats-officedocument.presentationml.notesSlide+xml" PartName="/ppt/notesSlides/notesSlide399.xml"/>
  <Override ContentType="application/vnd.openxmlformats-officedocument.presentationml.notesSlide+xml" PartName="/ppt/notesSlides/notesSlide41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356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04.xml"/>
  <Override ContentType="application/vnd.openxmlformats-officedocument.presentationml.notesSlide+xml" PartName="/ppt/notesSlides/notesSlide247.xml"/>
  <Override ContentType="application/vnd.openxmlformats-officedocument.presentationml.notesSlide+xml" PartName="/ppt/notesSlides/notesSlide227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98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375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21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332.xml"/>
  <Override ContentType="application/vnd.openxmlformats-officedocument.presentationml.notesSlide+xml" PartName="/ppt/notesSlides/notesSlide325.xml"/>
  <Override ContentType="application/vnd.openxmlformats-officedocument.presentationml.notesSlide+xml" PartName="/ppt/notesSlides/notesSlide368.xml"/>
  <Override ContentType="application/vnd.openxmlformats-officedocument.presentationml.notesSlide+xml" PartName="/ppt/notesSlides/notesSlide41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347.xml"/>
  <Override ContentType="application/vnd.openxmlformats-officedocument.presentationml.notesSlide+xml" PartName="/ppt/notesSlides/notesSlide304.xml"/>
  <Override ContentType="application/vnd.openxmlformats-officedocument.presentationml.notesSlide+xml" PartName="/ppt/notesSlides/notesSlide396.xml"/>
  <Override ContentType="application/vnd.openxmlformats-officedocument.presentationml.notesSlide+xml" PartName="/ppt/notesSlides/notesSlide310.xml"/>
  <Override ContentType="application/vnd.openxmlformats-officedocument.presentationml.notesSlide+xml" PartName="/ppt/notesSlides/notesSlide340.xml"/>
  <Override ContentType="application/vnd.openxmlformats-officedocument.presentationml.notesSlide+xml" PartName="/ppt/notesSlides/notesSlide353.xml"/>
  <Override ContentType="application/vnd.openxmlformats-officedocument.presentationml.notesSlide+xml" PartName="/ppt/notesSlides/notesSlide255.xml"/>
  <Override ContentType="application/vnd.openxmlformats-officedocument.presentationml.notesSlide+xml" PartName="/ppt/notesSlides/notesSlide428.xml"/>
  <Override ContentType="application/vnd.openxmlformats-officedocument.presentationml.notesSlide+xml" PartName="/ppt/notesSlides/notesSlide212.xml"/>
  <Override ContentType="application/vnd.openxmlformats-officedocument.presentationml.notesSlide+xml" PartName="/ppt/notesSlides/notesSlide298.xml"/>
  <Override ContentType="application/vnd.openxmlformats-officedocument.presentationml.notesSlide+xml" PartName="/ppt/notesSlides/notesSlide383.xml"/>
  <Override ContentType="application/vnd.openxmlformats-officedocument.presentationml.notesSlide+xml" PartName="/ppt/notesSlides/notesSlide282.xml"/>
  <Override ContentType="application/vnd.openxmlformats-officedocument.presentationml.notesSlide+xml" PartName="/ppt/notesSlides/notesSlide248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355.xml"/>
  <Override ContentType="application/vnd.openxmlformats-officedocument.presentationml.notesSlide+xml" PartName="/ppt/notesSlides/notesSlide312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205.xml"/>
  <Override ContentType="application/vnd.openxmlformats-officedocument.presentationml.notesSlide+xml" PartName="/ppt/notesSlides/notesSlide381.xml"/>
  <Override ContentType="application/vnd.openxmlformats-officedocument.presentationml.notesSlide+xml" PartName="/ppt/notesSlides/notesSlide398.xml"/>
  <Override ContentType="application/vnd.openxmlformats-officedocument.presentationml.notesSlide+xml" PartName="/ppt/notesSlides/notesSlide426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276.xml"/>
  <Override ContentType="application/vnd.openxmlformats-officedocument.presentationml.notesSlide+xml" PartName="/ppt/notesSlides/notesSlide233.xml"/>
  <Override ContentType="application/vnd.openxmlformats-officedocument.presentationml.notesSlide+xml" PartName="/ppt/notesSlides/notesSlide327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3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97.xml"/>
  <Override ContentType="application/vnd.openxmlformats-officedocument.presentationml.notesSlide+xml" PartName="/ppt/notesSlides/notesSlide406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11.xml"/>
  <Override ContentType="application/vnd.openxmlformats-officedocument.presentationml.notesSlide+xml" PartName="/ppt/notesSlides/notesSlide260.xml"/>
  <Override ContentType="application/vnd.openxmlformats-officedocument.presentationml.notesSlide+xml" PartName="/ppt/notesSlides/notesSlide405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226.xml"/>
  <Override ContentType="application/vnd.openxmlformats-officedocument.presentationml.notesSlide+xml" PartName="/ppt/notesSlides/notesSlide269.xml"/>
  <Override ContentType="application/vnd.openxmlformats-officedocument.presentationml.notesSlide+xml" PartName="/ppt/notesSlides/notesSlide412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376.xml"/>
  <Override ContentType="application/vnd.openxmlformats-officedocument.presentationml.notesSlide+xml" PartName="/ppt/notesSlides/notesSlide333.xml"/>
  <Override ContentType="application/vnd.openxmlformats-officedocument.presentationml.notesSlide+xml" PartName="/ppt/notesSlides/notesSlide305.xml"/>
  <Override ContentType="application/vnd.openxmlformats-officedocument.presentationml.notesSlide+xml" PartName="/ppt/notesSlides/notesSlide297.xml"/>
  <Override ContentType="application/vnd.openxmlformats-officedocument.presentationml.notesSlide+xml" PartName="/ppt/notesSlides/notesSlide382.xml"/>
  <Override ContentType="application/vnd.openxmlformats-officedocument.presentationml.notesSlide+xml" PartName="/ppt/notesSlides/notesSlide211.xml"/>
  <Override ContentType="application/vnd.openxmlformats-officedocument.presentationml.notesSlide+xml" PartName="/ppt/notesSlides/notesSlide254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433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348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64.xml"/>
  <Override ContentType="application/vnd.openxmlformats-officedocument.presentationml.slide+xml" PartName="/ppt/slides/slide253.xml"/>
  <Override ContentType="application/vnd.openxmlformats-officedocument.presentationml.slide+xml" PartName="/ppt/slides/slide43.xml"/>
  <Override ContentType="application/vnd.openxmlformats-officedocument.presentationml.slide+xml" PartName="/ppt/slides/slide350.xml"/>
  <Override ContentType="application/vnd.openxmlformats-officedocument.presentationml.slide+xml" PartName="/ppt/slides/slide35.xml"/>
  <Override ContentType="application/vnd.openxmlformats-officedocument.presentationml.slide+xml" PartName="/ppt/slides/slide334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423.xml"/>
  <Override ContentType="application/vnd.openxmlformats-officedocument.presentationml.slide+xml" PartName="/ppt/slides/slide19.xml"/>
  <Override ContentType="application/vnd.openxmlformats-officedocument.presentationml.slide+xml" PartName="/ppt/slides/slide326.xml"/>
  <Override ContentType="application/vnd.openxmlformats-officedocument.presentationml.slide+xml" PartName="/ppt/slides/slide237.xml"/>
  <Override ContentType="application/vnd.openxmlformats-officedocument.presentationml.slide+xml" PartName="/ppt/slides/slide261.xml"/>
  <Override ContentType="application/vnd.openxmlformats-officedocument.presentationml.slide+xml" PartName="/ppt/slides/slide51.xml"/>
  <Override ContentType="application/vnd.openxmlformats-officedocument.presentationml.slide+xml" PartName="/ppt/slides/slide245.xml"/>
  <Override ContentType="application/vnd.openxmlformats-officedocument.presentationml.slide+xml" PartName="/ppt/slides/slide342.xml"/>
  <Override ContentType="application/vnd.openxmlformats-officedocument.presentationml.slide+xml" PartName="/ppt/slides/slide431.xml"/>
  <Override ContentType="application/vnd.openxmlformats-officedocument.presentationml.slide+xml" PartName="/ppt/slides/slide156.xml"/>
  <Override ContentType="application/vnd.openxmlformats-officedocument.presentationml.slide+xml" PartName="/ppt/slides/slide179.xml"/>
  <Override ContentType="application/vnd.openxmlformats-officedocument.presentationml.slide+xml" PartName="/ppt/slides/slide276.xml"/>
  <Override ContentType="application/vnd.openxmlformats-officedocument.presentationml.slide+xml" PartName="/ppt/slides/slide66.xml"/>
  <Override ContentType="application/vnd.openxmlformats-officedocument.presentationml.slide+xml" PartName="/ppt/slides/slide229.xml"/>
  <Override ContentType="application/vnd.openxmlformats-officedocument.presentationml.slide+xml" PartName="/ppt/slides/slide357.xml"/>
  <Override ContentType="application/vnd.openxmlformats-officedocument.presentationml.slide+xml" PartName="/ppt/slides/slide141.xml"/>
  <Override ContentType="application/vnd.openxmlformats-officedocument.presentationml.slide+xml" PartName="/ppt/slides/slide407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20.xml"/>
  <Override ContentType="application/vnd.openxmlformats-officedocument.presentationml.slide+xml" PartName="/ppt/slides/slide400.xml"/>
  <Override ContentType="application/vnd.openxmlformats-officedocument.presentationml.slide+xml" PartName="/ppt/slides/slide214.xml"/>
  <Override ContentType="application/vnd.openxmlformats-officedocument.presentationml.slide+xml" PartName="/ppt/slides/slide206.xml"/>
  <Override ContentType="application/vnd.openxmlformats-officedocument.presentationml.slide+xml" PartName="/ppt/slides/slide381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285.xml"/>
  <Override ContentType="application/vnd.openxmlformats-officedocument.presentationml.slide+xml" PartName="/ppt/slides/slide89.xml"/>
  <Override ContentType="application/vnd.openxmlformats-officedocument.presentationml.slide+xml" PartName="/ppt/slides/slide34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415.xml"/>
  <Override ContentType="application/vnd.openxmlformats-officedocument.presentationml.slide+xml" PartName="/ppt/slides/slide74.xml"/>
  <Override ContentType="application/vnd.openxmlformats-officedocument.presentationml.slide+xml" PartName="/ppt/slides/slide268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310.xml"/>
  <Override ContentType="application/vnd.openxmlformats-officedocument.presentationml.slide+xml" PartName="/ppt/slides/slide366.xml"/>
  <Override ContentType="application/vnd.openxmlformats-officedocument.presentationml.slide+xml" PartName="/ppt/slides/slide396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333.xml"/>
  <Override ContentType="application/vnd.openxmlformats-officedocument.presentationml.slide+xml" PartName="/ppt/slides/slide309.xml"/>
  <Override ContentType="application/vnd.openxmlformats-officedocument.presentationml.slide+xml" PartName="/ppt/slides/slide244.xml"/>
  <Override ContentType="application/vnd.openxmlformats-officedocument.presentationml.slide+xml" PartName="/ppt/slides/slide52.xml"/>
  <Override ContentType="application/vnd.openxmlformats-officedocument.presentationml.slide+xml" PartName="/ppt/slides/slide270.xml"/>
  <Override ContentType="application/vnd.openxmlformats-officedocument.presentationml.slide+xml" PartName="/ppt/slides/slide406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343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254.xml"/>
  <Override ContentType="application/vnd.openxmlformats-officedocument.presentationml.slide+xml" PartName="/ppt/slides/slide147.xml"/>
  <Override ContentType="application/vnd.openxmlformats-officedocument.presentationml.slide+xml" PartName="/ppt/slides/slide236.xml"/>
  <Override ContentType="application/vnd.openxmlformats-officedocument.presentationml.slide+xml" PartName="/ppt/slides/slide422.xml"/>
  <Override ContentType="application/vnd.openxmlformats-officedocument.presentationml.slide+xml" PartName="/ppt/slides/slide110.xml"/>
  <Override ContentType="application/vnd.openxmlformats-officedocument.presentationml.slide+xml" PartName="/ppt/slides/slide293.xml"/>
  <Override ContentType="application/vnd.openxmlformats-officedocument.presentationml.slide+xml" PartName="/ppt/slides/slide358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171.xml"/>
  <Override ContentType="application/vnd.openxmlformats-officedocument.presentationml.slide+xml" PartName="/ppt/slides/slide259.xml"/>
  <Override ContentType="application/vnd.openxmlformats-officedocument.presentationml.slide+xml" PartName="/ppt/slides/slide49.xml"/>
  <Override ContentType="application/vnd.openxmlformats-officedocument.presentationml.slide+xml" PartName="/ppt/slides/slide327.xml"/>
  <Override ContentType="application/vnd.openxmlformats-officedocument.presentationml.slide+xml" PartName="/ppt/slides/slide83.xml"/>
  <Override ContentType="application/vnd.openxmlformats-officedocument.presentationml.slide+xml" PartName="/ppt/slides/slide221.xml"/>
  <Override ContentType="application/vnd.openxmlformats-officedocument.presentationml.slide+xml" PartName="/ppt/slides/slide73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215.xml"/>
  <Override ContentType="application/vnd.openxmlformats-officedocument.presentationml.slide+xml" PartName="/ppt/slides/slide401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11.xml"/>
  <Override ContentType="application/vnd.openxmlformats-officedocument.presentationml.slide+xml" PartName="/ppt/slides/slide13.xml"/>
  <Override ContentType="application/vnd.openxmlformats-officedocument.presentationml.slide+xml" PartName="/ppt/slides/slide222.xml"/>
  <Override ContentType="application/vnd.openxmlformats-officedocument.presentationml.slide+xml" PartName="/ppt/slides/slide205.xml"/>
  <Override ContentType="application/vnd.openxmlformats-officedocument.presentationml.slide+xml" PartName="/ppt/slides/slide292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275.xml"/>
  <Override ContentType="application/vnd.openxmlformats-officedocument.presentationml.slide+xml" PartName="/ppt/slides/slide132.xml"/>
  <Override ContentType="application/vnd.openxmlformats-officedocument.presentationml.slide+xml" PartName="/ppt/slides/slide416.xml"/>
  <Override ContentType="application/vnd.openxmlformats-officedocument.presentationml.slide+xml" PartName="/ppt/slides/slide269.xml"/>
  <Override ContentType="application/vnd.openxmlformats-officedocument.presentationml.slide+xml" PartName="/ppt/slides/slide1.xml"/>
  <Override ContentType="application/vnd.openxmlformats-officedocument.presentationml.slide+xml" PartName="/ppt/slides/slide365.xml"/>
  <Override ContentType="application/vnd.openxmlformats-officedocument.presentationml.slide+xml" PartName="/ppt/slides/slide28.xml"/>
  <Override ContentType="application/vnd.openxmlformats-officedocument.presentationml.slide+xml" PartName="/ppt/slides/slide382.xml"/>
  <Override ContentType="application/vnd.openxmlformats-officedocument.presentationml.slide+xml" PartName="/ppt/slides/slide397.xml"/>
  <Override ContentType="application/vnd.openxmlformats-officedocument.presentationml.slide+xml" PartName="/ppt/slides/slide200.xml"/>
  <Override ContentType="application/vnd.openxmlformats-officedocument.presentationml.slide+xml" PartName="/ppt/slides/slide348.xml"/>
  <Override ContentType="application/vnd.openxmlformats-officedocument.presentationml.slide+xml" PartName="/ppt/slides/slide88.xml"/>
  <Override ContentType="application/vnd.openxmlformats-officedocument.presentationml.slide+xml" PartName="/ppt/slides/slide286.xml"/>
  <Override ContentType="application/vnd.openxmlformats-officedocument.presentationml.slide+xml" PartName="/ppt/slides/slide115.xml"/>
  <Override ContentType="application/vnd.openxmlformats-officedocument.presentationml.slide+xml" PartName="/ppt/slides/slide260.xml"/>
  <Override ContentType="application/vnd.openxmlformats-officedocument.presentationml.slide+xml" PartName="/ppt/slides/slide367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71.xml"/>
  <Override ContentType="application/vnd.openxmlformats-officedocument.presentationml.slide+xml" PartName="/ppt/slides/slide324.xml"/>
  <Override ContentType="application/vnd.openxmlformats-officedocument.presentationml.slide+xml" PartName="/ppt/slides/slide174.xml"/>
  <Override ContentType="application/vnd.openxmlformats-officedocument.presentationml.slide+xml" PartName="/ppt/slides/slide360.xml"/>
  <Override ContentType="application/vnd.openxmlformats-officedocument.presentationml.slide+xml" PartName="/ppt/slides/slide219.xml"/>
  <Override ContentType="application/vnd.openxmlformats-officedocument.presentationml.slide+xml" PartName="/ppt/slides/slide405.xml"/>
  <Override ContentType="application/vnd.openxmlformats-officedocument.presentationml.slide+xml" PartName="/ppt/slides/slide359.xml"/>
  <Override ContentType="application/vnd.openxmlformats-officedocument.presentationml.slide+xml" PartName="/ppt/slides/slide316.xml"/>
  <Override ContentType="application/vnd.openxmlformats-officedocument.presentationml.slide+xml" PartName="/ppt/slides/slide204.xml"/>
  <Override ContentType="application/vnd.openxmlformats-officedocument.presentationml.slide+xml" PartName="/ppt/slides/slide247.xml"/>
  <Override ContentType="application/vnd.openxmlformats-officedocument.presentationml.slide+xml" PartName="/ppt/slides/slide84.xml"/>
  <Override ContentType="application/vnd.openxmlformats-officedocument.presentationml.slide+xml" PartName="/ppt/slides/slide344.xml"/>
  <Override ContentType="application/vnd.openxmlformats-officedocument.presentationml.slide+xml" PartName="/ppt/slides/slide387.xml"/>
  <Override ContentType="application/vnd.openxmlformats-officedocument.presentationml.slide+xml" PartName="/ppt/slides/slide425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294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75.xml"/>
  <Override ContentType="application/vnd.openxmlformats-officedocument.presentationml.slide+xml" PartName="/ppt/slides/slide332.xml"/>
  <Override ContentType="application/vnd.openxmlformats-officedocument.presentationml.slide+xml" PartName="/ppt/slides/slide251.xml"/>
  <Override ContentType="application/vnd.openxmlformats-officedocument.presentationml.slide+xml" PartName="/ppt/slides/slide301.xml"/>
  <Override ContentType="application/vnd.openxmlformats-officedocument.presentationml.slide+xml" PartName="/ppt/slides/slide223.xml"/>
  <Override ContentType="application/vnd.openxmlformats-officedocument.presentationml.slide+xml" PartName="/ppt/slides/slide266.xml"/>
  <Override ContentType="application/vnd.openxmlformats-officedocument.presentationml.slide+xml" PartName="/ppt/slides/slide347.xml"/>
  <Override ContentType="application/vnd.openxmlformats-officedocument.presentationml.slide+xml" PartName="/ppt/slides/slide372.xml"/>
  <Override ContentType="application/vnd.openxmlformats-officedocument.presentationml.slide+xml" PartName="/ppt/slides/slide22.xml"/>
  <Override ContentType="application/vnd.openxmlformats-officedocument.presentationml.slide+xml" PartName="/ppt/slides/slide304.xml"/>
  <Override ContentType="application/vnd.openxmlformats-officedocument.presentationml.slide+xml" PartName="/ppt/slides/slide231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274.xml"/>
  <Override ContentType="application/vnd.openxmlformats-officedocument.presentationml.slide+xml" PartName="/ppt/slides/slide410.xml"/>
  <Override ContentType="application/vnd.openxmlformats-officedocument.presentationml.slide+xml" PartName="/ppt/slides/slide72.xml"/>
  <Override ContentType="application/vnd.openxmlformats-officedocument.presentationml.slide+xml" PartName="/ppt/slides/slide29.xml"/>
  <Override ContentType="application/vnd.openxmlformats-officedocument.presentationml.slide+xml" PartName="/ppt/slides/slide319.xml"/>
  <Override ContentType="application/vnd.openxmlformats-officedocument.presentationml.slide+xml" PartName="/ppt/slides/slide417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432.xml"/>
  <Override ContentType="application/vnd.openxmlformats-officedocument.presentationml.slide+xml" PartName="/ppt/slides/slide103.xml"/>
  <Override ContentType="application/vnd.openxmlformats-officedocument.presentationml.slide+xml" PartName="/ppt/slides/slide402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238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14.xml"/>
  <Override ContentType="application/vnd.openxmlformats-officedocument.presentationml.slide+xml" PartName="/ppt/slides/slide139.xml"/>
  <Override ContentType="application/vnd.openxmlformats-officedocument.presentationml.slide+xml" PartName="/ppt/slides/slide325.xml"/>
  <Override ContentType="application/vnd.openxmlformats-officedocument.presentationml.slide+xml" PartName="/ppt/slides/slide430.xml"/>
  <Override ContentType="application/vnd.openxmlformats-officedocument.presentationml.slide+xml" PartName="/ppt/slides/slide317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218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351.xml"/>
  <Override ContentType="application/vnd.openxmlformats-officedocument.presentationml.slide+xml" PartName="/ppt/slides/slide368.xml"/>
  <Override ContentType="application/vnd.openxmlformats-officedocument.presentationml.slide+xml" PartName="/ppt/slides/slide394.xml"/>
  <Override ContentType="application/vnd.openxmlformats-officedocument.presentationml.slide+xml" PartName="/ppt/slides/slide331.xml"/>
  <Override ContentType="application/vnd.openxmlformats-officedocument.presentationml.slide+xml" PartName="/ppt/slides/slide280.xml"/>
  <Override ContentType="application/vnd.openxmlformats-officedocument.presentationml.slide+xml" PartName="/ppt/slides/slide374.xml"/>
  <Override ContentType="application/vnd.openxmlformats-officedocument.presentationml.slide+xml" PartName="/ppt/slides/slide345.xml"/>
  <Override ContentType="application/vnd.openxmlformats-officedocument.presentationml.slide+xml" PartName="/ppt/slides/slide302.xml"/>
  <Override ContentType="application/vnd.openxmlformats-officedocument.presentationml.slide+xml" PartName="/ppt/slides/slide289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246.xml"/>
  <Override ContentType="application/vnd.openxmlformats-officedocument.presentationml.slide+xml" PartName="/ppt/slides/slide203.xml"/>
  <Override ContentType="application/vnd.openxmlformats-officedocument.presentationml.slide+xml" PartName="/ppt/slides/slide252.xml"/>
  <Override ContentType="application/vnd.openxmlformats-officedocument.presentationml.slide+xml" PartName="/ppt/slides/slide295.xml"/>
  <Override ContentType="application/vnd.openxmlformats-officedocument.presentationml.slide+xml" PartName="/ppt/slides/slide388.xml"/>
  <Override ContentType="application/vnd.openxmlformats-officedocument.presentationml.slide+xml" PartName="/ppt/slides/slide124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424.xml"/>
  <Override ContentType="application/vnd.openxmlformats-officedocument.presentationml.slide+xml" PartName="/ppt/slides/slide194.xml"/>
  <Override ContentType="application/vnd.openxmlformats-officedocument.presentationml.slide+xml" PartName="/ppt/slides/slide380.xml"/>
  <Override ContentType="application/vnd.openxmlformats-officedocument.presentationml.slide+xml" PartName="/ppt/slides/slide151.xml"/>
  <Override ContentType="application/vnd.openxmlformats-officedocument.presentationml.slide+xml" PartName="/ppt/slides/slide339.xml"/>
  <Override ContentType="application/vnd.openxmlformats-officedocument.presentationml.slide+xml" PartName="/ppt/slides/slide224.xml"/>
  <Override ContentType="application/vnd.openxmlformats-officedocument.presentationml.slide+xml" PartName="/ppt/slides/slide330.xml"/>
  <Override ContentType="application/vnd.openxmlformats-officedocument.presentationml.slide+xml" PartName="/ppt/slides/slide267.xml"/>
  <Override ContentType="application/vnd.openxmlformats-officedocument.presentationml.slide+xml" PartName="/ppt/slides/slide373.xml"/>
  <Override ContentType="application/vnd.openxmlformats-officedocument.presentationml.slide+xml" PartName="/ppt/slides/slide389.xml"/>
  <Override ContentType="application/vnd.openxmlformats-officedocument.presentationml.slide+xml" PartName="/ppt/slides/slide21.xml"/>
  <Override ContentType="application/vnd.openxmlformats-officedocument.presentationml.slide+xml" PartName="/ppt/slides/slide346.xml"/>
  <Override ContentType="application/vnd.openxmlformats-officedocument.presentationml.slide+xml" PartName="/ppt/slides/slide303.xml"/>
  <Override ContentType="application/vnd.openxmlformats-officedocument.presentationml.slide+xml" PartName="/ppt/slides/slide64.xml"/>
  <Override ContentType="application/vnd.openxmlformats-officedocument.presentationml.slide+xml" PartName="/ppt/slides/slide418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403.xml"/>
  <Override ContentType="application/vnd.openxmlformats-officedocument.presentationml.slide+xml" PartName="/ppt/slides/slide395.xml"/>
  <Override ContentType="application/vnd.openxmlformats-officedocument.presentationml.slide+xml" PartName="/ppt/slides/slide352.xml"/>
  <Override ContentType="application/vnd.openxmlformats-officedocument.presentationml.slide+xml" PartName="/ppt/slides/slide58.xml"/>
  <Override ContentType="application/vnd.openxmlformats-officedocument.presentationml.slide+xml" PartName="/ppt/slides/slide239.xml"/>
  <Override ContentType="application/vnd.openxmlformats-officedocument.presentationml.slide+xml" PartName="/ppt/slides/slide15.xml"/>
  <Override ContentType="application/vnd.openxmlformats-officedocument.presentationml.slide+xml" PartName="/ppt/slides/slide318.xml"/>
  <Override ContentType="application/vnd.openxmlformats-officedocument.presentationml.slide+xml" PartName="/ppt/slides/slide230.xml"/>
  <Override ContentType="application/vnd.openxmlformats-officedocument.presentationml.slide+xml" PartName="/ppt/slides/slide273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slide+xml" PartName="/ppt/slides/slide121.xml"/>
  <Override ContentType="application/vnd.openxmlformats-officedocument.presentationml.slide+xml" PartName="/ppt/slides/slide296.xml"/>
  <Override ContentType="application/vnd.openxmlformats-officedocument.presentationml.slide+xml" PartName="/ppt/slides/slide199.xml"/>
  <Override ContentType="application/vnd.openxmlformats-officedocument.presentationml.slide+xml" PartName="/ppt/slides/slide210.xml"/>
  <Override ContentType="application/vnd.openxmlformats-officedocument.presentationml.slide+xml" PartName="/ppt/slides/slide385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202.xml"/>
  <Override ContentType="application/vnd.openxmlformats-officedocument.presentationml.slide+xml" PartName="/ppt/slides/slide105.xml"/>
  <Override ContentType="application/vnd.openxmlformats-officedocument.presentationml.slide+xml" PartName="/ppt/slides/slide5.xml"/>
  <Override ContentType="application/vnd.openxmlformats-officedocument.presentationml.slide+xml" PartName="/ppt/slides/slide369.xml"/>
  <Override ContentType="application/vnd.openxmlformats-officedocument.presentationml.slide+xml" PartName="/ppt/slides/slide393.xml"/>
  <Override ContentType="application/vnd.openxmlformats-officedocument.presentationml.slide+xml" PartName="/ppt/slides/slide377.xml"/>
  <Override ContentType="application/vnd.openxmlformats-officedocument.presentationml.slide+xml" PartName="/ppt/slides/slide113.xml"/>
  <Override ContentType="application/vnd.openxmlformats-officedocument.presentationml.slide+xml" PartName="/ppt/slides/slide288.xml"/>
  <Override ContentType="application/vnd.openxmlformats-officedocument.presentationml.slide+xml" PartName="/ppt/slides/slide94.xml"/>
  <Override ContentType="application/vnd.openxmlformats-officedocument.presentationml.slide+xml" PartName="/ppt/slides/slide217.xml"/>
  <Override ContentType="application/vnd.openxmlformats-officedocument.presentationml.slide+xml" PartName="/ppt/slides/slide281.xml"/>
  <Override ContentType="application/vnd.openxmlformats-officedocument.presentationml.slide+xml" PartName="/ppt/slides/slide71.xml"/>
  <Override ContentType="application/vnd.openxmlformats-officedocument.presentationml.slide+xml" PartName="/ppt/slides/slide233.xml"/>
  <Override ContentType="application/vnd.openxmlformats-officedocument.presentationml.slide+xml" PartName="/ppt/slides/slide362.xml"/>
  <Override ContentType="application/vnd.openxmlformats-officedocument.presentationml.slide+xml" PartName="/ppt/slides/slide265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411.xml"/>
  <Override ContentType="application/vnd.openxmlformats-officedocument.presentationml.slide+xml" PartName="/ppt/slides/slide314.xml"/>
  <Override ContentType="application/vnd.openxmlformats-officedocument.presentationml.slide+xml" PartName="/ppt/slides/slide419.xml"/>
  <Override ContentType="application/vnd.openxmlformats-officedocument.presentationml.slide+xml" PartName="/ppt/slides/slide338.xml"/>
  <Override ContentType="application/vnd.openxmlformats-officedocument.presentationml.slide+xml" PartName="/ppt/slides/slide168.xml"/>
  <Override ContentType="application/vnd.openxmlformats-officedocument.presentationml.slide+xml" PartName="/ppt/slides/slide426.xml"/>
  <Override ContentType="application/vnd.openxmlformats-officedocument.presentationml.slide+xml" PartName="/ppt/slides/slide152.xml"/>
  <Override ContentType="application/vnd.openxmlformats-officedocument.presentationml.slide+xml" PartName="/ppt/slides/slide257.xml"/>
  <Override ContentType="application/vnd.openxmlformats-officedocument.presentationml.slide+xml" PartName="/ppt/slides/slide16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49.xml"/>
  <Override ContentType="application/vnd.openxmlformats-officedocument.presentationml.slide+xml" PartName="/ppt/slides/slide306.xml"/>
  <Override ContentType="application/vnd.openxmlformats-officedocument.presentationml.slide+xml" PartName="/ppt/slides/slide272.xml"/>
  <Override ContentType="application/vnd.openxmlformats-officedocument.presentationml.slide+xml" PartName="/ppt/slides/slide323.xml"/>
  <Override ContentType="application/vnd.openxmlformats-officedocument.presentationml.slide+xml" PartName="/ppt/slides/slide242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404.xml"/>
  <Override ContentType="application/vnd.openxmlformats-officedocument.presentationml.slide+xml" PartName="/ppt/slides/slide144.xml"/>
  <Override ContentType="application/vnd.openxmlformats-officedocument.presentationml.slide+xml" PartName="/ppt/slides/slide31.xml"/>
  <Override ContentType="application/vnd.openxmlformats-officedocument.presentationml.slide+xml" PartName="/ppt/slides/slide176.xml"/>
  <Override ContentType="application/vnd.openxmlformats-officedocument.presentationml.slide+xml" PartName="/ppt/slides/slide225.xml"/>
  <Override ContentType="application/vnd.openxmlformats-officedocument.presentationml.slide+xml" PartName="/ppt/slides/slide370.xml"/>
  <Override ContentType="application/vnd.openxmlformats-officedocument.presentationml.slide+xml" PartName="/ppt/slides/slide353.xml"/>
  <Override ContentType="application/vnd.openxmlformats-officedocument.presentationml.slide+xml" PartName="/ppt/slides/slide201.xml"/>
  <Override ContentType="application/vnd.openxmlformats-officedocument.presentationml.slide+xml" PartName="/ppt/slides/slide287.xml"/>
  <Override ContentType="application/vnd.openxmlformats-officedocument.presentationml.slide+xml" PartName="/ppt/slides/slide376.xml"/>
  <Override ContentType="application/vnd.openxmlformats-officedocument.presentationml.slide+xml" PartName="/ppt/slides/slide95.xml"/>
  <Override ContentType="application/vnd.openxmlformats-officedocument.presentationml.slide+xml" PartName="/ppt/slides/slide386.xml"/>
  <Override ContentType="application/vnd.openxmlformats-officedocument.presentationml.slide+xml" PartName="/ppt/slides/slide211.xml"/>
  <Override ContentType="application/vnd.openxmlformats-officedocument.presentationml.slide+xml" PartName="/ppt/slides/slide77.xml"/>
  <Override ContentType="application/vnd.openxmlformats-officedocument.presentationml.slide+xml" PartName="/ppt/slides/slide297.xml"/>
  <Override ContentType="application/vnd.openxmlformats-officedocument.presentationml.slide+xml" PartName="/ppt/slides/slide122.xml"/>
  <Override ContentType="application/vnd.openxmlformats-officedocument.presentationml.slide+xml" PartName="/ppt/slides/slide191.xml"/>
  <Override ContentType="application/vnd.openxmlformats-officedocument.presentationml.slide+xml" PartName="/ppt/slides/slide279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361.xml"/>
  <Override ContentType="application/vnd.openxmlformats-officedocument.presentationml.slide+xml" PartName="/ppt/slides/slide412.xml"/>
  <Override ContentType="application/vnd.openxmlformats-officedocument.presentationml.slide+xml" PartName="/ppt/slides/slide250.xml"/>
  <Override ContentType="application/vnd.openxmlformats-officedocument.presentationml.slide+xml" PartName="/ppt/slides/slide153.xml"/>
  <Override ContentType="application/vnd.openxmlformats-officedocument.presentationml.slide+xml" PartName="/ppt/slides/slide248.xml"/>
  <Override ContentType="application/vnd.openxmlformats-officedocument.presentationml.slide+xml" PartName="/ppt/slides/slide300.xml"/>
  <Override ContentType="application/vnd.openxmlformats-officedocument.presentationml.slide+xml" PartName="/ppt/slides/slide315.xml"/>
  <Override ContentType="application/vnd.openxmlformats-officedocument.presentationml.slide+xml" PartName="/ppt/slides/slide392.xml"/>
  <Override ContentType="application/vnd.openxmlformats-officedocument.presentationml.slide+xml" PartName="/ppt/slides/slide282.xml"/>
  <Override ContentType="application/vnd.openxmlformats-officedocument.presentationml.slide+xml" PartName="/ppt/slides/slide216.xml"/>
  <Override ContentType="application/vnd.openxmlformats-officedocument.presentationml.slide+xml" PartName="/ppt/slides/slide6.xml"/>
  <Override ContentType="application/vnd.openxmlformats-officedocument.presentationml.slide+xml" PartName="/ppt/slides/slide264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169.xml"/>
  <Override ContentType="application/vnd.openxmlformats-officedocument.presentationml.slide+xml" PartName="/ppt/slides/slide258.xml"/>
  <Override ContentType="application/vnd.openxmlformats-officedocument.presentationml.slide+xml" PartName="/ppt/slides/slide30.xml"/>
  <Override ContentType="application/vnd.openxmlformats-officedocument.presentationml.slide+xml" PartName="/ppt/slides/slide427.xml"/>
  <Override ContentType="application/vnd.openxmlformats-officedocument.presentationml.slide+xml" PartName="/ppt/slides/slide371.xml"/>
  <Override ContentType="application/vnd.openxmlformats-officedocument.presentationml.slide+xml" PartName="/ppt/slides/slide39.xml"/>
  <Override ContentType="application/vnd.openxmlformats-officedocument.presentationml.slide+xml" PartName="/ppt/slides/slide56.xml"/>
  <Override ContentType="application/vnd.openxmlformats-officedocument.presentationml.slide+xml" PartName="/ppt/slides/slide354.xml"/>
  <Override ContentType="application/vnd.openxmlformats-officedocument.presentationml.slide+xml" PartName="/ppt/slides/slide337.xml"/>
  <Override ContentType="application/vnd.openxmlformats-officedocument.presentationml.slide+xml" PartName="/ppt/slides/slide160.xml"/>
  <Override ContentType="application/vnd.openxmlformats-officedocument.presentationml.slide+xml" PartName="/ppt/slides/slide232.xml"/>
  <Override ContentType="application/vnd.openxmlformats-officedocument.presentationml.slide+xml" PartName="/ppt/slides/slide143.xml"/>
  <Override ContentType="application/vnd.openxmlformats-officedocument.presentationml.slide+xml" PartName="/ppt/slides/slide433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322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26.xml"/>
  <Override ContentType="application/vnd.openxmlformats-officedocument.presentationml.slide+xml" PartName="/ppt/slides/slide209.xml"/>
  <Override ContentType="application/vnd.openxmlformats-officedocument.presentationml.slide+xml" PartName="/ppt/slides/slide305.xml"/>
  <Override ContentType="application/vnd.openxmlformats-officedocument.presentationml.slide+xml" PartName="/ppt/slides/slide243.xml"/>
  <Override ContentType="application/vnd.openxmlformats-officedocument.presentationml.slide+xml" PartName="/ppt/slides/slide158.xml"/>
  <Override ContentType="application/vnd.openxmlformats-officedocument.presentationml.slide+xml" PartName="/ppt/slides/slide308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25.xml"/>
  <Override ContentType="application/vnd.openxmlformats-officedocument.presentationml.slide+xml" PartName="/ppt/slides/slide190.xml"/>
  <Override ContentType="application/vnd.openxmlformats-officedocument.presentationml.slide+xml" PartName="/ppt/slides/slide227.xml"/>
  <Override ContentType="application/vnd.openxmlformats-officedocument.presentationml.slide+xml" PartName="/ppt/slides/slide413.xml"/>
  <Override ContentType="application/vnd.openxmlformats-officedocument.presentationml.slide+xml" PartName="/ppt/slides/slide33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107.xml"/>
  <Override ContentType="application/vnd.openxmlformats-officedocument.presentationml.slide+xml" PartName="/ppt/slides/slide220.xml"/>
  <Override ContentType="application/vnd.openxmlformats-officedocument.presentationml.slide+xml" PartName="/ppt/slides/slide263.xml"/>
  <Override ContentType="application/vnd.openxmlformats-officedocument.presentationml.slide+xml" PartName="/ppt/slides/slide391.xml"/>
  <Override ContentType="application/vnd.openxmlformats-officedocument.presentationml.slide+xml" PartName="/ppt/slides/slide328.xml"/>
  <Override ContentType="application/vnd.openxmlformats-officedocument.presentationml.slide+xml" PartName="/ppt/slides/slide235.xml"/>
  <Override ContentType="application/vnd.openxmlformats-officedocument.presentationml.slide+xml" PartName="/ppt/slides/slide278.xml"/>
  <Override ContentType="application/vnd.openxmlformats-officedocument.presentationml.slide+xml" PartName="/ppt/slides/slide154.xml"/>
  <Override ContentType="application/vnd.openxmlformats-officedocument.presentationml.slide+xml" PartName="/ppt/slides/slide197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355.xml"/>
  <Override ContentType="application/vnd.openxmlformats-officedocument.presentationml.slide+xml" PartName="/ppt/slides/slide283.xml"/>
  <Override ContentType="application/vnd.openxmlformats-officedocument.presentationml.slide+xml" PartName="/ppt/slides/slide291.xml"/>
  <Override ContentType="application/vnd.openxmlformats-officedocument.presentationml.slide+xml" PartName="/ppt/slides/slide312.xml"/>
  <Override ContentType="application/vnd.openxmlformats-officedocument.presentationml.slide+xml" PartName="/ppt/slides/slide398.xml"/>
  <Override ContentType="application/vnd.openxmlformats-officedocument.presentationml.slide+xml" PartName="/ppt/slides/slide240.xml"/>
  <Override ContentType="application/vnd.openxmlformats-officedocument.presentationml.slide+xml" PartName="/ppt/slides/slide185.xml"/>
  <Override ContentType="application/vnd.openxmlformats-officedocument.presentationml.slide+xml" PartName="/ppt/slides/slide142.xml"/>
  <Override ContentType="application/vnd.openxmlformats-officedocument.presentationml.slide+xml" PartName="/ppt/slides/slide135.xml"/>
  <Override ContentType="application/vnd.openxmlformats-officedocument.presentationml.slide+xml" PartName="/ppt/slides/slide321.xml"/>
  <Override ContentType="application/vnd.openxmlformats-officedocument.presentationml.slide+xml" PartName="/ppt/slides/slide178.xml"/>
  <Override ContentType="application/vnd.openxmlformats-officedocument.presentationml.slide+xml" PartName="/ppt/slides/slide364.xml"/>
  <Override ContentType="application/vnd.openxmlformats-officedocument.presentationml.slide+xml" PartName="/ppt/slides/slide409.xml"/>
  <Override ContentType="application/vnd.openxmlformats-officedocument.presentationml.slide+xml" PartName="/ppt/slides/slide379.xml"/>
  <Override ContentType="application/vnd.openxmlformats-officedocument.presentationml.slide+xml" PartName="/ppt/slides/slide212.xml"/>
  <Override ContentType="application/vnd.openxmlformats-officedocument.presentationml.slide+xml" PartName="/ppt/slides/slide336.xml"/>
  <Override ContentType="application/vnd.openxmlformats-officedocument.presentationml.slide+xml" PartName="/ppt/slides/slide255.xml"/>
  <Override ContentType="application/vnd.openxmlformats-officedocument.presentationml.slide+xml" PartName="/ppt/slides/slide76.xml"/>
  <Override ContentType="application/vnd.openxmlformats-officedocument.presentationml.slide+xml" PartName="/ppt/slides/slide298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42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428.xml"/>
  <Override ContentType="application/vnd.openxmlformats-officedocument.presentationml.slide+xml" PartName="/ppt/slides/slide383.xml"/>
  <Override ContentType="application/vnd.openxmlformats-officedocument.presentationml.slide+xml" PartName="/ppt/slides/slide208.xml"/>
  <Override ContentType="application/vnd.openxmlformats-officedocument.presentationml.slide+xml" PartName="/ppt/slides/slide340.xml"/>
  <Override ContentType="application/vnd.openxmlformats-officedocument.presentationml.slide+xml" PartName="/ppt/slides/slide4.xml"/>
  <Override ContentType="application/vnd.openxmlformats-officedocument.presentationml.slide+xml" PartName="/ppt/slides/slide228.xml"/>
  <Override ContentType="application/vnd.openxmlformats-officedocument.presentationml.slide+xml" PartName="/ppt/slides/slide60.xml"/>
  <Override ContentType="application/vnd.openxmlformats-officedocument.presentationml.slide+xml" PartName="/ppt/slides/slide414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384.xml"/>
  <Override ContentType="application/vnd.openxmlformats-officedocument.presentationml.slide+xml" PartName="/ppt/slides/slide198.xml"/>
  <Override ContentType="application/vnd.openxmlformats-officedocument.presentationml.slide+xml" PartName="/ppt/slides/slide155.xml"/>
  <Override ContentType="application/vnd.openxmlformats-officedocument.presentationml.slide+xml" PartName="/ppt/slides/slide341.xml"/>
  <Override ContentType="application/vnd.openxmlformats-officedocument.presentationml.slide+xml" PartName="/ppt/slides/slide69.xml"/>
  <Override ContentType="application/vnd.openxmlformats-officedocument.presentationml.slide+xml" PartName="/ppt/slides/slide307.xml"/>
  <Override ContentType="application/vnd.openxmlformats-officedocument.presentationml.slide+xml" PartName="/ppt/slides/slide262.xml"/>
  <Override ContentType="application/vnd.openxmlformats-officedocument.presentationml.slide+xml" PartName="/ppt/slides/slide97.xml"/>
  <Override ContentType="application/vnd.openxmlformats-officedocument.presentationml.slide+xml" PartName="/ppt/slides/slide408.xml"/>
  <Override ContentType="application/vnd.openxmlformats-officedocument.presentationml.slide+xml" PartName="/ppt/slides/slide140.xml"/>
  <Override ContentType="application/vnd.openxmlformats-officedocument.presentationml.slide+xml" PartName="/ppt/slides/slide277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13.xml"/>
  <Override ContentType="application/vnd.openxmlformats-officedocument.presentationml.slide+xml" PartName="/ppt/slides/slide149.xml"/>
  <Override ContentType="application/vnd.openxmlformats-officedocument.presentationml.slide+xml" PartName="/ppt/slides/slide106.xml"/>
  <Override ContentType="application/vnd.openxmlformats-officedocument.presentationml.slide+xml" PartName="/ppt/slides/slide234.xml"/>
  <Override ContentType="application/vnd.openxmlformats-officedocument.presentationml.slide+xml" PartName="/ppt/slides/slide177.xml"/>
  <Override ContentType="application/vnd.openxmlformats-officedocument.presentationml.slide+xml" PartName="/ppt/slides/slide363.xml"/>
  <Override ContentType="application/vnd.openxmlformats-officedocument.presentationml.slide+xml" PartName="/ppt/slides/slide134.xml"/>
  <Override ContentType="application/vnd.openxmlformats-officedocument.presentationml.slide+xml" PartName="/ppt/slides/slide320.xml"/>
  <Override ContentType="application/vnd.openxmlformats-officedocument.presentationml.slide+xml" PartName="/ppt/slides/slide207.xml"/>
  <Override ContentType="application/vnd.openxmlformats-officedocument.presentationml.slide+xml" PartName="/ppt/slides/slide356.xml"/>
  <Override ContentType="application/vnd.openxmlformats-officedocument.presentationml.slide+xml" PartName="/ppt/slides/slide284.xml"/>
  <Override ContentType="application/vnd.openxmlformats-officedocument.presentationml.slide+xml" PartName="/ppt/slides/slide399.xml"/>
  <Override ContentType="application/vnd.openxmlformats-officedocument.presentationml.slide+xml" PartName="/ppt/slides/slide47.xml"/>
  <Override ContentType="application/vnd.openxmlformats-officedocument.presentationml.slide+xml" PartName="/ppt/slides/slide241.xml"/>
  <Override ContentType="application/vnd.openxmlformats-officedocument.presentationml.slide+xml" PartName="/ppt/slides/slide390.xml"/>
  <Override ContentType="application/vnd.openxmlformats-officedocument.presentationml.slide+xml" PartName="/ppt/slides/slide81.xml"/>
  <Override ContentType="application/vnd.openxmlformats-officedocument.presentationml.slide+xml" PartName="/ppt/slides/slide329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213.xml"/>
  <Override ContentType="application/vnd.openxmlformats-officedocument.presentationml.slide+xml" PartName="/ppt/slides/slide290.xml"/>
  <Override ContentType="application/vnd.openxmlformats-officedocument.presentationml.slide+xml" PartName="/ppt/slides/slide378.xml"/>
  <Override ContentType="application/vnd.openxmlformats-officedocument.presentationml.slide+xml" PartName="/ppt/slides/slide335.xml"/>
  <Override ContentType="application/vnd.openxmlformats-officedocument.presentationml.slide+xml" PartName="/ppt/slides/slide256.xml"/>
  <Override ContentType="application/vnd.openxmlformats-officedocument.presentationml.slide+xml" PartName="/ppt/slides/slide429.xml"/>
  <Override ContentType="application/vnd.openxmlformats-officedocument.presentationml.slide+xml" PartName="/ppt/slides/slide299.xml"/>
  <Override ContentType="application/vnd.openxmlformats-officedocument.presentationml.slide+xml" PartName="/ppt/slides/slide128.xml"/>
  <Override ContentType="application/vnd.openxmlformats-officedocument.presentationml.slide+xml" PartName="/ppt/slides/slide42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64" r:id="rId113"/>
    <p:sldId id="365" r:id="rId114"/>
    <p:sldId id="366" r:id="rId115"/>
    <p:sldId id="367" r:id="rId116"/>
    <p:sldId id="368" r:id="rId117"/>
    <p:sldId id="369" r:id="rId118"/>
    <p:sldId id="370" r:id="rId119"/>
    <p:sldId id="371" r:id="rId120"/>
    <p:sldId id="372" r:id="rId121"/>
    <p:sldId id="373" r:id="rId122"/>
    <p:sldId id="374" r:id="rId123"/>
    <p:sldId id="375" r:id="rId124"/>
    <p:sldId id="376" r:id="rId125"/>
    <p:sldId id="377" r:id="rId126"/>
    <p:sldId id="378" r:id="rId127"/>
    <p:sldId id="379" r:id="rId128"/>
    <p:sldId id="380" r:id="rId129"/>
    <p:sldId id="381" r:id="rId130"/>
    <p:sldId id="382" r:id="rId131"/>
    <p:sldId id="383" r:id="rId132"/>
    <p:sldId id="384" r:id="rId133"/>
    <p:sldId id="385" r:id="rId134"/>
    <p:sldId id="386" r:id="rId135"/>
    <p:sldId id="387" r:id="rId136"/>
    <p:sldId id="388" r:id="rId137"/>
    <p:sldId id="389" r:id="rId138"/>
    <p:sldId id="390" r:id="rId139"/>
    <p:sldId id="391" r:id="rId140"/>
    <p:sldId id="392" r:id="rId141"/>
    <p:sldId id="393" r:id="rId142"/>
    <p:sldId id="394" r:id="rId143"/>
    <p:sldId id="395" r:id="rId144"/>
    <p:sldId id="396" r:id="rId145"/>
    <p:sldId id="397" r:id="rId146"/>
    <p:sldId id="398" r:id="rId147"/>
    <p:sldId id="399" r:id="rId148"/>
    <p:sldId id="400" r:id="rId149"/>
    <p:sldId id="401" r:id="rId150"/>
    <p:sldId id="402" r:id="rId151"/>
    <p:sldId id="403" r:id="rId152"/>
    <p:sldId id="404" r:id="rId153"/>
    <p:sldId id="405" r:id="rId154"/>
    <p:sldId id="406" r:id="rId155"/>
    <p:sldId id="407" r:id="rId156"/>
    <p:sldId id="408" r:id="rId157"/>
    <p:sldId id="409" r:id="rId158"/>
    <p:sldId id="410" r:id="rId159"/>
    <p:sldId id="411" r:id="rId160"/>
    <p:sldId id="412" r:id="rId161"/>
    <p:sldId id="413" r:id="rId162"/>
    <p:sldId id="414" r:id="rId163"/>
    <p:sldId id="415" r:id="rId164"/>
    <p:sldId id="416" r:id="rId165"/>
    <p:sldId id="417" r:id="rId166"/>
    <p:sldId id="418" r:id="rId167"/>
    <p:sldId id="419" r:id="rId168"/>
    <p:sldId id="420" r:id="rId169"/>
    <p:sldId id="421" r:id="rId170"/>
    <p:sldId id="422" r:id="rId171"/>
    <p:sldId id="423" r:id="rId172"/>
    <p:sldId id="424" r:id="rId173"/>
    <p:sldId id="425" r:id="rId174"/>
    <p:sldId id="426" r:id="rId175"/>
    <p:sldId id="427" r:id="rId176"/>
    <p:sldId id="428" r:id="rId177"/>
    <p:sldId id="429" r:id="rId178"/>
    <p:sldId id="430" r:id="rId179"/>
    <p:sldId id="431" r:id="rId180"/>
    <p:sldId id="432" r:id="rId181"/>
    <p:sldId id="433" r:id="rId182"/>
    <p:sldId id="434" r:id="rId183"/>
    <p:sldId id="435" r:id="rId184"/>
    <p:sldId id="436" r:id="rId185"/>
    <p:sldId id="437" r:id="rId186"/>
    <p:sldId id="438" r:id="rId187"/>
    <p:sldId id="439" r:id="rId188"/>
    <p:sldId id="440" r:id="rId189"/>
    <p:sldId id="441" r:id="rId190"/>
    <p:sldId id="442" r:id="rId191"/>
    <p:sldId id="443" r:id="rId192"/>
    <p:sldId id="444" r:id="rId193"/>
    <p:sldId id="445" r:id="rId194"/>
    <p:sldId id="446" r:id="rId195"/>
    <p:sldId id="447" r:id="rId196"/>
    <p:sldId id="448" r:id="rId197"/>
    <p:sldId id="449" r:id="rId198"/>
    <p:sldId id="450" r:id="rId199"/>
    <p:sldId id="451" r:id="rId200"/>
    <p:sldId id="452" r:id="rId201"/>
    <p:sldId id="453" r:id="rId202"/>
    <p:sldId id="454" r:id="rId203"/>
    <p:sldId id="455" r:id="rId204"/>
    <p:sldId id="456" r:id="rId205"/>
    <p:sldId id="457" r:id="rId206"/>
    <p:sldId id="458" r:id="rId207"/>
    <p:sldId id="459" r:id="rId208"/>
    <p:sldId id="460" r:id="rId209"/>
    <p:sldId id="461" r:id="rId210"/>
    <p:sldId id="462" r:id="rId211"/>
    <p:sldId id="463" r:id="rId212"/>
    <p:sldId id="464" r:id="rId213"/>
    <p:sldId id="465" r:id="rId214"/>
    <p:sldId id="466" r:id="rId215"/>
    <p:sldId id="467" r:id="rId216"/>
    <p:sldId id="468" r:id="rId217"/>
    <p:sldId id="469" r:id="rId218"/>
    <p:sldId id="470" r:id="rId219"/>
    <p:sldId id="471" r:id="rId220"/>
    <p:sldId id="472" r:id="rId221"/>
    <p:sldId id="473" r:id="rId222"/>
    <p:sldId id="474" r:id="rId223"/>
    <p:sldId id="475" r:id="rId224"/>
    <p:sldId id="476" r:id="rId225"/>
    <p:sldId id="477" r:id="rId226"/>
    <p:sldId id="478" r:id="rId227"/>
    <p:sldId id="479" r:id="rId228"/>
    <p:sldId id="480" r:id="rId229"/>
    <p:sldId id="481" r:id="rId230"/>
    <p:sldId id="482" r:id="rId231"/>
    <p:sldId id="483" r:id="rId232"/>
    <p:sldId id="484" r:id="rId233"/>
    <p:sldId id="485" r:id="rId234"/>
    <p:sldId id="486" r:id="rId235"/>
    <p:sldId id="487" r:id="rId236"/>
    <p:sldId id="488" r:id="rId237"/>
    <p:sldId id="489" r:id="rId238"/>
    <p:sldId id="490" r:id="rId239"/>
    <p:sldId id="491" r:id="rId240"/>
    <p:sldId id="492" r:id="rId241"/>
    <p:sldId id="493" r:id="rId242"/>
    <p:sldId id="494" r:id="rId243"/>
    <p:sldId id="495" r:id="rId244"/>
    <p:sldId id="496" r:id="rId245"/>
    <p:sldId id="497" r:id="rId246"/>
    <p:sldId id="498" r:id="rId247"/>
    <p:sldId id="499" r:id="rId248"/>
    <p:sldId id="500" r:id="rId249"/>
    <p:sldId id="501" r:id="rId250"/>
    <p:sldId id="502" r:id="rId251"/>
    <p:sldId id="503" r:id="rId252"/>
    <p:sldId id="504" r:id="rId253"/>
    <p:sldId id="505" r:id="rId254"/>
    <p:sldId id="506" r:id="rId255"/>
    <p:sldId id="507" r:id="rId256"/>
    <p:sldId id="508" r:id="rId257"/>
    <p:sldId id="509" r:id="rId258"/>
    <p:sldId id="510" r:id="rId259"/>
    <p:sldId id="511" r:id="rId260"/>
    <p:sldId id="512" r:id="rId261"/>
    <p:sldId id="513" r:id="rId262"/>
    <p:sldId id="514" r:id="rId263"/>
    <p:sldId id="515" r:id="rId264"/>
    <p:sldId id="516" r:id="rId265"/>
    <p:sldId id="517" r:id="rId266"/>
    <p:sldId id="518" r:id="rId267"/>
    <p:sldId id="519" r:id="rId268"/>
    <p:sldId id="520" r:id="rId269"/>
    <p:sldId id="521" r:id="rId270"/>
    <p:sldId id="522" r:id="rId271"/>
    <p:sldId id="523" r:id="rId272"/>
    <p:sldId id="524" r:id="rId273"/>
    <p:sldId id="525" r:id="rId274"/>
    <p:sldId id="526" r:id="rId275"/>
    <p:sldId id="527" r:id="rId276"/>
    <p:sldId id="528" r:id="rId277"/>
    <p:sldId id="529" r:id="rId278"/>
    <p:sldId id="530" r:id="rId279"/>
    <p:sldId id="531" r:id="rId280"/>
    <p:sldId id="532" r:id="rId281"/>
    <p:sldId id="533" r:id="rId282"/>
    <p:sldId id="534" r:id="rId283"/>
    <p:sldId id="535" r:id="rId284"/>
    <p:sldId id="536" r:id="rId285"/>
    <p:sldId id="537" r:id="rId286"/>
    <p:sldId id="538" r:id="rId287"/>
    <p:sldId id="539" r:id="rId288"/>
    <p:sldId id="540" r:id="rId289"/>
    <p:sldId id="541" r:id="rId290"/>
    <p:sldId id="542" r:id="rId291"/>
    <p:sldId id="543" r:id="rId292"/>
    <p:sldId id="544" r:id="rId293"/>
    <p:sldId id="545" r:id="rId294"/>
    <p:sldId id="546" r:id="rId295"/>
    <p:sldId id="547" r:id="rId296"/>
    <p:sldId id="548" r:id="rId297"/>
    <p:sldId id="549" r:id="rId298"/>
    <p:sldId id="550" r:id="rId299"/>
    <p:sldId id="551" r:id="rId300"/>
    <p:sldId id="552" r:id="rId301"/>
    <p:sldId id="553" r:id="rId302"/>
    <p:sldId id="554" r:id="rId303"/>
    <p:sldId id="555" r:id="rId304"/>
    <p:sldId id="556" r:id="rId305"/>
    <p:sldId id="557" r:id="rId306"/>
    <p:sldId id="558" r:id="rId307"/>
    <p:sldId id="559" r:id="rId308"/>
    <p:sldId id="560" r:id="rId309"/>
    <p:sldId id="561" r:id="rId310"/>
    <p:sldId id="562" r:id="rId311"/>
    <p:sldId id="563" r:id="rId312"/>
    <p:sldId id="564" r:id="rId313"/>
    <p:sldId id="565" r:id="rId314"/>
    <p:sldId id="566" r:id="rId315"/>
    <p:sldId id="567" r:id="rId316"/>
    <p:sldId id="568" r:id="rId317"/>
    <p:sldId id="569" r:id="rId318"/>
    <p:sldId id="570" r:id="rId319"/>
    <p:sldId id="571" r:id="rId320"/>
    <p:sldId id="572" r:id="rId321"/>
    <p:sldId id="573" r:id="rId322"/>
    <p:sldId id="574" r:id="rId323"/>
    <p:sldId id="575" r:id="rId324"/>
    <p:sldId id="576" r:id="rId325"/>
    <p:sldId id="577" r:id="rId326"/>
    <p:sldId id="578" r:id="rId327"/>
    <p:sldId id="579" r:id="rId328"/>
    <p:sldId id="580" r:id="rId329"/>
    <p:sldId id="581" r:id="rId330"/>
    <p:sldId id="582" r:id="rId331"/>
    <p:sldId id="583" r:id="rId332"/>
    <p:sldId id="584" r:id="rId333"/>
    <p:sldId id="585" r:id="rId334"/>
    <p:sldId id="586" r:id="rId335"/>
    <p:sldId id="587" r:id="rId336"/>
    <p:sldId id="588" r:id="rId337"/>
    <p:sldId id="589" r:id="rId338"/>
    <p:sldId id="590" r:id="rId339"/>
    <p:sldId id="591" r:id="rId340"/>
    <p:sldId id="592" r:id="rId341"/>
    <p:sldId id="593" r:id="rId342"/>
    <p:sldId id="594" r:id="rId343"/>
    <p:sldId id="595" r:id="rId344"/>
    <p:sldId id="596" r:id="rId345"/>
    <p:sldId id="597" r:id="rId346"/>
    <p:sldId id="598" r:id="rId347"/>
    <p:sldId id="599" r:id="rId348"/>
    <p:sldId id="600" r:id="rId349"/>
    <p:sldId id="601" r:id="rId350"/>
    <p:sldId id="602" r:id="rId351"/>
    <p:sldId id="603" r:id="rId352"/>
    <p:sldId id="604" r:id="rId353"/>
    <p:sldId id="605" r:id="rId354"/>
    <p:sldId id="606" r:id="rId355"/>
    <p:sldId id="607" r:id="rId356"/>
    <p:sldId id="608" r:id="rId357"/>
    <p:sldId id="609" r:id="rId358"/>
    <p:sldId id="610" r:id="rId359"/>
    <p:sldId id="611" r:id="rId360"/>
    <p:sldId id="612" r:id="rId361"/>
    <p:sldId id="613" r:id="rId362"/>
    <p:sldId id="614" r:id="rId363"/>
    <p:sldId id="615" r:id="rId364"/>
    <p:sldId id="616" r:id="rId365"/>
    <p:sldId id="617" r:id="rId366"/>
    <p:sldId id="618" r:id="rId367"/>
    <p:sldId id="619" r:id="rId368"/>
    <p:sldId id="620" r:id="rId369"/>
    <p:sldId id="621" r:id="rId370"/>
    <p:sldId id="622" r:id="rId371"/>
    <p:sldId id="623" r:id="rId372"/>
    <p:sldId id="624" r:id="rId373"/>
    <p:sldId id="625" r:id="rId374"/>
    <p:sldId id="626" r:id="rId375"/>
    <p:sldId id="627" r:id="rId376"/>
    <p:sldId id="628" r:id="rId377"/>
    <p:sldId id="629" r:id="rId378"/>
    <p:sldId id="630" r:id="rId379"/>
    <p:sldId id="631" r:id="rId380"/>
    <p:sldId id="632" r:id="rId381"/>
    <p:sldId id="633" r:id="rId382"/>
    <p:sldId id="634" r:id="rId383"/>
    <p:sldId id="635" r:id="rId384"/>
    <p:sldId id="636" r:id="rId385"/>
    <p:sldId id="637" r:id="rId386"/>
    <p:sldId id="638" r:id="rId387"/>
    <p:sldId id="639" r:id="rId388"/>
    <p:sldId id="640" r:id="rId389"/>
    <p:sldId id="641" r:id="rId390"/>
    <p:sldId id="642" r:id="rId391"/>
    <p:sldId id="643" r:id="rId392"/>
    <p:sldId id="644" r:id="rId393"/>
    <p:sldId id="645" r:id="rId394"/>
    <p:sldId id="646" r:id="rId395"/>
    <p:sldId id="647" r:id="rId396"/>
    <p:sldId id="648" r:id="rId397"/>
    <p:sldId id="649" r:id="rId398"/>
    <p:sldId id="650" r:id="rId399"/>
    <p:sldId id="651" r:id="rId400"/>
    <p:sldId id="652" r:id="rId401"/>
    <p:sldId id="653" r:id="rId402"/>
    <p:sldId id="654" r:id="rId403"/>
    <p:sldId id="655" r:id="rId404"/>
    <p:sldId id="656" r:id="rId405"/>
    <p:sldId id="657" r:id="rId406"/>
    <p:sldId id="658" r:id="rId407"/>
    <p:sldId id="659" r:id="rId408"/>
    <p:sldId id="660" r:id="rId409"/>
    <p:sldId id="661" r:id="rId410"/>
    <p:sldId id="662" r:id="rId411"/>
    <p:sldId id="663" r:id="rId412"/>
    <p:sldId id="664" r:id="rId413"/>
    <p:sldId id="665" r:id="rId414"/>
    <p:sldId id="666" r:id="rId415"/>
    <p:sldId id="667" r:id="rId416"/>
    <p:sldId id="668" r:id="rId417"/>
    <p:sldId id="669" r:id="rId418"/>
    <p:sldId id="670" r:id="rId419"/>
    <p:sldId id="671" r:id="rId420"/>
    <p:sldId id="672" r:id="rId421"/>
    <p:sldId id="673" r:id="rId422"/>
    <p:sldId id="674" r:id="rId423"/>
    <p:sldId id="675" r:id="rId424"/>
    <p:sldId id="676" r:id="rId425"/>
    <p:sldId id="677" r:id="rId426"/>
    <p:sldId id="678" r:id="rId427"/>
    <p:sldId id="679" r:id="rId428"/>
    <p:sldId id="680" r:id="rId429"/>
    <p:sldId id="681" r:id="rId430"/>
    <p:sldId id="682" r:id="rId431"/>
    <p:sldId id="683" r:id="rId432"/>
    <p:sldId id="684" r:id="rId433"/>
    <p:sldId id="685" r:id="rId434"/>
    <p:sldId id="686" r:id="rId435"/>
    <p:sldId id="687" r:id="rId436"/>
    <p:sldId id="688" r:id="rId437"/>
  </p:sldIdLst>
  <p:sldSz cy="10287000" cx="18288000"/>
  <p:notesSz cx="10287000" cy="18288000"/>
  <p:embeddedFontLst>
    <p:embeddedFont>
      <p:font typeface="Bricolage Grotesque"/>
      <p:regular r:id="rId438"/>
      <p:bold r:id="rId439"/>
    </p:embeddedFont>
    <p:embeddedFont>
      <p:font typeface="JetBrains Mono"/>
      <p:regular r:id="rId440"/>
      <p:bold r:id="rId441"/>
      <p:italic r:id="rId442"/>
      <p:boldItalic r:id="rId4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90" Type="http://schemas.openxmlformats.org/officeDocument/2006/relationships/slide" Target="slides/slide186.xml"/><Relationship Id="rId194" Type="http://schemas.openxmlformats.org/officeDocument/2006/relationships/slide" Target="slides/slide190.xml"/><Relationship Id="rId193" Type="http://schemas.openxmlformats.org/officeDocument/2006/relationships/slide" Target="slides/slide189.xml"/><Relationship Id="rId192" Type="http://schemas.openxmlformats.org/officeDocument/2006/relationships/slide" Target="slides/slide188.xml"/><Relationship Id="rId191" Type="http://schemas.openxmlformats.org/officeDocument/2006/relationships/slide" Target="slides/slide187.xml"/><Relationship Id="rId187" Type="http://schemas.openxmlformats.org/officeDocument/2006/relationships/slide" Target="slides/slide183.xml"/><Relationship Id="rId186" Type="http://schemas.openxmlformats.org/officeDocument/2006/relationships/slide" Target="slides/slide182.xml"/><Relationship Id="rId185" Type="http://schemas.openxmlformats.org/officeDocument/2006/relationships/slide" Target="slides/slide181.xml"/><Relationship Id="rId184" Type="http://schemas.openxmlformats.org/officeDocument/2006/relationships/slide" Target="slides/slide180.xml"/><Relationship Id="rId189" Type="http://schemas.openxmlformats.org/officeDocument/2006/relationships/slide" Target="slides/slide185.xml"/><Relationship Id="rId188" Type="http://schemas.openxmlformats.org/officeDocument/2006/relationships/slide" Target="slides/slide184.xml"/><Relationship Id="rId183" Type="http://schemas.openxmlformats.org/officeDocument/2006/relationships/slide" Target="slides/slide179.xml"/><Relationship Id="rId182" Type="http://schemas.openxmlformats.org/officeDocument/2006/relationships/slide" Target="slides/slide178.xml"/><Relationship Id="rId181" Type="http://schemas.openxmlformats.org/officeDocument/2006/relationships/slide" Target="slides/slide177.xml"/><Relationship Id="rId180" Type="http://schemas.openxmlformats.org/officeDocument/2006/relationships/slide" Target="slides/slide176.xml"/><Relationship Id="rId176" Type="http://schemas.openxmlformats.org/officeDocument/2006/relationships/slide" Target="slides/slide172.xml"/><Relationship Id="rId297" Type="http://schemas.openxmlformats.org/officeDocument/2006/relationships/slide" Target="slides/slide293.xml"/><Relationship Id="rId175" Type="http://schemas.openxmlformats.org/officeDocument/2006/relationships/slide" Target="slides/slide171.xml"/><Relationship Id="rId296" Type="http://schemas.openxmlformats.org/officeDocument/2006/relationships/slide" Target="slides/slide292.xml"/><Relationship Id="rId174" Type="http://schemas.openxmlformats.org/officeDocument/2006/relationships/slide" Target="slides/slide170.xml"/><Relationship Id="rId295" Type="http://schemas.openxmlformats.org/officeDocument/2006/relationships/slide" Target="slides/slide291.xml"/><Relationship Id="rId173" Type="http://schemas.openxmlformats.org/officeDocument/2006/relationships/slide" Target="slides/slide169.xml"/><Relationship Id="rId294" Type="http://schemas.openxmlformats.org/officeDocument/2006/relationships/slide" Target="slides/slide290.xml"/><Relationship Id="rId179" Type="http://schemas.openxmlformats.org/officeDocument/2006/relationships/slide" Target="slides/slide175.xml"/><Relationship Id="rId178" Type="http://schemas.openxmlformats.org/officeDocument/2006/relationships/slide" Target="slides/slide174.xml"/><Relationship Id="rId299" Type="http://schemas.openxmlformats.org/officeDocument/2006/relationships/slide" Target="slides/slide295.xml"/><Relationship Id="rId177" Type="http://schemas.openxmlformats.org/officeDocument/2006/relationships/slide" Target="slides/slide173.xml"/><Relationship Id="rId298" Type="http://schemas.openxmlformats.org/officeDocument/2006/relationships/slide" Target="slides/slide294.xml"/><Relationship Id="rId198" Type="http://schemas.openxmlformats.org/officeDocument/2006/relationships/slide" Target="slides/slide194.xml"/><Relationship Id="rId197" Type="http://schemas.openxmlformats.org/officeDocument/2006/relationships/slide" Target="slides/slide193.xml"/><Relationship Id="rId196" Type="http://schemas.openxmlformats.org/officeDocument/2006/relationships/slide" Target="slides/slide192.xml"/><Relationship Id="rId195" Type="http://schemas.openxmlformats.org/officeDocument/2006/relationships/slide" Target="slides/slide191.xml"/><Relationship Id="rId199" Type="http://schemas.openxmlformats.org/officeDocument/2006/relationships/slide" Target="slides/slide195.xml"/><Relationship Id="rId150" Type="http://schemas.openxmlformats.org/officeDocument/2006/relationships/slide" Target="slides/slide146.xml"/><Relationship Id="rId271" Type="http://schemas.openxmlformats.org/officeDocument/2006/relationships/slide" Target="slides/slide267.xml"/><Relationship Id="rId392" Type="http://schemas.openxmlformats.org/officeDocument/2006/relationships/slide" Target="slides/slide388.xml"/><Relationship Id="rId270" Type="http://schemas.openxmlformats.org/officeDocument/2006/relationships/slide" Target="slides/slide266.xml"/><Relationship Id="rId391" Type="http://schemas.openxmlformats.org/officeDocument/2006/relationships/slide" Target="slides/slide387.xml"/><Relationship Id="rId390" Type="http://schemas.openxmlformats.org/officeDocument/2006/relationships/slide" Target="slides/slide38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149" Type="http://schemas.openxmlformats.org/officeDocument/2006/relationships/slide" Target="slides/slide145.xml"/><Relationship Id="rId4" Type="http://schemas.openxmlformats.org/officeDocument/2006/relationships/notesMaster" Target="notesMasters/notesMaster1.xml"/><Relationship Id="rId148" Type="http://schemas.openxmlformats.org/officeDocument/2006/relationships/slide" Target="slides/slide144.xml"/><Relationship Id="rId269" Type="http://schemas.openxmlformats.org/officeDocument/2006/relationships/slide" Target="slides/slide265.xml"/><Relationship Id="rId9" Type="http://schemas.openxmlformats.org/officeDocument/2006/relationships/slide" Target="slides/slide5.xml"/><Relationship Id="rId143" Type="http://schemas.openxmlformats.org/officeDocument/2006/relationships/slide" Target="slides/slide139.xml"/><Relationship Id="rId264" Type="http://schemas.openxmlformats.org/officeDocument/2006/relationships/slide" Target="slides/slide260.xml"/><Relationship Id="rId385" Type="http://schemas.openxmlformats.org/officeDocument/2006/relationships/slide" Target="slides/slide381.xml"/><Relationship Id="rId142" Type="http://schemas.openxmlformats.org/officeDocument/2006/relationships/slide" Target="slides/slide138.xml"/><Relationship Id="rId263" Type="http://schemas.openxmlformats.org/officeDocument/2006/relationships/slide" Target="slides/slide259.xml"/><Relationship Id="rId384" Type="http://schemas.openxmlformats.org/officeDocument/2006/relationships/slide" Target="slides/slide380.xml"/><Relationship Id="rId141" Type="http://schemas.openxmlformats.org/officeDocument/2006/relationships/slide" Target="slides/slide137.xml"/><Relationship Id="rId262" Type="http://schemas.openxmlformats.org/officeDocument/2006/relationships/slide" Target="slides/slide258.xml"/><Relationship Id="rId383" Type="http://schemas.openxmlformats.org/officeDocument/2006/relationships/slide" Target="slides/slide379.xml"/><Relationship Id="rId140" Type="http://schemas.openxmlformats.org/officeDocument/2006/relationships/slide" Target="slides/slide136.xml"/><Relationship Id="rId261" Type="http://schemas.openxmlformats.org/officeDocument/2006/relationships/slide" Target="slides/slide257.xml"/><Relationship Id="rId382" Type="http://schemas.openxmlformats.org/officeDocument/2006/relationships/slide" Target="slides/slide378.xml"/><Relationship Id="rId5" Type="http://schemas.openxmlformats.org/officeDocument/2006/relationships/slide" Target="slides/slide1.xml"/><Relationship Id="rId147" Type="http://schemas.openxmlformats.org/officeDocument/2006/relationships/slide" Target="slides/slide143.xml"/><Relationship Id="rId268" Type="http://schemas.openxmlformats.org/officeDocument/2006/relationships/slide" Target="slides/slide264.xml"/><Relationship Id="rId389" Type="http://schemas.openxmlformats.org/officeDocument/2006/relationships/slide" Target="slides/slide385.xml"/><Relationship Id="rId6" Type="http://schemas.openxmlformats.org/officeDocument/2006/relationships/slide" Target="slides/slide2.xml"/><Relationship Id="rId146" Type="http://schemas.openxmlformats.org/officeDocument/2006/relationships/slide" Target="slides/slide142.xml"/><Relationship Id="rId267" Type="http://schemas.openxmlformats.org/officeDocument/2006/relationships/slide" Target="slides/slide263.xml"/><Relationship Id="rId388" Type="http://schemas.openxmlformats.org/officeDocument/2006/relationships/slide" Target="slides/slide384.xml"/><Relationship Id="rId7" Type="http://schemas.openxmlformats.org/officeDocument/2006/relationships/slide" Target="slides/slide3.xml"/><Relationship Id="rId145" Type="http://schemas.openxmlformats.org/officeDocument/2006/relationships/slide" Target="slides/slide141.xml"/><Relationship Id="rId266" Type="http://schemas.openxmlformats.org/officeDocument/2006/relationships/slide" Target="slides/slide262.xml"/><Relationship Id="rId387" Type="http://schemas.openxmlformats.org/officeDocument/2006/relationships/slide" Target="slides/slide383.xml"/><Relationship Id="rId8" Type="http://schemas.openxmlformats.org/officeDocument/2006/relationships/slide" Target="slides/slide4.xml"/><Relationship Id="rId144" Type="http://schemas.openxmlformats.org/officeDocument/2006/relationships/slide" Target="slides/slide140.xml"/><Relationship Id="rId265" Type="http://schemas.openxmlformats.org/officeDocument/2006/relationships/slide" Target="slides/slide261.xml"/><Relationship Id="rId386" Type="http://schemas.openxmlformats.org/officeDocument/2006/relationships/slide" Target="slides/slide382.xml"/><Relationship Id="rId260" Type="http://schemas.openxmlformats.org/officeDocument/2006/relationships/slide" Target="slides/slide256.xml"/><Relationship Id="rId381" Type="http://schemas.openxmlformats.org/officeDocument/2006/relationships/slide" Target="slides/slide377.xml"/><Relationship Id="rId380" Type="http://schemas.openxmlformats.org/officeDocument/2006/relationships/slide" Target="slides/slide376.xml"/><Relationship Id="rId139" Type="http://schemas.openxmlformats.org/officeDocument/2006/relationships/slide" Target="slides/slide135.xml"/><Relationship Id="rId138" Type="http://schemas.openxmlformats.org/officeDocument/2006/relationships/slide" Target="slides/slide134.xml"/><Relationship Id="rId259" Type="http://schemas.openxmlformats.org/officeDocument/2006/relationships/slide" Target="slides/slide255.xml"/><Relationship Id="rId137" Type="http://schemas.openxmlformats.org/officeDocument/2006/relationships/slide" Target="slides/slide133.xml"/><Relationship Id="rId258" Type="http://schemas.openxmlformats.org/officeDocument/2006/relationships/slide" Target="slides/slide254.xml"/><Relationship Id="rId379" Type="http://schemas.openxmlformats.org/officeDocument/2006/relationships/slide" Target="slides/slide375.xml"/><Relationship Id="rId132" Type="http://schemas.openxmlformats.org/officeDocument/2006/relationships/slide" Target="slides/slide128.xml"/><Relationship Id="rId253" Type="http://schemas.openxmlformats.org/officeDocument/2006/relationships/slide" Target="slides/slide249.xml"/><Relationship Id="rId374" Type="http://schemas.openxmlformats.org/officeDocument/2006/relationships/slide" Target="slides/slide370.xml"/><Relationship Id="rId131" Type="http://schemas.openxmlformats.org/officeDocument/2006/relationships/slide" Target="slides/slide127.xml"/><Relationship Id="rId252" Type="http://schemas.openxmlformats.org/officeDocument/2006/relationships/slide" Target="slides/slide248.xml"/><Relationship Id="rId373" Type="http://schemas.openxmlformats.org/officeDocument/2006/relationships/slide" Target="slides/slide369.xml"/><Relationship Id="rId130" Type="http://schemas.openxmlformats.org/officeDocument/2006/relationships/slide" Target="slides/slide126.xml"/><Relationship Id="rId251" Type="http://schemas.openxmlformats.org/officeDocument/2006/relationships/slide" Target="slides/slide247.xml"/><Relationship Id="rId372" Type="http://schemas.openxmlformats.org/officeDocument/2006/relationships/slide" Target="slides/slide368.xml"/><Relationship Id="rId250" Type="http://schemas.openxmlformats.org/officeDocument/2006/relationships/slide" Target="slides/slide246.xml"/><Relationship Id="rId371" Type="http://schemas.openxmlformats.org/officeDocument/2006/relationships/slide" Target="slides/slide367.xml"/><Relationship Id="rId136" Type="http://schemas.openxmlformats.org/officeDocument/2006/relationships/slide" Target="slides/slide132.xml"/><Relationship Id="rId257" Type="http://schemas.openxmlformats.org/officeDocument/2006/relationships/slide" Target="slides/slide253.xml"/><Relationship Id="rId378" Type="http://schemas.openxmlformats.org/officeDocument/2006/relationships/slide" Target="slides/slide374.xml"/><Relationship Id="rId135" Type="http://schemas.openxmlformats.org/officeDocument/2006/relationships/slide" Target="slides/slide131.xml"/><Relationship Id="rId256" Type="http://schemas.openxmlformats.org/officeDocument/2006/relationships/slide" Target="slides/slide252.xml"/><Relationship Id="rId377" Type="http://schemas.openxmlformats.org/officeDocument/2006/relationships/slide" Target="slides/slide373.xml"/><Relationship Id="rId134" Type="http://schemas.openxmlformats.org/officeDocument/2006/relationships/slide" Target="slides/slide130.xml"/><Relationship Id="rId255" Type="http://schemas.openxmlformats.org/officeDocument/2006/relationships/slide" Target="slides/slide251.xml"/><Relationship Id="rId376" Type="http://schemas.openxmlformats.org/officeDocument/2006/relationships/slide" Target="slides/slide372.xml"/><Relationship Id="rId133" Type="http://schemas.openxmlformats.org/officeDocument/2006/relationships/slide" Target="slides/slide129.xml"/><Relationship Id="rId254" Type="http://schemas.openxmlformats.org/officeDocument/2006/relationships/slide" Target="slides/slide250.xml"/><Relationship Id="rId375" Type="http://schemas.openxmlformats.org/officeDocument/2006/relationships/slide" Target="slides/slide371.xml"/><Relationship Id="rId172" Type="http://schemas.openxmlformats.org/officeDocument/2006/relationships/slide" Target="slides/slide168.xml"/><Relationship Id="rId293" Type="http://schemas.openxmlformats.org/officeDocument/2006/relationships/slide" Target="slides/slide289.xml"/><Relationship Id="rId171" Type="http://schemas.openxmlformats.org/officeDocument/2006/relationships/slide" Target="slides/slide167.xml"/><Relationship Id="rId292" Type="http://schemas.openxmlformats.org/officeDocument/2006/relationships/slide" Target="slides/slide288.xml"/><Relationship Id="rId170" Type="http://schemas.openxmlformats.org/officeDocument/2006/relationships/slide" Target="slides/slide166.xml"/><Relationship Id="rId291" Type="http://schemas.openxmlformats.org/officeDocument/2006/relationships/slide" Target="slides/slide287.xml"/><Relationship Id="rId290" Type="http://schemas.openxmlformats.org/officeDocument/2006/relationships/slide" Target="slides/slide286.xml"/><Relationship Id="rId165" Type="http://schemas.openxmlformats.org/officeDocument/2006/relationships/slide" Target="slides/slide161.xml"/><Relationship Id="rId286" Type="http://schemas.openxmlformats.org/officeDocument/2006/relationships/slide" Target="slides/slide282.xml"/><Relationship Id="rId164" Type="http://schemas.openxmlformats.org/officeDocument/2006/relationships/slide" Target="slides/slide160.xml"/><Relationship Id="rId285" Type="http://schemas.openxmlformats.org/officeDocument/2006/relationships/slide" Target="slides/slide281.xml"/><Relationship Id="rId163" Type="http://schemas.openxmlformats.org/officeDocument/2006/relationships/slide" Target="slides/slide159.xml"/><Relationship Id="rId284" Type="http://schemas.openxmlformats.org/officeDocument/2006/relationships/slide" Target="slides/slide280.xml"/><Relationship Id="rId162" Type="http://schemas.openxmlformats.org/officeDocument/2006/relationships/slide" Target="slides/slide158.xml"/><Relationship Id="rId283" Type="http://schemas.openxmlformats.org/officeDocument/2006/relationships/slide" Target="slides/slide279.xml"/><Relationship Id="rId169" Type="http://schemas.openxmlformats.org/officeDocument/2006/relationships/slide" Target="slides/slide165.xml"/><Relationship Id="rId168" Type="http://schemas.openxmlformats.org/officeDocument/2006/relationships/slide" Target="slides/slide164.xml"/><Relationship Id="rId289" Type="http://schemas.openxmlformats.org/officeDocument/2006/relationships/slide" Target="slides/slide285.xml"/><Relationship Id="rId167" Type="http://schemas.openxmlformats.org/officeDocument/2006/relationships/slide" Target="slides/slide163.xml"/><Relationship Id="rId288" Type="http://schemas.openxmlformats.org/officeDocument/2006/relationships/slide" Target="slides/slide284.xml"/><Relationship Id="rId166" Type="http://schemas.openxmlformats.org/officeDocument/2006/relationships/slide" Target="slides/slide162.xml"/><Relationship Id="rId287" Type="http://schemas.openxmlformats.org/officeDocument/2006/relationships/slide" Target="slides/slide283.xml"/><Relationship Id="rId161" Type="http://schemas.openxmlformats.org/officeDocument/2006/relationships/slide" Target="slides/slide157.xml"/><Relationship Id="rId282" Type="http://schemas.openxmlformats.org/officeDocument/2006/relationships/slide" Target="slides/slide278.xml"/><Relationship Id="rId160" Type="http://schemas.openxmlformats.org/officeDocument/2006/relationships/slide" Target="slides/slide156.xml"/><Relationship Id="rId281" Type="http://schemas.openxmlformats.org/officeDocument/2006/relationships/slide" Target="slides/slide277.xml"/><Relationship Id="rId280" Type="http://schemas.openxmlformats.org/officeDocument/2006/relationships/slide" Target="slides/slide276.xml"/><Relationship Id="rId159" Type="http://schemas.openxmlformats.org/officeDocument/2006/relationships/slide" Target="slides/slide155.xml"/><Relationship Id="rId154" Type="http://schemas.openxmlformats.org/officeDocument/2006/relationships/slide" Target="slides/slide150.xml"/><Relationship Id="rId275" Type="http://schemas.openxmlformats.org/officeDocument/2006/relationships/slide" Target="slides/slide271.xml"/><Relationship Id="rId396" Type="http://schemas.openxmlformats.org/officeDocument/2006/relationships/slide" Target="slides/slide392.xml"/><Relationship Id="rId153" Type="http://schemas.openxmlformats.org/officeDocument/2006/relationships/slide" Target="slides/slide149.xml"/><Relationship Id="rId274" Type="http://schemas.openxmlformats.org/officeDocument/2006/relationships/slide" Target="slides/slide270.xml"/><Relationship Id="rId395" Type="http://schemas.openxmlformats.org/officeDocument/2006/relationships/slide" Target="slides/slide391.xml"/><Relationship Id="rId152" Type="http://schemas.openxmlformats.org/officeDocument/2006/relationships/slide" Target="slides/slide148.xml"/><Relationship Id="rId273" Type="http://schemas.openxmlformats.org/officeDocument/2006/relationships/slide" Target="slides/slide269.xml"/><Relationship Id="rId394" Type="http://schemas.openxmlformats.org/officeDocument/2006/relationships/slide" Target="slides/slide390.xml"/><Relationship Id="rId151" Type="http://schemas.openxmlformats.org/officeDocument/2006/relationships/slide" Target="slides/slide147.xml"/><Relationship Id="rId272" Type="http://schemas.openxmlformats.org/officeDocument/2006/relationships/slide" Target="slides/slide268.xml"/><Relationship Id="rId393" Type="http://schemas.openxmlformats.org/officeDocument/2006/relationships/slide" Target="slides/slide389.xml"/><Relationship Id="rId158" Type="http://schemas.openxmlformats.org/officeDocument/2006/relationships/slide" Target="slides/slide154.xml"/><Relationship Id="rId279" Type="http://schemas.openxmlformats.org/officeDocument/2006/relationships/slide" Target="slides/slide275.xml"/><Relationship Id="rId157" Type="http://schemas.openxmlformats.org/officeDocument/2006/relationships/slide" Target="slides/slide153.xml"/><Relationship Id="rId278" Type="http://schemas.openxmlformats.org/officeDocument/2006/relationships/slide" Target="slides/slide274.xml"/><Relationship Id="rId399" Type="http://schemas.openxmlformats.org/officeDocument/2006/relationships/slide" Target="slides/slide395.xml"/><Relationship Id="rId156" Type="http://schemas.openxmlformats.org/officeDocument/2006/relationships/slide" Target="slides/slide152.xml"/><Relationship Id="rId277" Type="http://schemas.openxmlformats.org/officeDocument/2006/relationships/slide" Target="slides/slide273.xml"/><Relationship Id="rId398" Type="http://schemas.openxmlformats.org/officeDocument/2006/relationships/slide" Target="slides/slide394.xml"/><Relationship Id="rId155" Type="http://schemas.openxmlformats.org/officeDocument/2006/relationships/slide" Target="slides/slide151.xml"/><Relationship Id="rId276" Type="http://schemas.openxmlformats.org/officeDocument/2006/relationships/slide" Target="slides/slide272.xml"/><Relationship Id="rId397" Type="http://schemas.openxmlformats.org/officeDocument/2006/relationships/slide" Target="slides/slide393.xml"/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09" Type="http://schemas.openxmlformats.org/officeDocument/2006/relationships/slide" Target="slides/slide405.xml"/><Relationship Id="rId404" Type="http://schemas.openxmlformats.org/officeDocument/2006/relationships/slide" Target="slides/slide400.xml"/><Relationship Id="rId403" Type="http://schemas.openxmlformats.org/officeDocument/2006/relationships/slide" Target="slides/slide399.xml"/><Relationship Id="rId402" Type="http://schemas.openxmlformats.org/officeDocument/2006/relationships/slide" Target="slides/slide398.xml"/><Relationship Id="rId401" Type="http://schemas.openxmlformats.org/officeDocument/2006/relationships/slide" Target="slides/slide397.xml"/><Relationship Id="rId408" Type="http://schemas.openxmlformats.org/officeDocument/2006/relationships/slide" Target="slides/slide404.xml"/><Relationship Id="rId407" Type="http://schemas.openxmlformats.org/officeDocument/2006/relationships/slide" Target="slides/slide403.xml"/><Relationship Id="rId406" Type="http://schemas.openxmlformats.org/officeDocument/2006/relationships/slide" Target="slides/slide402.xml"/><Relationship Id="rId405" Type="http://schemas.openxmlformats.org/officeDocument/2006/relationships/slide" Target="slides/slide401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400" Type="http://schemas.openxmlformats.org/officeDocument/2006/relationships/slide" Target="slides/slide396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107" Type="http://schemas.openxmlformats.org/officeDocument/2006/relationships/slide" Target="slides/slide103.xml"/><Relationship Id="rId228" Type="http://schemas.openxmlformats.org/officeDocument/2006/relationships/slide" Target="slides/slide224.xml"/><Relationship Id="rId349" Type="http://schemas.openxmlformats.org/officeDocument/2006/relationships/slide" Target="slides/slide345.xml"/><Relationship Id="rId106" Type="http://schemas.openxmlformats.org/officeDocument/2006/relationships/slide" Target="slides/slide102.xml"/><Relationship Id="rId227" Type="http://schemas.openxmlformats.org/officeDocument/2006/relationships/slide" Target="slides/slide223.xml"/><Relationship Id="rId348" Type="http://schemas.openxmlformats.org/officeDocument/2006/relationships/slide" Target="slides/slide344.xml"/><Relationship Id="rId105" Type="http://schemas.openxmlformats.org/officeDocument/2006/relationships/slide" Target="slides/slide101.xml"/><Relationship Id="rId226" Type="http://schemas.openxmlformats.org/officeDocument/2006/relationships/slide" Target="slides/slide222.xml"/><Relationship Id="rId347" Type="http://schemas.openxmlformats.org/officeDocument/2006/relationships/slide" Target="slides/slide343.xml"/><Relationship Id="rId104" Type="http://schemas.openxmlformats.org/officeDocument/2006/relationships/slide" Target="slides/slide100.xml"/><Relationship Id="rId225" Type="http://schemas.openxmlformats.org/officeDocument/2006/relationships/slide" Target="slides/slide221.xml"/><Relationship Id="rId346" Type="http://schemas.openxmlformats.org/officeDocument/2006/relationships/slide" Target="slides/slide342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229" Type="http://schemas.openxmlformats.org/officeDocument/2006/relationships/slide" Target="slides/slide225.xml"/><Relationship Id="rId220" Type="http://schemas.openxmlformats.org/officeDocument/2006/relationships/slide" Target="slides/slide216.xml"/><Relationship Id="rId341" Type="http://schemas.openxmlformats.org/officeDocument/2006/relationships/slide" Target="slides/slide337.xml"/><Relationship Id="rId340" Type="http://schemas.openxmlformats.org/officeDocument/2006/relationships/slide" Target="slides/slide336.xml"/><Relationship Id="rId103" Type="http://schemas.openxmlformats.org/officeDocument/2006/relationships/slide" Target="slides/slide99.xml"/><Relationship Id="rId224" Type="http://schemas.openxmlformats.org/officeDocument/2006/relationships/slide" Target="slides/slide220.xml"/><Relationship Id="rId345" Type="http://schemas.openxmlformats.org/officeDocument/2006/relationships/slide" Target="slides/slide341.xml"/><Relationship Id="rId102" Type="http://schemas.openxmlformats.org/officeDocument/2006/relationships/slide" Target="slides/slide98.xml"/><Relationship Id="rId223" Type="http://schemas.openxmlformats.org/officeDocument/2006/relationships/slide" Target="slides/slide219.xml"/><Relationship Id="rId344" Type="http://schemas.openxmlformats.org/officeDocument/2006/relationships/slide" Target="slides/slide340.xml"/><Relationship Id="rId101" Type="http://schemas.openxmlformats.org/officeDocument/2006/relationships/slide" Target="slides/slide97.xml"/><Relationship Id="rId222" Type="http://schemas.openxmlformats.org/officeDocument/2006/relationships/slide" Target="slides/slide218.xml"/><Relationship Id="rId343" Type="http://schemas.openxmlformats.org/officeDocument/2006/relationships/slide" Target="slides/slide339.xml"/><Relationship Id="rId100" Type="http://schemas.openxmlformats.org/officeDocument/2006/relationships/slide" Target="slides/slide96.xml"/><Relationship Id="rId221" Type="http://schemas.openxmlformats.org/officeDocument/2006/relationships/slide" Target="slides/slide217.xml"/><Relationship Id="rId342" Type="http://schemas.openxmlformats.org/officeDocument/2006/relationships/slide" Target="slides/slide338.xml"/><Relationship Id="rId217" Type="http://schemas.openxmlformats.org/officeDocument/2006/relationships/slide" Target="slides/slide213.xml"/><Relationship Id="rId338" Type="http://schemas.openxmlformats.org/officeDocument/2006/relationships/slide" Target="slides/slide334.xml"/><Relationship Id="rId216" Type="http://schemas.openxmlformats.org/officeDocument/2006/relationships/slide" Target="slides/slide212.xml"/><Relationship Id="rId337" Type="http://schemas.openxmlformats.org/officeDocument/2006/relationships/slide" Target="slides/slide333.xml"/><Relationship Id="rId215" Type="http://schemas.openxmlformats.org/officeDocument/2006/relationships/slide" Target="slides/slide211.xml"/><Relationship Id="rId336" Type="http://schemas.openxmlformats.org/officeDocument/2006/relationships/slide" Target="slides/slide332.xml"/><Relationship Id="rId214" Type="http://schemas.openxmlformats.org/officeDocument/2006/relationships/slide" Target="slides/slide210.xml"/><Relationship Id="rId335" Type="http://schemas.openxmlformats.org/officeDocument/2006/relationships/slide" Target="slides/slide331.xml"/><Relationship Id="rId219" Type="http://schemas.openxmlformats.org/officeDocument/2006/relationships/slide" Target="slides/slide215.xml"/><Relationship Id="rId218" Type="http://schemas.openxmlformats.org/officeDocument/2006/relationships/slide" Target="slides/slide214.xml"/><Relationship Id="rId339" Type="http://schemas.openxmlformats.org/officeDocument/2006/relationships/slide" Target="slides/slide335.xml"/><Relationship Id="rId330" Type="http://schemas.openxmlformats.org/officeDocument/2006/relationships/slide" Target="slides/slide326.xml"/><Relationship Id="rId213" Type="http://schemas.openxmlformats.org/officeDocument/2006/relationships/slide" Target="slides/slide209.xml"/><Relationship Id="rId334" Type="http://schemas.openxmlformats.org/officeDocument/2006/relationships/slide" Target="slides/slide330.xml"/><Relationship Id="rId212" Type="http://schemas.openxmlformats.org/officeDocument/2006/relationships/slide" Target="slides/slide208.xml"/><Relationship Id="rId333" Type="http://schemas.openxmlformats.org/officeDocument/2006/relationships/slide" Target="slides/slide329.xml"/><Relationship Id="rId211" Type="http://schemas.openxmlformats.org/officeDocument/2006/relationships/slide" Target="slides/slide207.xml"/><Relationship Id="rId332" Type="http://schemas.openxmlformats.org/officeDocument/2006/relationships/slide" Target="slides/slide328.xml"/><Relationship Id="rId210" Type="http://schemas.openxmlformats.org/officeDocument/2006/relationships/slide" Target="slides/slide206.xml"/><Relationship Id="rId331" Type="http://schemas.openxmlformats.org/officeDocument/2006/relationships/slide" Target="slides/slide327.xml"/><Relationship Id="rId370" Type="http://schemas.openxmlformats.org/officeDocument/2006/relationships/slide" Target="slides/slide366.xml"/><Relationship Id="rId129" Type="http://schemas.openxmlformats.org/officeDocument/2006/relationships/slide" Target="slides/slide125.xml"/><Relationship Id="rId128" Type="http://schemas.openxmlformats.org/officeDocument/2006/relationships/slide" Target="slides/slide124.xml"/><Relationship Id="rId249" Type="http://schemas.openxmlformats.org/officeDocument/2006/relationships/slide" Target="slides/slide245.xml"/><Relationship Id="rId127" Type="http://schemas.openxmlformats.org/officeDocument/2006/relationships/slide" Target="slides/slide123.xml"/><Relationship Id="rId248" Type="http://schemas.openxmlformats.org/officeDocument/2006/relationships/slide" Target="slides/slide244.xml"/><Relationship Id="rId369" Type="http://schemas.openxmlformats.org/officeDocument/2006/relationships/slide" Target="slides/slide365.xml"/><Relationship Id="rId126" Type="http://schemas.openxmlformats.org/officeDocument/2006/relationships/slide" Target="slides/slide122.xml"/><Relationship Id="rId247" Type="http://schemas.openxmlformats.org/officeDocument/2006/relationships/slide" Target="slides/slide243.xml"/><Relationship Id="rId368" Type="http://schemas.openxmlformats.org/officeDocument/2006/relationships/slide" Target="slides/slide364.xml"/><Relationship Id="rId121" Type="http://schemas.openxmlformats.org/officeDocument/2006/relationships/slide" Target="slides/slide117.xml"/><Relationship Id="rId242" Type="http://schemas.openxmlformats.org/officeDocument/2006/relationships/slide" Target="slides/slide238.xml"/><Relationship Id="rId363" Type="http://schemas.openxmlformats.org/officeDocument/2006/relationships/slide" Target="slides/slide359.xml"/><Relationship Id="rId120" Type="http://schemas.openxmlformats.org/officeDocument/2006/relationships/slide" Target="slides/slide116.xml"/><Relationship Id="rId241" Type="http://schemas.openxmlformats.org/officeDocument/2006/relationships/slide" Target="slides/slide237.xml"/><Relationship Id="rId362" Type="http://schemas.openxmlformats.org/officeDocument/2006/relationships/slide" Target="slides/slide358.xml"/><Relationship Id="rId240" Type="http://schemas.openxmlformats.org/officeDocument/2006/relationships/slide" Target="slides/slide236.xml"/><Relationship Id="rId361" Type="http://schemas.openxmlformats.org/officeDocument/2006/relationships/slide" Target="slides/slide357.xml"/><Relationship Id="rId360" Type="http://schemas.openxmlformats.org/officeDocument/2006/relationships/slide" Target="slides/slide356.xml"/><Relationship Id="rId125" Type="http://schemas.openxmlformats.org/officeDocument/2006/relationships/slide" Target="slides/slide121.xml"/><Relationship Id="rId246" Type="http://schemas.openxmlformats.org/officeDocument/2006/relationships/slide" Target="slides/slide242.xml"/><Relationship Id="rId367" Type="http://schemas.openxmlformats.org/officeDocument/2006/relationships/slide" Target="slides/slide363.xml"/><Relationship Id="rId124" Type="http://schemas.openxmlformats.org/officeDocument/2006/relationships/slide" Target="slides/slide120.xml"/><Relationship Id="rId245" Type="http://schemas.openxmlformats.org/officeDocument/2006/relationships/slide" Target="slides/slide241.xml"/><Relationship Id="rId366" Type="http://schemas.openxmlformats.org/officeDocument/2006/relationships/slide" Target="slides/slide362.xml"/><Relationship Id="rId123" Type="http://schemas.openxmlformats.org/officeDocument/2006/relationships/slide" Target="slides/slide119.xml"/><Relationship Id="rId244" Type="http://schemas.openxmlformats.org/officeDocument/2006/relationships/slide" Target="slides/slide240.xml"/><Relationship Id="rId365" Type="http://schemas.openxmlformats.org/officeDocument/2006/relationships/slide" Target="slides/slide361.xml"/><Relationship Id="rId122" Type="http://schemas.openxmlformats.org/officeDocument/2006/relationships/slide" Target="slides/slide118.xml"/><Relationship Id="rId243" Type="http://schemas.openxmlformats.org/officeDocument/2006/relationships/slide" Target="slides/slide239.xml"/><Relationship Id="rId364" Type="http://schemas.openxmlformats.org/officeDocument/2006/relationships/slide" Target="slides/slide360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99" Type="http://schemas.openxmlformats.org/officeDocument/2006/relationships/slide" Target="slides/slide95.xml"/><Relationship Id="rId98" Type="http://schemas.openxmlformats.org/officeDocument/2006/relationships/slide" Target="slides/slide94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18" Type="http://schemas.openxmlformats.org/officeDocument/2006/relationships/slide" Target="slides/slide114.xml"/><Relationship Id="rId239" Type="http://schemas.openxmlformats.org/officeDocument/2006/relationships/slide" Target="slides/slide235.xml"/><Relationship Id="rId117" Type="http://schemas.openxmlformats.org/officeDocument/2006/relationships/slide" Target="slides/slide113.xml"/><Relationship Id="rId238" Type="http://schemas.openxmlformats.org/officeDocument/2006/relationships/slide" Target="slides/slide234.xml"/><Relationship Id="rId359" Type="http://schemas.openxmlformats.org/officeDocument/2006/relationships/slide" Target="slides/slide355.xml"/><Relationship Id="rId116" Type="http://schemas.openxmlformats.org/officeDocument/2006/relationships/slide" Target="slides/slide112.xml"/><Relationship Id="rId237" Type="http://schemas.openxmlformats.org/officeDocument/2006/relationships/slide" Target="slides/slide233.xml"/><Relationship Id="rId358" Type="http://schemas.openxmlformats.org/officeDocument/2006/relationships/slide" Target="slides/slide354.xml"/><Relationship Id="rId115" Type="http://schemas.openxmlformats.org/officeDocument/2006/relationships/slide" Target="slides/slide111.xml"/><Relationship Id="rId236" Type="http://schemas.openxmlformats.org/officeDocument/2006/relationships/slide" Target="slides/slide232.xml"/><Relationship Id="rId357" Type="http://schemas.openxmlformats.org/officeDocument/2006/relationships/slide" Target="slides/slide353.xml"/><Relationship Id="rId119" Type="http://schemas.openxmlformats.org/officeDocument/2006/relationships/slide" Target="slides/slide115.xml"/><Relationship Id="rId110" Type="http://schemas.openxmlformats.org/officeDocument/2006/relationships/slide" Target="slides/slide106.xml"/><Relationship Id="rId231" Type="http://schemas.openxmlformats.org/officeDocument/2006/relationships/slide" Target="slides/slide227.xml"/><Relationship Id="rId352" Type="http://schemas.openxmlformats.org/officeDocument/2006/relationships/slide" Target="slides/slide348.xml"/><Relationship Id="rId230" Type="http://schemas.openxmlformats.org/officeDocument/2006/relationships/slide" Target="slides/slide226.xml"/><Relationship Id="rId351" Type="http://schemas.openxmlformats.org/officeDocument/2006/relationships/slide" Target="slides/slide347.xml"/><Relationship Id="rId350" Type="http://schemas.openxmlformats.org/officeDocument/2006/relationships/slide" Target="slides/slide346.xml"/><Relationship Id="rId114" Type="http://schemas.openxmlformats.org/officeDocument/2006/relationships/slide" Target="slides/slide110.xml"/><Relationship Id="rId235" Type="http://schemas.openxmlformats.org/officeDocument/2006/relationships/slide" Target="slides/slide231.xml"/><Relationship Id="rId356" Type="http://schemas.openxmlformats.org/officeDocument/2006/relationships/slide" Target="slides/slide352.xml"/><Relationship Id="rId113" Type="http://schemas.openxmlformats.org/officeDocument/2006/relationships/slide" Target="slides/slide109.xml"/><Relationship Id="rId234" Type="http://schemas.openxmlformats.org/officeDocument/2006/relationships/slide" Target="slides/slide230.xml"/><Relationship Id="rId355" Type="http://schemas.openxmlformats.org/officeDocument/2006/relationships/slide" Target="slides/slide351.xml"/><Relationship Id="rId112" Type="http://schemas.openxmlformats.org/officeDocument/2006/relationships/slide" Target="slides/slide108.xml"/><Relationship Id="rId233" Type="http://schemas.openxmlformats.org/officeDocument/2006/relationships/slide" Target="slides/slide229.xml"/><Relationship Id="rId354" Type="http://schemas.openxmlformats.org/officeDocument/2006/relationships/slide" Target="slides/slide350.xml"/><Relationship Id="rId111" Type="http://schemas.openxmlformats.org/officeDocument/2006/relationships/slide" Target="slides/slide107.xml"/><Relationship Id="rId232" Type="http://schemas.openxmlformats.org/officeDocument/2006/relationships/slide" Target="slides/slide228.xml"/><Relationship Id="rId353" Type="http://schemas.openxmlformats.org/officeDocument/2006/relationships/slide" Target="slides/slide349.xml"/><Relationship Id="rId305" Type="http://schemas.openxmlformats.org/officeDocument/2006/relationships/slide" Target="slides/slide301.xml"/><Relationship Id="rId426" Type="http://schemas.openxmlformats.org/officeDocument/2006/relationships/slide" Target="slides/slide422.xml"/><Relationship Id="rId304" Type="http://schemas.openxmlformats.org/officeDocument/2006/relationships/slide" Target="slides/slide300.xml"/><Relationship Id="rId425" Type="http://schemas.openxmlformats.org/officeDocument/2006/relationships/slide" Target="slides/slide421.xml"/><Relationship Id="rId303" Type="http://schemas.openxmlformats.org/officeDocument/2006/relationships/slide" Target="slides/slide299.xml"/><Relationship Id="rId424" Type="http://schemas.openxmlformats.org/officeDocument/2006/relationships/slide" Target="slides/slide420.xml"/><Relationship Id="rId302" Type="http://schemas.openxmlformats.org/officeDocument/2006/relationships/slide" Target="slides/slide298.xml"/><Relationship Id="rId423" Type="http://schemas.openxmlformats.org/officeDocument/2006/relationships/slide" Target="slides/slide419.xml"/><Relationship Id="rId309" Type="http://schemas.openxmlformats.org/officeDocument/2006/relationships/slide" Target="slides/slide305.xml"/><Relationship Id="rId308" Type="http://schemas.openxmlformats.org/officeDocument/2006/relationships/slide" Target="slides/slide304.xml"/><Relationship Id="rId429" Type="http://schemas.openxmlformats.org/officeDocument/2006/relationships/slide" Target="slides/slide425.xml"/><Relationship Id="rId307" Type="http://schemas.openxmlformats.org/officeDocument/2006/relationships/slide" Target="slides/slide303.xml"/><Relationship Id="rId428" Type="http://schemas.openxmlformats.org/officeDocument/2006/relationships/slide" Target="slides/slide424.xml"/><Relationship Id="rId306" Type="http://schemas.openxmlformats.org/officeDocument/2006/relationships/slide" Target="slides/slide302.xml"/><Relationship Id="rId427" Type="http://schemas.openxmlformats.org/officeDocument/2006/relationships/slide" Target="slides/slide423.xml"/><Relationship Id="rId301" Type="http://schemas.openxmlformats.org/officeDocument/2006/relationships/slide" Target="slides/slide297.xml"/><Relationship Id="rId422" Type="http://schemas.openxmlformats.org/officeDocument/2006/relationships/slide" Target="slides/slide418.xml"/><Relationship Id="rId300" Type="http://schemas.openxmlformats.org/officeDocument/2006/relationships/slide" Target="slides/slide296.xml"/><Relationship Id="rId421" Type="http://schemas.openxmlformats.org/officeDocument/2006/relationships/slide" Target="slides/slide417.xml"/><Relationship Id="rId420" Type="http://schemas.openxmlformats.org/officeDocument/2006/relationships/slide" Target="slides/slide416.xml"/><Relationship Id="rId415" Type="http://schemas.openxmlformats.org/officeDocument/2006/relationships/slide" Target="slides/slide411.xml"/><Relationship Id="rId414" Type="http://schemas.openxmlformats.org/officeDocument/2006/relationships/slide" Target="slides/slide410.xml"/><Relationship Id="rId413" Type="http://schemas.openxmlformats.org/officeDocument/2006/relationships/slide" Target="slides/slide409.xml"/><Relationship Id="rId412" Type="http://schemas.openxmlformats.org/officeDocument/2006/relationships/slide" Target="slides/slide408.xml"/><Relationship Id="rId419" Type="http://schemas.openxmlformats.org/officeDocument/2006/relationships/slide" Target="slides/slide415.xml"/><Relationship Id="rId418" Type="http://schemas.openxmlformats.org/officeDocument/2006/relationships/slide" Target="slides/slide414.xml"/><Relationship Id="rId417" Type="http://schemas.openxmlformats.org/officeDocument/2006/relationships/slide" Target="slides/slide413.xml"/><Relationship Id="rId416" Type="http://schemas.openxmlformats.org/officeDocument/2006/relationships/slide" Target="slides/slide412.xml"/><Relationship Id="rId411" Type="http://schemas.openxmlformats.org/officeDocument/2006/relationships/slide" Target="slides/slide407.xml"/><Relationship Id="rId410" Type="http://schemas.openxmlformats.org/officeDocument/2006/relationships/slide" Target="slides/slide406.xml"/><Relationship Id="rId206" Type="http://schemas.openxmlformats.org/officeDocument/2006/relationships/slide" Target="slides/slide202.xml"/><Relationship Id="rId327" Type="http://schemas.openxmlformats.org/officeDocument/2006/relationships/slide" Target="slides/slide323.xml"/><Relationship Id="rId205" Type="http://schemas.openxmlformats.org/officeDocument/2006/relationships/slide" Target="slides/slide201.xml"/><Relationship Id="rId326" Type="http://schemas.openxmlformats.org/officeDocument/2006/relationships/slide" Target="slides/slide322.xml"/><Relationship Id="rId204" Type="http://schemas.openxmlformats.org/officeDocument/2006/relationships/slide" Target="slides/slide200.xml"/><Relationship Id="rId325" Type="http://schemas.openxmlformats.org/officeDocument/2006/relationships/slide" Target="slides/slide321.xml"/><Relationship Id="rId203" Type="http://schemas.openxmlformats.org/officeDocument/2006/relationships/slide" Target="slides/slide199.xml"/><Relationship Id="rId324" Type="http://schemas.openxmlformats.org/officeDocument/2006/relationships/slide" Target="slides/slide320.xml"/><Relationship Id="rId209" Type="http://schemas.openxmlformats.org/officeDocument/2006/relationships/slide" Target="slides/slide205.xml"/><Relationship Id="rId208" Type="http://schemas.openxmlformats.org/officeDocument/2006/relationships/slide" Target="slides/slide204.xml"/><Relationship Id="rId329" Type="http://schemas.openxmlformats.org/officeDocument/2006/relationships/slide" Target="slides/slide325.xml"/><Relationship Id="rId207" Type="http://schemas.openxmlformats.org/officeDocument/2006/relationships/slide" Target="slides/slide203.xml"/><Relationship Id="rId328" Type="http://schemas.openxmlformats.org/officeDocument/2006/relationships/slide" Target="slides/slide324.xml"/><Relationship Id="rId440" Type="http://schemas.openxmlformats.org/officeDocument/2006/relationships/font" Target="fonts/JetBrainsMono-regular.fntdata"/><Relationship Id="rId202" Type="http://schemas.openxmlformats.org/officeDocument/2006/relationships/slide" Target="slides/slide198.xml"/><Relationship Id="rId323" Type="http://schemas.openxmlformats.org/officeDocument/2006/relationships/slide" Target="slides/slide319.xml"/><Relationship Id="rId201" Type="http://schemas.openxmlformats.org/officeDocument/2006/relationships/slide" Target="slides/slide197.xml"/><Relationship Id="rId322" Type="http://schemas.openxmlformats.org/officeDocument/2006/relationships/slide" Target="slides/slide318.xml"/><Relationship Id="rId443" Type="http://schemas.openxmlformats.org/officeDocument/2006/relationships/font" Target="fonts/JetBrainsMono-boldItalic.fntdata"/><Relationship Id="rId200" Type="http://schemas.openxmlformats.org/officeDocument/2006/relationships/slide" Target="slides/slide196.xml"/><Relationship Id="rId321" Type="http://schemas.openxmlformats.org/officeDocument/2006/relationships/slide" Target="slides/slide317.xml"/><Relationship Id="rId442" Type="http://schemas.openxmlformats.org/officeDocument/2006/relationships/font" Target="fonts/JetBrainsMono-italic.fntdata"/><Relationship Id="rId320" Type="http://schemas.openxmlformats.org/officeDocument/2006/relationships/slide" Target="slides/slide316.xml"/><Relationship Id="rId441" Type="http://schemas.openxmlformats.org/officeDocument/2006/relationships/font" Target="fonts/JetBrainsMono-bold.fntdata"/><Relationship Id="rId316" Type="http://schemas.openxmlformats.org/officeDocument/2006/relationships/slide" Target="slides/slide312.xml"/><Relationship Id="rId437" Type="http://schemas.openxmlformats.org/officeDocument/2006/relationships/slide" Target="slides/slide433.xml"/><Relationship Id="rId315" Type="http://schemas.openxmlformats.org/officeDocument/2006/relationships/slide" Target="slides/slide311.xml"/><Relationship Id="rId436" Type="http://schemas.openxmlformats.org/officeDocument/2006/relationships/slide" Target="slides/slide432.xml"/><Relationship Id="rId314" Type="http://schemas.openxmlformats.org/officeDocument/2006/relationships/slide" Target="slides/slide310.xml"/><Relationship Id="rId435" Type="http://schemas.openxmlformats.org/officeDocument/2006/relationships/slide" Target="slides/slide431.xml"/><Relationship Id="rId313" Type="http://schemas.openxmlformats.org/officeDocument/2006/relationships/slide" Target="slides/slide309.xml"/><Relationship Id="rId434" Type="http://schemas.openxmlformats.org/officeDocument/2006/relationships/slide" Target="slides/slide430.xml"/><Relationship Id="rId319" Type="http://schemas.openxmlformats.org/officeDocument/2006/relationships/slide" Target="slides/slide315.xml"/><Relationship Id="rId318" Type="http://schemas.openxmlformats.org/officeDocument/2006/relationships/slide" Target="slides/slide314.xml"/><Relationship Id="rId439" Type="http://schemas.openxmlformats.org/officeDocument/2006/relationships/font" Target="fonts/BricolageGrotesque-bold.fntdata"/><Relationship Id="rId317" Type="http://schemas.openxmlformats.org/officeDocument/2006/relationships/slide" Target="slides/slide313.xml"/><Relationship Id="rId438" Type="http://schemas.openxmlformats.org/officeDocument/2006/relationships/font" Target="fonts/BricolageGrotesque-regular.fntdata"/><Relationship Id="rId312" Type="http://schemas.openxmlformats.org/officeDocument/2006/relationships/slide" Target="slides/slide308.xml"/><Relationship Id="rId433" Type="http://schemas.openxmlformats.org/officeDocument/2006/relationships/slide" Target="slides/slide429.xml"/><Relationship Id="rId311" Type="http://schemas.openxmlformats.org/officeDocument/2006/relationships/slide" Target="slides/slide307.xml"/><Relationship Id="rId432" Type="http://schemas.openxmlformats.org/officeDocument/2006/relationships/slide" Target="slides/slide428.xml"/><Relationship Id="rId310" Type="http://schemas.openxmlformats.org/officeDocument/2006/relationships/slide" Target="slides/slide306.xml"/><Relationship Id="rId431" Type="http://schemas.openxmlformats.org/officeDocument/2006/relationships/slide" Target="slides/slide427.xml"/><Relationship Id="rId430" Type="http://schemas.openxmlformats.org/officeDocument/2006/relationships/slide" Target="slides/slide426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Welcome. Introduce yourself, the course, and set the expectation that this is a hands-on course: we write code in every class.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the eight units quickly. Point out that everything after Unit 5 depends on loops and functions being solid.</a:t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1. Most students have never run a line of code. Keep the tone low-stakes.</a:t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 the four items out loud. They are the promise for the next 90 minutes.</a:t>
            </a:r>
            <a:endParaRPr/>
          </a:p>
        </p:txBody>
      </p:sp>
      <p:sp>
        <p:nvSpPr>
          <p:cNvPr id="62" name="Google Shape;6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Emphasise 'in order' and 'exactly'. Both cause most beginner bugs.</a:t>
            </a:r>
            <a:endParaRPr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Python is the most-taught first language at universities worldwide. Its syntax is close to English, so students spend their attention on the idea rather than the punctuation.</a:t>
            </a:r>
            <a:endParaRPr/>
          </a:p>
        </p:txBody>
      </p:sp>
      <p:sp>
        <p:nvSpPr>
          <p:cNvPr id="97" name="Google Shape;9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Have them open colab.research.google.com now and create a notebook. Nothing to install.</a:t>
            </a:r>
            <a:endParaRPr/>
          </a:p>
        </p:txBody>
      </p:sp>
      <p:sp>
        <p:nvSpPr>
          <p:cNvPr id="112" name="Google Shape;1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Make everyone press Shift+Enter at least once before moving on.</a:t>
            </a:r>
            <a:endParaRPr/>
          </a:p>
        </p:txBody>
      </p:sp>
      <p:sp>
        <p:nvSpPr>
          <p:cNvPr id="129" name="Google Shape;1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 it live, including the quotes. Then delete a quote and show what happens.</a:t>
            </a:r>
            <a:endParaRPr/>
          </a:p>
        </p:txBody>
      </p:sp>
      <p:sp>
        <p:nvSpPr>
          <p:cNvPr id="146" name="Google Shape;14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the parts: function name, parentheses, argument, quotes. They will hear these words all term.</a:t>
            </a:r>
            <a:endParaRPr/>
          </a:p>
        </p:txBody>
      </p:sp>
      <p:sp>
        <p:nvSpPr>
          <p:cNvPr id="159" name="Google Shape;15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 out that a bare expression in Colab shows its value; inside a script you would need print().</a:t>
            </a:r>
            <a:endParaRPr/>
          </a:p>
        </p:txBody>
      </p:sp>
      <p:sp>
        <p:nvSpPr>
          <p:cNvPr id="174" name="Google Shape;1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prints, three lines of output, in the same order. Then reorder the lines live.</a:t>
            </a:r>
            <a:endParaRPr/>
          </a:p>
        </p:txBody>
      </p:sp>
      <p:sp>
        <p:nvSpPr>
          <p:cNvPr id="194" name="Google Shape;19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Their notebooks are full of comments used as notes to self. Encourage the habit.</a:t>
            </a:r>
            <a:endParaRPr/>
          </a:p>
        </p:txBody>
      </p:sp>
      <p:sp>
        <p:nvSpPr>
          <p:cNvPr id="207" name="Google Shape;20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Trace tables like this return all term. Establish the habit of reading code one line at a time.</a:t>
            </a:r>
            <a:endParaRPr/>
          </a:p>
        </p:txBody>
      </p:sp>
      <p:sp>
        <p:nvSpPr>
          <p:cNvPr id="218" name="Google Shape;21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Python 2 allowed print without parentheses. Students copying old tutorials hit this constantly.</a:t>
            </a:r>
            <a:endParaRPr/>
          </a:p>
        </p:txBody>
      </p:sp>
      <p:sp>
        <p:nvSpPr>
          <p:cNvPr id="253" name="Google Shape;25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both: a misspelled function name and a wrong capital letter. Same class of mistake.</a:t>
            </a:r>
            <a:endParaRPr/>
          </a:p>
        </p:txBody>
      </p:sp>
      <p:sp>
        <p:nvSpPr>
          <p:cNvPr id="267" name="Google Shape;26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 them to read the last line first. It is the single most useful debugging habit.</a:t>
            </a:r>
            <a:endParaRPr/>
          </a:p>
        </p:txBody>
      </p:sp>
      <p:sp>
        <p:nvSpPr>
          <p:cNvPr id="283" name="Google Shape;28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minutes. Walk the room. Problem 3 is the one that produces the most questions.</a:t>
            </a:r>
            <a:endParaRPr/>
          </a:p>
        </p:txBody>
      </p:sp>
      <p:sp>
        <p:nvSpPr>
          <p:cNvPr id="301" name="Google Shape;30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by naming next class: variables. Ask them to keep today's notebook.</a:t>
            </a:r>
            <a:endParaRPr/>
          </a:p>
        </p:txBody>
      </p:sp>
      <p:sp>
        <p:nvSpPr>
          <p:cNvPr id="314" name="Google Shape;31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2. Variables are the first real abstraction. Take it slowly.</a:t>
            </a:r>
            <a:endParaRPr/>
          </a:p>
        </p:txBody>
      </p:sp>
      <p:sp>
        <p:nvSpPr>
          <p:cNvPr id="330" name="Google Shape;33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items. The = versus == distinction is the one they will get wrong on the midterm.</a:t>
            </a:r>
            <a:endParaRPr/>
          </a:p>
        </p:txBody>
      </p:sp>
      <p:sp>
        <p:nvSpPr>
          <p:cNvPr id="338" name="Google Shape;33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label attached to a value, not a box. The label can move to a different value at any time.</a:t>
            </a:r>
            <a:endParaRPr/>
          </a:p>
        </p:txBody>
      </p:sp>
      <p:sp>
        <p:nvSpPr>
          <p:cNvPr id="356" name="Google Shape;35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 each cell. Note that assignment itself prints nothing.</a:t>
            </a:r>
            <a:endParaRPr/>
          </a:p>
        </p:txBody>
      </p:sp>
      <p:sp>
        <p:nvSpPr>
          <p:cNvPr id="367" name="Google Shape;36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old value is gone. There is no history unless you keep it in another variable.</a:t>
            </a:r>
            <a:endParaRPr/>
          </a:p>
        </p:txBody>
      </p:sp>
      <p:sp>
        <p:nvSpPr>
          <p:cNvPr id="380" name="Google Shape;38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 this on the board with them before revealing. Ask what a holds after each line.</a:t>
            </a:r>
            <a:endParaRPr/>
          </a:p>
        </p:txBody>
      </p:sp>
      <p:sp>
        <p:nvSpPr>
          <p:cNvPr id="394" name="Google Shape;39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hard rules. Everything else is convention.</a:t>
            </a:r>
            <a:endParaRPr/>
          </a:p>
        </p:txBody>
      </p:sp>
      <p:sp>
        <p:nvSpPr>
          <p:cNvPr id="439" name="Google Shape;43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 both live. The caret in the traceback points at the offending character.</a:t>
            </a:r>
            <a:endParaRPr/>
          </a:p>
        </p:txBody>
      </p:sp>
      <p:sp>
        <p:nvSpPr>
          <p:cNvPr id="457" name="Google Shape;45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Assigning to a does not create xy. This is the error they will see most this term.</a:t>
            </a:r>
            <a:endParaRPr/>
          </a:p>
        </p:txBody>
      </p:sp>
      <p:sp>
        <p:nvSpPr>
          <p:cNvPr id="473" name="Google Shape;473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Legal is not the same as readable. Push them toward descriptive names early.</a:t>
            </a:r>
            <a:endParaRPr/>
          </a:p>
        </p:txBody>
      </p:sp>
      <p:sp>
        <p:nvSpPr>
          <p:cNvPr id="487" name="Google Shape;48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 it twice. One equals sign changes something; two ask a question.</a:t>
            </a:r>
            <a:endParaRPr/>
          </a:p>
        </p:txBody>
      </p:sp>
      <p:sp>
        <p:nvSpPr>
          <p:cNvPr id="501" name="Google Shape;50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 that a == 7 does not change a. It only reports.</a:t>
            </a:r>
            <a:endParaRPr/>
          </a:p>
        </p:txBody>
      </p:sp>
      <p:sp>
        <p:nvSpPr>
          <p:cNvPr id="510" name="Google Shape;51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classic line that breaks their maths intuition. Trace it out loud.</a:t>
            </a:r>
            <a:endParaRPr/>
          </a:p>
        </p:txBody>
      </p:sp>
      <p:sp>
        <p:nvSpPr>
          <p:cNvPr id="523" name="Google Shape;523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the naive two-line swap failing first, then the temp variable, then the Python shortcut.</a:t>
            </a:r>
            <a:endParaRPr/>
          </a:p>
        </p:txBody>
      </p:sp>
      <p:sp>
        <p:nvSpPr>
          <p:cNvPr id="534" name="Google Shape;534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Give them 60 seconds. Ask for hands before revealing.</a:t>
            </a:r>
            <a:endParaRPr/>
          </a:p>
        </p:txBody>
      </p:sp>
      <p:sp>
        <p:nvSpPr>
          <p:cNvPr id="548" name="Google Shape;54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minutes. Problem 3 previews next class: types.</a:t>
            </a:r>
            <a:endParaRPr/>
          </a:p>
        </p:txBody>
      </p:sp>
      <p:sp>
        <p:nvSpPr>
          <p:cNvPr id="558" name="Google Shape;558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class: what kind of thing a value is.</a:t>
            </a:r>
            <a:endParaRPr/>
          </a:p>
        </p:txBody>
      </p:sp>
      <p:sp>
        <p:nvSpPr>
          <p:cNvPr id="571" name="Google Shape;571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3. Types explain most of the confusing errors they will meet.</a:t>
            </a:r>
            <a:endParaRPr/>
          </a:p>
        </p:txBody>
      </p:sp>
      <p:sp>
        <p:nvSpPr>
          <p:cNvPr id="587" name="Google Shape;587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items. The last one, conversion, is what they need for input() next week.</a:t>
            </a:r>
            <a:endParaRPr/>
          </a:p>
        </p:txBody>
      </p:sp>
      <p:sp>
        <p:nvSpPr>
          <p:cNvPr id="595" name="Google Shape;595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 value in Python has a type. These four cover the whole first half of the course.</a:t>
            </a:r>
            <a:endParaRPr/>
          </a:p>
        </p:txBody>
      </p:sp>
      <p:sp>
        <p:nvSpPr>
          <p:cNvPr id="613" name="Google Shape;613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6" name="Google Shape;63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type() is their diagnostic tool for the rest of the term.</a:t>
            </a:r>
            <a:endParaRPr/>
          </a:p>
        </p:txBody>
      </p:sp>
      <p:sp>
        <p:nvSpPr>
          <p:cNvPr id="637" name="Google Shape;637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 at 21.299999. Floats are approximations; mention it now, do not dwell.</a:t>
            </a:r>
            <a:endParaRPr/>
          </a:p>
        </p:txBody>
      </p:sp>
      <p:sp>
        <p:nvSpPr>
          <p:cNvPr id="650" name="Google Shape;650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True is 1 and False is 0 underneath. That is why arithmetic on booleans works.</a:t>
            </a:r>
            <a:endParaRPr/>
          </a:p>
        </p:txBody>
      </p:sp>
      <p:sp>
        <p:nvSpPr>
          <p:cNvPr id="666" name="Google Shape;666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Same symbol, two jobs. The types decide which job it does.</a:t>
            </a:r>
            <a:endParaRPr/>
          </a:p>
        </p:txBody>
      </p:sp>
      <p:sp>
        <p:nvSpPr>
          <p:cNvPr id="680" name="Google Shape;680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Multiplying text by a number repeats it. Multiplying text by text does not exist.</a:t>
            </a:r>
            <a:endParaRPr/>
          </a:p>
        </p:txBody>
      </p:sp>
      <p:sp>
        <p:nvSpPr>
          <p:cNvPr id="697" name="Google Shape;697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 the message aloud: it names both types. That is the clue.</a:t>
            </a:r>
            <a:endParaRPr/>
          </a:p>
        </p:txBody>
      </p:sp>
      <p:sp>
        <p:nvSpPr>
          <p:cNvPr id="711" name="Google Shape;711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4" name="Google Shape;724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conversion functions. Each one is named after the type it produces.</a:t>
            </a:r>
            <a:endParaRPr/>
          </a:p>
        </p:txBody>
      </p:sp>
      <p:sp>
        <p:nvSpPr>
          <p:cNvPr id="725" name="Google Shape;725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8" name="Google Shape;738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Only zero is False. Negative numbers are True, which surprises everyone.</a:t>
            </a:r>
            <a:endParaRPr/>
          </a:p>
        </p:txBody>
      </p:sp>
      <p:sp>
        <p:nvSpPr>
          <p:cNvPr id="739" name="Google Shape;739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2" name="Google Shape;75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TypeError versus ValueError: wrong kind of thing versus right kind, impossible content.</a:t>
            </a:r>
            <a:endParaRPr/>
          </a:p>
        </p:txBody>
      </p:sp>
      <p:sp>
        <p:nvSpPr>
          <p:cNvPr id="753" name="Google Shape;753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Cover the right column and ask them to predict.</a:t>
            </a:r>
            <a:endParaRPr/>
          </a:p>
        </p:txBody>
      </p:sp>
      <p:sp>
        <p:nvSpPr>
          <p:cNvPr id="767" name="Google Shape;767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7" name="Google Shape;807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Python promotes int to float automatically. It never promotes str.</a:t>
            </a:r>
            <a:endParaRPr/>
          </a:p>
        </p:txBody>
      </p:sp>
      <p:sp>
        <p:nvSpPr>
          <p:cNvPr id="808" name="Google Shape;808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1" name="Google Shape;821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60 seconds, hands up, then run it.</a:t>
            </a:r>
            <a:endParaRPr/>
          </a:p>
        </p:txBody>
      </p:sp>
      <p:sp>
        <p:nvSpPr>
          <p:cNvPr id="822" name="Google Shape;822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6" name="Google Shape;836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minutes. Problem 2 sets up input() next class.</a:t>
            </a:r>
            <a:endParaRPr/>
          </a:p>
        </p:txBody>
      </p:sp>
      <p:sp>
        <p:nvSpPr>
          <p:cNvPr id="837" name="Google Shape;837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9" name="Google Shape;849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class: the operators, especially // and %.</a:t>
            </a:r>
            <a:endParaRPr/>
          </a:p>
        </p:txBody>
      </p:sp>
      <p:sp>
        <p:nvSpPr>
          <p:cNvPr id="850" name="Google Shape;850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5" name="Google Shape;865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4. // and % carry more weight in this course than any other operators.</a:t>
            </a:r>
            <a:endParaRPr/>
          </a:p>
        </p:txBody>
      </p:sp>
      <p:sp>
        <p:nvSpPr>
          <p:cNvPr id="866" name="Google Shape;866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3" name="Google Shape;873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Tell them up front: % is how we will test even, odd, and divisibility all term.</a:t>
            </a:r>
            <a:endParaRPr/>
          </a:p>
        </p:txBody>
      </p:sp>
      <p:sp>
        <p:nvSpPr>
          <p:cNvPr id="874" name="Google Shape;874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1" name="Google Shape;891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Seven symbols. Only two of them are new to most students.</a:t>
            </a:r>
            <a:endParaRPr/>
          </a:p>
        </p:txBody>
      </p:sp>
      <p:sp>
        <p:nvSpPr>
          <p:cNvPr id="892" name="Google Shape;892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2" name="Google Shape;922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 this cell and read the output line by line against the code.</a:t>
            </a:r>
            <a:endParaRPr/>
          </a:p>
        </p:txBody>
      </p:sp>
      <p:sp>
        <p:nvSpPr>
          <p:cNvPr id="923" name="Google Shape;923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3" name="Google Shape;933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Draw this on the board. // is the quotient, % is what is left over.</a:t>
            </a:r>
            <a:endParaRPr/>
          </a:p>
        </p:txBody>
      </p:sp>
      <p:sp>
        <p:nvSpPr>
          <p:cNvPr id="934" name="Google Shape;934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5" name="Google Shape;945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single line is behind even/odd, multiples, leap years, and alternating patterns.</a:t>
            </a:r>
            <a:endParaRPr/>
          </a:p>
        </p:txBody>
      </p:sp>
      <p:sp>
        <p:nvSpPr>
          <p:cNvPr id="946" name="Google Shape;946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3" name="Google Shape;953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that the comparison alone gives True or False, before any if statement exists.</a:t>
            </a:r>
            <a:endParaRPr/>
          </a:p>
        </p:txBody>
      </p:sp>
      <p:sp>
        <p:nvSpPr>
          <p:cNvPr id="954" name="Google Shape;954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6" name="Google Shape;966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% 10 peels off the last digit, // 10 removes it. Together they walk through a number.</a:t>
            </a:r>
            <a:endParaRPr/>
          </a:p>
        </p:txBody>
      </p:sp>
      <p:sp>
        <p:nvSpPr>
          <p:cNvPr id="967" name="Google Shape;967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8" name="Google Shape;978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the table row by row. This is exactly the loop they will write in Class 13.</a:t>
            </a:r>
            <a:endParaRPr/>
          </a:p>
        </p:txBody>
      </p:sp>
      <p:sp>
        <p:nvSpPr>
          <p:cNvPr id="979" name="Google Shape;979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9" name="Google Shape;1019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// and % work on floats too, and return floats.</a:t>
            </a:r>
            <a:endParaRPr/>
          </a:p>
        </p:txBody>
      </p:sp>
      <p:sp>
        <p:nvSpPr>
          <p:cNvPr id="1020" name="Google Shape;1020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1" name="Google Shape;1031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Same rules as school maths, plus ** which binds tightest. When in doubt, use brackets.</a:t>
            </a:r>
            <a:endParaRPr/>
          </a:p>
        </p:txBody>
      </p:sp>
      <p:sp>
        <p:nvSpPr>
          <p:cNvPr id="1032" name="Google Shape;1032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1" name="Google Shape;1051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They will meet this again in Class 24 when we catch it with try/except.</a:t>
            </a:r>
            <a:endParaRPr/>
          </a:p>
        </p:txBody>
      </p:sp>
      <p:sp>
        <p:nvSpPr>
          <p:cNvPr id="1052" name="Google Shape;1052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5" name="Google Shape;1065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Concrete uses: pagination, minutes and seconds, grouping.</a:t>
            </a:r>
            <a:endParaRPr/>
          </a:p>
        </p:txBody>
      </p:sp>
      <p:sp>
        <p:nvSpPr>
          <p:cNvPr id="1066" name="Google Shape;1066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7" name="Google Shape;1087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Watch for the negative one; -7 // 2 is -4, not -3. Explain floor, briefly.</a:t>
            </a:r>
            <a:endParaRPr/>
          </a:p>
        </p:txBody>
      </p:sp>
      <p:sp>
        <p:nvSpPr>
          <p:cNvPr id="1088" name="Google Shape;1088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2" name="Google Shape;1102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minutes. Problem 3 is the seed of the digit-sum loop in Class 13.</a:t>
            </a:r>
            <a:endParaRPr/>
          </a:p>
        </p:txBody>
      </p:sp>
      <p:sp>
        <p:nvSpPr>
          <p:cNvPr id="1103" name="Google Shape;1103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5" name="Google Shape;1115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class: getting values from the user.</a:t>
            </a:r>
            <a:endParaRPr/>
          </a:p>
        </p:txBody>
      </p:sp>
      <p:sp>
        <p:nvSpPr>
          <p:cNvPr id="1116" name="Google Shape;1116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1" name="Google Shape;1131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5. Programs become interactive today.</a:t>
            </a:r>
            <a:endParaRPr/>
          </a:p>
        </p:txBody>
      </p:sp>
      <p:sp>
        <p:nvSpPr>
          <p:cNvPr id="1132" name="Google Shape;1132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9" name="Google Shape;1139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one thing they must leave with: input always hands back text.</a:t>
            </a:r>
            <a:endParaRPr/>
          </a:p>
        </p:txBody>
      </p:sp>
      <p:sp>
        <p:nvSpPr>
          <p:cNvPr id="1140" name="Google Shape;1140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7" name="Google Shape;1157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 it. The cell waits. Type something and press Enter.</a:t>
            </a:r>
            <a:endParaRPr/>
          </a:p>
        </p:txBody>
      </p:sp>
      <p:sp>
        <p:nvSpPr>
          <p:cNvPr id="1158" name="Google Shape;1158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1" name="Google Shape;1171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 it plainly, twice. Everything typed comes back as str, even 7.</a:t>
            </a:r>
            <a:endParaRPr/>
          </a:p>
        </p:txBody>
      </p:sp>
      <p:sp>
        <p:nvSpPr>
          <p:cNvPr id="1172" name="Google Shape;1172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9" name="Google Shape;1179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single most common beginner bug. Let them see it before the fix.</a:t>
            </a:r>
            <a:endParaRPr/>
          </a:p>
        </p:txBody>
      </p:sp>
      <p:sp>
        <p:nvSpPr>
          <p:cNvPr id="1180" name="Google Shape;1180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3" name="Google Shape;1193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Wrap input in int(). Read it inside out: input first, then int.</a:t>
            </a:r>
            <a:endParaRPr/>
          </a:p>
        </p:txBody>
      </p:sp>
      <p:sp>
        <p:nvSpPr>
          <p:cNvPr id="1194" name="Google Shape;1194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7" name="Google Shape;1207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user typing 'ten' breaks this line. In Class 24 we will catch it instead of crashing.</a:t>
            </a:r>
            <a:endParaRPr/>
          </a:p>
        </p:txBody>
      </p:sp>
      <p:sp>
        <p:nvSpPr>
          <p:cNvPr id="1208" name="Google Shape;1208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1" name="Google Shape;1221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Commas insert a space and accept any type. This is the easy way out of TypeError.</a:t>
            </a:r>
            <a:endParaRPr/>
          </a:p>
        </p:txBody>
      </p:sp>
      <p:sp>
        <p:nvSpPr>
          <p:cNvPr id="1222" name="Google Shape;1222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6" name="Google Shape;1236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end=' ' appears throughout their loop exercises. Introduce it now so it is not a surprise.</a:t>
            </a:r>
            <a:endParaRPr/>
          </a:p>
        </p:txBody>
      </p:sp>
      <p:sp>
        <p:nvSpPr>
          <p:cNvPr id="1237" name="Google Shape;1237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0" name="Google Shape;1250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f-strings are the readable way to mix text and values. No str() needed.</a:t>
            </a:r>
            <a:endParaRPr/>
          </a:p>
        </p:txBody>
      </p:sp>
      <p:sp>
        <p:nvSpPr>
          <p:cNvPr id="1251" name="Google Shape;1251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4" name="Google Shape;1264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Same typing, three different stored values. The cast is what decides.</a:t>
            </a:r>
            <a:endParaRPr/>
          </a:p>
        </p:txBody>
      </p:sp>
      <p:sp>
        <p:nvSpPr>
          <p:cNvPr id="1265" name="Google Shape;1265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3" name="Google Shape;1293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 this live, from the prompt strings outward. Ask them what to cast and why.</a:t>
            </a:r>
            <a:endParaRPr/>
          </a:p>
        </p:txBody>
      </p:sp>
      <p:sp>
        <p:nvSpPr>
          <p:cNvPr id="1294" name="Google Shape;1294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6" name="Google Shape;1306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prompt is an interface. Vague prompts produce bad input, which produces ValueError.</a:t>
            </a:r>
            <a:endParaRPr/>
          </a:p>
        </p:txBody>
      </p:sp>
      <p:sp>
        <p:nvSpPr>
          <p:cNvPr id="1307" name="Google Shape;1307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0" name="Google Shape;1320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 what each prints when the user types 5. Third one is the interesting case.</a:t>
            </a:r>
            <a:endParaRPr/>
          </a:p>
        </p:txBody>
      </p:sp>
      <p:sp>
        <p:nvSpPr>
          <p:cNvPr id="1321" name="Google Shape;1321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3" name="Google Shape;1333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minutes. Problem 3 combines everything from Unit 1.</a:t>
            </a:r>
            <a:endParaRPr/>
          </a:p>
        </p:txBody>
      </p:sp>
      <p:sp>
        <p:nvSpPr>
          <p:cNvPr id="1334" name="Google Shape;1334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6" name="Google Shape;1346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Unit 1. Everything from here builds on these five classes.</a:t>
            </a:r>
            <a:endParaRPr/>
          </a:p>
        </p:txBody>
      </p:sp>
      <p:sp>
        <p:nvSpPr>
          <p:cNvPr id="1347" name="Google Shape;1347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2" name="Google Shape;1362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6. Indexing is the first time position matters.</a:t>
            </a:r>
            <a:endParaRPr/>
          </a:p>
        </p:txBody>
      </p:sp>
      <p:sp>
        <p:nvSpPr>
          <p:cNvPr id="1363" name="Google Shape;1363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0" name="Google Shape;1370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Counting from zero is the idea of the day. Everything else follows from it.</a:t>
            </a:r>
            <a:endParaRPr/>
          </a:p>
        </p:txBody>
      </p:sp>
      <p:sp>
        <p:nvSpPr>
          <p:cNvPr id="1371" name="Google Shape;1371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8" name="Google Shape;1388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 at the two rows of numbers. Every string carries both sets of positions.</a:t>
            </a:r>
            <a:endParaRPr/>
          </a:p>
        </p:txBody>
      </p:sp>
      <p:sp>
        <p:nvSpPr>
          <p:cNvPr id="1389" name="Google Shape;1389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8" name="Google Shape;1428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 each line separately so they see the character come back on its own.</a:t>
            </a:r>
            <a:endParaRPr/>
          </a:p>
        </p:txBody>
      </p:sp>
      <p:sp>
        <p:nvSpPr>
          <p:cNvPr id="1429" name="Google Shape;1429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1" name="Google Shape;1441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len is a count; the last index is one less. This off-by-one is the classic exam trap.</a:t>
            </a:r>
            <a:endParaRPr/>
          </a:p>
        </p:txBody>
      </p:sp>
      <p:sp>
        <p:nvSpPr>
          <p:cNvPr id="1442" name="Google Shape;1442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9" name="Google Shape;1449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Asking for position 8 of an eight-character string. There is no eighth slot.</a:t>
            </a:r>
            <a:endParaRPr/>
          </a:p>
        </p:txBody>
      </p:sp>
      <p:sp>
        <p:nvSpPr>
          <p:cNvPr id="1450" name="Google Shape;1450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3" name="Google Shape;1463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 can read any character. You can never write one. This distinction returns with lists.</a:t>
            </a:r>
            <a:endParaRPr/>
          </a:p>
        </p:txBody>
      </p:sp>
      <p:sp>
        <p:nvSpPr>
          <p:cNvPr id="1464" name="Google Shape;1464;p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7" name="Google Shape;1477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replace returns a new string and leaves the original untouched. Print both.</a:t>
            </a:r>
            <a:endParaRPr/>
          </a:p>
        </p:txBody>
      </p:sp>
      <p:sp>
        <p:nvSpPr>
          <p:cNvPr id="1478" name="Google Shape;1478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1" name="Google Shape;1491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Six methods worth memorising. All of them return a value; none of them edit in place.</a:t>
            </a:r>
            <a:endParaRPr/>
          </a:p>
        </p:txBody>
      </p:sp>
      <p:sp>
        <p:nvSpPr>
          <p:cNvPr id="1492" name="Google Shape;1492;p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6" name="Google Shape;1516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asks a yes-or-no question about membership. It works on any sequence.</a:t>
            </a:r>
            <a:endParaRPr/>
          </a:p>
        </p:txBody>
      </p:sp>
      <p:sp>
        <p:nvSpPr>
          <p:cNvPr id="1517" name="Google Shape;1517;p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0" name="Google Shape;1530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ways to quote, and why you would pick each one.</a:t>
            </a:r>
            <a:endParaRPr/>
          </a:p>
        </p:txBody>
      </p:sp>
      <p:sp>
        <p:nvSpPr>
          <p:cNvPr id="1531" name="Google Shape;1531;p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6" name="Google Shape;1546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 them to fill the right column before you reveal it.</a:t>
            </a:r>
            <a:endParaRPr/>
          </a:p>
        </p:txBody>
      </p:sp>
      <p:sp>
        <p:nvSpPr>
          <p:cNvPr id="1547" name="Google Shape;1547;p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7" name="Google Shape;1587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Sixty seconds. The third one catches most of the room.</a:t>
            </a:r>
            <a:endParaRPr/>
          </a:p>
        </p:txBody>
      </p:sp>
      <p:sp>
        <p:nvSpPr>
          <p:cNvPr id="1588" name="Google Shape;1588;p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2" name="Google Shape;1602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minutes. Problem 3 needs no loop: use len() arithmetic.</a:t>
            </a:r>
            <a:endParaRPr/>
          </a:p>
        </p:txBody>
      </p:sp>
      <p:sp>
        <p:nvSpPr>
          <p:cNvPr id="1603" name="Google Shape;1603;p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5" name="Google Shape;1615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class: taking pieces out rather than single characters.</a:t>
            </a:r>
            <a:endParaRPr/>
          </a:p>
        </p:txBody>
      </p:sp>
      <p:sp>
        <p:nvSpPr>
          <p:cNvPr id="1616" name="Google Shape;1616;p1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1" name="Google Shape;1631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7. Slicing rewards careful reading. Go slowly on the step.</a:t>
            </a:r>
            <a:endParaRPr/>
          </a:p>
        </p:txBody>
      </p:sp>
      <p:sp>
        <p:nvSpPr>
          <p:cNvPr id="1632" name="Google Shape;1632;p1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9" name="Google Shape;1639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the end they should be able to reverse a string and explain why a[::-1] works.</a:t>
            </a:r>
            <a:endParaRPr/>
          </a:p>
        </p:txBody>
      </p:sp>
      <p:sp>
        <p:nvSpPr>
          <p:cNvPr id="1640" name="Google Shape;1640;p1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7" name="Google Shape;1657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numbers, two colons. Any of the three may be left out.</a:t>
            </a:r>
            <a:endParaRPr/>
          </a:p>
        </p:txBody>
      </p:sp>
      <p:sp>
        <p:nvSpPr>
          <p:cNvPr id="1658" name="Google Shape;1658;p1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0" name="Google Shape;1670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 at the diagram from last class. Positions 3, 4, 5, 6 come back; 7 does not.</a:t>
            </a:r>
            <a:endParaRPr/>
          </a:p>
        </p:txBody>
      </p:sp>
      <p:sp>
        <p:nvSpPr>
          <p:cNvPr id="1671" name="Google Shape;1671;p1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4" name="Google Shape;1684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Blank means 'as far as it goes'. Show all four cells.</a:t>
            </a:r>
            <a:endParaRPr/>
          </a:p>
        </p:txBody>
      </p:sp>
      <p:sp>
        <p:nvSpPr>
          <p:cNvPr id="1685" name="Google Shape;1685;p10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6" name="Google Shape;1696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2 takes every other character. Step is a jump size, not a count.</a:t>
            </a:r>
            <a:endParaRPr/>
          </a:p>
        </p:txBody>
      </p:sp>
      <p:sp>
        <p:nvSpPr>
          <p:cNvPr id="1697" name="Google Shape;1697;p10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0" name="Google Shape;1710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With a negative step the slice walks right to left, so start must be to the right of end.</a:t>
            </a:r>
            <a:endParaRPr/>
          </a:p>
        </p:txBody>
      </p:sp>
      <p:sp>
        <p:nvSpPr>
          <p:cNvPr id="1711" name="Google Shape;1711;p1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4" name="Google Shape;1724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 an error, just nothing. -1 as an end means 'stop before the last character', which is behind the start.</a:t>
            </a:r>
            <a:endParaRPr/>
          </a:p>
        </p:txBody>
      </p:sp>
      <p:sp>
        <p:nvSpPr>
          <p:cNvPr id="1725" name="Google Shape;1725;p1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7" name="Google Shape;1737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ways to write the same reversal. The third is the one they should use.</a:t>
            </a:r>
            <a:endParaRPr/>
          </a:p>
        </p:txBody>
      </p:sp>
      <p:sp>
        <p:nvSpPr>
          <p:cNvPr id="1738" name="Google Shape;1738;p1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9" name="Google Shape;1749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Cover the result column. Ask for each one.</a:t>
            </a:r>
            <a:endParaRPr/>
          </a:p>
        </p:txBody>
      </p:sp>
      <p:sp>
        <p:nvSpPr>
          <p:cNvPr id="1750" name="Google Shape;1750;p1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p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0" name="Google Shape;1790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one-line palindrome test. In Class 22 they will write the recursive version.</a:t>
            </a:r>
            <a:endParaRPr/>
          </a:p>
        </p:txBody>
      </p:sp>
      <p:sp>
        <p:nvSpPr>
          <p:cNvPr id="1791" name="Google Shape;1791;p1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4" name="Google Shape;1804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step of zero would never move. Python refuses rather than hanging.</a:t>
            </a:r>
            <a:endParaRPr/>
          </a:p>
        </p:txBody>
      </p:sp>
      <p:sp>
        <p:nvSpPr>
          <p:cNvPr id="1805" name="Google Shape;1805;p1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7" name="Google Shape;1817;p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back to immutability: slicing never changes the original.</a:t>
            </a:r>
            <a:endParaRPr/>
          </a:p>
        </p:txBody>
      </p:sp>
      <p:sp>
        <p:nvSpPr>
          <p:cNvPr id="1818" name="Google Shape;1818;p1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7" name="Google Shape;1827;p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Sixty seconds. Then run all four.</a:t>
            </a:r>
            <a:endParaRPr/>
          </a:p>
        </p:txBody>
      </p:sp>
      <p:sp>
        <p:nvSpPr>
          <p:cNvPr id="1828" name="Google Shape;1828;p1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2" name="Google Shape;1842;p1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minutes. Problem 3 previews the recursion class.</a:t>
            </a:r>
            <a:endParaRPr/>
          </a:p>
        </p:txBody>
      </p:sp>
      <p:sp>
        <p:nvSpPr>
          <p:cNvPr id="1843" name="Google Shape;1843;p1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5" name="Google Shape;1855;p1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Unit 2 done. Next unit: making the program choose.</a:t>
            </a:r>
            <a:endParaRPr/>
          </a:p>
        </p:txBody>
      </p:sp>
      <p:sp>
        <p:nvSpPr>
          <p:cNvPr id="1856" name="Google Shape;1856;p1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1" name="Google Shape;1871;p1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8. Indentation becomes meaningful today. Be strict about it from the first example.</a:t>
            </a:r>
            <a:endParaRPr/>
          </a:p>
        </p:txBody>
      </p:sp>
      <p:sp>
        <p:nvSpPr>
          <p:cNvPr id="1872" name="Google Shape;1872;p1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7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9" name="Google Shape;1879;p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items. The indentation point deserves the most time.</a:t>
            </a:r>
            <a:endParaRPr/>
          </a:p>
        </p:txBody>
      </p:sp>
      <p:sp>
        <p:nvSpPr>
          <p:cNvPr id="1880" name="Google Shape;1880;p1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7" name="Google Shape;1897;p1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the three parts: keyword, condition, colon. Then the indented block below.</a:t>
            </a:r>
            <a:endParaRPr/>
          </a:p>
        </p:txBody>
      </p:sp>
      <p:sp>
        <p:nvSpPr>
          <p:cNvPr id="1898" name="Google Shape;1898;p1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p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2" name="Google Shape;1912;p1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classic even-odd test. Change the value of a and rerun three times.</a:t>
            </a:r>
            <a:endParaRPr/>
          </a:p>
        </p:txBody>
      </p:sp>
      <p:sp>
        <p:nvSpPr>
          <p:cNvPr id="1913" name="Google Shape;1913;p1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p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6" name="Google Shape;1926;p1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Indentation is not decoration. It is how Python knows what belongs to the if.</a:t>
            </a:r>
            <a:endParaRPr/>
          </a:p>
        </p:txBody>
      </p:sp>
      <p:sp>
        <p:nvSpPr>
          <p:cNvPr id="1927" name="Google Shape;1927;p1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p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4" name="Google Shape;1934;p1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Same two lines, two indents, two different programs. Run both.</a:t>
            </a:r>
            <a:endParaRPr/>
          </a:p>
        </p:txBody>
      </p:sp>
      <p:sp>
        <p:nvSpPr>
          <p:cNvPr id="1935" name="Google Shape;1935;p1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9" name="Google Shape;1949;p1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ways to get it wrong: no indent at all, and an inconsistent one.</a:t>
            </a:r>
            <a:endParaRPr/>
          </a:p>
        </p:txBody>
      </p:sp>
      <p:sp>
        <p:nvSpPr>
          <p:cNvPr id="1950" name="Google Shape;1950;p1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2" name="Shape 1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" name="Google Shape;1963;p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4" name="Google Shape;1964;p1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Both ifs are tested. 12 is a multiple of both, so both lines print.</a:t>
            </a:r>
            <a:endParaRPr/>
          </a:p>
        </p:txBody>
      </p:sp>
      <p:sp>
        <p:nvSpPr>
          <p:cNvPr id="1965" name="Google Shape;1965;p1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5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p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7" name="Google Shape;1977;p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else belongs to the second if only. With a = 12 nothing surprising happens; with a = 7 it does.</a:t>
            </a:r>
            <a:endParaRPr/>
          </a:p>
        </p:txBody>
      </p:sp>
      <p:sp>
        <p:nvSpPr>
          <p:cNvPr id="1978" name="Google Shape;1978;p1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9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p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1" name="Google Shape;1991;p1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each value through both conditions. This table answers the previous slide.</a:t>
            </a:r>
            <a:endParaRPr/>
          </a:p>
        </p:txBody>
      </p:sp>
      <p:sp>
        <p:nvSpPr>
          <p:cNvPr id="1992" name="Google Shape;1992;p1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7" name="Google Shape;2027;p1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condition is just a value that is True or False. Print it to check.</a:t>
            </a:r>
            <a:endParaRPr/>
          </a:p>
        </p:txBody>
      </p:sp>
      <p:sp>
        <p:nvSpPr>
          <p:cNvPr id="2028" name="Google Shape;2028;p1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1" name="Google Shape;2041;p1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Six comparisons. != is the one they forget exists.</a:t>
            </a:r>
            <a:endParaRPr/>
          </a:p>
        </p:txBody>
      </p:sp>
      <p:sp>
        <p:nvSpPr>
          <p:cNvPr id="2042" name="Google Shape;2042;p1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4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Google Shape;2065;p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6" name="Google Shape;2066;p1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Python catches this one. Many languages do not, which is why it is famous.</a:t>
            </a:r>
            <a:endParaRPr/>
          </a:p>
        </p:txBody>
      </p:sp>
      <p:sp>
        <p:nvSpPr>
          <p:cNvPr id="2067" name="Google Shape;2067;p1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0" name="Google Shape;2080;p1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!= is written with the exclamation first. ! = with a space is a syntax error.</a:t>
            </a:r>
            <a:endParaRPr/>
          </a:p>
        </p:txBody>
      </p:sp>
      <p:sp>
        <p:nvSpPr>
          <p:cNvPr id="2081" name="Google Shape;2081;p1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0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p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2" name="Google Shape;2092;p1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 this from the prompt outward. Ask where the cast goes and why.</a:t>
            </a:r>
            <a:endParaRPr/>
          </a:p>
        </p:txBody>
      </p:sp>
      <p:sp>
        <p:nvSpPr>
          <p:cNvPr id="2093" name="Google Shape;2093;p1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p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5" name="Google Shape;2105;p1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 what prints for a = 9. Then for a = 6.</a:t>
            </a:r>
            <a:endParaRPr/>
          </a:p>
        </p:txBody>
      </p:sp>
      <p:sp>
        <p:nvSpPr>
          <p:cNvPr id="2106" name="Google Shape;2106;p1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p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4" name="Google Shape;2114;p1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minutes. Problem 3 needs two separate ifs, not an if/else.</a:t>
            </a:r>
            <a:endParaRPr/>
          </a:p>
        </p:txBody>
      </p:sp>
      <p:sp>
        <p:nvSpPr>
          <p:cNvPr id="2115" name="Google Shape;2115;p1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7" name="Google Shape;2127;p1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class: chaining conditions with elif.</a:t>
            </a:r>
            <a:endParaRPr/>
          </a:p>
        </p:txBody>
      </p:sp>
      <p:sp>
        <p:nvSpPr>
          <p:cNvPr id="2128" name="Google Shape;2128;p1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1" name="Shape 2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" name="Google Shape;2142;p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3" name="Google Shape;2143;p1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9. Chains and nesting. Order of tests is the theme.</a:t>
            </a:r>
            <a:endParaRPr/>
          </a:p>
        </p:txBody>
      </p:sp>
      <p:sp>
        <p:nvSpPr>
          <p:cNvPr id="2144" name="Google Shape;2144;p1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9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Google Shape;2150;p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1" name="Google Shape;2151;p1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big idea: in a chain, only one branch ever runs.</a:t>
            </a:r>
            <a:endParaRPr/>
          </a:p>
        </p:txBody>
      </p:sp>
      <p:sp>
        <p:nvSpPr>
          <p:cNvPr id="2152" name="Google Shape;2152;p1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7" name="Shape 2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8" name="Google Shape;2168;p1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9" name="Google Shape;2169;p1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 it as one question with several possible answers.</a:t>
            </a:r>
            <a:endParaRPr/>
          </a:p>
        </p:txBody>
      </p:sp>
      <p:sp>
        <p:nvSpPr>
          <p:cNvPr id="2170" name="Google Shape;2170;p1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0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p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2" name="Google Shape;2182;p1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 is a multiple of 2, 3 and 4, but only the first line printed. Let that land.</a:t>
            </a:r>
            <a:endParaRPr/>
          </a:p>
        </p:txBody>
      </p:sp>
      <p:sp>
        <p:nvSpPr>
          <p:cNvPr id="2183" name="Google Shape;2183;p1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Google Shape;2189;p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0" name="Google Shape;2190;p1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Same value, two structures, different output. Pick the structure that matches the question.</a:t>
            </a:r>
            <a:endParaRPr/>
          </a:p>
        </p:txBody>
      </p:sp>
      <p:sp>
        <p:nvSpPr>
          <p:cNvPr id="2191" name="Google Shape;2191;p1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6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p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8" name="Google Shape;2208;p1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test that is too broad, placed first, hides everything after it.</a:t>
            </a:r>
            <a:endParaRPr/>
          </a:p>
        </p:txBody>
      </p:sp>
      <p:sp>
        <p:nvSpPr>
          <p:cNvPr id="2209" name="Google Shape;2209;p1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0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p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2" name="Google Shape;2222;p1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 the ladder top down, highest first. This is the standard shape.</a:t>
            </a:r>
            <a:endParaRPr/>
          </a:p>
        </p:txBody>
      </p:sp>
      <p:sp>
        <p:nvSpPr>
          <p:cNvPr id="2223" name="Google Shape;2223;p1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3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Google Shape;2234;p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5" name="Google Shape;2235;p1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Follow 72 down the ladder. Two tests fail, the third succeeds, the rest are never reached.</a:t>
            </a:r>
            <a:endParaRPr/>
          </a:p>
        </p:txBody>
      </p:sp>
      <p:sp>
        <p:nvSpPr>
          <p:cNvPr id="2236" name="Google Shape;2236;p1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8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Google Shape;2269;p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0" name="Google Shape;2270;p1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same ladder as a diagram. Trace 72 with your finger: down the False side twice, then out to the right. Only one arrow ever leaves the chain.</a:t>
            </a:r>
            <a:endParaRPr/>
          </a:p>
        </p:txBody>
      </p:sp>
      <p:sp>
        <p:nvSpPr>
          <p:cNvPr id="2271" name="Google Shape;2271;p1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8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9" name="Google Shape;2319;p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0" name="Google Shape;2320;p1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second question, asked only when the first one succeeded.</a:t>
            </a:r>
            <a:endParaRPr/>
          </a:p>
        </p:txBody>
      </p:sp>
      <p:sp>
        <p:nvSpPr>
          <p:cNvPr id="2321" name="Google Shape;2321;p1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3" name="Google Shape;2333;p1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Each level of indentation is one level of nesting. Count them with your finger.</a:t>
            </a:r>
            <a:endParaRPr/>
          </a:p>
        </p:txBody>
      </p:sp>
      <p:sp>
        <p:nvSpPr>
          <p:cNvPr id="2334" name="Google Shape;2334;p1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3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p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5" name="Google Shape;2345;p1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Preview of next class: two nested ifs can often be one condition with and.</a:t>
            </a:r>
            <a:endParaRPr/>
          </a:p>
        </p:txBody>
      </p:sp>
      <p:sp>
        <p:nvSpPr>
          <p:cNvPr id="2346" name="Google Shape;2346;p1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7" name="Shape 2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p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9" name="Google Shape;2359;p1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elif must follow an if. On its own it is a syntax error.</a:t>
            </a:r>
            <a:endParaRPr/>
          </a:p>
        </p:txBody>
      </p:sp>
      <p:sp>
        <p:nvSpPr>
          <p:cNvPr id="2360" name="Google Shape;2360;p1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1" name="Shape 2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p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3" name="Google Shape;2373;p1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Without else, nothing happens when every test fails. Sometimes that is what you want.</a:t>
            </a:r>
            <a:endParaRPr/>
          </a:p>
        </p:txBody>
      </p:sp>
      <p:sp>
        <p:nvSpPr>
          <p:cNvPr id="2374" name="Google Shape;2374;p1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6" name="Shape 2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7" name="Google Shape;2387;p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8" name="Google Shape;2388;p1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 for a = 15 and then a = 30. The second one is the teaching moment.</a:t>
            </a:r>
            <a:endParaRPr/>
          </a:p>
        </p:txBody>
      </p:sp>
      <p:sp>
        <p:nvSpPr>
          <p:cNvPr id="2389" name="Google Shape;2389;p1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5" name="Shape 2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" name="Google Shape;2396;p1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7" name="Google Shape;2397;p1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minutes. Problem 3 rewards a nested structure.</a:t>
            </a:r>
            <a:endParaRPr/>
          </a:p>
        </p:txBody>
      </p:sp>
      <p:sp>
        <p:nvSpPr>
          <p:cNvPr id="2398" name="Google Shape;2398;p1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8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1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0" name="Google Shape;2410;p1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class: combining conditions.</a:t>
            </a:r>
            <a:endParaRPr/>
          </a:p>
        </p:txBody>
      </p:sp>
      <p:sp>
        <p:nvSpPr>
          <p:cNvPr id="2411" name="Google Shape;2411;p1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4" name="Shape 2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5" name="Google Shape;2425;p1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6" name="Google Shape;2426;p1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10. Truth tables, then real conditions. Closes Unit 3.</a:t>
            </a:r>
            <a:endParaRPr/>
          </a:p>
        </p:txBody>
      </p:sp>
      <p:sp>
        <p:nvSpPr>
          <p:cNvPr id="2427" name="Google Shape;2427;p1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2" name="Shape 2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3" name="Google Shape;2433;p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4" name="Google Shape;2434;p1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operators and three truth tables. Then how to write conditions people can read.</a:t>
            </a:r>
            <a:endParaRPr/>
          </a:p>
        </p:txBody>
      </p:sp>
      <p:sp>
        <p:nvSpPr>
          <p:cNvPr id="2435" name="Google Shape;2435;p1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0" name="Shape 2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1" name="Google Shape;2451;p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2" name="Google Shape;2452;p1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and needs both. One False anywhere makes the whole thing False.</a:t>
            </a:r>
            <a:endParaRPr/>
          </a:p>
        </p:txBody>
      </p:sp>
      <p:sp>
        <p:nvSpPr>
          <p:cNvPr id="2453" name="Google Shape;2453;p1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5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p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7" name="Google Shape;2487;p1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 is a multiple of 2 but not of 3, so the whole condition is False.</a:t>
            </a:r>
            <a:endParaRPr/>
          </a:p>
        </p:txBody>
      </p:sp>
      <p:sp>
        <p:nvSpPr>
          <p:cNvPr id="2488" name="Google Shape;2488;p1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8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9" name="Google Shape;2499;p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0" name="Google Shape;2500;p1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 needs one. Only all-False gives False.</a:t>
            </a:r>
            <a:endParaRPr/>
          </a:p>
        </p:txBody>
      </p:sp>
      <p:sp>
        <p:nvSpPr>
          <p:cNvPr id="2501" name="Google Shape;2501;p1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3" name="Shape 2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4" name="Google Shape;2534;p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5" name="Google Shape;2535;p1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 passes the first test, so Python does not even check the second.</a:t>
            </a:r>
            <a:endParaRPr/>
          </a:p>
        </p:txBody>
      </p:sp>
      <p:sp>
        <p:nvSpPr>
          <p:cNvPr id="2536" name="Google Shape;2536;p1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7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8" name="Google Shape;2548;p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9" name="Google Shape;2549;p1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 flips a value. Usually there is a clearer way to write the same test.</a:t>
            </a:r>
            <a:endParaRPr/>
          </a:p>
        </p:txBody>
      </p:sp>
      <p:sp>
        <p:nvSpPr>
          <p:cNvPr id="2550" name="Google Shape;2550;p1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1" name="Shape 2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2" name="Google Shape;2562;p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3" name="Google Shape;2563;p1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Python spells it not, in words. The exclamation mark alone is not an operator.</a:t>
            </a:r>
            <a:endParaRPr/>
          </a:p>
        </p:txBody>
      </p:sp>
      <p:sp>
        <p:nvSpPr>
          <p:cNvPr id="2564" name="Google Shape;2564;p1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7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8" name="Google Shape;2578;p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9" name="Google Shape;2579;p1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 binds tightest, then and, then or. Brackets remove all doubt.</a:t>
            </a:r>
            <a:endParaRPr/>
          </a:p>
        </p:txBody>
      </p:sp>
      <p:sp>
        <p:nvSpPr>
          <p:cNvPr id="2580" name="Google Shape;2580;p1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4" name="Shape 2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5" name="Google Shape;2595;p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6" name="Google Shape;2596;p1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Python allows the mathematical form. Show both; either is acceptable.</a:t>
            </a:r>
            <a:endParaRPr/>
          </a:p>
        </p:txBody>
      </p:sp>
      <p:sp>
        <p:nvSpPr>
          <p:cNvPr id="2597" name="Google Shape;2597;p1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8" name="Shape 2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9" name="Google Shape;2609;p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0" name="Google Shape;2610;p1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 left to right across each row. Ask them for the last column.</a:t>
            </a:r>
            <a:endParaRPr/>
          </a:p>
        </p:txBody>
      </p:sp>
      <p:sp>
        <p:nvSpPr>
          <p:cNvPr id="2611" name="Google Shape;2611;p1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3" name="Shape 2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4" name="Google Shape;2654;p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5" name="Google Shape;2655;p1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leap year: divisible by 4, but not by 100, unless also by 400.</a:t>
            </a:r>
            <a:endParaRPr/>
          </a:p>
        </p:txBody>
      </p:sp>
      <p:sp>
        <p:nvSpPr>
          <p:cNvPr id="2656" name="Google Shape;2656;p1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6" name="Shape 2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7" name="Google Shape;2667;p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8" name="Google Shape;2668;p1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long condition is easier to trust when it is stored in a well-named variable.</a:t>
            </a:r>
            <a:endParaRPr/>
          </a:p>
        </p:txBody>
      </p:sp>
      <p:sp>
        <p:nvSpPr>
          <p:cNvPr id="2669" name="Google Shape;2669;p1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9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p1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1" name="Google Shape;2681;p1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 for each one aloud. The last needs the truth table.</a:t>
            </a:r>
            <a:endParaRPr/>
          </a:p>
        </p:txBody>
      </p:sp>
      <p:sp>
        <p:nvSpPr>
          <p:cNvPr id="2682" name="Google Shape;2682;p1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4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p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6" name="Google Shape;2696;p1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minutes. Problem 2 is the triangle inequality; expect questions.</a:t>
            </a:r>
            <a:endParaRPr/>
          </a:p>
        </p:txBody>
      </p:sp>
      <p:sp>
        <p:nvSpPr>
          <p:cNvPr id="2697" name="Google Shape;2697;p1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7" name="Shape 2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8" name="Google Shape;2708;p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9" name="Google Shape;2709;p1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Unit 3 closed. Next unit is the biggest one: repetition.</a:t>
            </a:r>
            <a:endParaRPr/>
          </a:p>
        </p:txBody>
      </p:sp>
      <p:sp>
        <p:nvSpPr>
          <p:cNvPr id="2710" name="Google Shape;2710;p1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3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" name="Google Shape;2724;p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5" name="Google Shape;2725;p1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11. range() is the whole lesson. Get the three arguments straight.</a:t>
            </a:r>
            <a:endParaRPr/>
          </a:p>
        </p:txBody>
      </p:sp>
      <p:sp>
        <p:nvSpPr>
          <p:cNvPr id="2726" name="Google Shape;2726;p1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1" name="Shape 2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2" name="Google Shape;2732;p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3" name="Google Shape;2733;p1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items. Point out that range shares its shape with slicing.</a:t>
            </a:r>
            <a:endParaRPr/>
          </a:p>
        </p:txBody>
      </p:sp>
      <p:sp>
        <p:nvSpPr>
          <p:cNvPr id="2734" name="Google Shape;2734;p1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9" name="Shape 2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0" name="Google Shape;2750;p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1" name="Google Shape;2751;p1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Five lines of output from two lines of code. i changes each time around.</a:t>
            </a:r>
            <a:endParaRPr/>
          </a:p>
        </p:txBody>
      </p:sp>
      <p:sp>
        <p:nvSpPr>
          <p:cNvPr id="2752" name="Google Shape;2752;p1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3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" name="Google Shape;2764;p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5" name="Google Shape;2765;p1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Same three numbers as a slice, same rule about the end.</a:t>
            </a:r>
            <a:endParaRPr/>
          </a:p>
        </p:txBody>
      </p:sp>
      <p:sp>
        <p:nvSpPr>
          <p:cNvPr id="2766" name="Google Shape;2766;p1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6" name="Shape 2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" name="Google Shape;2777;p1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8" name="Google Shape;2778;p1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ranges side by side. Read the values out for each.</a:t>
            </a:r>
            <a:endParaRPr/>
          </a:p>
        </p:txBody>
      </p:sp>
      <p:sp>
        <p:nvSpPr>
          <p:cNvPr id="2779" name="Google Shape;2779;p1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8" name="Shape 2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9" name="Google Shape;2789;p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0" name="Google Shape;2790;p1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negative step counts down, and the end must be below the start.</a:t>
            </a:r>
            <a:endParaRPr/>
          </a:p>
        </p:txBody>
      </p:sp>
      <p:sp>
        <p:nvSpPr>
          <p:cNvPr id="2791" name="Google Shape;2791;p1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4" name="Shape 2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" name="Google Shape;2805;p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6" name="Google Shape;2806;p1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row per pass. This is the shape of every loop trace they will draw.</a:t>
            </a:r>
            <a:endParaRPr/>
          </a:p>
        </p:txBody>
      </p:sp>
      <p:sp>
        <p:nvSpPr>
          <p:cNvPr id="2807" name="Google Shape;2807;p1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5" name="Shape 2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" name="Google Shape;2846;p1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7" name="Google Shape;2847;p1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Changing i inside the body does not change the range. The next pass overwrites it.</a:t>
            </a:r>
            <a:endParaRPr/>
          </a:p>
        </p:txBody>
      </p:sp>
      <p:sp>
        <p:nvSpPr>
          <p:cNvPr id="2848" name="Google Shape;2848;p1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9" name="Shape 2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0" name="Google Shape;2860;p1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1" name="Google Shape;2861;p1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Change all four names inside the loop and the output is identical. range() is worked out once, before the first pass.</a:t>
            </a:r>
            <a:endParaRPr/>
          </a:p>
        </p:txBody>
      </p:sp>
      <p:sp>
        <p:nvSpPr>
          <p:cNvPr id="2862" name="Google Shape;2862;p1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3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1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5" name="Google Shape;2875;p1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accumulator pattern: start at zero outside, add inside, print after. They will use it constantly.</a:t>
            </a:r>
            <a:endParaRPr/>
          </a:p>
        </p:txBody>
      </p:sp>
      <p:sp>
        <p:nvSpPr>
          <p:cNvPr id="2876" name="Google Shape;2876;p1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7" name="Shape 2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8" name="Google Shape;2888;p1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9" name="Google Shape;2889;p1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Row by row. Ask for the running total before revealing each line.</a:t>
            </a:r>
            <a:endParaRPr/>
          </a:p>
        </p:txBody>
      </p:sp>
      <p:sp>
        <p:nvSpPr>
          <p:cNvPr id="2890" name="Google Shape;2890;p1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4" name="Shape 2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5" name="Google Shape;2935;p1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6" name="Google Shape;2936;p1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Inside the loop it happens every pass; outside, once. Same rule as if.</a:t>
            </a:r>
            <a:endParaRPr/>
          </a:p>
        </p:txBody>
      </p:sp>
      <p:sp>
        <p:nvSpPr>
          <p:cNvPr id="2937" name="Google Shape;2937;p1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9" name="Shape 2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0" name="Google Shape;2950;p1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1" name="Google Shape;2951;p1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ways to walk a string. The second is what they need when the position matters.</a:t>
            </a:r>
            <a:endParaRPr/>
          </a:p>
        </p:txBody>
      </p:sp>
      <p:sp>
        <p:nvSpPr>
          <p:cNvPr id="2952" name="Google Shape;2952;p1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3" name="Shape 2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4" name="Google Shape;2964;p1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5" name="Google Shape;2965;p1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Counting vowels combines the loop, the in operator and a counter.</a:t>
            </a:r>
            <a:endParaRPr/>
          </a:p>
        </p:txBody>
      </p:sp>
      <p:sp>
        <p:nvSpPr>
          <p:cNvPr id="2966" name="Google Shape;2966;p1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6" name="Shape 2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7" name="Google Shape;2977;p1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8" name="Google Shape;2978;p1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many times does each body run? Zero is a valid answer for two of them.</a:t>
            </a:r>
            <a:endParaRPr/>
          </a:p>
        </p:txBody>
      </p:sp>
      <p:sp>
        <p:nvSpPr>
          <p:cNvPr id="2979" name="Google Shape;2979;p1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1" name="Shape 2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2" name="Google Shape;2992;p1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3" name="Google Shape;2993;p1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minutes. Problem 3 is the accumulator with a condition inside.</a:t>
            </a:r>
            <a:endParaRPr/>
          </a:p>
        </p:txBody>
      </p:sp>
      <p:sp>
        <p:nvSpPr>
          <p:cNvPr id="2994" name="Google Shape;2994;p1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4" name="Shape 3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5" name="Google Shape;3005;p1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6" name="Google Shape;3006;p1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class: the loop where you control the stopping condition.</a:t>
            </a:r>
            <a:endParaRPr/>
          </a:p>
        </p:txBody>
      </p:sp>
      <p:sp>
        <p:nvSpPr>
          <p:cNvPr id="3007" name="Google Shape;3007;p1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0" name="Shape 3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1" name="Google Shape;3021;p1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2" name="Google Shape;3022;p1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12. The infinite loop will happen today. Show them the stop button first.</a:t>
            </a:r>
            <a:endParaRPr/>
          </a:p>
        </p:txBody>
      </p:sp>
      <p:sp>
        <p:nvSpPr>
          <p:cNvPr id="3023" name="Google Shape;3023;p1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8" name="Shape 3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9" name="Google Shape;3029;p1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0" name="Google Shape;3030;p1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parts of a while loop, and what happens when one is missing.</a:t>
            </a:r>
            <a:endParaRPr/>
          </a:p>
        </p:txBody>
      </p:sp>
      <p:sp>
        <p:nvSpPr>
          <p:cNvPr id="3031" name="Google Shape;3031;p1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6" name="Shape 3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7" name="Google Shape;3047;p1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8" name="Google Shape;3048;p1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Initialise, test, update. Missing the update is the classic infinite loop.</a:t>
            </a:r>
            <a:endParaRPr/>
          </a:p>
        </p:txBody>
      </p:sp>
      <p:sp>
        <p:nvSpPr>
          <p:cNvPr id="3049" name="Google Shape;3049;p1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9" name="Shape 3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0" name="Google Shape;3060;p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1" name="Google Shape;3061;p1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Identical output. Point at which line of the while does the job of range.</a:t>
            </a:r>
            <a:endParaRPr/>
          </a:p>
        </p:txBody>
      </p:sp>
      <p:sp>
        <p:nvSpPr>
          <p:cNvPr id="3062" name="Google Shape;3062;p1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3" name="Shape 3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Google Shape;3074;p1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5" name="Google Shape;3075;p1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 it. Let it hang for a second, then press the stop button. They need to see this once.</a:t>
            </a:r>
            <a:endParaRPr/>
          </a:p>
        </p:txBody>
      </p:sp>
      <p:sp>
        <p:nvSpPr>
          <p:cNvPr id="3076" name="Google Shape;3076;p1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7" name="Shape 3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Google Shape;3088;p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9" name="Google Shape;3089;p1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Setting the counter inside the loop is another way to never finish.</a:t>
            </a:r>
            <a:endParaRPr/>
          </a:p>
        </p:txBody>
      </p:sp>
      <p:sp>
        <p:nvSpPr>
          <p:cNvPr id="3090" name="Google Shape;3090;p1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1" name="Shape 3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" name="Google Shape;3102;p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3" name="Google Shape;3103;p1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 the order: test, body, update. The test happens before the first pass too.</a:t>
            </a:r>
            <a:endParaRPr/>
          </a:p>
        </p:txBody>
      </p:sp>
      <p:sp>
        <p:nvSpPr>
          <p:cNvPr id="3104" name="Google Shape;3104;p1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1" name="Shape 3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2" name="Google Shape;3162;p1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3" name="Google Shape;3163;p1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Here a for loop cannot help: nobody knows how many numbers the user will type.</a:t>
            </a:r>
            <a:endParaRPr/>
          </a:p>
        </p:txBody>
      </p:sp>
      <p:sp>
        <p:nvSpPr>
          <p:cNvPr id="3164" name="Google Shape;3164;p1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4" name="Shape 3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" name="Google Shape;3175;p1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6" name="Google Shape;3176;p1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4's digit peeling, now as a loop. The condition is a != 0, not a count.</a:t>
            </a:r>
            <a:endParaRPr/>
          </a:p>
        </p:txBody>
      </p:sp>
      <p:sp>
        <p:nvSpPr>
          <p:cNvPr id="3177" name="Google Shape;3177;p1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8" name="Shape 3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9" name="Google Shape;3189;p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0" name="Google Shape;3190;p1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 the table. It settles the arithmetic on the previous slide.</a:t>
            </a:r>
            <a:endParaRPr/>
          </a:p>
        </p:txBody>
      </p:sp>
      <p:sp>
        <p:nvSpPr>
          <p:cNvPr id="3191" name="Google Shape;3191;p1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6" name="Shape 3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7" name="Google Shape;3257;p1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8" name="Google Shape;3258;p1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simple rule they can apply on the exam.</a:t>
            </a:r>
            <a:endParaRPr/>
          </a:p>
        </p:txBody>
      </p:sp>
      <p:sp>
        <p:nvSpPr>
          <p:cNvPr id="3259" name="Google Shape;3259;p1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6" name="Shape 3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7" name="Google Shape;3267;p1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8" name="Google Shape;3268;p1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Practical advice for a notebook that has hung.</a:t>
            </a:r>
            <a:endParaRPr/>
          </a:p>
        </p:txBody>
      </p:sp>
      <p:sp>
        <p:nvSpPr>
          <p:cNvPr id="3269" name="Google Shape;3269;p1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4" name="Shape 3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5" name="Google Shape;3285;p1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6" name="Google Shape;3286;p1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of these never end. Which, and why?</a:t>
            </a:r>
            <a:endParaRPr/>
          </a:p>
        </p:txBody>
      </p:sp>
      <p:sp>
        <p:nvSpPr>
          <p:cNvPr id="3287" name="Google Shape;3287;p1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9" name="Shape 3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0" name="Google Shape;3300;p1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1" name="Google Shape;3301;p1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minutes. Problem 1 is the notebook's even_sum_max exercise.</a:t>
            </a:r>
            <a:endParaRPr/>
          </a:p>
        </p:txBody>
      </p:sp>
      <p:sp>
        <p:nvSpPr>
          <p:cNvPr id="3302" name="Google Shape;3302;p1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2" name="Shape 3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3" name="Google Shape;3313;p1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4" name="Google Shape;3314;p1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class: leaving a loop early.</a:t>
            </a:r>
            <a:endParaRPr/>
          </a:p>
        </p:txBody>
      </p:sp>
      <p:sp>
        <p:nvSpPr>
          <p:cNvPr id="3315" name="Google Shape;3315;p1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8" name="Shape 3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9" name="Google Shape;3329;p2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0" name="Google Shape;3330;p2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13. Three ways to leave early, and when each is right.</a:t>
            </a:r>
            <a:endParaRPr/>
          </a:p>
        </p:txBody>
      </p:sp>
      <p:sp>
        <p:nvSpPr>
          <p:cNvPr id="3331" name="Google Shape;3331;p2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6" name="Shape 3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7" name="Google Shape;3337;p2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8" name="Google Shape;3338;p2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prime-number test at the end pulls all three ideas together.</a:t>
            </a:r>
            <a:endParaRPr/>
          </a:p>
        </p:txBody>
      </p:sp>
      <p:sp>
        <p:nvSpPr>
          <p:cNvPr id="3339" name="Google Shape;3339;p2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4" name="Shape 3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5" name="Google Shape;3355;p2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6" name="Google Shape;3356;p2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 each one in a single sentence. Then show them.</a:t>
            </a:r>
            <a:endParaRPr/>
          </a:p>
        </p:txBody>
      </p:sp>
      <p:sp>
        <p:nvSpPr>
          <p:cNvPr id="3357" name="Google Shape;3357;p2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6" name="Shape 3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7" name="Google Shape;3367;p2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8" name="Google Shape;3368;p2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 is missing from the output. Everything else prints.</a:t>
            </a:r>
            <a:endParaRPr/>
          </a:p>
        </p:txBody>
      </p:sp>
      <p:sp>
        <p:nvSpPr>
          <p:cNvPr id="3369" name="Google Shape;3369;p2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9" name="Shape 3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" name="Google Shape;3380;p2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1" name="Google Shape;3381;p2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Now the numbers after 6 are gone too. The loop is over.</a:t>
            </a:r>
            <a:endParaRPr/>
          </a:p>
        </p:txBody>
      </p:sp>
      <p:sp>
        <p:nvSpPr>
          <p:cNvPr id="3382" name="Google Shape;3382;p2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3" name="Shape 3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4" name="Google Shape;3394;p2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5" name="Google Shape;3395;p2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a while loop, continue jumps over the update line. This is the hang from last class.</a:t>
            </a:r>
            <a:endParaRPr/>
          </a:p>
        </p:txBody>
      </p:sp>
      <p:sp>
        <p:nvSpPr>
          <p:cNvPr id="3396" name="Google Shape;3396;p20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7" name="Shape 3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8" name="Google Shape;3408;p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9" name="Google Shape;3409;p2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while True with a break is a normal, readable shape. Not a trick.</a:t>
            </a:r>
            <a:endParaRPr/>
          </a:p>
        </p:txBody>
      </p:sp>
      <p:sp>
        <p:nvSpPr>
          <p:cNvPr id="3410" name="Google Shape;3410;p20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8" name="Shape 3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9" name="Google Shape;3419;p2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0" name="Google Shape;3420;p2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flag remembers something the loop found out. Set it before, read it after.</a:t>
            </a:r>
            <a:endParaRPr/>
          </a:p>
        </p:txBody>
      </p:sp>
      <p:sp>
        <p:nvSpPr>
          <p:cNvPr id="3421" name="Google Shape;3421;p2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9" name="Shape 3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" name="Google Shape;3430;p2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1" name="Google Shape;3431;p2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Without the break the answer is still right, but the loop keeps working for nothing.</a:t>
            </a:r>
            <a:endParaRPr/>
          </a:p>
        </p:txBody>
      </p:sp>
      <p:sp>
        <p:nvSpPr>
          <p:cNvPr id="3432" name="Google Shape;3432;p2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3" name="Shape 3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4" name="Google Shape;3444;p2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5" name="Google Shape;3445;p2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Follow N = 15. The loop ends at i = 3, not at i = 14.</a:t>
            </a:r>
            <a:endParaRPr/>
          </a:p>
        </p:txBody>
      </p:sp>
      <p:sp>
        <p:nvSpPr>
          <p:cNvPr id="3446" name="Google Shape;3446;p2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0" name="Shape 3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" name="Google Shape;3481;p2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2" name="Google Shape;3482;p2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 only need to test up to the square root. Explain why with 36 = 6 × 6.</a:t>
            </a:r>
            <a:endParaRPr/>
          </a:p>
        </p:txBody>
      </p:sp>
      <p:sp>
        <p:nvSpPr>
          <p:cNvPr id="3483" name="Google Shape;3483;p2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1" name="Shape 3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2" name="Google Shape;3492;p2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3" name="Google Shape;3493;p2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return leaves the function immediately, so the line after the loop never runs.</a:t>
            </a:r>
            <a:endParaRPr/>
          </a:p>
        </p:txBody>
      </p:sp>
      <p:sp>
        <p:nvSpPr>
          <p:cNvPr id="3494" name="Google Shape;3494;p2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7" name="Shape 3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8" name="Google Shape;3508;p2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9" name="Google Shape;3509;p2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Optional but worth showing once: a loop else runs only when no break happened.</a:t>
            </a:r>
            <a:endParaRPr/>
          </a:p>
        </p:txBody>
      </p:sp>
      <p:sp>
        <p:nvSpPr>
          <p:cNvPr id="3510" name="Google Shape;3510;p2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8" name="Shape 3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9" name="Google Shape;3519;p2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0" name="Google Shape;3520;p2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 for the exact output of each. They differ by one word.</a:t>
            </a:r>
            <a:endParaRPr/>
          </a:p>
        </p:txBody>
      </p:sp>
      <p:sp>
        <p:nvSpPr>
          <p:cNvPr id="3521" name="Google Shape;3521;p2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9" name="Shape 3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0" name="Google Shape;3530;p2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1" name="Google Shape;3531;p2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minutes. Problem 2 is the classic search loop.</a:t>
            </a:r>
            <a:endParaRPr/>
          </a:p>
        </p:txBody>
      </p:sp>
      <p:sp>
        <p:nvSpPr>
          <p:cNvPr id="3532" name="Google Shape;3532;p2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2" name="Shape 3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" name="Google Shape;3543;p2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4" name="Google Shape;3544;p2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class: loops inside loops.</a:t>
            </a:r>
            <a:endParaRPr/>
          </a:p>
        </p:txBody>
      </p:sp>
      <p:sp>
        <p:nvSpPr>
          <p:cNvPr id="3545" name="Google Shape;3545;p2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8" name="Shape 3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9" name="Google Shape;3559;p2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0" name="Google Shape;3560;p2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14. Patterns are the exercise, but the real lesson is where print() sits.</a:t>
            </a:r>
            <a:endParaRPr/>
          </a:p>
        </p:txBody>
      </p:sp>
      <p:sp>
        <p:nvSpPr>
          <p:cNvPr id="3561" name="Google Shape;3561;p2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6" name="Shape 3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7" name="Google Shape;3567;p2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8" name="Google Shape;3568;p2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Rows and columns. Outer loop is rows, inner loop is what goes on a row.</a:t>
            </a:r>
            <a:endParaRPr/>
          </a:p>
        </p:txBody>
      </p:sp>
      <p:sp>
        <p:nvSpPr>
          <p:cNvPr id="3569" name="Google Shape;3569;p2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4" name="Shape 3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5" name="Google Shape;3585;p2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6" name="Google Shape;3586;p2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Ten passes of the inner loop for five of the outer. Multiply, do not add.</a:t>
            </a:r>
            <a:endParaRPr/>
          </a:p>
        </p:txBody>
      </p:sp>
      <p:sp>
        <p:nvSpPr>
          <p:cNvPr id="3587" name="Google Shape;3587;p2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8" name="Shape 3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9" name="Google Shape;3599;p2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0" name="Google Shape;3600;p2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bare print() at the outer level is what ends the row. Remove it and everything runs together.</a:t>
            </a:r>
            <a:endParaRPr/>
          </a:p>
        </p:txBody>
      </p:sp>
      <p:sp>
        <p:nvSpPr>
          <p:cNvPr id="3601" name="Google Shape;3601;p2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6" name="Shape 3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7" name="Google Shape;3607;p2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8" name="Google Shape;3608;p2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 i and j together. The inner counter restarts from zero every row.</a:t>
            </a:r>
            <a:endParaRPr/>
          </a:p>
        </p:txBody>
      </p:sp>
      <p:sp>
        <p:nvSpPr>
          <p:cNvPr id="3609" name="Google Shape;3609;p2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8" name="Shape 3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9" name="Google Shape;3649;p2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0" name="Google Shape;3650;p2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With while loops you must reset the inner counter yourself. Point at the line.</a:t>
            </a:r>
            <a:endParaRPr/>
          </a:p>
        </p:txBody>
      </p:sp>
      <p:sp>
        <p:nvSpPr>
          <p:cNvPr id="3651" name="Google Shape;3651;p2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9" name="Shape 3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0" name="Google Shape;3660;p2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1" name="Google Shape;3661;p2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Start every pattern exercise with the full rectangle, then remove from it.</a:t>
            </a:r>
            <a:endParaRPr/>
          </a:p>
        </p:txBody>
      </p:sp>
      <p:sp>
        <p:nvSpPr>
          <p:cNvPr id="3662" name="Google Shape;3662;p2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0" name="Shape 3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1" name="Google Shape;3671;p2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2" name="Google Shape;3672;p2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inner range now depends on i. That is the step that unlocks every pattern.</a:t>
            </a:r>
            <a:endParaRPr/>
          </a:p>
        </p:txBody>
      </p:sp>
      <p:sp>
        <p:nvSpPr>
          <p:cNvPr id="3673" name="Google Shape;3673;p2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2" name="Shape 3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3" name="Google Shape;3683;p2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4" name="Google Shape;3684;p2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inner loops on one row: first the spaces, then the stars.</a:t>
            </a:r>
            <a:endParaRPr/>
          </a:p>
        </p:txBody>
      </p:sp>
      <p:sp>
        <p:nvSpPr>
          <p:cNvPr id="3685" name="Google Shape;3685;p2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4" name="Shape 3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5" name="Google Shape;3695;p2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6" name="Google Shape;3696;p2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table is the method. Do it on paper first, every time.</a:t>
            </a:r>
            <a:endParaRPr/>
          </a:p>
        </p:txBody>
      </p:sp>
      <p:sp>
        <p:nvSpPr>
          <p:cNvPr id="3697" name="Google Shape;3697;p2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5" name="Shape 3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6" name="Google Shape;3736;p2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7" name="Google Shape;3737;p2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Reusing i for both loops destroys the outer counter. Give the inner loop its own name.</a:t>
            </a:r>
            <a:endParaRPr/>
          </a:p>
        </p:txBody>
      </p:sp>
      <p:sp>
        <p:nvSpPr>
          <p:cNvPr id="3738" name="Google Shape;3738;p2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6" name="Shape 3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" name="Google Shape;3747;p2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8" name="Google Shape;3748;p2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nested loop with real content, not just stars.</a:t>
            </a:r>
            <a:endParaRPr/>
          </a:p>
        </p:txBody>
      </p:sp>
      <p:sp>
        <p:nvSpPr>
          <p:cNvPr id="3749" name="Google Shape;3749;p2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8" name="Shape 3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9" name="Google Shape;3759;p2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0" name="Google Shape;3760;p2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Nesting multiplies the work. Worth saying once, without going into complexity theory.</a:t>
            </a:r>
            <a:endParaRPr/>
          </a:p>
        </p:txBody>
      </p:sp>
      <p:sp>
        <p:nvSpPr>
          <p:cNvPr id="3761" name="Google Shape;3761;p2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5" name="Shape 3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6" name="Google Shape;3776;p2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7" name="Google Shape;3777;p2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many lines, and how many stars? Answers: 3 lines, 6 stars.</a:t>
            </a:r>
            <a:endParaRPr/>
          </a:p>
        </p:txBody>
      </p:sp>
      <p:sp>
        <p:nvSpPr>
          <p:cNvPr id="3778" name="Google Shape;3778;p2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4" name="Shape 3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5" name="Google Shape;3785;p2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6" name="Google Shape;3786;p2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minutes. Encourage the planning table before any code.</a:t>
            </a:r>
            <a:endParaRPr/>
          </a:p>
        </p:txBody>
      </p:sp>
      <p:sp>
        <p:nvSpPr>
          <p:cNvPr id="3787" name="Google Shape;3787;p2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7" name="Shape 3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8" name="Google Shape;3798;p2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9" name="Google Shape;3799;p2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Unit 4 closed. Next unit: functions, and the midterm sits after Class 16.</a:t>
            </a:r>
            <a:endParaRPr/>
          </a:p>
        </p:txBody>
      </p:sp>
      <p:sp>
        <p:nvSpPr>
          <p:cNvPr id="3800" name="Google Shape;3800;p2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3" name="Shape 3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4" name="Google Shape;3814;p2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5" name="Google Shape;3815;p2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15. Functions are the first tool for organising code rather than writing it.</a:t>
            </a:r>
            <a:endParaRPr/>
          </a:p>
        </p:txBody>
      </p:sp>
      <p:sp>
        <p:nvSpPr>
          <p:cNvPr id="3816" name="Google Shape;3816;p2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1" name="Shape 3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2" name="Google Shape;3822;p2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3" name="Google Shape;3823;p2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print-versus-return distinction is the hard part. Leave time for it.</a:t>
            </a:r>
            <a:endParaRPr/>
          </a:p>
        </p:txBody>
      </p:sp>
      <p:sp>
        <p:nvSpPr>
          <p:cNvPr id="3824" name="Google Shape;3824;p2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9" name="Shape 3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" name="Google Shape;3840;p2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1" name="Google Shape;3841;p2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reasons. The third one is the professional argument: one place to fix a bug.</a:t>
            </a:r>
            <a:endParaRPr/>
          </a:p>
        </p:txBody>
      </p:sp>
      <p:sp>
        <p:nvSpPr>
          <p:cNvPr id="3842" name="Google Shape;3842;p2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5" name="Shape 3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6" name="Google Shape;3856;p2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7" name="Google Shape;3857;p2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def, name, brackets, colon, indented body. Then the call, at the margin.</a:t>
            </a:r>
            <a:endParaRPr/>
          </a:p>
        </p:txBody>
      </p:sp>
      <p:sp>
        <p:nvSpPr>
          <p:cNvPr id="3858" name="Google Shape;3858;p2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9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2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1" name="Google Shape;3871;p2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Without brackets you get the function object, not its result. No error, no output.</a:t>
            </a:r>
            <a:endParaRPr/>
          </a:p>
        </p:txBody>
      </p:sp>
      <p:sp>
        <p:nvSpPr>
          <p:cNvPr id="3872" name="Google Shape;3872;p2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3" name="Shape 3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4" name="Google Shape;3884;p2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5" name="Google Shape;3885;p2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Parameter is the name in the definition. Argument is the value you pass in.</a:t>
            </a:r>
            <a:endParaRPr/>
          </a:p>
        </p:txBody>
      </p:sp>
      <p:sp>
        <p:nvSpPr>
          <p:cNvPr id="3886" name="Google Shape;3886;p2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7" name="Shape 3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8" name="Google Shape;3898;p2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9" name="Google Shape;3899;p2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message names the function and counts the arguments. Very readable.</a:t>
            </a:r>
            <a:endParaRPr/>
          </a:p>
        </p:txBody>
      </p:sp>
      <p:sp>
        <p:nvSpPr>
          <p:cNvPr id="3900" name="Google Shape;3900;p2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0" name="Shape 3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" name="Google Shape;3911;p2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2" name="Google Shape;3912;p2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print shows a human. return hands a value back to the program. Say it twice.</a:t>
            </a:r>
            <a:endParaRPr/>
          </a:p>
        </p:txBody>
      </p:sp>
      <p:sp>
        <p:nvSpPr>
          <p:cNvPr id="3913" name="Google Shape;3913;p2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0" name="Shape 3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" name="Google Shape;3921;p2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2" name="Google Shape;3922;p2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Only the returning version can be used in a calculation. Show the None.</a:t>
            </a:r>
            <a:endParaRPr/>
          </a:p>
        </p:txBody>
      </p:sp>
      <p:sp>
        <p:nvSpPr>
          <p:cNvPr id="3923" name="Google Shape;3923;p2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6" name="Shape 3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7" name="Google Shape;3937;p2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8" name="Google Shape;3938;p2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Lines after a return never run. Useful, and also a common accident.</a:t>
            </a:r>
            <a:endParaRPr/>
          </a:p>
        </p:txBody>
      </p:sp>
      <p:sp>
        <p:nvSpPr>
          <p:cNvPr id="3939" name="Google Shape;3939;p2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9" name="Shape 3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0" name="Google Shape;3950;p2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1" name="Google Shape;3951;p2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Follow the jump into the function and back out again.</a:t>
            </a:r>
            <a:endParaRPr/>
          </a:p>
        </p:txBody>
      </p:sp>
      <p:sp>
        <p:nvSpPr>
          <p:cNvPr id="3952" name="Google Shape;3952;p2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0" name="Shape 3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1" name="Google Shape;3991;p2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2" name="Google Shape;3992;p2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default makes a parameter optional. Defaults must come after non-defaults.</a:t>
            </a:r>
            <a:endParaRPr/>
          </a:p>
        </p:txBody>
      </p:sp>
      <p:sp>
        <p:nvSpPr>
          <p:cNvPr id="3993" name="Google Shape;3993;p2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4" name="Shape 4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5" name="Google Shape;4005;p2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6" name="Google Shape;4006;p2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Naming arguments at the call site removes any doubt about the order.</a:t>
            </a:r>
            <a:endParaRPr/>
          </a:p>
        </p:txBody>
      </p:sp>
      <p:sp>
        <p:nvSpPr>
          <p:cNvPr id="4007" name="Google Shape;4007;p2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8" name="Shape 4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9" name="Google Shape;4019;p2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0" name="Google Shape;4020;p2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Move Class 13's prime test into a function. Notice how the caller reads.</a:t>
            </a:r>
            <a:endParaRPr/>
          </a:p>
        </p:txBody>
      </p:sp>
      <p:sp>
        <p:nvSpPr>
          <p:cNvPr id="4021" name="Google Shape;4021;p2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1" name="Shape 4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2" name="Google Shape;4032;p2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3" name="Google Shape;4033;p2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Returning from inside the loop replaces both the flag and the break.</a:t>
            </a:r>
            <a:endParaRPr/>
          </a:p>
        </p:txBody>
      </p:sp>
      <p:sp>
        <p:nvSpPr>
          <p:cNvPr id="4034" name="Google Shape;4034;p2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5" name="Shape 4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6" name="Google Shape;4046;p2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7" name="Google Shape;4047;p2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First prints 20 then None; second prints 20. Ask why.</a:t>
            </a:r>
            <a:endParaRPr/>
          </a:p>
        </p:txBody>
      </p:sp>
      <p:sp>
        <p:nvSpPr>
          <p:cNvPr id="4048" name="Google Shape;4048;p2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6" name="Shape 4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7" name="Google Shape;4057;p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8" name="Google Shape;4058;p2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minutes. Insist every function returns rather than prints.</a:t>
            </a:r>
            <a:endParaRPr/>
          </a:p>
        </p:txBody>
      </p:sp>
      <p:sp>
        <p:nvSpPr>
          <p:cNvPr id="4059" name="Google Shape;4059;p2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9" name="Shape 4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0" name="Google Shape;4070;p2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1" name="Google Shape;4071;p2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class: scope, several returns, and *args. Midterm follows.</a:t>
            </a:r>
            <a:endParaRPr/>
          </a:p>
        </p:txBody>
      </p:sp>
      <p:sp>
        <p:nvSpPr>
          <p:cNvPr id="4072" name="Google Shape;4072;p2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5" name="Shape 4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6" name="Google Shape;4086;p2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7" name="Google Shape;4087;p2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16. Last class before the midterm. Leave five minutes to talk about it.</a:t>
            </a:r>
            <a:endParaRPr/>
          </a:p>
        </p:txBody>
      </p:sp>
      <p:sp>
        <p:nvSpPr>
          <p:cNvPr id="4088" name="Google Shape;4088;p2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3" name="Shape 4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4" name="Google Shape;4094;p2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5" name="Google Shape;4095;p2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Scope explains a whole class of confusing NameErrors.</a:t>
            </a:r>
            <a:endParaRPr/>
          </a:p>
        </p:txBody>
      </p:sp>
      <p:sp>
        <p:nvSpPr>
          <p:cNvPr id="4096" name="Google Shape;4096;p2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1" name="Shape 4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2" name="Google Shape;4112;p2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3" name="Google Shape;4113;p2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parameter lives only while the function runs. Outside it, the name is unknown.</a:t>
            </a:r>
            <a:endParaRPr/>
          </a:p>
        </p:txBody>
      </p:sp>
      <p:sp>
        <p:nvSpPr>
          <p:cNvPr id="4114" name="Google Shape;4114;p2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5" name="Shape 4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" name="Google Shape;4126;p2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7" name="Google Shape;4127;p2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function can read an outer variable, but assigning creates a new local one.</a:t>
            </a:r>
            <a:endParaRPr/>
          </a:p>
        </p:txBody>
      </p:sp>
      <p:sp>
        <p:nvSpPr>
          <p:cNvPr id="4128" name="Google Shape;4128;p2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3" name="Shape 4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4" name="Google Shape;4144;p2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5" name="Google Shape;4145;p2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levels are enough for this course: inside a function, and outside all of them.</a:t>
            </a:r>
            <a:endParaRPr/>
          </a:p>
        </p:txBody>
      </p:sp>
      <p:sp>
        <p:nvSpPr>
          <p:cNvPr id="4146" name="Google Shape;4146;p2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3" name="Shape 4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4" name="Google Shape;4154;p2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5" name="Google Shape;4155;p2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Same word, two different variables. The local one wins inside the function.</a:t>
            </a:r>
            <a:endParaRPr/>
          </a:p>
        </p:txBody>
      </p:sp>
      <p:sp>
        <p:nvSpPr>
          <p:cNvPr id="4156" name="Google Shape;4156;p2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4" name="Shape 4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5" name="Google Shape;4175;p2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6" name="Google Shape;4176;p2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Return several values with commas, unpack them with commas. Very Pythonic.</a:t>
            </a:r>
            <a:endParaRPr/>
          </a:p>
        </p:txBody>
      </p:sp>
      <p:sp>
        <p:nvSpPr>
          <p:cNvPr id="4177" name="Google Shape;4177;p2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8" name="Shape 4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9" name="Google Shape;4189;p2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0" name="Google Shape;4190;p2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values need two names. The error message counts them for you.</a:t>
            </a:r>
            <a:endParaRPr/>
          </a:p>
        </p:txBody>
      </p:sp>
      <p:sp>
        <p:nvSpPr>
          <p:cNvPr id="4191" name="Google Shape;4191;p2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1" name="Shape 4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2" name="Google Shape;4202;p2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3" name="Google Shape;4203;p2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star collects everything into one name. Then loop over it.</a:t>
            </a:r>
            <a:endParaRPr/>
          </a:p>
        </p:txBody>
      </p:sp>
      <p:sp>
        <p:nvSpPr>
          <p:cNvPr id="4204" name="Google Shape;4204;p2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4" name="Shape 4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5" name="Google Shape;4215;p2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6" name="Google Shape;4216;p2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Ordinary parameters first, the starred one last. There can be only one.</a:t>
            </a:r>
            <a:endParaRPr/>
          </a:p>
        </p:txBody>
      </p:sp>
      <p:sp>
        <p:nvSpPr>
          <p:cNvPr id="4217" name="Google Shape;4217;p2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8" name="Shape 4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" name="Google Shape;4229;p2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0" name="Google Shape;4230;p2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docstring is the first line of the body, in triple quotes. help() reads it.</a:t>
            </a:r>
            <a:endParaRPr/>
          </a:p>
        </p:txBody>
      </p:sp>
      <p:sp>
        <p:nvSpPr>
          <p:cNvPr id="4231" name="Google Shape;4231;p2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9" name="Shape 4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0" name="Google Shape;4240;p2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1" name="Google Shape;4241;p2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questions to ask before writing the body.</a:t>
            </a:r>
            <a:endParaRPr/>
          </a:p>
        </p:txBody>
      </p:sp>
      <p:sp>
        <p:nvSpPr>
          <p:cNvPr id="4242" name="Google Shape;4242;p2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7" name="Shape 4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8" name="Google Shape;4258;p2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9" name="Google Shape;4259;p2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expectations clearly. Tracing by hand is the skill being examined.</a:t>
            </a:r>
            <a:endParaRPr/>
          </a:p>
        </p:txBody>
      </p:sp>
      <p:sp>
        <p:nvSpPr>
          <p:cNvPr id="4260" name="Google Shape;4260;p2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0" name="Shape 4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1" name="Google Shape;4281;p2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2" name="Google Shape;4282;p2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Answers: 10, then a NameError. Ask them to say why before running.</a:t>
            </a:r>
            <a:endParaRPr/>
          </a:p>
        </p:txBody>
      </p:sp>
      <p:sp>
        <p:nvSpPr>
          <p:cNvPr id="4283" name="Google Shape;4283;p2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9" name="Shape 4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" name="Google Shape;4290;p2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1" name="Google Shape;4291;p2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minutes. Problem 3 is good midterm preparation.</a:t>
            </a:r>
            <a:endParaRPr/>
          </a:p>
        </p:txBody>
      </p:sp>
      <p:sp>
        <p:nvSpPr>
          <p:cNvPr id="4292" name="Google Shape;4292;p2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2" name="Shape 4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3" name="Google Shape;4303;p2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4" name="Google Shape;4304;p2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Unit 5 closed. After the midterm we start lists.</a:t>
            </a:r>
            <a:endParaRPr/>
          </a:p>
        </p:txBody>
      </p:sp>
      <p:sp>
        <p:nvSpPr>
          <p:cNvPr id="4305" name="Google Shape;4305;p2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8" name="Shape 4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9" name="Google Shape;4319;p2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0" name="Google Shape;4320;p2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17. Lists are strings that can be edited. Lean on that comparison.</a:t>
            </a:r>
            <a:endParaRPr/>
          </a:p>
        </p:txBody>
      </p:sp>
      <p:sp>
        <p:nvSpPr>
          <p:cNvPr id="4321" name="Google Shape;4321;p2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6" name="Shape 4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7" name="Google Shape;4327;p2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8" name="Google Shape;4328;p2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Everything they know about string indexing transfers. What is new is that lists can change.</a:t>
            </a:r>
            <a:endParaRPr/>
          </a:p>
        </p:txBody>
      </p:sp>
      <p:sp>
        <p:nvSpPr>
          <p:cNvPr id="4329" name="Google Shape;4329;p2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4" name="Shape 4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5" name="Google Shape;4345;p2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6" name="Google Shape;4346;p2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Square brackets, commas between items. Mixed types are allowed but rarely useful.</a:t>
            </a:r>
            <a:endParaRPr/>
          </a:p>
        </p:txBody>
      </p:sp>
      <p:sp>
        <p:nvSpPr>
          <p:cNvPr id="4347" name="Google Shape;4347;p2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6" name="Shape 4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7" name="Google Shape;4367;p2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8" name="Google Shape;4368;p2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Nothing new here. Say so out loud; it builds confidence.</a:t>
            </a:r>
            <a:endParaRPr/>
          </a:p>
        </p:txBody>
      </p:sp>
      <p:sp>
        <p:nvSpPr>
          <p:cNvPr id="4369" name="Google Shape;4369;p2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0" name="Shape 4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1" name="Google Shape;4381;p2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2" name="Google Shape;4382;p2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big difference from strings. A list can be edited in place.</a:t>
            </a:r>
            <a:endParaRPr/>
          </a:p>
        </p:txBody>
      </p:sp>
      <p:sp>
        <p:nvSpPr>
          <p:cNvPr id="4383" name="Google Shape;4383;p2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8" name="Shape 4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9" name="Google Shape;4389;p2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0" name="Google Shape;4390;p2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Compare with Class 6, where a[0] = 'w' raised a TypeError.</a:t>
            </a:r>
            <a:endParaRPr/>
          </a:p>
        </p:txBody>
      </p:sp>
      <p:sp>
        <p:nvSpPr>
          <p:cNvPr id="4391" name="Google Shape;4391;p2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2" name="Shape 4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" name="Google Shape;4403;p2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4" name="Google Shape;4404;p2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append adds one item at the end. insert puts one at a chosen position.</a:t>
            </a:r>
            <a:endParaRPr/>
          </a:p>
        </p:txBody>
      </p:sp>
      <p:sp>
        <p:nvSpPr>
          <p:cNvPr id="4405" name="Google Shape;4405;p2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6" name="Shape 4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7" name="Google Shape;4417;p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8" name="Google Shape;4418;p2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Start empty, append in a loop. The pattern behind almost every list they will build.</a:t>
            </a:r>
            <a:endParaRPr/>
          </a:p>
        </p:txBody>
      </p:sp>
      <p:sp>
        <p:nvSpPr>
          <p:cNvPr id="4419" name="Google Shape;4419;p2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9" name="Shape 4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0" name="Google Shape;4430;p2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1" name="Google Shape;4431;p2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remove takes a value, pop takes a position and hands the item back.</a:t>
            </a:r>
            <a:endParaRPr/>
          </a:p>
        </p:txBody>
      </p:sp>
      <p:sp>
        <p:nvSpPr>
          <p:cNvPr id="4432" name="Google Shape;4432;p2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7" name="Shape 4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8" name="Google Shape;4448;p2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9" name="Google Shape;4449;p2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Removing something that is not there raises ValueError. Check with in first.</a:t>
            </a:r>
            <a:endParaRPr/>
          </a:p>
        </p:txBody>
      </p:sp>
      <p:sp>
        <p:nvSpPr>
          <p:cNvPr id="4450" name="Google Shape;4450;p2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2" name="Shape 4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3" name="Google Shape;4463;p2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4" name="Google Shape;4464;p2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for yes-or-no, index for where, count for how many.</a:t>
            </a:r>
            <a:endParaRPr/>
          </a:p>
        </p:txBody>
      </p:sp>
      <p:sp>
        <p:nvSpPr>
          <p:cNvPr id="4465" name="Google Shape;4465;p2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6" name="Shape 4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7" name="Google Shape;4477;p2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8" name="Google Shape;4478;p2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Nine methods. Note which ones change the list and which return a value.</a:t>
            </a:r>
            <a:endParaRPr/>
          </a:p>
        </p:txBody>
      </p:sp>
      <p:sp>
        <p:nvSpPr>
          <p:cNvPr id="4479" name="Google Shape;4479;p2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0" name="Shape 4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1" name="Google Shape;4511;p2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2" name="Google Shape;4512;p2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classic mistake: assigning the result of .sort(). It returns None.</a:t>
            </a:r>
            <a:endParaRPr/>
          </a:p>
        </p:txBody>
      </p:sp>
      <p:sp>
        <p:nvSpPr>
          <p:cNvPr id="4513" name="Google Shape;4513;p2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8" name="Shape 4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9" name="Google Shape;4529;p2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0" name="Google Shape;4530;p2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Assignment copies the label, not the list. This surprises everyone once.</a:t>
            </a:r>
            <a:endParaRPr/>
          </a:p>
        </p:txBody>
      </p:sp>
      <p:sp>
        <p:nvSpPr>
          <p:cNvPr id="4531" name="Google Shape;4531;p2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6" name="Shape 4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7" name="Google Shape;4547;p2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8" name="Google Shape;4548;p2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Answers: [1, 9, 3], [1, 3], 2, and a ValueError.</a:t>
            </a:r>
            <a:endParaRPr/>
          </a:p>
        </p:txBody>
      </p:sp>
      <p:sp>
        <p:nvSpPr>
          <p:cNvPr id="4549" name="Google Shape;4549;p2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1" name="Shape 4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2" name="Google Shape;4562;p2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3" name="Google Shape;4563;p2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minutes. Problem 3 forces them to think about duplicates.</a:t>
            </a:r>
            <a:endParaRPr/>
          </a:p>
        </p:txBody>
      </p:sp>
      <p:sp>
        <p:nvSpPr>
          <p:cNvPr id="4564" name="Google Shape;4564;p2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4" name="Shape 4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5" name="Google Shape;4575;p2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6" name="Google Shape;4576;p2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class: walking a list to compute sum, max and min.</a:t>
            </a:r>
            <a:endParaRPr/>
          </a:p>
        </p:txBody>
      </p:sp>
      <p:sp>
        <p:nvSpPr>
          <p:cNvPr id="4577" name="Google Shape;4577;p2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0" name="Shape 4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1" name="Google Shape;4591;p2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2" name="Google Shape;4592;p2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18. Four patterns that between them solve most list problems.</a:t>
            </a:r>
            <a:endParaRPr/>
          </a:p>
        </p:txBody>
      </p:sp>
      <p:sp>
        <p:nvSpPr>
          <p:cNvPr id="4593" name="Google Shape;4593;p2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8" name="Shape 4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9" name="Google Shape;4599;p2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0" name="Google Shape;4600;p2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named patterns. They should recognise these on sight by the exam.</a:t>
            </a:r>
            <a:endParaRPr/>
          </a:p>
        </p:txBody>
      </p:sp>
      <p:sp>
        <p:nvSpPr>
          <p:cNvPr id="4601" name="Google Shape;4601;p2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6" name="Shape 4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7" name="Google Shape;4617;p2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8" name="Google Shape;4618;p2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item when you only need values. By position when you need the index too.</a:t>
            </a:r>
            <a:endParaRPr/>
          </a:p>
        </p:txBody>
      </p:sp>
      <p:sp>
        <p:nvSpPr>
          <p:cNvPr id="4619" name="Google Shape;4619;p2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0" name="Shape 4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1" name="Google Shape;4631;p2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2" name="Google Shape;4632;p2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Pattern 1. Same shape as Class 11, now over a list instead of a range.</a:t>
            </a:r>
            <a:endParaRPr/>
          </a:p>
        </p:txBody>
      </p:sp>
      <p:sp>
        <p:nvSpPr>
          <p:cNvPr id="4633" name="Google Shape;4633;p2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4" name="Shape 4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5" name="Google Shape;4645;p2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6" name="Google Shape;4646;p2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Pattern 2. Start with the first item, not with zero. Explain why.</a:t>
            </a:r>
            <a:endParaRPr/>
          </a:p>
        </p:txBody>
      </p:sp>
      <p:sp>
        <p:nvSpPr>
          <p:cNvPr id="4647" name="Google Shape;4647;p2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7" name="Shape 4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8" name="Google Shape;4658;p2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9" name="Google Shape;4659;p2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Only two rows change the answer. Point at them.</a:t>
            </a:r>
            <a:endParaRPr/>
          </a:p>
        </p:txBody>
      </p:sp>
      <p:sp>
        <p:nvSpPr>
          <p:cNvPr id="4660" name="Google Shape;4660;p2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1" name="Shape 4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2" name="Google Shape;4702;p2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3" name="Google Shape;4703;p2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Starting at 0 breaks on all-negative data. Starting at marks[0] never does.</a:t>
            </a:r>
            <a:endParaRPr/>
          </a:p>
        </p:txBody>
      </p:sp>
      <p:sp>
        <p:nvSpPr>
          <p:cNvPr id="4704" name="Google Shape;4704;p2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9" name="Shape 4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" name="Google Shape;4720;p2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1" name="Google Shape;4721;p2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Pattern 3. Counting and collecting are the same walk with a different body.</a:t>
            </a:r>
            <a:endParaRPr/>
          </a:p>
        </p:txBody>
      </p:sp>
      <p:sp>
        <p:nvSpPr>
          <p:cNvPr id="4722" name="Google Shape;4722;p2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2" name="Shape 4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3" name="Google Shape;4733;p2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4" name="Google Shape;4734;p2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Pattern 4. Return the position, or -1 for not found. That convention is everywhere.</a:t>
            </a:r>
            <a:endParaRPr/>
          </a:p>
        </p:txBody>
      </p:sp>
      <p:sp>
        <p:nvSpPr>
          <p:cNvPr id="4735" name="Google Shape;4735;p2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5" name="Shape 4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6" name="Google Shape;4746;p2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7" name="Google Shape;4747;p2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Python has these built in. Write the loop once to understand it, then use the built-in.</a:t>
            </a:r>
            <a:endParaRPr/>
          </a:p>
        </p:txBody>
      </p:sp>
      <p:sp>
        <p:nvSpPr>
          <p:cNvPr id="4748" name="Google Shape;4748;p2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9" name="Shape 4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0" name="Google Shape;4760;p2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1" name="Google Shape;4761;p2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 empty list breaks both max() and division by len(). Guard for it.</a:t>
            </a:r>
            <a:endParaRPr/>
          </a:p>
        </p:txBody>
      </p:sp>
      <p:sp>
        <p:nvSpPr>
          <p:cNvPr id="4762" name="Google Shape;4762;p2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6" name="Shape 4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7" name="Google Shape;4777;p2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8" name="Google Shape;4778;p2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Removing items while walking skips things. Build a new list instead.</a:t>
            </a:r>
            <a:endParaRPr/>
          </a:p>
        </p:txBody>
      </p:sp>
      <p:sp>
        <p:nvSpPr>
          <p:cNvPr id="4779" name="Google Shape;4779;p2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4" name="Shape 4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5" name="Google Shape;4795;p2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6" name="Google Shape;4796;p2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Combine three patterns in one report. This is a typical exam question.</a:t>
            </a:r>
            <a:endParaRPr/>
          </a:p>
        </p:txBody>
      </p:sp>
      <p:sp>
        <p:nvSpPr>
          <p:cNvPr id="4797" name="Google Shape;4797;p2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7" name="Shape 4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8" name="Google Shape;4808;p2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9" name="Google Shape;4809;p2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four patterns on one slide. Tell them to photograph this.</a:t>
            </a:r>
            <a:endParaRPr/>
          </a:p>
        </p:txBody>
      </p:sp>
      <p:sp>
        <p:nvSpPr>
          <p:cNvPr id="4810" name="Google Shape;4810;p2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6" name="Shape 4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7" name="Google Shape;4827;p2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8" name="Google Shape;4828;p2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Which pattern fits each question? No code needed.</a:t>
            </a:r>
            <a:endParaRPr/>
          </a:p>
        </p:txBody>
      </p:sp>
      <p:sp>
        <p:nvSpPr>
          <p:cNvPr id="4829" name="Google Shape;4829;p2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4" name="Shape 4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5" name="Google Shape;4845;p2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6" name="Google Shape;4846;p2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minutes. Problem 3 needs the track pattern twice.</a:t>
            </a:r>
            <a:endParaRPr/>
          </a:p>
        </p:txBody>
      </p:sp>
      <p:sp>
        <p:nvSpPr>
          <p:cNvPr id="4847" name="Google Shape;4847;p2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7" name="Shape 4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8" name="Google Shape;4858;p2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9" name="Google Shape;4859;p2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class: lists inside lists.</a:t>
            </a:r>
            <a:endParaRPr/>
          </a:p>
        </p:txBody>
      </p:sp>
      <p:sp>
        <p:nvSpPr>
          <p:cNvPr id="4860" name="Google Shape;4860;p2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3" name="Shape 4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" name="Google Shape;4874;p3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5" name="Google Shape;4875;p3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19. Rows and columns again, now as data rather than printed output.</a:t>
            </a:r>
            <a:endParaRPr/>
          </a:p>
        </p:txBody>
      </p:sp>
      <p:sp>
        <p:nvSpPr>
          <p:cNvPr id="4876" name="Google Shape;4876;p3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1" name="Shape 4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2" name="Google Shape;4882;p3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3" name="Google Shape;4883;p3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Row first, column second. Say it every time you read an index today.</a:t>
            </a:r>
            <a:endParaRPr/>
          </a:p>
        </p:txBody>
      </p:sp>
      <p:sp>
        <p:nvSpPr>
          <p:cNvPr id="4884" name="Google Shape;4884;p3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9" name="Shape 4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0" name="Google Shape;4900;p3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1" name="Google Shape;4901;p3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Draw the grid, then read three cells aloud with their indexes.</a:t>
            </a:r>
            <a:endParaRPr/>
          </a:p>
        </p:txBody>
      </p:sp>
      <p:sp>
        <p:nvSpPr>
          <p:cNvPr id="4902" name="Google Shape;4902;p3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2" name="Shape 4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3" name="Google Shape;4933;p3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4" name="Google Shape;4934;p3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grid[1] is a whole row. grid[1][2] is one number in it.</a:t>
            </a:r>
            <a:endParaRPr/>
          </a:p>
        </p:txBody>
      </p:sp>
      <p:sp>
        <p:nvSpPr>
          <p:cNvPr id="4935" name="Google Shape;4935;p3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6" name="Shape 4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7" name="Google Shape;4947;p3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8" name="Google Shape;4948;p3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Outer loop over rows, inner loop over the items of that row.</a:t>
            </a:r>
            <a:endParaRPr/>
          </a:p>
        </p:txBody>
      </p:sp>
      <p:sp>
        <p:nvSpPr>
          <p:cNvPr id="4949" name="Google Shape;4949;p3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1" name="Shape 4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2" name="Google Shape;4962;p3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3" name="Google Shape;4963;p3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Nine cells, in this order. Note that j resets on every new row.</a:t>
            </a:r>
            <a:endParaRPr/>
          </a:p>
        </p:txBody>
      </p:sp>
      <p:sp>
        <p:nvSpPr>
          <p:cNvPr id="4964" name="Google Shape;4964;p30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8" name="Shape 4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9" name="Google Shape;4999;p3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0" name="Google Shape;5000;p3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total per row: reset it at the top of each row. Compare with a grand total.</a:t>
            </a:r>
            <a:endParaRPr/>
          </a:p>
        </p:txBody>
      </p:sp>
      <p:sp>
        <p:nvSpPr>
          <p:cNvPr id="5001" name="Google Shape;5001;p30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2" name="Shape 5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3" name="Google Shape;5013;p3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4" name="Google Shape;5014;p3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columns, the outer loop counts columns and the inner one walks the rows.</a:t>
            </a:r>
            <a:endParaRPr/>
          </a:p>
        </p:txBody>
      </p:sp>
      <p:sp>
        <p:nvSpPr>
          <p:cNvPr id="5015" name="Google Shape;5015;p3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6" name="Shape 5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" name="Google Shape;5027;p3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8" name="Google Shape;5028;p3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 the grid from input row by row. Note the inner list is appended whole.</a:t>
            </a:r>
            <a:endParaRPr/>
          </a:p>
        </p:txBody>
      </p:sp>
      <p:sp>
        <p:nvSpPr>
          <p:cNvPr id="5029" name="Google Shape;5029;p3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7" name="Shape 5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" name="Google Shape;5038;p3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9" name="Google Shape;5039;p3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multiplication trick makes three names for one row. A classic bug.</a:t>
            </a:r>
            <a:endParaRPr/>
          </a:p>
        </p:txBody>
      </p:sp>
      <p:sp>
        <p:nvSpPr>
          <p:cNvPr id="5040" name="Google Shape;5040;p3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4" name="Shape 5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5" name="Google Shape;5055;p3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6" name="Google Shape;5056;p3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Rows need not be the same length. Never assume len(grid[0]) for every row.</a:t>
            </a:r>
            <a:endParaRPr/>
          </a:p>
        </p:txBody>
      </p:sp>
      <p:sp>
        <p:nvSpPr>
          <p:cNvPr id="5057" name="Google Shape;5057;p3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8" name="Shape 5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9" name="Google Shape;5069;p3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0" name="Google Shape;5070;p3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Marks per student per subject. This is the realistic use of a 2D list.</a:t>
            </a:r>
            <a:endParaRPr/>
          </a:p>
        </p:txBody>
      </p:sp>
      <p:sp>
        <p:nvSpPr>
          <p:cNvPr id="5071" name="Google Shape;5071;p3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1" name="Shape 5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2" name="Google Shape;5082;p3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3" name="Google Shape;5083;p3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Answers: 6, [7, 8, 9], 3, and 15.</a:t>
            </a:r>
            <a:endParaRPr/>
          </a:p>
        </p:txBody>
      </p:sp>
      <p:sp>
        <p:nvSpPr>
          <p:cNvPr id="5084" name="Google Shape;5084;p3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6" name="Shape 5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7" name="Google Shape;5097;p3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8" name="Google Shape;5098;p3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minutes. Problem 3 is the transpose; expect it to take the full time.</a:t>
            </a:r>
            <a:endParaRPr/>
          </a:p>
        </p:txBody>
      </p:sp>
      <p:sp>
        <p:nvSpPr>
          <p:cNvPr id="5099" name="Google Shape;5099;p3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9" name="Shape 5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0" name="Google Shape;5110;p3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1" name="Google Shape;5111;p3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Unit 6 closed. Next: the other built-in containers.</a:t>
            </a:r>
            <a:endParaRPr/>
          </a:p>
        </p:txBody>
      </p:sp>
      <p:sp>
        <p:nvSpPr>
          <p:cNvPr id="5112" name="Google Shape;5112;p3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5" name="Shape 5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Google Shape;5126;p3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7" name="Google Shape;5127;p3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20. Two containers with one job each: tuples for fixed data, sets for uniqueness.</a:t>
            </a:r>
            <a:endParaRPr/>
          </a:p>
        </p:txBody>
      </p:sp>
      <p:sp>
        <p:nvSpPr>
          <p:cNvPr id="5128" name="Google Shape;5128;p3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3" name="Shape 5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4" name="Google Shape;5134;p3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5" name="Google Shape;5135;p3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Choosing the right container is the skill. Each one is good at exactly one thing.</a:t>
            </a:r>
            <a:endParaRPr/>
          </a:p>
        </p:txBody>
      </p:sp>
      <p:sp>
        <p:nvSpPr>
          <p:cNvPr id="5136" name="Google Shape;5136;p3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1" name="Shape 5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2" name="Google Shape;5152;p3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3" name="Google Shape;5153;p3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Round brackets. Indexing and slicing work exactly as with lists.</a:t>
            </a:r>
            <a:endParaRPr/>
          </a:p>
        </p:txBody>
      </p:sp>
      <p:sp>
        <p:nvSpPr>
          <p:cNvPr id="5154" name="Google Shape;5154;p3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4" name="Shape 5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5" name="Google Shape;5165;p3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6" name="Google Shape;5166;p3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Same error family as a string. A tuple is a promise that the data will not change.</a:t>
            </a:r>
            <a:endParaRPr/>
          </a:p>
        </p:txBody>
      </p:sp>
      <p:sp>
        <p:nvSpPr>
          <p:cNvPr id="5167" name="Google Shape;5167;p3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8" name="Shape 5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9" name="Google Shape;5179;p3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0" name="Google Shape;5180;p3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Coordinates, dates, RGB values, database rows: things where the shape is fixed.</a:t>
            </a:r>
            <a:endParaRPr/>
          </a:p>
        </p:txBody>
      </p:sp>
      <p:sp>
        <p:nvSpPr>
          <p:cNvPr id="5181" name="Google Shape;5181;p3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7" name="Shape 5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8" name="Google Shape;5198;p3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9" name="Google Shape;5199;p3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Unpacking is why tuples appear so often. Names on the left, values on the right.</a:t>
            </a:r>
            <a:endParaRPr/>
          </a:p>
        </p:txBody>
      </p:sp>
      <p:sp>
        <p:nvSpPr>
          <p:cNvPr id="5200" name="Google Shape;5200;p3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1" name="Shape 5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" name="Google Shape;5212;p3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3" name="Google Shape;5213;p3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single value in brackets is not a tuple. The comma is what makes it one.</a:t>
            </a:r>
            <a:endParaRPr/>
          </a:p>
        </p:txBody>
      </p:sp>
      <p:sp>
        <p:nvSpPr>
          <p:cNvPr id="5214" name="Google Shape;5214;p3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7" name="Shape 5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8" name="Google Shape;5228;p3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9" name="Google Shape;5229;p3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Curly brackets. Duplicates vanish on creation, without an error.</a:t>
            </a:r>
            <a:endParaRPr/>
          </a:p>
        </p:txBody>
      </p:sp>
      <p:sp>
        <p:nvSpPr>
          <p:cNvPr id="5230" name="Google Shape;5230;p3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1" name="Shape 5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" name="Google Shape;5242;p3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3" name="Google Shape;5243;p3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positions in a set. Asking for s[0] is a TypeError, not an IndexError.</a:t>
            </a:r>
            <a:endParaRPr/>
          </a:p>
        </p:txBody>
      </p:sp>
      <p:sp>
        <p:nvSpPr>
          <p:cNvPr id="5244" name="Google Shape;5244;p3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5" name="Shape 5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6" name="Google Shape;5256;p3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7" name="Google Shape;5257;p3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operations that answer real questions about two groups.</a:t>
            </a:r>
            <a:endParaRPr/>
          </a:p>
        </p:txBody>
      </p:sp>
      <p:sp>
        <p:nvSpPr>
          <p:cNvPr id="5258" name="Google Shape;5258;p3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8" name="Shape 5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9" name="Google Shape;5269;p3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0" name="Google Shape;5270;p3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 each symbol as a question in plain words.</a:t>
            </a:r>
            <a:endParaRPr/>
          </a:p>
        </p:txBody>
      </p:sp>
      <p:sp>
        <p:nvSpPr>
          <p:cNvPr id="5271" name="Google Shape;5271;p3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3" name="Shape 5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4" name="Google Shape;5284;p3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5" name="Google Shape;5285;p3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most common practical use of a set: removing duplicates from a list.</a:t>
            </a:r>
            <a:endParaRPr/>
          </a:p>
        </p:txBody>
      </p:sp>
      <p:sp>
        <p:nvSpPr>
          <p:cNvPr id="5286" name="Google Shape;5286;p3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7" name="Shape 5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8" name="Google Shape;5298;p3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9" name="Google Shape;5299;p3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Empty curly brackets give a dictionary, which is next class. Use set() instead.</a:t>
            </a:r>
            <a:endParaRPr/>
          </a:p>
        </p:txBody>
      </p:sp>
      <p:sp>
        <p:nvSpPr>
          <p:cNvPr id="5300" name="Google Shape;5300;p3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3" name="Shape 5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" name="Google Shape;5314;p3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5" name="Google Shape;5315;p3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containers, one table. Worth photographing.</a:t>
            </a:r>
            <a:endParaRPr/>
          </a:p>
        </p:txBody>
      </p:sp>
      <p:sp>
        <p:nvSpPr>
          <p:cNvPr id="5316" name="Google Shape;5316;p3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6" name="Shape 5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7" name="Google Shape;5367;p3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8" name="Google Shape;5368;p3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Answers: 3, TypeError, {1,2,3}, and tuple.</a:t>
            </a:r>
            <a:endParaRPr/>
          </a:p>
        </p:txBody>
      </p:sp>
      <p:sp>
        <p:nvSpPr>
          <p:cNvPr id="5369" name="Google Shape;5369;p3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1" name="Shape 5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2" name="Google Shape;5382;p3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3" name="Google Shape;5383;p3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minutes. Problem 2 is the set operations in disguise.</a:t>
            </a:r>
            <a:endParaRPr/>
          </a:p>
        </p:txBody>
      </p:sp>
      <p:sp>
        <p:nvSpPr>
          <p:cNvPr id="5384" name="Google Shape;5384;p3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4" name="Shape 5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5" name="Google Shape;5395;p3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6" name="Google Shape;5396;p3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class: dictionaries, the most useful container of all.</a:t>
            </a:r>
            <a:endParaRPr/>
          </a:p>
        </p:txBody>
      </p:sp>
      <p:sp>
        <p:nvSpPr>
          <p:cNvPr id="5397" name="Google Shape;5397;p3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0" name="Shape 5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1" name="Google Shape;5411;p3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2" name="Google Shape;5412;p3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21. Dictionaries are the container they will use most after this course.</a:t>
            </a:r>
            <a:endParaRPr/>
          </a:p>
        </p:txBody>
      </p:sp>
      <p:sp>
        <p:nvSpPr>
          <p:cNvPr id="5413" name="Google Shape;5413;p3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8" name="Shape 5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9" name="Google Shape;5419;p3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0" name="Google Shape;5420;p3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Look things up by name instead of by position. That is the whole idea.</a:t>
            </a:r>
            <a:endParaRPr/>
          </a:p>
        </p:txBody>
      </p:sp>
      <p:sp>
        <p:nvSpPr>
          <p:cNvPr id="5421" name="Google Shape;5421;p3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6" name="Shape 5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" name="Google Shape;5437;p3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8" name="Google Shape;5438;p3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on the left of the colon, value on the right. Read one pair aloud.</a:t>
            </a:r>
            <a:endParaRPr/>
          </a:p>
        </p:txBody>
      </p:sp>
      <p:sp>
        <p:nvSpPr>
          <p:cNvPr id="5439" name="Google Shape;5439;p3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1" name="Shape 5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2" name="Google Shape;5452;p3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3" name="Google Shape;5453;p3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Square brackets, but with a key inside rather than a number.</a:t>
            </a:r>
            <a:endParaRPr/>
          </a:p>
        </p:txBody>
      </p:sp>
      <p:sp>
        <p:nvSpPr>
          <p:cNvPr id="5454" name="Google Shape;5454;p3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5" name="Shape 5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6" name="Google Shape;5466;p3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7" name="Google Shape;5467;p3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Same data, two shapes. The dictionary version explains itself.</a:t>
            </a:r>
            <a:endParaRPr/>
          </a:p>
        </p:txBody>
      </p:sp>
      <p:sp>
        <p:nvSpPr>
          <p:cNvPr id="5468" name="Google Shape;5468;p3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9" name="Shape 5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0" name="Google Shape;5480;p3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1" name="Google Shape;5481;p3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syntax does both. If the key exists it is replaced; if not it is created.</a:t>
            </a:r>
            <a:endParaRPr/>
          </a:p>
        </p:txBody>
      </p:sp>
      <p:sp>
        <p:nvSpPr>
          <p:cNvPr id="5482" name="Google Shape;5482;p3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3" name="Shape 5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4" name="Google Shape;5494;p3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5" name="Google Shape;5495;p3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missing key raises KeyError. This is the error they will meet most with dictionaries.</a:t>
            </a:r>
            <a:endParaRPr/>
          </a:p>
        </p:txBody>
      </p:sp>
      <p:sp>
        <p:nvSpPr>
          <p:cNvPr id="5496" name="Google Shape;5496;p3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7" name="Shape 5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8" name="Google Shape;5508;p3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9" name="Google Shape;5509;p3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safe ways: check with in, or use .get() with a fallback.</a:t>
            </a:r>
            <a:endParaRPr/>
          </a:p>
        </p:txBody>
      </p:sp>
      <p:sp>
        <p:nvSpPr>
          <p:cNvPr id="5510" name="Google Shape;5510;p3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1" name="Shape 5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2" name="Google Shape;5522;p3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3" name="Google Shape;5523;p3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loops: keys, values, and both together with .items().</a:t>
            </a:r>
            <a:endParaRPr/>
          </a:p>
        </p:txBody>
      </p:sp>
      <p:sp>
        <p:nvSpPr>
          <p:cNvPr id="5524" name="Google Shape;5524;p3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5" name="Shape 5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6" name="Google Shape;5536;p3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7" name="Google Shape;5537;p3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Six methods. keys, values and items are the three they will use daily.</a:t>
            </a:r>
            <a:endParaRPr/>
          </a:p>
        </p:txBody>
      </p:sp>
      <p:sp>
        <p:nvSpPr>
          <p:cNvPr id="5538" name="Google Shape;5538;p3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0" name="Shape 5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1" name="Google Shape;5561;p3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2" name="Google Shape;5562;p3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counting pattern. This is the single most useful thing a dictionary does.</a:t>
            </a:r>
            <a:endParaRPr/>
          </a:p>
        </p:txBody>
      </p:sp>
      <p:sp>
        <p:nvSpPr>
          <p:cNvPr id="5563" name="Google Shape;5563;p3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4" name="Shape 5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5" name="Google Shape;5575;p3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6" name="Google Shape;5576;p3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the first five letters. The r on step 5 is the interesting one.</a:t>
            </a:r>
            <a:endParaRPr/>
          </a:p>
        </p:txBody>
      </p:sp>
      <p:sp>
        <p:nvSpPr>
          <p:cNvPr id="5577" name="Google Shape;5577;p3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6" name="Shape 5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7" name="Google Shape;5627;p3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8" name="Google Shape;5628;p3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Values can be dictionaries. This is how real data arrives.</a:t>
            </a:r>
            <a:endParaRPr/>
          </a:p>
        </p:txBody>
      </p:sp>
      <p:sp>
        <p:nvSpPr>
          <p:cNvPr id="5629" name="Google Shape;5629;p3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9" name="Shape 5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0" name="Google Shape;5640;p3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1" name="Google Shape;5641;p3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Keys must be unchangeable. A list cannot be a key; a tuple can.</a:t>
            </a:r>
            <a:endParaRPr/>
          </a:p>
        </p:txBody>
      </p:sp>
      <p:sp>
        <p:nvSpPr>
          <p:cNvPr id="5642" name="Google Shape;5642;p3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7" name="Shape 5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8" name="Google Shape;5658;p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9" name="Google Shape;5659;p3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Answers: 78, KeyError, 0, and 2.</a:t>
            </a:r>
            <a:endParaRPr/>
          </a:p>
        </p:txBody>
      </p:sp>
      <p:sp>
        <p:nvSpPr>
          <p:cNvPr id="5660" name="Google Shape;5660;p3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2" name="Shape 5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3" name="Google Shape;5673;p3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4" name="Google Shape;5674;p3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minutes. Problem 2 is the counting pattern on words instead of letters.</a:t>
            </a:r>
            <a:endParaRPr/>
          </a:p>
        </p:txBody>
      </p:sp>
      <p:sp>
        <p:nvSpPr>
          <p:cNvPr id="5675" name="Google Shape;5675;p3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5" name="Shape 5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6" name="Google Shape;5686;p3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7" name="Google Shape;5687;p3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Unit 7 closed. Three classes left, and they are the ambitious ones.</a:t>
            </a:r>
            <a:endParaRPr/>
          </a:p>
        </p:txBody>
      </p:sp>
      <p:sp>
        <p:nvSpPr>
          <p:cNvPr id="5688" name="Google Shape;5688;p3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1" name="Shape 5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2" name="Google Shape;5702;p3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3" name="Google Shape;5703;p3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22. Go slowly. The stack diagram is the part that makes it click.</a:t>
            </a:r>
            <a:endParaRPr/>
          </a:p>
        </p:txBody>
      </p:sp>
      <p:sp>
        <p:nvSpPr>
          <p:cNvPr id="5704" name="Google Shape;5704;p3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9" name="Shape 5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0" name="Google Shape;5710;p3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1" name="Google Shape;5711;p3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Base case and recursive case. Every recursive function needs both.</a:t>
            </a:r>
            <a:endParaRPr/>
          </a:p>
        </p:txBody>
      </p:sp>
      <p:sp>
        <p:nvSpPr>
          <p:cNvPr id="5712" name="Google Shape;5712;p3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7" name="Shape 5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8" name="Google Shape;5728;p3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9" name="Google Shape;5729;p3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Factorial defined in terms of itself. Write both lines on the board.</a:t>
            </a:r>
            <a:endParaRPr/>
          </a:p>
        </p:txBody>
      </p:sp>
      <p:sp>
        <p:nvSpPr>
          <p:cNvPr id="5730" name="Google Shape;5730;p3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5" name="Shape 5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6" name="Google Shape;5736;p3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7" name="Google Shape;5737;p3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lines. Point at the base case, then the line that calls itself.</a:t>
            </a:r>
            <a:endParaRPr/>
          </a:p>
        </p:txBody>
      </p:sp>
      <p:sp>
        <p:nvSpPr>
          <p:cNvPr id="5738" name="Google Shape;5738;p3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9" name="Shape 5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0" name="Google Shape;5750;p3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1" name="Google Shape;5751;p3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 recursive function has exactly these two parts. Check for both, every time.</a:t>
            </a:r>
            <a:endParaRPr/>
          </a:p>
        </p:txBody>
      </p:sp>
      <p:sp>
        <p:nvSpPr>
          <p:cNvPr id="5752" name="Google Shape;5752;p3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3" name="Shape 5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4" name="Google Shape;5764;p3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5" name="Google Shape;5765;p3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Down the left, back up the right. Nothing multiplies until the bottom is reached.</a:t>
            </a:r>
            <a:endParaRPr/>
          </a:p>
        </p:txBody>
      </p:sp>
      <p:sp>
        <p:nvSpPr>
          <p:cNvPr id="5766" name="Google Shape;5766;p3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3" name="Shape 5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4" name="Google Shape;5784;p3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5" name="Google Shape;5785;p3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Without a base case Python stops you after about a thousand calls.</a:t>
            </a:r>
            <a:endParaRPr/>
          </a:p>
        </p:txBody>
      </p:sp>
      <p:sp>
        <p:nvSpPr>
          <p:cNvPr id="5786" name="Google Shape;5786;p3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7" name="Shape 5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8" name="Google Shape;5798;p3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9" name="Google Shape;5799;p3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Same answer both ways. The loop is faster; the recursion matches the definition.</a:t>
            </a:r>
            <a:endParaRPr/>
          </a:p>
        </p:txBody>
      </p:sp>
      <p:sp>
        <p:nvSpPr>
          <p:cNvPr id="5800" name="Google Shape;5800;p3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1" name="Shape 5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2" name="Google Shape;5812;p3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3" name="Google Shape;5813;p3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4's digit peeling, now recursive. // 10 is what makes the problem smaller.</a:t>
            </a:r>
            <a:endParaRPr/>
          </a:p>
        </p:txBody>
      </p:sp>
      <p:sp>
        <p:nvSpPr>
          <p:cNvPr id="5814" name="Google Shape;5814;p3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5" name="Shape 5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" name="Google Shape;5826;p3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7" name="Google Shape;5827;p3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calls. The last one returns 0 without calling again.</a:t>
            </a:r>
            <a:endParaRPr/>
          </a:p>
        </p:txBody>
      </p:sp>
      <p:sp>
        <p:nvSpPr>
          <p:cNvPr id="5828" name="Google Shape;5828;p3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9" name="Shape 5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0" name="Google Shape;5870;p3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1" name="Google Shape;5871;p3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Slicing makes the string smaller. Compare with Class 7's a[::-1].</a:t>
            </a:r>
            <a:endParaRPr/>
          </a:p>
        </p:txBody>
      </p:sp>
      <p:sp>
        <p:nvSpPr>
          <p:cNvPr id="5872" name="Google Shape;5872;p3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3" name="Shape 5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4" name="Google Shape;5884;p3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5" name="Google Shape;5885;p3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base cases and two calls. Mention that this gets slow fast.</a:t>
            </a:r>
            <a:endParaRPr/>
          </a:p>
        </p:txBody>
      </p:sp>
      <p:sp>
        <p:nvSpPr>
          <p:cNvPr id="5886" name="Google Shape;5886;p3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7" name="Shape 5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8" name="Google Shape;5898;p3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9" name="Google Shape;5899;p3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 honest: in this course recursion is mostly for understanding, not for speed.</a:t>
            </a:r>
            <a:endParaRPr/>
          </a:p>
        </p:txBody>
      </p:sp>
      <p:sp>
        <p:nvSpPr>
          <p:cNvPr id="5900" name="Google Shape;5900;p3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2" name="Shape 5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3" name="Google Shape;5913;p3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4" name="Google Shape;5914;p3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Answers: 6, then a RecursionError because the base case can never be hit.</a:t>
            </a:r>
            <a:endParaRPr/>
          </a:p>
        </p:txBody>
      </p:sp>
      <p:sp>
        <p:nvSpPr>
          <p:cNvPr id="5915" name="Google Shape;5915;p3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3" name="Shape 5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4" name="Google Shape;5924;p3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5" name="Google Shape;5925;p3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minutes. Every solution must name its base case in a comment.</a:t>
            </a:r>
            <a:endParaRPr/>
          </a:p>
        </p:txBody>
      </p:sp>
      <p:sp>
        <p:nvSpPr>
          <p:cNvPr id="5926" name="Google Shape;5926;p3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6" name="Shape 5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7" name="Google Shape;5937;p3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8" name="Google Shape;5938;p3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class: classes and objects.</a:t>
            </a:r>
            <a:endParaRPr/>
          </a:p>
        </p:txBody>
      </p:sp>
      <p:sp>
        <p:nvSpPr>
          <p:cNvPr id="5939" name="Google Shape;5939;p3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2" name="Shape 5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3" name="Google Shape;5953;p3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4" name="Google Shape;5954;p3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23. One idea: data and the functions that work on it, kept together.</a:t>
            </a:r>
            <a:endParaRPr/>
          </a:p>
        </p:txBody>
      </p:sp>
      <p:sp>
        <p:nvSpPr>
          <p:cNvPr id="5955" name="Google Shape;5955;p3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0" name="Shape 5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1" name="Google Shape;5961;p3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2" name="Google Shape;5962;p3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self is the confusing part. Address it directly and early.</a:t>
            </a:r>
            <a:endParaRPr/>
          </a:p>
        </p:txBody>
      </p:sp>
      <p:sp>
        <p:nvSpPr>
          <p:cNvPr id="5963" name="Google Shape;5963;p3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8" name="Shape 5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9" name="Google Shape;5979;p3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0" name="Google Shape;5980;p3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class describes a kind of thing. An object is one of them.</a:t>
            </a:r>
            <a:endParaRPr/>
          </a:p>
        </p:txBody>
      </p:sp>
      <p:sp>
        <p:nvSpPr>
          <p:cNvPr id="5981" name="Google Shape;5981;p3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8" name="Shape 5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9" name="Google Shape;5989;p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0" name="Google Shape;5990;p3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Five lines. Read __init__ as 'the setup that runs when a new one is made'.</a:t>
            </a:r>
            <a:endParaRPr/>
          </a:p>
        </p:txBody>
      </p:sp>
      <p:sp>
        <p:nvSpPr>
          <p:cNvPr id="5991" name="Google Shape;5991;p3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1" name="Shape 6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2" name="Google Shape;6002;p3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3" name="Google Shape;6003;p3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pieces of vocabulary. They will hear these words in every later course.</a:t>
            </a:r>
            <a:endParaRPr/>
          </a:p>
        </p:txBody>
      </p:sp>
      <p:sp>
        <p:nvSpPr>
          <p:cNvPr id="6004" name="Google Shape;6004;p3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0" name="Shape 6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" name="Google Shape;6021;p3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2" name="Google Shape;6022;p3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self is the object the method was called on. Python passes it for you.</a:t>
            </a:r>
            <a:endParaRPr/>
          </a:p>
        </p:txBody>
      </p:sp>
      <p:sp>
        <p:nvSpPr>
          <p:cNvPr id="6023" name="Google Shape;6023;p3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4" name="Shape 6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5" name="Google Shape;6035;p3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6" name="Google Shape;6036;p3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Leaving self out of the definition gives a confusing argument-count error.</a:t>
            </a:r>
            <a:endParaRPr/>
          </a:p>
        </p:txBody>
      </p:sp>
      <p:sp>
        <p:nvSpPr>
          <p:cNvPr id="6037" name="Google Shape;6037;p3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8" name="Shape 6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9" name="Google Shape;6049;p3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0" name="Google Shape;6050;p3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Methods read the object's own attributes through self. No parameters needed.</a:t>
            </a:r>
            <a:endParaRPr/>
          </a:p>
        </p:txBody>
      </p:sp>
      <p:sp>
        <p:nvSpPr>
          <p:cNvPr id="6051" name="Google Shape;6051;p3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1" name="Shape 6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2" name="Google Shape;6062;p3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3" name="Google Shape;6063;p3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class, three objects, three sets of attributes. This is the payoff.</a:t>
            </a:r>
            <a:endParaRPr/>
          </a:p>
        </p:txBody>
      </p:sp>
      <p:sp>
        <p:nvSpPr>
          <p:cNvPr id="6064" name="Google Shape;6064;p3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5" name="Shape 6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6" name="Google Shape;6076;p3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7" name="Google Shape;6077;p3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Compare with Class 21's nested dictionary. The class carries behaviour too.</a:t>
            </a:r>
            <a:endParaRPr/>
          </a:p>
        </p:txBody>
      </p:sp>
      <p:sp>
        <p:nvSpPr>
          <p:cNvPr id="6078" name="Google Shape;6078;p3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9" name="Shape 6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0" name="Google Shape;6090;p3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1" name="Google Shape;6091;p3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Printing an object gives a memory address unless you define __str__.</a:t>
            </a:r>
            <a:endParaRPr/>
          </a:p>
        </p:txBody>
      </p:sp>
      <p:sp>
        <p:nvSpPr>
          <p:cNvPr id="6092" name="Google Shape;6092;p3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6" name="Shape 6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7" name="Google Shape;6107;p3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8" name="Google Shape;6108;p3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method can change the object's own attributes. That is state.</a:t>
            </a:r>
            <a:endParaRPr/>
          </a:p>
        </p:txBody>
      </p:sp>
      <p:sp>
        <p:nvSpPr>
          <p:cNvPr id="6109" name="Google Shape;6109;p3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9" name="Shape 6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0" name="Google Shape;6120;p3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1" name="Google Shape;6121;p3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Asking for an attribute that was never set. Usually a typo or a missing __init__ line.</a:t>
            </a:r>
            <a:endParaRPr/>
          </a:p>
        </p:txBody>
      </p:sp>
      <p:sp>
        <p:nvSpPr>
          <p:cNvPr id="6122" name="Google Shape;6122;p3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5" name="Shape 6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6" name="Google Shape;6136;p3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7" name="Google Shape;6137;p3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 it back: they have been using objects and methods since Class 6.</a:t>
            </a:r>
            <a:endParaRPr/>
          </a:p>
        </p:txBody>
      </p:sp>
      <p:sp>
        <p:nvSpPr>
          <p:cNvPr id="6138" name="Google Shape;6138;p3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3" name="Shape 6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" name="Google Shape;6144;p3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5" name="Google Shape;6145;p3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 what each line prints, and what self refers to in each case.</a:t>
            </a:r>
            <a:endParaRPr/>
          </a:p>
        </p:txBody>
      </p:sp>
      <p:sp>
        <p:nvSpPr>
          <p:cNvPr id="6146" name="Google Shape;6146;p3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2" name="Shape 6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Google Shape;6153;p3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4" name="Google Shape;6154;p3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minutes. Problem 3 is the account class from the notebook.</a:t>
            </a:r>
            <a:endParaRPr/>
          </a:p>
        </p:txBody>
      </p:sp>
      <p:sp>
        <p:nvSpPr>
          <p:cNvPr id="6155" name="Google Shape;6155;p3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5" name="Shape 6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6" name="Google Shape;6166;p3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7" name="Google Shape;6167;p3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class: the last one. Exceptions and files, straight from the notebook.</a:t>
            </a:r>
            <a:endParaRPr/>
          </a:p>
        </p:txBody>
      </p:sp>
      <p:sp>
        <p:nvSpPr>
          <p:cNvPr id="6168" name="Google Shape;6168;p3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1" name="Shape 6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2" name="Google Shape;6182;p3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3" name="Google Shape;6183;p3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Final class. Every example here is from your own exception notebook.</a:t>
            </a:r>
            <a:endParaRPr/>
          </a:p>
        </p:txBody>
      </p:sp>
      <p:sp>
        <p:nvSpPr>
          <p:cNvPr id="6184" name="Google Shape;6184;p3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9" name="Shape 6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0" name="Google Shape;6190;p3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1" name="Google Shape;6191;p3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They have been reading error messages since Class 1. Today they catch them.</a:t>
            </a:r>
            <a:endParaRPr/>
          </a:p>
        </p:txBody>
      </p:sp>
      <p:sp>
        <p:nvSpPr>
          <p:cNvPr id="6192" name="Google Shape;6192;p3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7" name="Shape 6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8" name="Google Shape;6208;p3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9" name="Google Shape;6209;p3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 it and type 0. The second print never happens. That is the problem to solve.</a:t>
            </a:r>
            <a:endParaRPr/>
          </a:p>
        </p:txBody>
      </p:sp>
      <p:sp>
        <p:nvSpPr>
          <p:cNvPr id="6210" name="Google Shape;6210;p3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1" name="Shape 6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2" name="Google Shape;6222;p3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3" name="Google Shape;6223;p3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try holds the risky lines. except says what to do instead of crashing.</a:t>
            </a:r>
            <a:endParaRPr/>
          </a:p>
        </p:txBody>
      </p:sp>
      <p:sp>
        <p:nvSpPr>
          <p:cNvPr id="6224" name="Google Shape;6224;p3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2" name="Shape 6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3" name="Google Shape;6233;p3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4" name="Google Shape;6234;p3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paths. Note that the rest of the try block is skipped once something goes wrong.</a:t>
            </a:r>
            <a:endParaRPr/>
          </a:p>
        </p:txBody>
      </p:sp>
      <p:sp>
        <p:nvSpPr>
          <p:cNvPr id="6235" name="Google Shape;6235;p3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2" name="Shape 6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3" name="Google Shape;6243;p3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44" name="Google Shape;6244;p3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except per kind of error. Only the matching one runs.</a:t>
            </a:r>
            <a:endParaRPr/>
          </a:p>
        </p:txBody>
      </p:sp>
      <p:sp>
        <p:nvSpPr>
          <p:cNvPr id="6245" name="Google Shape;6245;p3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3" name="Shape 6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4" name="Google Shape;6254;p3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5" name="Google Shape;6255;p3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ten they have met. Every one appeared in an earlier class.</a:t>
            </a:r>
            <a:endParaRPr/>
          </a:p>
        </p:txBody>
      </p:sp>
      <p:sp>
        <p:nvSpPr>
          <p:cNvPr id="6256" name="Google Shape;6256;p3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8" name="Shape 6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9" name="Google Shape;6289;p3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0" name="Google Shape;6290;p3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e gives you the message Python would have printed. Useful while debugging.</a:t>
            </a:r>
            <a:endParaRPr/>
          </a:p>
        </p:txBody>
      </p:sp>
      <p:sp>
        <p:nvSpPr>
          <p:cNvPr id="6291" name="Google Shape;6291;p3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2" name="Shape 6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3" name="Google Shape;6303;p3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4" name="Google Shape;6304;p3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else runs only on success. finally runs no matter what. Both from your notebook.</a:t>
            </a:r>
            <a:endParaRPr/>
          </a:p>
        </p:txBody>
      </p:sp>
      <p:sp>
        <p:nvSpPr>
          <p:cNvPr id="6305" name="Google Shape;6305;p3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3" name="Shape 6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4" name="Google Shape;6314;p3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5" name="Google Shape;6315;p3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blocks, two scenarios. This table answers most exam questions on the topic.</a:t>
            </a:r>
            <a:endParaRPr/>
          </a:p>
        </p:txBody>
      </p:sp>
      <p:sp>
        <p:nvSpPr>
          <p:cNvPr id="6316" name="Google Shape;6316;p3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8" name="Shape 6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" name="Google Shape;6349;p3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0" name="Google Shape;6350;p3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raise creates a problem; except catches one. Two halves of the same idea.</a:t>
            </a:r>
            <a:endParaRPr/>
          </a:p>
        </p:txBody>
      </p:sp>
      <p:sp>
        <p:nvSpPr>
          <p:cNvPr id="6351" name="Google Shape;6351;p3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1" name="Shape 6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2" name="Google Shape;6362;p3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63" name="Google Shape;6363;p3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Catching everything hides real bugs. Always name the error you expect.</a:t>
            </a:r>
            <a:endParaRPr/>
          </a:p>
        </p:txBody>
      </p:sp>
      <p:sp>
        <p:nvSpPr>
          <p:cNvPr id="6364" name="Google Shape;6364;p3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5" name="Shape 6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6" name="Google Shape;6376;p3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7" name="Google Shape;6377;p3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with closes the file for you, even if something goes wrong inside.</a:t>
            </a:r>
            <a:endParaRPr/>
          </a:p>
        </p:txBody>
      </p:sp>
      <p:sp>
        <p:nvSpPr>
          <p:cNvPr id="6378" name="Google Shape;6378;p3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6" name="Shape 6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7" name="Google Shape;6387;p3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8" name="Google Shape;6388;p3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'w' destroys the old contents. 'a' adds to the end. Say this twice.</a:t>
            </a:r>
            <a:endParaRPr/>
          </a:p>
        </p:txBody>
      </p:sp>
      <p:sp>
        <p:nvSpPr>
          <p:cNvPr id="6389" name="Google Shape;6389;p3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7" name="Shape 6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8" name="Google Shape;6398;p3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9" name="Google Shape;6399;p3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letters. Mixing up w and a is how students lose their own data.</a:t>
            </a:r>
            <a:endParaRPr/>
          </a:p>
        </p:txBody>
      </p:sp>
      <p:sp>
        <p:nvSpPr>
          <p:cNvPr id="6400" name="Google Shape;6400;p3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4" name="Shape 6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5" name="Google Shape;6415;p3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6" name="Google Shape;6416;p3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Both from your notebook: a missing file, and writing to a read-only handle.</a:t>
            </a:r>
            <a:endParaRPr/>
          </a:p>
        </p:txBody>
      </p:sp>
      <p:sp>
        <p:nvSpPr>
          <p:cNvPr id="6417" name="Google Shape;6417;p3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6" name="Shape 6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7" name="Google Shape;6427;p3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8" name="Google Shape;6428;p3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Everything together: files, exceptions, a loop and an accumulator.</a:t>
            </a:r>
            <a:endParaRPr/>
          </a:p>
        </p:txBody>
      </p:sp>
      <p:sp>
        <p:nvSpPr>
          <p:cNvPr id="6429" name="Google Shape;6429;p3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7" name="Shape 6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8" name="Google Shape;6438;p3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9" name="Google Shape;6439;p3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 which except catches each. The third catches nothing; it succeeds.</a:t>
            </a:r>
            <a:endParaRPr/>
          </a:p>
        </p:txBody>
      </p:sp>
      <p:sp>
        <p:nvSpPr>
          <p:cNvPr id="6440" name="Google Shape;6440;p3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2" name="Shape 6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3" name="Google Shape;6453;p4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54" name="Google Shape;6454;p4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minutes, the last practice of the course.</a:t>
            </a:r>
            <a:endParaRPr/>
          </a:p>
        </p:txBody>
      </p:sp>
      <p:sp>
        <p:nvSpPr>
          <p:cNvPr id="6455" name="Google Shape;6455;p4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5" name="Shape 6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6" name="Google Shape;6466;p4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7" name="Google Shape;6467;p4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the course. Name what they can do now, and where to go next.</a:t>
            </a:r>
            <a:endParaRPr/>
          </a:p>
        </p:txBody>
      </p:sp>
      <p:sp>
        <p:nvSpPr>
          <p:cNvPr id="6468" name="Google Shape;6468;p4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5" name="Shape 6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6" name="Google Shape;6486;p4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7" name="Google Shape;6487;p4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Libraries. Note that pygame needs a real window, so it will not run in Colab.</a:t>
            </a:r>
            <a:endParaRPr/>
          </a:p>
        </p:txBody>
      </p:sp>
      <p:sp>
        <p:nvSpPr>
          <p:cNvPr id="6488" name="Google Shape;6488;p4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3" name="Shape 6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4" name="Google Shape;6494;p4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5" name="Google Shape;6495;p4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items. The pygame part is reference for work done outside Colab.</a:t>
            </a:r>
            <a:endParaRPr/>
          </a:p>
        </p:txBody>
      </p:sp>
      <p:sp>
        <p:nvSpPr>
          <p:cNvPr id="6496" name="Google Shape;6496;p4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1" name="Shape 6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2" name="Google Shape;6512;p4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3" name="Google Shape;6513;p4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 200 core modules in the standard library, most written in C.</a:t>
            </a:r>
            <a:endParaRPr/>
          </a:p>
        </p:txBody>
      </p:sp>
      <p:sp>
        <p:nvSpPr>
          <p:cNvPr id="6514" name="Google Shape;6514;p4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8" name="Shape 6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9" name="Google Shape;6529;p4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0" name="Google Shape;6530;p4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forms. Discourage the star import; it hides where names came from.</a:t>
            </a:r>
            <a:endParaRPr/>
          </a:p>
        </p:txBody>
      </p:sp>
      <p:sp>
        <p:nvSpPr>
          <p:cNvPr id="6531" name="Google Shape;6531;p40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8" name="Shape 6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9" name="Google Shape;6539;p4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0" name="Google Shape;6540;p4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Six functions from math. ceil and floor are the ones they will reach for most.</a:t>
            </a:r>
            <a:endParaRPr/>
          </a:p>
        </p:txBody>
      </p:sp>
      <p:sp>
        <p:nvSpPr>
          <p:cNvPr id="6541" name="Google Shape;6541;p40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0" name="Shape 6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1" name="Google Shape;6551;p4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2" name="Google Shape;6552;p4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seed makes the output reproducible, which matters when marking assignments.</a:t>
            </a:r>
            <a:endParaRPr/>
          </a:p>
        </p:txBody>
      </p:sp>
      <p:sp>
        <p:nvSpPr>
          <p:cNvPr id="6553" name="Google Shape;6553;p4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1" name="Shape 6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2" name="Google Shape;6562;p4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3" name="Google Shape;6563;p4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more modules. statistics.mode fails on data with no single most common value.</a:t>
            </a:r>
            <a:endParaRPr/>
          </a:p>
        </p:txBody>
      </p:sp>
      <p:sp>
        <p:nvSpPr>
          <p:cNvPr id="6564" name="Google Shape;6564;p4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5" name="Shape 6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6" name="Google Shape;6576;p4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7" name="Google Shape;6577;p4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 clearly: this needs a real window, so it does not run in Colab. Use a .py file locally.</a:t>
            </a:r>
            <a:endParaRPr/>
          </a:p>
        </p:txBody>
      </p:sp>
      <p:sp>
        <p:nvSpPr>
          <p:cNvPr id="6578" name="Google Shape;6578;p4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4" name="Shape 6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5" name="Google Shape;6585;p4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6" name="Google Shape;6586;p4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 pygame program has this shape. Point at each of the five lines in turn.</a:t>
            </a:r>
            <a:endParaRPr/>
          </a:p>
        </p:txBody>
      </p:sp>
      <p:sp>
        <p:nvSpPr>
          <p:cNvPr id="6587" name="Google Shape;6587;p4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4" name="Shape 6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5" name="Google Shape;6595;p4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6" name="Google Shape;6596;p4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Six lines, six jobs. flip is the one they will forget, and then nothing appears.</a:t>
            </a:r>
            <a:endParaRPr/>
          </a:p>
        </p:txBody>
      </p:sp>
      <p:sp>
        <p:nvSpPr>
          <p:cNvPr id="6597" name="Google Shape;6597;p4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8" name="Shape 6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9" name="Google Shape;6629;p4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0" name="Google Shape;6630;p4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Colours are RGB tuples: tuples from Class 20 doing real work.</a:t>
            </a:r>
            <a:endParaRPr/>
          </a:p>
        </p:txBody>
      </p:sp>
      <p:sp>
        <p:nvSpPr>
          <p:cNvPr id="6631" name="Google Shape;6631;p4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5" name="Shape 6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6" name="Google Shape;6646;p4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7" name="Google Shape;6647;p4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Five drawing calls. Thickness of 0 means filled.</a:t>
            </a:r>
            <a:endParaRPr/>
          </a:p>
        </p:txBody>
      </p:sp>
      <p:sp>
        <p:nvSpPr>
          <p:cNvPr id="6648" name="Google Shape;6648;p4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5" name="Shape 6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" name="Google Shape;6656;p4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7" name="Google Shape;6657;p4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Clock().tick(30) is how you set the frame rate. wait pauses; delay is more accurate.</a:t>
            </a:r>
            <a:endParaRPr/>
          </a:p>
        </p:txBody>
      </p:sp>
      <p:sp>
        <p:nvSpPr>
          <p:cNvPr id="6658" name="Google Shape;6658;p4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4" name="Shape 6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5" name="Google Shape;6675;p4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6" name="Google Shape;6676;p4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KEYDOWN is the second event they will use after QUIT.</a:t>
            </a:r>
            <a:endParaRPr/>
          </a:p>
        </p:txBody>
      </p:sp>
      <p:sp>
        <p:nvSpPr>
          <p:cNvPr id="6677" name="Google Shape;6677;p4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4" name="Shape 6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5" name="Google Shape;6685;p4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86" name="Google Shape;6686;p4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USEREVENT + 1 upward are yours. set_timer posts one repeatedly.</a:t>
            </a:r>
            <a:endParaRPr/>
          </a:p>
        </p:txBody>
      </p:sp>
      <p:sp>
        <p:nvSpPr>
          <p:cNvPr id="6687" name="Google Shape;6687;p4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8" name="Shape 6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9" name="Google Shape;6699;p4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0" name="Google Shape;6700;p4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First two run in Colab. The third needs a local .py file.</a:t>
            </a:r>
            <a:endParaRPr/>
          </a:p>
        </p:txBody>
      </p:sp>
      <p:sp>
        <p:nvSpPr>
          <p:cNvPr id="6701" name="Google Shape;6701;p4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1" name="Shape 6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2" name="Google Shape;6712;p4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3" name="Google Shape;6713;p4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Next: the loose ends worth knowing.</a:t>
            </a:r>
            <a:endParaRPr/>
          </a:p>
        </p:txBody>
      </p:sp>
      <p:sp>
        <p:nvSpPr>
          <p:cNvPr id="6714" name="Google Shape;6714;p4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7" name="Shape 6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8" name="Google Shape;6728;p4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29" name="Google Shape;6729;p4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grab-bag class. Each slide is a trap or a shortcut worth naming.</a:t>
            </a:r>
            <a:endParaRPr/>
          </a:p>
        </p:txBody>
      </p:sp>
      <p:sp>
        <p:nvSpPr>
          <p:cNvPr id="6730" name="Google Shape;6730;p4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5" name="Shape 6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6" name="Google Shape;6736;p4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7" name="Google Shape;6737;p4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Seven short topics. Each one has caught a student out at some point.</a:t>
            </a:r>
            <a:endParaRPr/>
          </a:p>
        </p:txBody>
      </p:sp>
      <p:sp>
        <p:nvSpPr>
          <p:cNvPr id="6738" name="Google Shape;6738;p4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6" name="Shape 6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7" name="Google Shape;6757;p4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8" name="Google Shape;6758;p4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Naming a variable sum hides the built-in for the rest of the session. No warning at all.</a:t>
            </a:r>
            <a:endParaRPr/>
          </a:p>
        </p:txBody>
      </p:sp>
      <p:sp>
        <p:nvSpPr>
          <p:cNvPr id="6759" name="Google Shape;6759;p4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0" name="Shape 6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1" name="Google Shape;6771;p4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2" name="Google Shape;6772;p4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Nine names worth avoiding, with a better choice for each.</a:t>
            </a:r>
            <a:endParaRPr/>
          </a:p>
        </p:txBody>
      </p:sp>
      <p:sp>
        <p:nvSpPr>
          <p:cNvPr id="6773" name="Google Shape;6773;p4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6" name="Shape 6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7" name="Google Shape;6797;p4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8" name="Google Shape;6798;p4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16 showed that assigning inside a function makes a local. global overrides that.</a:t>
            </a:r>
            <a:endParaRPr/>
          </a:p>
        </p:txBody>
      </p:sp>
      <p:sp>
        <p:nvSpPr>
          <p:cNvPr id="6799" name="Google Shape;6799;p4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4" name="Shape 6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5" name="Google Shape;6815;p4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6" name="Google Shape;6816;p4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enumerate gives position and item together, replacing range(len(...)).</a:t>
            </a:r>
            <a:endParaRPr/>
          </a:p>
        </p:txBody>
      </p:sp>
      <p:sp>
        <p:nvSpPr>
          <p:cNvPr id="6817" name="Google Shape;6817;p4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8" name="Shape 6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9" name="Google Shape;6829;p4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0" name="Google Shape;6830;p4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list distinctions from Class 17, worth restating side by side.</a:t>
            </a:r>
            <a:endParaRPr/>
          </a:p>
        </p:txBody>
      </p:sp>
      <p:sp>
        <p:nvSpPr>
          <p:cNvPr id="6831" name="Google Shape;6831;p4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4" name="Shape 6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5" name="Google Shape;6845;p4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6" name="Google Shape;6846;p4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more set operations beyond Class 20's three.</a:t>
            </a:r>
            <a:endParaRPr/>
          </a:p>
        </p:txBody>
      </p:sp>
      <p:sp>
        <p:nvSpPr>
          <p:cNvPr id="6847" name="Google Shape;6847;p4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1" name="Shape 6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2" name="Google Shape;6862;p4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3" name="Google Shape;6863;p4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Counter does Class 21's counting pattern in one line, and knows the most common.</a:t>
            </a:r>
            <a:endParaRPr/>
          </a:p>
        </p:txBody>
      </p:sp>
      <p:sp>
        <p:nvSpPr>
          <p:cNvPr id="6864" name="Google Shape;6864;p4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5" name="Shape 6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6" name="Google Shape;6876;p4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7" name="Google Shape;6877;p4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fromkeys initialises counters. copy versus alias is the dictionary version of Class 17's trap.</a:t>
            </a:r>
            <a:endParaRPr/>
          </a:p>
        </p:txBody>
      </p:sp>
      <p:sp>
        <p:nvSpPr>
          <p:cNvPr id="6878" name="Google Shape;6878;p4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1" name="Shape 6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2" name="Google Shape;6892;p4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3" name="Google Shape;6893;p4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22's slow Fibonacci, fixed. Remember each answer the first time you work it out.</a:t>
            </a:r>
            <a:endParaRPr/>
          </a:p>
        </p:txBody>
      </p:sp>
      <p:sp>
        <p:nvSpPr>
          <p:cNvPr id="6894" name="Google Shape;6894;p4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2" name="Shape 6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3" name="Google Shape;6903;p4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4" name="Google Shape;6904;p4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numbers make the point better than any explanation.</a:t>
            </a:r>
            <a:endParaRPr/>
          </a:p>
        </p:txBody>
      </p:sp>
      <p:sp>
        <p:nvSpPr>
          <p:cNvPr id="6905" name="Google Shape;6905;p4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8" name="Shape 6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9" name="Google Shape;6939;p4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40" name="Google Shape;6940;p4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preview, not an exam topic. yield hands back one value and pauses.</a:t>
            </a:r>
            <a:endParaRPr/>
          </a:p>
        </p:txBody>
      </p:sp>
      <p:sp>
        <p:nvSpPr>
          <p:cNvPr id="6941" name="Google Shape;6941;p4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2" name="Shape 6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3" name="Google Shape;6953;p4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54" name="Google Shape;6954;p4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Last practice. Problem 3 is Towers of Hanoi, which is genuinely hard.</a:t>
            </a:r>
            <a:endParaRPr/>
          </a:p>
        </p:txBody>
      </p:sp>
      <p:sp>
        <p:nvSpPr>
          <p:cNvPr id="6955" name="Google Shape;6955;p4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5" name="Shape 6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6" name="Google Shape;6966;p4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7" name="Google Shape;6967;p4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the supplementary unit.</a:t>
            </a:r>
            <a:endParaRPr/>
          </a:p>
        </p:txBody>
      </p:sp>
      <p:sp>
        <p:nvSpPr>
          <p:cNvPr id="6968" name="Google Shape;6968;p4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/Relationships>
</file>

<file path=ppt/slides/_rels/slide2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/Relationships>
</file>

<file path=ppt/slides/_rels/slide2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/Relationships>
</file>

<file path=ppt/slides/_rels/slide2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/Relationships>
</file>

<file path=ppt/slides/_rels/slide2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/Relationships>
</file>

<file path=ppt/slides/_rels/slide2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/Relationships>
</file>

<file path=ppt/slides/_rels/slide2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/Relationships>
</file>

<file path=ppt/slides/_rels/slide2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/Relationships>
</file>

<file path=ppt/slides/_rels/slide2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/Relationships>
</file>

<file path=ppt/slides/_rels/slide2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/Relationships>
</file>

<file path=ppt/slides/_rels/slide2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/Relationships>
</file>

<file path=ppt/slides/_rels/slide2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/Relationships>
</file>

<file path=ppt/slides/_rels/slide2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/Relationships>
</file>

<file path=ppt/slides/_rels/slide2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/Relationships>
</file>

<file path=ppt/slides/_rels/slide2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/Relationships>
</file>

<file path=ppt/slides/_rels/slide2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/Relationships>
</file>

<file path=ppt/slides/_rels/slide2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/Relationships>
</file>

<file path=ppt/slides/_rels/slide2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/Relationships>
</file>

<file path=ppt/slides/_rels/slide2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/Relationships>
</file>

<file path=ppt/slides/_rels/slide2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/Relationships>
</file>

<file path=ppt/slides/_rels/slide2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2.xml"/></Relationships>
</file>

<file path=ppt/slides/_rels/slide2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/Relationships>
</file>

<file path=ppt/slides/_rels/slide2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/Relationships>
</file>

<file path=ppt/slides/_rels/slide2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/Relationships>
</file>

<file path=ppt/slides/_rels/slide2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/Relationships>
</file>

<file path=ppt/slides/_rels/slide2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/Relationships>
</file>

<file path=ppt/slides/_rels/slide2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/Relationships>
</file>

<file path=ppt/slides/_rels/slide2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0.xml"/></Relationships>
</file>

<file path=ppt/slides/_rels/slide2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1.xml"/></Relationships>
</file>

<file path=ppt/slides/_rels/slide2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2.xml"/></Relationships>
</file>

<file path=ppt/slides/_rels/slide2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3.xml"/></Relationships>
</file>

<file path=ppt/slides/_rels/slide2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4.xml"/></Relationships>
</file>

<file path=ppt/slides/_rels/slide2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5.xml"/></Relationships>
</file>

<file path=ppt/slides/_rels/slide2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6.xml"/></Relationships>
</file>

<file path=ppt/slides/_rels/slide2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7.xml"/></Relationships>
</file>

<file path=ppt/slides/_rels/slide2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8.xml"/></Relationships>
</file>

<file path=ppt/slides/_rels/slide2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9.xml"/></Relationships>
</file>

<file path=ppt/slides/_rels/slide2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0.xml"/></Relationships>
</file>

<file path=ppt/slides/_rels/slide2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1.xml"/></Relationships>
</file>

<file path=ppt/slides/_rels/slide2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2.xml"/></Relationships>
</file>

<file path=ppt/slides/_rels/slide2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3.xml"/></Relationships>
</file>

<file path=ppt/slides/_rels/slide2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4.xml"/></Relationships>
</file>

<file path=ppt/slides/_rels/slide2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5.xml"/></Relationships>
</file>

<file path=ppt/slides/_rels/slide2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6.xml"/></Relationships>
</file>

<file path=ppt/slides/_rels/slide2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7.xml"/></Relationships>
</file>

<file path=ppt/slides/_rels/slide2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8.xml"/></Relationships>
</file>

<file path=ppt/slides/_rels/slide2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9.xml"/></Relationships>
</file>

<file path=ppt/slides/_rels/slide2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0.xml"/></Relationships>
</file>

<file path=ppt/slides/_rels/slide2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1.xml"/></Relationships>
</file>

<file path=ppt/slides/_rels/slide2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2.xml"/></Relationships>
</file>

<file path=ppt/slides/_rels/slide2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3.xml"/></Relationships>
</file>

<file path=ppt/slides/_rels/slide2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4.xml"/></Relationships>
</file>

<file path=ppt/slides/_rels/slide2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5.xml"/></Relationships>
</file>

<file path=ppt/slides/_rels/slide2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6.xml"/></Relationships>
</file>

<file path=ppt/slides/_rels/slide2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7.xml"/></Relationships>
</file>

<file path=ppt/slides/_rels/slide2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8.xml"/></Relationships>
</file>

<file path=ppt/slides/_rels/slide2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9.xml"/></Relationships>
</file>

<file path=ppt/slides/_rels/slide2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0.xml"/></Relationships>
</file>

<file path=ppt/slides/_rels/slide2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1.xml"/></Relationships>
</file>

<file path=ppt/slides/_rels/slide2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2.xml"/></Relationships>
</file>

<file path=ppt/slides/_rels/slide2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3.xml"/></Relationships>
</file>

<file path=ppt/slides/_rels/slide2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4.xml"/></Relationships>
</file>

<file path=ppt/slides/_rels/slide2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5.xml"/></Relationships>
</file>

<file path=ppt/slides/_rels/slide2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6.xml"/></Relationships>
</file>

<file path=ppt/slides/_rels/slide2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7.xml"/></Relationships>
</file>

<file path=ppt/slides/_rels/slide2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8.xml"/></Relationships>
</file>

<file path=ppt/slides/_rels/slide2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9.xml"/></Relationships>
</file>

<file path=ppt/slides/_rels/slide2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0.xml"/></Relationships>
</file>

<file path=ppt/slides/_rels/slide2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1.xml"/></Relationships>
</file>

<file path=ppt/slides/_rels/slide2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2.xml"/></Relationships>
</file>

<file path=ppt/slides/_rels/slide2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3.xml"/></Relationships>
</file>

<file path=ppt/slides/_rels/slide2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4.xml"/></Relationships>
</file>

<file path=ppt/slides/_rels/slide2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5.xml"/></Relationships>
</file>

<file path=ppt/slides/_rels/slide2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6.xml"/></Relationships>
</file>

<file path=ppt/slides/_rels/slide2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7.xml"/></Relationships>
</file>

<file path=ppt/slides/_rels/slide2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8.xml"/></Relationships>
</file>

<file path=ppt/slides/_rels/slide2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9.xml"/></Relationships>
</file>

<file path=ppt/slides/_rels/slide3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0.xml"/></Relationships>
</file>

<file path=ppt/slides/_rels/slide3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1.xml"/></Relationships>
</file>

<file path=ppt/slides/_rels/slide3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2.xml"/></Relationships>
</file>

<file path=ppt/slides/_rels/slide3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3.xml"/></Relationships>
</file>

<file path=ppt/slides/_rels/slide3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4.xml"/></Relationships>
</file>

<file path=ppt/slides/_rels/slide3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5.xml"/></Relationships>
</file>

<file path=ppt/slides/_rels/slide3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6.xml"/></Relationships>
</file>

<file path=ppt/slides/_rels/slide3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7.xml"/></Relationships>
</file>

<file path=ppt/slides/_rels/slide3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8.xml"/></Relationships>
</file>

<file path=ppt/slides/_rels/slide3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9.xml"/></Relationships>
</file>

<file path=ppt/slides/_rels/slide3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0.xml"/></Relationships>
</file>

<file path=ppt/slides/_rels/slide3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1.xml"/></Relationships>
</file>

<file path=ppt/slides/_rels/slide3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2.xml"/></Relationships>
</file>

<file path=ppt/slides/_rels/slide3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3.xml"/></Relationships>
</file>

<file path=ppt/slides/_rels/slide3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4.xml"/></Relationships>
</file>

<file path=ppt/slides/_rels/slide3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5.xml"/></Relationships>
</file>

<file path=ppt/slides/_rels/slide3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6.xml"/></Relationships>
</file>

<file path=ppt/slides/_rels/slide3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7.xml"/></Relationships>
</file>

<file path=ppt/slides/_rels/slide3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8.xml"/></Relationships>
</file>

<file path=ppt/slides/_rels/slide3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9.xml"/></Relationships>
</file>

<file path=ppt/slides/_rels/slide3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0.xml"/></Relationships>
</file>

<file path=ppt/slides/_rels/slide3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1.xml"/></Relationships>
</file>

<file path=ppt/slides/_rels/slide3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2.xml"/></Relationships>
</file>

<file path=ppt/slides/_rels/slide3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3.xml"/></Relationships>
</file>

<file path=ppt/slides/_rels/slide3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4.xml"/></Relationships>
</file>

<file path=ppt/slides/_rels/slide3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5.xml"/></Relationships>
</file>

<file path=ppt/slides/_rels/slide3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6.xml"/></Relationships>
</file>

<file path=ppt/slides/_rels/slide3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7.xml"/></Relationships>
</file>

<file path=ppt/slides/_rels/slide3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8.xml"/></Relationships>
</file>

<file path=ppt/slides/_rels/slide3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9.xml"/></Relationships>
</file>

<file path=ppt/slides/_rels/slide3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0.xml"/></Relationships>
</file>

<file path=ppt/slides/_rels/slide3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1.xml"/></Relationships>
</file>

<file path=ppt/slides/_rels/slide3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2.xml"/></Relationships>
</file>

<file path=ppt/slides/_rels/slide3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3.xml"/></Relationships>
</file>

<file path=ppt/slides/_rels/slide3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4.xml"/></Relationships>
</file>

<file path=ppt/slides/_rels/slide3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5.xml"/></Relationships>
</file>

<file path=ppt/slides/_rels/slide3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6.xml"/></Relationships>
</file>

<file path=ppt/slides/_rels/slide3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7.xml"/></Relationships>
</file>

<file path=ppt/slides/_rels/slide3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8.xml"/></Relationships>
</file>

<file path=ppt/slides/_rels/slide3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9.xml"/></Relationships>
</file>

<file path=ppt/slides/_rels/slide3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0.xml"/></Relationships>
</file>

<file path=ppt/slides/_rels/slide3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1.xml"/></Relationships>
</file>

<file path=ppt/slides/_rels/slide3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2.xml"/></Relationships>
</file>

<file path=ppt/slides/_rels/slide3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3.xml"/></Relationships>
</file>

<file path=ppt/slides/_rels/slide3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4.xml"/></Relationships>
</file>

<file path=ppt/slides/_rels/slide3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5.xml"/></Relationships>
</file>

<file path=ppt/slides/_rels/slide3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6.xml"/></Relationships>
</file>

<file path=ppt/slides/_rels/slide3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7.xml"/></Relationships>
</file>

<file path=ppt/slides/_rels/slide3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8.xml"/></Relationships>
</file>

<file path=ppt/slides/_rels/slide3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9.xml"/></Relationships>
</file>

<file path=ppt/slides/_rels/slide3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0.xml"/></Relationships>
</file>

<file path=ppt/slides/_rels/slide3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1.xml"/></Relationships>
</file>

<file path=ppt/slides/_rels/slide3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2.xml"/></Relationships>
</file>

<file path=ppt/slides/_rels/slide3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3.xml"/></Relationships>
</file>

<file path=ppt/slides/_rels/slide3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4.xml"/></Relationships>
</file>

<file path=ppt/slides/_rels/slide3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5.xml"/></Relationships>
</file>

<file path=ppt/slides/_rels/slide3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6.xml"/></Relationships>
</file>

<file path=ppt/slides/_rels/slide3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7.xml"/></Relationships>
</file>

<file path=ppt/slides/_rels/slide3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8.xml"/></Relationships>
</file>

<file path=ppt/slides/_rels/slide3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9.xml"/></Relationships>
</file>

<file path=ppt/slides/_rels/slide3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0.xml"/></Relationships>
</file>

<file path=ppt/slides/_rels/slide3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1.xml"/></Relationships>
</file>

<file path=ppt/slides/_rels/slide3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2.xml"/></Relationships>
</file>

<file path=ppt/slides/_rels/slide3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3.xml"/></Relationships>
</file>

<file path=ppt/slides/_rels/slide3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4.xml"/></Relationships>
</file>

<file path=ppt/slides/_rels/slide3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5.xml"/></Relationships>
</file>

<file path=ppt/slides/_rels/slide3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6.xml"/></Relationships>
</file>

<file path=ppt/slides/_rels/slide3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7.xml"/></Relationships>
</file>

<file path=ppt/slides/_rels/slide3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8.xml"/></Relationships>
</file>

<file path=ppt/slides/_rels/slide3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9.xml"/></Relationships>
</file>

<file path=ppt/slides/_rels/slide3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0.xml"/></Relationships>
</file>

<file path=ppt/slides/_rels/slide3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1.xml"/></Relationships>
</file>

<file path=ppt/slides/_rels/slide3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2.xml"/></Relationships>
</file>

<file path=ppt/slides/_rels/slide3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3.xml"/></Relationships>
</file>

<file path=ppt/slides/_rels/slide3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4.xml"/></Relationships>
</file>

<file path=ppt/slides/_rels/slide3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5.xml"/></Relationships>
</file>

<file path=ppt/slides/_rels/slide3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6.xml"/></Relationships>
</file>

<file path=ppt/slides/_rels/slide3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7.xml"/></Relationships>
</file>

<file path=ppt/slides/_rels/slide3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8.xml"/></Relationships>
</file>

<file path=ppt/slides/_rels/slide3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9.xml"/></Relationships>
</file>

<file path=ppt/slides/_rels/slide3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0.xml"/></Relationships>
</file>

<file path=ppt/slides/_rels/slide3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1.xml"/></Relationships>
</file>

<file path=ppt/slides/_rels/slide3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2.xml"/></Relationships>
</file>

<file path=ppt/slides/_rels/slide3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3.xml"/></Relationships>
</file>

<file path=ppt/slides/_rels/slide3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4.xml"/></Relationships>
</file>

<file path=ppt/slides/_rels/slide3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5.xml"/></Relationships>
</file>

<file path=ppt/slides/_rels/slide3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6.xml"/></Relationships>
</file>

<file path=ppt/slides/_rels/slide3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7.xml"/></Relationships>
</file>

<file path=ppt/slides/_rels/slide3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8.xml"/></Relationships>
</file>

<file path=ppt/slides/_rels/slide3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9.xml"/></Relationships>
</file>

<file path=ppt/slides/_rels/slide3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0.xml"/></Relationships>
</file>

<file path=ppt/slides/_rels/slide3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1.xml"/></Relationships>
</file>

<file path=ppt/slides/_rels/slide3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2.xml"/></Relationships>
</file>

<file path=ppt/slides/_rels/slide3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3.xml"/></Relationships>
</file>

<file path=ppt/slides/_rels/slide3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4.xml"/></Relationships>
</file>

<file path=ppt/slides/_rels/slide3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5.xml"/></Relationships>
</file>

<file path=ppt/slides/_rels/slide3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6.xml"/></Relationships>
</file>

<file path=ppt/slides/_rels/slide3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7.xml"/></Relationships>
</file>

<file path=ppt/slides/_rels/slide3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8.xml"/></Relationships>
</file>

<file path=ppt/slides/_rels/slide3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9.xml"/></Relationships>
</file>

<file path=ppt/slides/_rels/slide4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0.xml"/></Relationships>
</file>

<file path=ppt/slides/_rels/slide4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1.xml"/></Relationships>
</file>

<file path=ppt/slides/_rels/slide4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2.xml"/></Relationships>
</file>

<file path=ppt/slides/_rels/slide4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3.xml"/></Relationships>
</file>

<file path=ppt/slides/_rels/slide4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4.xml"/></Relationships>
</file>

<file path=ppt/slides/_rels/slide4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5.xml"/></Relationships>
</file>

<file path=ppt/slides/_rels/slide4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6.xml"/></Relationships>
</file>

<file path=ppt/slides/_rels/slide4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7.xml"/></Relationships>
</file>

<file path=ppt/slides/_rels/slide4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8.xml"/></Relationships>
</file>

<file path=ppt/slides/_rels/slide4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9.xml"/></Relationships>
</file>

<file path=ppt/slides/_rels/slide4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0.xml"/></Relationships>
</file>

<file path=ppt/slides/_rels/slide4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1.xml"/></Relationships>
</file>

<file path=ppt/slides/_rels/slide4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2.xml"/></Relationships>
</file>

<file path=ppt/slides/_rels/slide4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3.xml"/></Relationships>
</file>

<file path=ppt/slides/_rels/slide4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4.xml"/></Relationships>
</file>

<file path=ppt/slides/_rels/slide4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5.xml"/></Relationships>
</file>

<file path=ppt/slides/_rels/slide4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6.xml"/></Relationships>
</file>

<file path=ppt/slides/_rels/slide4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7.xml"/></Relationships>
</file>

<file path=ppt/slides/_rels/slide4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8.xml"/></Relationships>
</file>

<file path=ppt/slides/_rels/slide4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9.xml"/></Relationships>
</file>

<file path=ppt/slides/_rels/slide4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0.xml"/></Relationships>
</file>

<file path=ppt/slides/_rels/slide4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1.xml"/></Relationships>
</file>

<file path=ppt/slides/_rels/slide4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2.xml"/></Relationships>
</file>

<file path=ppt/slides/_rels/slide4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3.xml"/></Relationships>
</file>

<file path=ppt/slides/_rels/slide4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4.xml"/></Relationships>
</file>

<file path=ppt/slides/_rels/slide4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5.xml"/></Relationships>
</file>

<file path=ppt/slides/_rels/slide4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6.xml"/></Relationships>
</file>

<file path=ppt/slides/_rels/slide4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7.xml"/></Relationships>
</file>

<file path=ppt/slides/_rels/slide4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8.xml"/></Relationships>
</file>

<file path=ppt/slides/_rels/slide4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9.xml"/></Relationships>
</file>

<file path=ppt/slides/_rels/slide4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0.xml"/></Relationships>
</file>

<file path=ppt/slides/_rels/slide4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1.xml"/></Relationships>
</file>

<file path=ppt/slides/_rels/slide4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2.xml"/></Relationships>
</file>

<file path=ppt/slides/_rels/slide4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CSE 200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952500" y="3870960"/>
            <a:ext cx="13735050" cy="2278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21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9000"/>
              <a:buFont typeface="Bricolage Grotesque"/>
              <a:buNone/>
            </a:pPr>
            <a:r>
              <a:rPr b="1" i="0" lang="en-US" sz="9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Introduction to Programming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952500" y="6416040"/>
            <a:ext cx="18021300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600"/>
              <a:buFont typeface="Bricolage Grotesque"/>
              <a:buNone/>
            </a:pPr>
            <a:r>
              <a:rPr b="0" i="0" lang="en-US" sz="36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Mohammad Motiur Rahman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COURSE MAP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Syllabus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952500" y="2727960"/>
            <a:ext cx="4191000" cy="3981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532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01–05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952500" y="3202305"/>
            <a:ext cx="419100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Foundations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952500" y="3730943"/>
            <a:ext cx="3415367" cy="7181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Programs, variables, types, arithmetic, input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143500" y="2727960"/>
            <a:ext cx="4191000" cy="3981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532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06–07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143500" y="3202305"/>
            <a:ext cx="419100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Strings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143500" y="3730943"/>
            <a:ext cx="2713804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Indexing and slicing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9334500" y="2727960"/>
            <a:ext cx="4191000" cy="3981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532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08–10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9334500" y="3202305"/>
            <a:ext cx="419100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Decisions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9334500" y="3730943"/>
            <a:ext cx="3140892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if, elif, logical operators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3525500" y="2727960"/>
            <a:ext cx="4191000" cy="3981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532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11–14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3525500" y="3202305"/>
            <a:ext cx="419100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Repetition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3525500" y="3730943"/>
            <a:ext cx="4034754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for, while, break, nested loops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952500" y="4778693"/>
            <a:ext cx="4191000" cy="3981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532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15–16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952500" y="5253038"/>
            <a:ext cx="419100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Functions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952500" y="5781675"/>
            <a:ext cx="3522274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Parameters, return, scope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143500" y="4778693"/>
            <a:ext cx="4191000" cy="3981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532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17–19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143500" y="5253038"/>
            <a:ext cx="419100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Lists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143500" y="5781675"/>
            <a:ext cx="3438055" cy="7181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1D operations, traversal, 2D lists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9334500" y="4778693"/>
            <a:ext cx="4191000" cy="3981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532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20–21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9334500" y="5253038"/>
            <a:ext cx="419100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Structures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9334500" y="5781675"/>
            <a:ext cx="3342323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Tuples, sets, dictionaries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3525500" y="4778693"/>
            <a:ext cx="4191000" cy="3981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532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22–24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3525500" y="5253038"/>
            <a:ext cx="419100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Beyond basics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3525500" y="5781675"/>
            <a:ext cx="3894009" cy="7181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Recursion, classes, exceptions and files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952500" y="6905625"/>
            <a:ext cx="18021300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Plus a supplementary unit, classes 25 and 26: libraries and pygame, and the loose ends worth knowing.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952500" y="4085272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1 · FOUNDATIONS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952500" y="4854893"/>
            <a:ext cx="1714119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01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044190" y="5632132"/>
            <a:ext cx="10744153" cy="79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Programs, Python, and Colab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1646039" y="2727960"/>
            <a:ext cx="396246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a program is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1646039" y="3771900"/>
            <a:ext cx="790108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Notebooks and cells in Google Colab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1646039" y="4815840"/>
            <a:ext cx="7175647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print() and Python as a calculator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1646039" y="5859780"/>
            <a:ext cx="7401961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Reading your first error messages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a program is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952500" y="2727960"/>
            <a:ext cx="14716125" cy="11696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program is a list of instructions a computer carries out in order, exactly as written.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952500" y="4278630"/>
            <a:ext cx="5181600" cy="2019300"/>
          </a:xfrm>
          <a:prstGeom prst="roundRect">
            <a:avLst>
              <a:gd fmla="val 377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1295400" y="4621530"/>
            <a:ext cx="494538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 order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1295400" y="5231130"/>
            <a:ext cx="4112421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Line 2 does not run before line 1.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6553200" y="4278630"/>
            <a:ext cx="5181600" cy="2019300"/>
          </a:xfrm>
          <a:prstGeom prst="roundRect">
            <a:avLst>
              <a:gd fmla="val 377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6896100" y="4621530"/>
            <a:ext cx="494538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Exactly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6896100" y="5231130"/>
            <a:ext cx="4062387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missing bracket is not a small mistake.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12153900" y="4278630"/>
            <a:ext cx="5181600" cy="2019300"/>
          </a:xfrm>
          <a:prstGeom prst="roundRect">
            <a:avLst>
              <a:gd fmla="val 377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12496800" y="4621530"/>
            <a:ext cx="494538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Without guessing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12496800" y="5231130"/>
            <a:ext cx="437620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computer does not infer what you meant.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Why Python first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952500" y="4000500"/>
            <a:ext cx="1428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952500" y="284226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1615559" y="2727960"/>
            <a:ext cx="14033175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Its syntax reads close to English, so you spend your effort on the idea.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952500" y="5044440"/>
            <a:ext cx="1428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952500" y="438912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1615559" y="4274820"/>
            <a:ext cx="13626251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You see results one cell at a time, without a separate build step.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952500" y="543306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1615559" y="5318760"/>
            <a:ext cx="14033175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It is used well beyond this course: data, web, automation, machine learning.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TOOL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Where we write code: Google Colab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952500" y="2727960"/>
            <a:ext cx="8696325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</a:t>
            </a: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notebook </a:t>
            </a: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is a document made of </a:t>
            </a: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cells</a:t>
            </a: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952500" y="3448050"/>
            <a:ext cx="8142923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code cell holds Python and can be run. Its output appears directly underneath.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952500" y="4621530"/>
            <a:ext cx="8142923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Nothing to install. It runs in the browser and saves to your Drive.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9429750" y="2727960"/>
            <a:ext cx="7905750" cy="2404110"/>
          </a:xfrm>
          <a:prstGeom prst="roundRect">
            <a:avLst>
              <a:gd fmla="val 396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9437370" y="2735580"/>
            <a:ext cx="7890510" cy="701040"/>
          </a:xfrm>
          <a:prstGeom prst="rect">
            <a:avLst/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9685020" y="2907030"/>
            <a:ext cx="7631926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Untitled0.ipynb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9685020" y="3684270"/>
            <a:ext cx="55637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10355699" y="3684270"/>
            <a:ext cx="37719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print("Hello World")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9437370" y="4305300"/>
            <a:ext cx="789051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10351770" y="4503420"/>
            <a:ext cx="69651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Hello World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TOOL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Running a cell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952500" y="2727960"/>
            <a:ext cx="5181600" cy="910590"/>
          </a:xfrm>
          <a:prstGeom prst="roundRect">
            <a:avLst>
              <a:gd fmla="val 836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"/>
          <p:cNvSpPr/>
          <p:nvPr/>
        </p:nvSpPr>
        <p:spPr>
          <a:xfrm>
            <a:off x="1219200" y="2956560"/>
            <a:ext cx="4803648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Shift + Enter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952500" y="3851910"/>
            <a:ext cx="4445619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Run this cell, move to the next one.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6553200" y="2727960"/>
            <a:ext cx="5181600" cy="910590"/>
          </a:xfrm>
          <a:prstGeom prst="roundRect">
            <a:avLst>
              <a:gd fmla="val 836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6819900" y="2956560"/>
            <a:ext cx="4803648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Ctrl + Enter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6553200" y="3851910"/>
            <a:ext cx="4198511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Run this cell, stay where you are.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12153900" y="2727960"/>
            <a:ext cx="5181600" cy="910590"/>
          </a:xfrm>
          <a:prstGeom prst="roundRect">
            <a:avLst>
              <a:gd fmla="val 836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"/>
          <p:cNvSpPr/>
          <p:nvPr/>
        </p:nvSpPr>
        <p:spPr>
          <a:xfrm>
            <a:off x="12420600" y="2956560"/>
            <a:ext cx="4803648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Alt + Enter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12153900" y="3851910"/>
            <a:ext cx="4151297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Run, then open a new cell below.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952500" y="4659630"/>
            <a:ext cx="13735050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Cells remember what ran before them. If you skip a cell, the notebook does not fill in the gap for you.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Your first program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2228850" y="2727960"/>
            <a:ext cx="15106650" cy="977265"/>
          </a:xfrm>
          <a:prstGeom prst="roundRect">
            <a:avLst>
              <a:gd fmla="val 779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"/>
          <p:cNvSpPr/>
          <p:nvPr/>
        </p:nvSpPr>
        <p:spPr>
          <a:xfrm>
            <a:off x="2541270" y="3002280"/>
            <a:ext cx="1493501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print("Hello World")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952500" y="41814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2228850" y="3933825"/>
            <a:ext cx="15106650" cy="962025"/>
          </a:xfrm>
          <a:prstGeom prst="roundRect">
            <a:avLst>
              <a:gd fmla="val 7921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2533650" y="4200525"/>
            <a:ext cx="14950249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Hello World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Anatomy of print()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952500" y="2727960"/>
            <a:ext cx="16383000" cy="1402080"/>
          </a:xfrm>
          <a:prstGeom prst="roundRect">
            <a:avLst>
              <a:gd fmla="val 543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"/>
          <p:cNvSpPr/>
          <p:nvPr/>
        </p:nvSpPr>
        <p:spPr>
          <a:xfrm>
            <a:off x="1341120" y="3078480"/>
            <a:ext cx="16097250" cy="739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200"/>
              <a:buFont typeface="JetBrains Mono"/>
              <a:buNone/>
            </a:pPr>
            <a:r>
              <a:rPr b="0" i="0" lang="en-US" sz="42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print("Hello World")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952500" y="4625340"/>
            <a:ext cx="569976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1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952500" y="5234940"/>
            <a:ext cx="5233054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name of the function you are calling.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6553200" y="4625340"/>
            <a:ext cx="569976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1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 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6553200" y="5234940"/>
            <a:ext cx="4629571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parentheses are how you call it. Without them, nothing runs.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12153900" y="4625340"/>
            <a:ext cx="569976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1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"Hello World"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12153900" y="5234940"/>
            <a:ext cx="484712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argument: text, marked as text by the quotes.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Python as a calculator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952500" y="2956560"/>
            <a:ext cx="10287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2095500" y="2727960"/>
            <a:ext cx="6762750" cy="883920"/>
          </a:xfrm>
          <a:prstGeom prst="roundRect">
            <a:avLst>
              <a:gd fmla="val 862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"/>
          <p:cNvSpPr/>
          <p:nvPr/>
        </p:nvSpPr>
        <p:spPr>
          <a:xfrm>
            <a:off x="2388870" y="2983230"/>
            <a:ext cx="637889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 + 4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952500" y="4091940"/>
            <a:ext cx="10287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2095500" y="3863340"/>
            <a:ext cx="67627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"/>
          <p:cNvSpPr/>
          <p:nvPr/>
        </p:nvSpPr>
        <p:spPr>
          <a:xfrm>
            <a:off x="2381250" y="4110990"/>
            <a:ext cx="639413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9429750" y="2956560"/>
            <a:ext cx="10287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[3]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10572750" y="2727960"/>
            <a:ext cx="6762750" cy="883920"/>
          </a:xfrm>
          <a:prstGeom prst="roundRect">
            <a:avLst>
              <a:gd fmla="val 862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10866120" y="2983230"/>
            <a:ext cx="637889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1 - 5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9429750" y="4091940"/>
            <a:ext cx="10287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10572750" y="3863340"/>
            <a:ext cx="67627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3"/>
          <p:cNvSpPr/>
          <p:nvPr/>
        </p:nvSpPr>
        <p:spPr>
          <a:xfrm>
            <a:off x="10858500" y="4110990"/>
            <a:ext cx="639413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952500" y="5189220"/>
            <a:ext cx="146685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cell shows the value of its last line. Everything else needs print().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Statements run top to bottom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[4]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2228850" y="2727960"/>
            <a:ext cx="15106650" cy="1834515"/>
          </a:xfrm>
          <a:prstGeom prst="roundRect">
            <a:avLst>
              <a:gd fmla="val 415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"/>
          <p:cNvSpPr/>
          <p:nvPr/>
        </p:nvSpPr>
        <p:spPr>
          <a:xfrm>
            <a:off x="2541270" y="3002280"/>
            <a:ext cx="1493501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print("first")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print("second")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print("third")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952500" y="503872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2228850" y="4791075"/>
            <a:ext cx="15106650" cy="1819275"/>
          </a:xfrm>
          <a:prstGeom prst="roundRect">
            <a:avLst>
              <a:gd fmla="val 418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4"/>
          <p:cNvSpPr/>
          <p:nvPr/>
        </p:nvSpPr>
        <p:spPr>
          <a:xfrm>
            <a:off x="2533650" y="5057775"/>
            <a:ext cx="14950249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first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second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third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Comments: notes Python ignores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[5]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5"/>
          <p:cNvSpPr/>
          <p:nvPr/>
        </p:nvSpPr>
        <p:spPr>
          <a:xfrm>
            <a:off x="2228850" y="2727960"/>
            <a:ext cx="15106650" cy="3549015"/>
          </a:xfrm>
          <a:prstGeom prst="roundRect">
            <a:avLst>
              <a:gd fmla="val 214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5"/>
          <p:cNvSpPr/>
          <p:nvPr/>
        </p:nvSpPr>
        <p:spPr>
          <a:xfrm>
            <a:off x="2541270" y="3002280"/>
            <a:ext cx="14935010" cy="3038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this line is a note, not an instruction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print("Hello World")  # so is this part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'''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Three quotes make a block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that spans several lines.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'''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5"/>
          <p:cNvSpPr/>
          <p:nvPr/>
        </p:nvSpPr>
        <p:spPr>
          <a:xfrm>
            <a:off x="952500" y="650557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comments for the version of you that reopens this notebook in three weeks.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How Python reads a cell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952500" y="272796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6"/>
          <p:cNvSpPr/>
          <p:nvPr/>
        </p:nvSpPr>
        <p:spPr>
          <a:xfrm>
            <a:off x="952500" y="3520440"/>
            <a:ext cx="1143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6"/>
          <p:cNvSpPr/>
          <p:nvPr/>
        </p:nvSpPr>
        <p:spPr>
          <a:xfrm>
            <a:off x="1181100" y="2952750"/>
            <a:ext cx="7620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2095500" y="3520440"/>
            <a:ext cx="762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6"/>
          <p:cNvSpPr/>
          <p:nvPr/>
        </p:nvSpPr>
        <p:spPr>
          <a:xfrm>
            <a:off x="2324100" y="2952750"/>
            <a:ext cx="73914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9715500" y="3520440"/>
            <a:ext cx="762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6"/>
          <p:cNvSpPr/>
          <p:nvPr/>
        </p:nvSpPr>
        <p:spPr>
          <a:xfrm>
            <a:off x="9944100" y="2952750"/>
            <a:ext cx="73914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HAPPENS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6"/>
          <p:cNvSpPr/>
          <p:nvPr/>
        </p:nvSpPr>
        <p:spPr>
          <a:xfrm>
            <a:off x="952500" y="4373880"/>
            <a:ext cx="1143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6"/>
          <p:cNvSpPr/>
          <p:nvPr/>
        </p:nvSpPr>
        <p:spPr>
          <a:xfrm>
            <a:off x="1181100" y="3737610"/>
            <a:ext cx="7620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6"/>
          <p:cNvSpPr/>
          <p:nvPr/>
        </p:nvSpPr>
        <p:spPr>
          <a:xfrm>
            <a:off x="2095500" y="4373880"/>
            <a:ext cx="762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6"/>
          <p:cNvSpPr/>
          <p:nvPr/>
        </p:nvSpPr>
        <p:spPr>
          <a:xfrm>
            <a:off x="2324100" y="3737610"/>
            <a:ext cx="73914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a note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6"/>
          <p:cNvSpPr/>
          <p:nvPr/>
        </p:nvSpPr>
        <p:spPr>
          <a:xfrm>
            <a:off x="9715500" y="4373880"/>
            <a:ext cx="762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6"/>
          <p:cNvSpPr/>
          <p:nvPr/>
        </p:nvSpPr>
        <p:spPr>
          <a:xfrm>
            <a:off x="9944100" y="3737610"/>
            <a:ext cx="73914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Skipped entirely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6"/>
          <p:cNvSpPr/>
          <p:nvPr/>
        </p:nvSpPr>
        <p:spPr>
          <a:xfrm>
            <a:off x="952500" y="5227320"/>
            <a:ext cx="1143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6"/>
          <p:cNvSpPr/>
          <p:nvPr/>
        </p:nvSpPr>
        <p:spPr>
          <a:xfrm>
            <a:off x="1181100" y="4591050"/>
            <a:ext cx="7620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6"/>
          <p:cNvSpPr/>
          <p:nvPr/>
        </p:nvSpPr>
        <p:spPr>
          <a:xfrm>
            <a:off x="2095500" y="5227320"/>
            <a:ext cx="762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6"/>
          <p:cNvSpPr/>
          <p:nvPr/>
        </p:nvSpPr>
        <p:spPr>
          <a:xfrm>
            <a:off x="2324100" y="4591050"/>
            <a:ext cx="73914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print("one")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9715500" y="5227320"/>
            <a:ext cx="762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6"/>
          <p:cNvSpPr/>
          <p:nvPr/>
        </p:nvSpPr>
        <p:spPr>
          <a:xfrm>
            <a:off x="9944100" y="4591050"/>
            <a:ext cx="73914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Prints one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6"/>
          <p:cNvSpPr/>
          <p:nvPr/>
        </p:nvSpPr>
        <p:spPr>
          <a:xfrm>
            <a:off x="952500" y="6080760"/>
            <a:ext cx="1143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6"/>
          <p:cNvSpPr/>
          <p:nvPr/>
        </p:nvSpPr>
        <p:spPr>
          <a:xfrm>
            <a:off x="1181100" y="5444490"/>
            <a:ext cx="7620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2095500" y="6080760"/>
            <a:ext cx="762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6"/>
          <p:cNvSpPr/>
          <p:nvPr/>
        </p:nvSpPr>
        <p:spPr>
          <a:xfrm>
            <a:off x="2324100" y="5444490"/>
            <a:ext cx="73914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print("two")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6"/>
          <p:cNvSpPr/>
          <p:nvPr/>
        </p:nvSpPr>
        <p:spPr>
          <a:xfrm>
            <a:off x="9715500" y="6080760"/>
            <a:ext cx="762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6"/>
          <p:cNvSpPr/>
          <p:nvPr/>
        </p:nvSpPr>
        <p:spPr>
          <a:xfrm>
            <a:off x="9944100" y="5444490"/>
            <a:ext cx="73914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Prints two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1181100" y="6297930"/>
            <a:ext cx="7620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2324100" y="6297930"/>
            <a:ext cx="73914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 + 3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9944100" y="6297930"/>
            <a:ext cx="73914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Last line, so its value 5 is shown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Missing parentheses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[6]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2228850" y="2727960"/>
            <a:ext cx="15106650" cy="922020"/>
          </a:xfrm>
          <a:prstGeom prst="roundRect">
            <a:avLst>
              <a:gd fmla="val 826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7"/>
          <p:cNvSpPr/>
          <p:nvPr/>
        </p:nvSpPr>
        <p:spPr>
          <a:xfrm>
            <a:off x="2541270" y="3002280"/>
            <a:ext cx="1493501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 "Hello World"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7"/>
          <p:cNvSpPr/>
          <p:nvPr/>
        </p:nvSpPr>
        <p:spPr>
          <a:xfrm>
            <a:off x="952500" y="412623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7"/>
          <p:cNvSpPr/>
          <p:nvPr/>
        </p:nvSpPr>
        <p:spPr>
          <a:xfrm>
            <a:off x="2228850" y="387858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7"/>
          <p:cNvSpPr/>
          <p:nvPr/>
        </p:nvSpPr>
        <p:spPr>
          <a:xfrm>
            <a:off x="2533650" y="414528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SyntaxError: Missing parentheses in call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 'print'. Did you mean print(...)?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952500" y="568833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SyntaxError means Python could not even read the line. Nothing in the cell ran.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Python is spelling- and case-sensitive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8"/>
          <p:cNvSpPr/>
          <p:nvPr/>
        </p:nvSpPr>
        <p:spPr>
          <a:xfrm>
            <a:off x="952500" y="2727960"/>
            <a:ext cx="7943850" cy="883920"/>
          </a:xfrm>
          <a:prstGeom prst="roundRect">
            <a:avLst>
              <a:gd fmla="val 862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8"/>
          <p:cNvSpPr/>
          <p:nvPr/>
        </p:nvSpPr>
        <p:spPr>
          <a:xfrm>
            <a:off x="1245870" y="2983230"/>
            <a:ext cx="759542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prnt("Hello")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952500" y="3802380"/>
            <a:ext cx="7943850" cy="1242060"/>
          </a:xfrm>
          <a:prstGeom prst="roundRect">
            <a:avLst>
              <a:gd fmla="val 6135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8"/>
          <p:cNvSpPr/>
          <p:nvPr/>
        </p:nvSpPr>
        <p:spPr>
          <a:xfrm>
            <a:off x="1238250" y="4050030"/>
            <a:ext cx="7610665" cy="78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NameError: name 'prnt'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 not defined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9391650" y="2727960"/>
            <a:ext cx="7943850" cy="883920"/>
          </a:xfrm>
          <a:prstGeom prst="roundRect">
            <a:avLst>
              <a:gd fmla="val 862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8"/>
          <p:cNvSpPr/>
          <p:nvPr/>
        </p:nvSpPr>
        <p:spPr>
          <a:xfrm>
            <a:off x="9685020" y="2983230"/>
            <a:ext cx="759542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Print("Hello")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8"/>
          <p:cNvSpPr/>
          <p:nvPr/>
        </p:nvSpPr>
        <p:spPr>
          <a:xfrm>
            <a:off x="9391650" y="3802380"/>
            <a:ext cx="7943850" cy="1242060"/>
          </a:xfrm>
          <a:prstGeom prst="roundRect">
            <a:avLst>
              <a:gd fmla="val 6135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8"/>
          <p:cNvSpPr/>
          <p:nvPr/>
        </p:nvSpPr>
        <p:spPr>
          <a:xfrm>
            <a:off x="9677400" y="4050030"/>
            <a:ext cx="7610665" cy="78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NameError: name 'Print'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 not defined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952500" y="550164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NameError means Python read the line fine but does not know that word.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HABIT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Reading an error message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952500" y="3497580"/>
            <a:ext cx="1428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9"/>
          <p:cNvSpPr/>
          <p:nvPr/>
        </p:nvSpPr>
        <p:spPr>
          <a:xfrm>
            <a:off x="952500" y="284226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1615559" y="2727960"/>
            <a:ext cx="10705517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 the </a:t>
            </a:r>
            <a:r>
              <a:rPr b="1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last line </a:t>
            </a: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first. That is the actual problem.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952500" y="4541520"/>
            <a:ext cx="1428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9"/>
          <p:cNvSpPr/>
          <p:nvPr/>
        </p:nvSpPr>
        <p:spPr>
          <a:xfrm>
            <a:off x="952500" y="388620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1615559" y="3771900"/>
            <a:ext cx="11917894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Note the </a:t>
            </a:r>
            <a:r>
              <a:rPr b="1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error type</a:t>
            </a: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: SyntaxError, NameError, TypeError.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9"/>
          <p:cNvSpPr/>
          <p:nvPr/>
        </p:nvSpPr>
        <p:spPr>
          <a:xfrm>
            <a:off x="952500" y="5585460"/>
            <a:ext cx="1428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952500" y="493014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/>
          <p:nvPr/>
        </p:nvSpPr>
        <p:spPr>
          <a:xfrm>
            <a:off x="1615559" y="4815840"/>
            <a:ext cx="1322849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Find the </a:t>
            </a:r>
            <a:r>
              <a:rPr b="1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line number </a:t>
            </a: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and the arrow pointing at the character.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/>
          <p:cNvSpPr/>
          <p:nvPr/>
        </p:nvSpPr>
        <p:spPr>
          <a:xfrm>
            <a:off x="952500" y="597408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1615559" y="5859780"/>
            <a:ext cx="772335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Errors are instructions, not verdicts.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1684139" y="272796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 your name, your department, and your student ID on three separate lines.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952500" y="413766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0"/>
          <p:cNvSpPr/>
          <p:nvPr/>
        </p:nvSpPr>
        <p:spPr>
          <a:xfrm>
            <a:off x="1684139" y="4076700"/>
            <a:ext cx="1377110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Use one cell to work out how many minutes there are in a week.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952500" y="498348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1684139" y="492252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Break a working print on purpose in three different ways. Write down each error type.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952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1"/>
          <p:cNvSpPr/>
          <p:nvPr/>
        </p:nvSpPr>
        <p:spPr>
          <a:xfrm>
            <a:off x="1295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Run a code cell in Colab and read its output.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9334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1"/>
          <p:cNvSpPr/>
          <p:nvPr/>
        </p:nvSpPr>
        <p:spPr>
          <a:xfrm>
            <a:off x="9677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 text with print() and quotes.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952500" y="424815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1"/>
          <p:cNvSpPr/>
          <p:nvPr/>
        </p:nvSpPr>
        <p:spPr>
          <a:xfrm>
            <a:off x="1295400" y="459105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Use a cell for arithmetic.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9334500" y="424815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1"/>
          <p:cNvSpPr/>
          <p:nvPr/>
        </p:nvSpPr>
        <p:spPr>
          <a:xfrm>
            <a:off x="9677400" y="459105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Tell a SyntaxError from a NameError.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class: giving values names.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2"/>
          <p:cNvSpPr/>
          <p:nvPr/>
        </p:nvSpPr>
        <p:spPr>
          <a:xfrm>
            <a:off x="952500" y="3705225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1 · FOUNDATIONS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952500" y="4474845"/>
            <a:ext cx="2227517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02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3510915" y="5252085"/>
            <a:ext cx="10791825" cy="15582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Variables, Names, and Assignment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3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1646039" y="2727960"/>
            <a:ext cx="629972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Storing a value under a name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3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3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3"/>
          <p:cNvSpPr/>
          <p:nvPr/>
        </p:nvSpPr>
        <p:spPr>
          <a:xfrm>
            <a:off x="1646039" y="3771900"/>
            <a:ext cx="826831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Which names are legal, which are wise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3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3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3"/>
          <p:cNvSpPr/>
          <p:nvPr/>
        </p:nvSpPr>
        <p:spPr>
          <a:xfrm>
            <a:off x="1646039" y="4815840"/>
            <a:ext cx="944324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Reassignment and tracing a value over time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3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3"/>
          <p:cNvSpPr/>
          <p:nvPr/>
        </p:nvSpPr>
        <p:spPr>
          <a:xfrm>
            <a:off x="1646039" y="5859780"/>
            <a:ext cx="494446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= assigns, == compares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a variable is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4"/>
          <p:cNvSpPr/>
          <p:nvPr/>
        </p:nvSpPr>
        <p:spPr>
          <a:xfrm>
            <a:off x="952500" y="2727960"/>
            <a:ext cx="14716125" cy="11696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variable is a name attached to a value, so you can use the value again without retyping it.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4"/>
          <p:cNvSpPr/>
          <p:nvPr/>
        </p:nvSpPr>
        <p:spPr>
          <a:xfrm>
            <a:off x="952500" y="4354830"/>
            <a:ext cx="16383000" cy="1402080"/>
          </a:xfrm>
          <a:prstGeom prst="roundRect">
            <a:avLst>
              <a:gd fmla="val 543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4"/>
          <p:cNvSpPr/>
          <p:nvPr/>
        </p:nvSpPr>
        <p:spPr>
          <a:xfrm>
            <a:off x="1341120" y="4705350"/>
            <a:ext cx="16097250" cy="739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200"/>
              <a:buFont typeface="JetBrains Mono"/>
              <a:buNone/>
            </a:pPr>
            <a:r>
              <a:rPr b="0" i="0" lang="en-US" sz="42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5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4"/>
          <p:cNvSpPr/>
          <p:nvPr/>
        </p:nvSpPr>
        <p:spPr>
          <a:xfrm>
            <a:off x="952500" y="609981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 it right to left: the value 5 is given the name a.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Assign, then use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5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5"/>
          <p:cNvSpPr/>
          <p:nvPr/>
        </p:nvSpPr>
        <p:spPr>
          <a:xfrm>
            <a:off x="2228850" y="2727960"/>
            <a:ext cx="15106650" cy="2691765"/>
          </a:xfrm>
          <a:prstGeom prst="roundRect">
            <a:avLst>
              <a:gd fmla="val 283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5"/>
          <p:cNvSpPr/>
          <p:nvPr/>
        </p:nvSpPr>
        <p:spPr>
          <a:xfrm>
            <a:off x="2541270" y="3002280"/>
            <a:ext cx="14935010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a1 = 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print(a1)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952500" y="58959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5"/>
          <p:cNvSpPr/>
          <p:nvPr/>
        </p:nvSpPr>
        <p:spPr>
          <a:xfrm>
            <a:off x="2228850" y="5648325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5"/>
          <p:cNvSpPr/>
          <p:nvPr/>
        </p:nvSpPr>
        <p:spPr>
          <a:xfrm>
            <a:off x="2533650" y="5915025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name can be reused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6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6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12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13.4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6"/>
          <p:cNvSpPr/>
          <p:nvPr/>
        </p:nvSpPr>
        <p:spPr>
          <a:xfrm>
            <a:off x="2228850" y="521970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6"/>
          <p:cNvSpPr/>
          <p:nvPr/>
        </p:nvSpPr>
        <p:spPr>
          <a:xfrm>
            <a:off x="2533650" y="548640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6"/>
          <p:cNvSpPr/>
          <p:nvPr/>
        </p:nvSpPr>
        <p:spPr>
          <a:xfrm>
            <a:off x="952500" y="699135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second assignment replaces the first. The value 12 is no longer reachable.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Following two names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7"/>
          <p:cNvSpPr/>
          <p:nvPr/>
        </p:nvSpPr>
        <p:spPr>
          <a:xfrm>
            <a:off x="952500" y="272796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7"/>
          <p:cNvSpPr/>
          <p:nvPr/>
        </p:nvSpPr>
        <p:spPr>
          <a:xfrm>
            <a:off x="952500" y="3482340"/>
            <a:ext cx="5905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7"/>
          <p:cNvSpPr/>
          <p:nvPr/>
        </p:nvSpPr>
        <p:spPr>
          <a:xfrm>
            <a:off x="1181100" y="2933700"/>
            <a:ext cx="562546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7"/>
          <p:cNvSpPr/>
          <p:nvPr/>
        </p:nvSpPr>
        <p:spPr>
          <a:xfrm>
            <a:off x="6858000" y="3482340"/>
            <a:ext cx="2286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7"/>
          <p:cNvSpPr/>
          <p:nvPr/>
        </p:nvSpPr>
        <p:spPr>
          <a:xfrm>
            <a:off x="7086600" y="2933700"/>
            <a:ext cx="19050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7"/>
          <p:cNvSpPr/>
          <p:nvPr/>
        </p:nvSpPr>
        <p:spPr>
          <a:xfrm>
            <a:off x="9144000" y="3482340"/>
            <a:ext cx="2286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7"/>
          <p:cNvSpPr/>
          <p:nvPr/>
        </p:nvSpPr>
        <p:spPr>
          <a:xfrm>
            <a:off x="9372600" y="2933700"/>
            <a:ext cx="19050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7"/>
          <p:cNvSpPr/>
          <p:nvPr/>
        </p:nvSpPr>
        <p:spPr>
          <a:xfrm>
            <a:off x="11430000" y="3482340"/>
            <a:ext cx="5905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11658600" y="2933700"/>
            <a:ext cx="562546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OUTPUT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7"/>
          <p:cNvSpPr/>
          <p:nvPr/>
        </p:nvSpPr>
        <p:spPr>
          <a:xfrm>
            <a:off x="952500" y="4297680"/>
            <a:ext cx="5905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7"/>
          <p:cNvSpPr/>
          <p:nvPr/>
        </p:nvSpPr>
        <p:spPr>
          <a:xfrm>
            <a:off x="1181100" y="3680460"/>
            <a:ext cx="562546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5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7"/>
          <p:cNvSpPr/>
          <p:nvPr/>
        </p:nvSpPr>
        <p:spPr>
          <a:xfrm>
            <a:off x="6858000" y="4297680"/>
            <a:ext cx="2286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7"/>
          <p:cNvSpPr/>
          <p:nvPr/>
        </p:nvSpPr>
        <p:spPr>
          <a:xfrm>
            <a:off x="7086600" y="3680460"/>
            <a:ext cx="19050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7"/>
          <p:cNvSpPr/>
          <p:nvPr/>
        </p:nvSpPr>
        <p:spPr>
          <a:xfrm>
            <a:off x="9144000" y="4297680"/>
            <a:ext cx="2286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7"/>
          <p:cNvSpPr/>
          <p:nvPr/>
        </p:nvSpPr>
        <p:spPr>
          <a:xfrm>
            <a:off x="9372600" y="3680460"/>
            <a:ext cx="19050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—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7"/>
          <p:cNvSpPr/>
          <p:nvPr/>
        </p:nvSpPr>
        <p:spPr>
          <a:xfrm>
            <a:off x="11430000" y="4297680"/>
            <a:ext cx="5905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7"/>
          <p:cNvSpPr/>
          <p:nvPr/>
        </p:nvSpPr>
        <p:spPr>
          <a:xfrm>
            <a:off x="11658600" y="3680460"/>
            <a:ext cx="562546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nothing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7"/>
          <p:cNvSpPr/>
          <p:nvPr/>
        </p:nvSpPr>
        <p:spPr>
          <a:xfrm>
            <a:off x="952500" y="5113020"/>
            <a:ext cx="5905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1181100" y="4495800"/>
            <a:ext cx="562546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= a + 3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7"/>
          <p:cNvSpPr/>
          <p:nvPr/>
        </p:nvSpPr>
        <p:spPr>
          <a:xfrm>
            <a:off x="6858000" y="5113020"/>
            <a:ext cx="2286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7"/>
          <p:cNvSpPr/>
          <p:nvPr/>
        </p:nvSpPr>
        <p:spPr>
          <a:xfrm>
            <a:off x="7086600" y="4495800"/>
            <a:ext cx="19050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7"/>
          <p:cNvSpPr/>
          <p:nvPr/>
        </p:nvSpPr>
        <p:spPr>
          <a:xfrm>
            <a:off x="9144000" y="5113020"/>
            <a:ext cx="2286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7"/>
          <p:cNvSpPr/>
          <p:nvPr/>
        </p:nvSpPr>
        <p:spPr>
          <a:xfrm>
            <a:off x="9372600" y="4495800"/>
            <a:ext cx="19050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7"/>
          <p:cNvSpPr/>
          <p:nvPr/>
        </p:nvSpPr>
        <p:spPr>
          <a:xfrm>
            <a:off x="11430000" y="5113020"/>
            <a:ext cx="5905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7"/>
          <p:cNvSpPr/>
          <p:nvPr/>
        </p:nvSpPr>
        <p:spPr>
          <a:xfrm>
            <a:off x="11658600" y="4495800"/>
            <a:ext cx="562546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nothing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7"/>
          <p:cNvSpPr/>
          <p:nvPr/>
        </p:nvSpPr>
        <p:spPr>
          <a:xfrm>
            <a:off x="952500" y="5928360"/>
            <a:ext cx="5905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7"/>
          <p:cNvSpPr/>
          <p:nvPr/>
        </p:nvSpPr>
        <p:spPr>
          <a:xfrm>
            <a:off x="1181100" y="5311140"/>
            <a:ext cx="562546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100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7"/>
          <p:cNvSpPr/>
          <p:nvPr/>
        </p:nvSpPr>
        <p:spPr>
          <a:xfrm>
            <a:off x="6858000" y="5928360"/>
            <a:ext cx="2286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7"/>
          <p:cNvSpPr/>
          <p:nvPr/>
        </p:nvSpPr>
        <p:spPr>
          <a:xfrm>
            <a:off x="7086600" y="5311140"/>
            <a:ext cx="19050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7"/>
          <p:cNvSpPr/>
          <p:nvPr/>
        </p:nvSpPr>
        <p:spPr>
          <a:xfrm>
            <a:off x="9144000" y="5928360"/>
            <a:ext cx="2286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7"/>
          <p:cNvSpPr/>
          <p:nvPr/>
        </p:nvSpPr>
        <p:spPr>
          <a:xfrm>
            <a:off x="9372600" y="5311140"/>
            <a:ext cx="19050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7"/>
          <p:cNvSpPr/>
          <p:nvPr/>
        </p:nvSpPr>
        <p:spPr>
          <a:xfrm>
            <a:off x="11430000" y="5928360"/>
            <a:ext cx="5905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7"/>
          <p:cNvSpPr/>
          <p:nvPr/>
        </p:nvSpPr>
        <p:spPr>
          <a:xfrm>
            <a:off x="11658600" y="5311140"/>
            <a:ext cx="562546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nothing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7"/>
          <p:cNvSpPr/>
          <p:nvPr/>
        </p:nvSpPr>
        <p:spPr>
          <a:xfrm>
            <a:off x="1181100" y="6126480"/>
            <a:ext cx="562546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print(b)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7"/>
          <p:cNvSpPr/>
          <p:nvPr/>
        </p:nvSpPr>
        <p:spPr>
          <a:xfrm>
            <a:off x="7086600" y="6126480"/>
            <a:ext cx="19050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7"/>
          <p:cNvSpPr/>
          <p:nvPr/>
        </p:nvSpPr>
        <p:spPr>
          <a:xfrm>
            <a:off x="9372600" y="6126480"/>
            <a:ext cx="19050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7"/>
          <p:cNvSpPr/>
          <p:nvPr/>
        </p:nvSpPr>
        <p:spPr>
          <a:xfrm>
            <a:off x="11658600" y="6126480"/>
            <a:ext cx="562546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7"/>
          <p:cNvSpPr/>
          <p:nvPr/>
        </p:nvSpPr>
        <p:spPr>
          <a:xfrm>
            <a:off x="952500" y="71628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 kept the value it was given. Changing a later does not update b.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RULES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a name may contain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8"/>
          <p:cNvSpPr/>
          <p:nvPr/>
        </p:nvSpPr>
        <p:spPr>
          <a:xfrm>
            <a:off x="952500" y="2727960"/>
            <a:ext cx="5181600" cy="1645920"/>
          </a:xfrm>
          <a:prstGeom prst="roundRect">
            <a:avLst>
              <a:gd fmla="val 463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8"/>
          <p:cNvSpPr/>
          <p:nvPr/>
        </p:nvSpPr>
        <p:spPr>
          <a:xfrm>
            <a:off x="1295400" y="3070860"/>
            <a:ext cx="494538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Letters, digits, underscore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8"/>
          <p:cNvSpPr/>
          <p:nvPr/>
        </p:nvSpPr>
        <p:spPr>
          <a:xfrm>
            <a:off x="1295400" y="3680460"/>
            <a:ext cx="4480079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Nothing else. No spaces, no % or #.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8"/>
          <p:cNvSpPr/>
          <p:nvPr/>
        </p:nvSpPr>
        <p:spPr>
          <a:xfrm>
            <a:off x="6553200" y="2727960"/>
            <a:ext cx="5181600" cy="1645920"/>
          </a:xfrm>
          <a:prstGeom prst="roundRect">
            <a:avLst>
              <a:gd fmla="val 463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8"/>
          <p:cNvSpPr/>
          <p:nvPr/>
        </p:nvSpPr>
        <p:spPr>
          <a:xfrm>
            <a:off x="6896100" y="3070860"/>
            <a:ext cx="494538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Never starts with a digit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8"/>
          <p:cNvSpPr/>
          <p:nvPr/>
        </p:nvSpPr>
        <p:spPr>
          <a:xfrm>
            <a:off x="6896100" y="3680460"/>
            <a:ext cx="2286834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a1 is fine. 1a is not.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8"/>
          <p:cNvSpPr/>
          <p:nvPr/>
        </p:nvSpPr>
        <p:spPr>
          <a:xfrm>
            <a:off x="12153900" y="2727960"/>
            <a:ext cx="5181600" cy="1645920"/>
          </a:xfrm>
          <a:prstGeom prst="roundRect">
            <a:avLst>
              <a:gd fmla="val 463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8"/>
          <p:cNvSpPr/>
          <p:nvPr/>
        </p:nvSpPr>
        <p:spPr>
          <a:xfrm>
            <a:off x="12496800" y="3070860"/>
            <a:ext cx="494538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Not a reserved word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8"/>
          <p:cNvSpPr/>
          <p:nvPr/>
        </p:nvSpPr>
        <p:spPr>
          <a:xfrm>
            <a:off x="12496800" y="3680460"/>
            <a:ext cx="3409236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if, for, class, True are taken.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8"/>
          <p:cNvSpPr/>
          <p:nvPr/>
        </p:nvSpPr>
        <p:spPr>
          <a:xfrm>
            <a:off x="952500" y="4869180"/>
            <a:ext cx="16383000" cy="1405890"/>
          </a:xfrm>
          <a:prstGeom prst="roundRect">
            <a:avLst>
              <a:gd fmla="val 5420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8"/>
          <p:cNvSpPr/>
          <p:nvPr/>
        </p:nvSpPr>
        <p:spPr>
          <a:xfrm>
            <a:off x="1264920" y="5143500"/>
            <a:ext cx="1624965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a_1 = 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c_1234 = 99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Names Python refuses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9"/>
          <p:cNvSpPr/>
          <p:nvPr/>
        </p:nvSpPr>
        <p:spPr>
          <a:xfrm>
            <a:off x="952500" y="2727960"/>
            <a:ext cx="7943850" cy="883920"/>
          </a:xfrm>
          <a:prstGeom prst="roundRect">
            <a:avLst>
              <a:gd fmla="val 862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9"/>
          <p:cNvSpPr/>
          <p:nvPr/>
        </p:nvSpPr>
        <p:spPr>
          <a:xfrm>
            <a:off x="1245870" y="2983230"/>
            <a:ext cx="759542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1a = 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9"/>
          <p:cNvSpPr/>
          <p:nvPr/>
        </p:nvSpPr>
        <p:spPr>
          <a:xfrm>
            <a:off x="952500" y="3802380"/>
            <a:ext cx="7943850" cy="1242060"/>
          </a:xfrm>
          <a:prstGeom prst="roundRect">
            <a:avLst>
              <a:gd fmla="val 6135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9"/>
          <p:cNvSpPr/>
          <p:nvPr/>
        </p:nvSpPr>
        <p:spPr>
          <a:xfrm>
            <a:off x="1238250" y="4050030"/>
            <a:ext cx="7610665" cy="78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SyntaxError: invalid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decimal literal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9"/>
          <p:cNvSpPr/>
          <p:nvPr/>
        </p:nvSpPr>
        <p:spPr>
          <a:xfrm>
            <a:off x="9391650" y="2727960"/>
            <a:ext cx="7943850" cy="883920"/>
          </a:xfrm>
          <a:prstGeom prst="roundRect">
            <a:avLst>
              <a:gd fmla="val 862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9"/>
          <p:cNvSpPr/>
          <p:nvPr/>
        </p:nvSpPr>
        <p:spPr>
          <a:xfrm>
            <a:off x="9685020" y="2983230"/>
            <a:ext cx="759542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a%# = 88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9"/>
          <p:cNvSpPr/>
          <p:nvPr/>
        </p:nvSpPr>
        <p:spPr>
          <a:xfrm>
            <a:off x="9391650" y="3802380"/>
            <a:ext cx="7943850" cy="1242060"/>
          </a:xfrm>
          <a:prstGeom prst="roundRect">
            <a:avLst>
              <a:gd fmla="val 6135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9"/>
          <p:cNvSpPr/>
          <p:nvPr/>
        </p:nvSpPr>
        <p:spPr>
          <a:xfrm>
            <a:off x="9677400" y="4050030"/>
            <a:ext cx="7610665" cy="78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SyntaxError: invalid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syntax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9"/>
          <p:cNvSpPr/>
          <p:nvPr/>
        </p:nvSpPr>
        <p:spPr>
          <a:xfrm>
            <a:off x="952500" y="550164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Both fail before anything runs. Fix the name and the whole cell works.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Using a name before assigning it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0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[3]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0"/>
          <p:cNvSpPr/>
          <p:nvPr/>
        </p:nvSpPr>
        <p:spPr>
          <a:xfrm>
            <a:off x="2228850" y="2727960"/>
            <a:ext cx="15106650" cy="1405890"/>
          </a:xfrm>
          <a:prstGeom prst="roundRect">
            <a:avLst>
              <a:gd fmla="val 5420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0"/>
          <p:cNvSpPr/>
          <p:nvPr/>
        </p:nvSpPr>
        <p:spPr>
          <a:xfrm>
            <a:off x="2541270" y="3002280"/>
            <a:ext cx="1493501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99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print(xy)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0"/>
          <p:cNvSpPr/>
          <p:nvPr/>
        </p:nvSpPr>
        <p:spPr>
          <a:xfrm>
            <a:off x="952500" y="46101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0"/>
          <p:cNvSpPr/>
          <p:nvPr/>
        </p:nvSpPr>
        <p:spPr>
          <a:xfrm>
            <a:off x="2228850" y="4362450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0"/>
          <p:cNvSpPr/>
          <p:nvPr/>
        </p:nvSpPr>
        <p:spPr>
          <a:xfrm>
            <a:off x="2533650" y="4629150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NameError: name 'xy' is not defined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0"/>
          <p:cNvSpPr/>
          <p:nvPr/>
        </p:nvSpPr>
        <p:spPr>
          <a:xfrm>
            <a:off x="952500" y="568833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 a notebook this often means you skipped the cell that defines it.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CONVENTION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Legal is not the same as clear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1"/>
          <p:cNvSpPr/>
          <p:nvPr/>
        </p:nvSpPr>
        <p:spPr>
          <a:xfrm>
            <a:off x="952500" y="2727960"/>
            <a:ext cx="869632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LEGAL, UNCLEAR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1"/>
          <p:cNvSpPr/>
          <p:nvPr/>
        </p:nvSpPr>
        <p:spPr>
          <a:xfrm>
            <a:off x="952500" y="3276600"/>
            <a:ext cx="7905750" cy="1905000"/>
          </a:xfrm>
          <a:prstGeom prst="roundRect">
            <a:avLst>
              <a:gd fmla="val 400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1"/>
          <p:cNvSpPr/>
          <p:nvPr/>
        </p:nvSpPr>
        <p:spPr>
          <a:xfrm>
            <a:off x="1257300" y="3543300"/>
            <a:ext cx="7533323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= 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 = a * b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1"/>
          <p:cNvSpPr/>
          <p:nvPr/>
        </p:nvSpPr>
        <p:spPr>
          <a:xfrm>
            <a:off x="9429750" y="2727960"/>
            <a:ext cx="869632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LEGAL, CLEAR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1"/>
          <p:cNvSpPr/>
          <p:nvPr/>
        </p:nvSpPr>
        <p:spPr>
          <a:xfrm>
            <a:off x="9429750" y="3276600"/>
            <a:ext cx="7905750" cy="1920240"/>
          </a:xfrm>
          <a:prstGeom prst="roundRect">
            <a:avLst>
              <a:gd fmla="val 396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1"/>
          <p:cNvSpPr/>
          <p:nvPr/>
        </p:nvSpPr>
        <p:spPr>
          <a:xfrm>
            <a:off x="9742170" y="3550920"/>
            <a:ext cx="7518083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length = 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width = 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area = length * width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1"/>
          <p:cNvSpPr/>
          <p:nvPr/>
        </p:nvSpPr>
        <p:spPr>
          <a:xfrm>
            <a:off x="952500" y="569214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Python style joins words with underscores: student_id, total_marks, max_value.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2"/>
          <p:cNvSpPr/>
          <p:nvPr/>
        </p:nvSpPr>
        <p:spPr>
          <a:xfrm>
            <a:off x="952500" y="3874770"/>
            <a:ext cx="85915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431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0500"/>
              <a:buFont typeface="JetBrains Mono"/>
              <a:buNone/>
            </a:pPr>
            <a:r>
              <a:rPr b="1" i="0" lang="en-US" sz="1050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2"/>
          <p:cNvSpPr/>
          <p:nvPr/>
        </p:nvSpPr>
        <p:spPr>
          <a:xfrm>
            <a:off x="952500" y="5513070"/>
            <a:ext cx="8044815" cy="1127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Assignment. Puts a value into a name.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2"/>
          <p:cNvSpPr/>
          <p:nvPr/>
        </p:nvSpPr>
        <p:spPr>
          <a:xfrm>
            <a:off x="9525000" y="3874770"/>
            <a:ext cx="85915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431"/>
              </a:lnSpc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10500"/>
              <a:buFont typeface="JetBrains Mono"/>
              <a:buNone/>
            </a:pPr>
            <a:r>
              <a:rPr b="1" i="0" lang="en-US" sz="105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==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2"/>
          <p:cNvSpPr/>
          <p:nvPr/>
        </p:nvSpPr>
        <p:spPr>
          <a:xfrm>
            <a:off x="9525000" y="5513070"/>
            <a:ext cx="8044815" cy="1127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Comparison. Asks a question, answers True or False.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Comparison answers True or False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3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[4]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3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3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== 7)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== 7.1)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3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3"/>
          <p:cNvSpPr/>
          <p:nvPr/>
        </p:nvSpPr>
        <p:spPr>
          <a:xfrm>
            <a:off x="2228850" y="5219700"/>
            <a:ext cx="15106650" cy="1819275"/>
          </a:xfrm>
          <a:prstGeom prst="roundRect">
            <a:avLst>
              <a:gd fmla="val 418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3"/>
          <p:cNvSpPr/>
          <p:nvPr/>
        </p:nvSpPr>
        <p:spPr>
          <a:xfrm>
            <a:off x="2533650" y="5486400"/>
            <a:ext cx="14950249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Assignment is not an equation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4"/>
          <p:cNvSpPr/>
          <p:nvPr/>
        </p:nvSpPr>
        <p:spPr>
          <a:xfrm>
            <a:off x="952500" y="2727960"/>
            <a:ext cx="16383000" cy="1402080"/>
          </a:xfrm>
          <a:prstGeom prst="roundRect">
            <a:avLst>
              <a:gd fmla="val 543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4"/>
          <p:cNvSpPr/>
          <p:nvPr/>
        </p:nvSpPr>
        <p:spPr>
          <a:xfrm>
            <a:off x="1341120" y="3078480"/>
            <a:ext cx="16097250" cy="739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200"/>
              <a:buFont typeface="JetBrains Mono"/>
              <a:buNone/>
            </a:pPr>
            <a:r>
              <a:rPr b="0" i="0" lang="en-US" sz="42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count = count + 1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4"/>
          <p:cNvSpPr/>
          <p:nvPr/>
        </p:nvSpPr>
        <p:spPr>
          <a:xfrm>
            <a:off x="952500" y="4549140"/>
            <a:ext cx="14716125" cy="11696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 mathematics this has no solution. In Python it means: take the current value of count, add one, and store the result back under the same name.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4"/>
          <p:cNvSpPr/>
          <p:nvPr/>
        </p:nvSpPr>
        <p:spPr>
          <a:xfrm>
            <a:off x="952500" y="598551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right-hand side is worked out first, every time.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Swapping two values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5"/>
          <p:cNvSpPr/>
          <p:nvPr/>
        </p:nvSpPr>
        <p:spPr>
          <a:xfrm>
            <a:off x="952500" y="2727960"/>
            <a:ext cx="869632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A TEMPORARY NAME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5"/>
          <p:cNvSpPr/>
          <p:nvPr/>
        </p:nvSpPr>
        <p:spPr>
          <a:xfrm>
            <a:off x="952500" y="3276600"/>
            <a:ext cx="7905750" cy="2834640"/>
          </a:xfrm>
          <a:prstGeom prst="roundRect">
            <a:avLst>
              <a:gd fmla="val 268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5"/>
          <p:cNvSpPr/>
          <p:nvPr/>
        </p:nvSpPr>
        <p:spPr>
          <a:xfrm>
            <a:off x="1264920" y="3550920"/>
            <a:ext cx="7518083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= 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 = 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b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= temp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5"/>
          <p:cNvSpPr/>
          <p:nvPr/>
        </p:nvSpPr>
        <p:spPr>
          <a:xfrm>
            <a:off x="9429750" y="2727960"/>
            <a:ext cx="869632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PYTHON WAY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5"/>
          <p:cNvSpPr/>
          <p:nvPr/>
        </p:nvSpPr>
        <p:spPr>
          <a:xfrm>
            <a:off x="9429750" y="3276600"/>
            <a:ext cx="7905750" cy="1920240"/>
          </a:xfrm>
          <a:prstGeom prst="roundRect">
            <a:avLst>
              <a:gd fmla="val 396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5"/>
          <p:cNvSpPr/>
          <p:nvPr/>
        </p:nvSpPr>
        <p:spPr>
          <a:xfrm>
            <a:off x="9742170" y="3550920"/>
            <a:ext cx="7518083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= 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a, b = b, 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5"/>
          <p:cNvSpPr/>
          <p:nvPr/>
        </p:nvSpPr>
        <p:spPr>
          <a:xfrm>
            <a:off x="952500" y="660654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Without temp, a = b overwrites a before b can read it.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QUICK 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does this print?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6"/>
          <p:cNvSpPr/>
          <p:nvPr/>
        </p:nvSpPr>
        <p:spPr>
          <a:xfrm>
            <a:off x="952500" y="2727960"/>
            <a:ext cx="16383000" cy="3025140"/>
          </a:xfrm>
          <a:prstGeom prst="roundRect">
            <a:avLst>
              <a:gd fmla="val 2519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6"/>
          <p:cNvSpPr/>
          <p:nvPr/>
        </p:nvSpPr>
        <p:spPr>
          <a:xfrm>
            <a:off x="1303020" y="3040380"/>
            <a:ext cx="1617345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= 2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 = x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= 10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print(y)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6"/>
          <p:cNvSpPr/>
          <p:nvPr/>
        </p:nvSpPr>
        <p:spPr>
          <a:xfrm>
            <a:off x="952500" y="6172200"/>
            <a:ext cx="1802130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your answer down before you run it.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7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7"/>
          <p:cNvSpPr/>
          <p:nvPr/>
        </p:nvSpPr>
        <p:spPr>
          <a:xfrm>
            <a:off x="1684139" y="272796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Store the length and width of a rectangle in two variables, then print its area and perimeter.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7"/>
          <p:cNvSpPr/>
          <p:nvPr/>
        </p:nvSpPr>
        <p:spPr>
          <a:xfrm>
            <a:off x="952500" y="413766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7"/>
          <p:cNvSpPr/>
          <p:nvPr/>
        </p:nvSpPr>
        <p:spPr>
          <a:xfrm>
            <a:off x="1684139" y="4076700"/>
            <a:ext cx="13530906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Swap two variables without using a third, then prove it worked.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7"/>
          <p:cNvSpPr/>
          <p:nvPr/>
        </p:nvSpPr>
        <p:spPr>
          <a:xfrm>
            <a:off x="952500" y="498348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7"/>
          <p:cNvSpPr/>
          <p:nvPr/>
        </p:nvSpPr>
        <p:spPr>
          <a:xfrm>
            <a:off x="1684139" y="492252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five variable names Python rejects, and record the error each one gives.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8"/>
          <p:cNvSpPr/>
          <p:nvPr/>
        </p:nvSpPr>
        <p:spPr>
          <a:xfrm>
            <a:off x="952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8"/>
          <p:cNvSpPr/>
          <p:nvPr/>
        </p:nvSpPr>
        <p:spPr>
          <a:xfrm>
            <a:off x="1295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Store a value under a name and use it later.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8"/>
          <p:cNvSpPr/>
          <p:nvPr/>
        </p:nvSpPr>
        <p:spPr>
          <a:xfrm>
            <a:off x="9334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8"/>
          <p:cNvSpPr/>
          <p:nvPr/>
        </p:nvSpPr>
        <p:spPr>
          <a:xfrm>
            <a:off x="9677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Tell a legal name from an illegal one.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8"/>
          <p:cNvSpPr/>
          <p:nvPr/>
        </p:nvSpPr>
        <p:spPr>
          <a:xfrm>
            <a:off x="952500" y="424815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8"/>
          <p:cNvSpPr/>
          <p:nvPr/>
        </p:nvSpPr>
        <p:spPr>
          <a:xfrm>
            <a:off x="1295400" y="459105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Trace a variable's value line by line.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8"/>
          <p:cNvSpPr/>
          <p:nvPr/>
        </p:nvSpPr>
        <p:spPr>
          <a:xfrm>
            <a:off x="9334500" y="424815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8"/>
          <p:cNvSpPr/>
          <p:nvPr/>
        </p:nvSpPr>
        <p:spPr>
          <a:xfrm>
            <a:off x="9677400" y="459105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Use = to assign and == to compare.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8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class: what kind of thing a value is.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9"/>
          <p:cNvSpPr/>
          <p:nvPr/>
        </p:nvSpPr>
        <p:spPr>
          <a:xfrm>
            <a:off x="952500" y="3705225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1 · FOUNDATIONS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9"/>
          <p:cNvSpPr/>
          <p:nvPr/>
        </p:nvSpPr>
        <p:spPr>
          <a:xfrm>
            <a:off x="952500" y="4474845"/>
            <a:ext cx="2252663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03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9"/>
          <p:cNvSpPr/>
          <p:nvPr/>
        </p:nvSpPr>
        <p:spPr>
          <a:xfrm>
            <a:off x="3533775" y="5252085"/>
            <a:ext cx="10791825" cy="15582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Data Types and Type Conversion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4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40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40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40"/>
          <p:cNvSpPr/>
          <p:nvPr/>
        </p:nvSpPr>
        <p:spPr>
          <a:xfrm>
            <a:off x="1646039" y="2727960"/>
            <a:ext cx="441705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four basic types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40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40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40"/>
          <p:cNvSpPr/>
          <p:nvPr/>
        </p:nvSpPr>
        <p:spPr>
          <a:xfrm>
            <a:off x="1646039" y="3771900"/>
            <a:ext cx="7309104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Why + means two different things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40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40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0"/>
          <p:cNvSpPr/>
          <p:nvPr/>
        </p:nvSpPr>
        <p:spPr>
          <a:xfrm>
            <a:off x="1646039" y="4815840"/>
            <a:ext cx="5458254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TypeError and ValueError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0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0"/>
          <p:cNvSpPr/>
          <p:nvPr/>
        </p:nvSpPr>
        <p:spPr>
          <a:xfrm>
            <a:off x="1646039" y="5859780"/>
            <a:ext cx="572674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Converting between types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4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Every value has a type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1"/>
          <p:cNvSpPr/>
          <p:nvPr/>
        </p:nvSpPr>
        <p:spPr>
          <a:xfrm>
            <a:off x="952500" y="2727960"/>
            <a:ext cx="3838575" cy="22860"/>
          </a:xfrm>
          <a:prstGeom prst="rect">
            <a:avLst/>
          </a:prstGeom>
          <a:solidFill>
            <a:srgbClr val="7A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41"/>
          <p:cNvSpPr/>
          <p:nvPr/>
        </p:nvSpPr>
        <p:spPr>
          <a:xfrm>
            <a:off x="952500" y="3017520"/>
            <a:ext cx="4222433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41"/>
          <p:cNvSpPr/>
          <p:nvPr/>
        </p:nvSpPr>
        <p:spPr>
          <a:xfrm>
            <a:off x="952500" y="3627120"/>
            <a:ext cx="2095024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Whole numbers.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41"/>
          <p:cNvSpPr/>
          <p:nvPr/>
        </p:nvSpPr>
        <p:spPr>
          <a:xfrm>
            <a:off x="952500" y="3985260"/>
            <a:ext cx="176035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7, 0, -412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1"/>
          <p:cNvSpPr/>
          <p:nvPr/>
        </p:nvSpPr>
        <p:spPr>
          <a:xfrm>
            <a:off x="5133975" y="2727960"/>
            <a:ext cx="3838575" cy="22860"/>
          </a:xfrm>
          <a:prstGeom prst="rect">
            <a:avLst/>
          </a:prstGeom>
          <a:solidFill>
            <a:srgbClr val="7A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41"/>
          <p:cNvSpPr/>
          <p:nvPr/>
        </p:nvSpPr>
        <p:spPr>
          <a:xfrm>
            <a:off x="5133975" y="3017520"/>
            <a:ext cx="4222433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float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41"/>
          <p:cNvSpPr/>
          <p:nvPr/>
        </p:nvSpPr>
        <p:spPr>
          <a:xfrm>
            <a:off x="5133975" y="3627120"/>
            <a:ext cx="3908726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Numbers with a decimal point.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41"/>
          <p:cNvSpPr/>
          <p:nvPr/>
        </p:nvSpPr>
        <p:spPr>
          <a:xfrm>
            <a:off x="5133975" y="3985260"/>
            <a:ext cx="158432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7.1, -0.5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41"/>
          <p:cNvSpPr/>
          <p:nvPr/>
        </p:nvSpPr>
        <p:spPr>
          <a:xfrm>
            <a:off x="9315450" y="2727960"/>
            <a:ext cx="3838575" cy="22860"/>
          </a:xfrm>
          <a:prstGeom prst="rect">
            <a:avLst/>
          </a:prstGeom>
          <a:solidFill>
            <a:srgbClr val="7A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41"/>
          <p:cNvSpPr/>
          <p:nvPr/>
        </p:nvSpPr>
        <p:spPr>
          <a:xfrm>
            <a:off x="9315450" y="3017520"/>
            <a:ext cx="4222433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bool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41"/>
          <p:cNvSpPr/>
          <p:nvPr/>
        </p:nvSpPr>
        <p:spPr>
          <a:xfrm>
            <a:off x="9315450" y="3627120"/>
            <a:ext cx="2452688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Exactly two values.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41"/>
          <p:cNvSpPr/>
          <p:nvPr/>
        </p:nvSpPr>
        <p:spPr>
          <a:xfrm>
            <a:off x="9315450" y="3985260"/>
            <a:ext cx="193637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True, False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41"/>
          <p:cNvSpPr/>
          <p:nvPr/>
        </p:nvSpPr>
        <p:spPr>
          <a:xfrm>
            <a:off x="13496925" y="2727960"/>
            <a:ext cx="3838575" cy="22860"/>
          </a:xfrm>
          <a:prstGeom prst="rect">
            <a:avLst/>
          </a:prstGeom>
          <a:solidFill>
            <a:srgbClr val="7A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1"/>
          <p:cNvSpPr/>
          <p:nvPr/>
        </p:nvSpPr>
        <p:spPr>
          <a:xfrm>
            <a:off x="13496925" y="3017520"/>
            <a:ext cx="4222433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41"/>
          <p:cNvSpPr/>
          <p:nvPr/>
        </p:nvSpPr>
        <p:spPr>
          <a:xfrm>
            <a:off x="13496925" y="3627120"/>
            <a:ext cx="1872378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Text in quotes.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41"/>
          <p:cNvSpPr/>
          <p:nvPr/>
        </p:nvSpPr>
        <p:spPr>
          <a:xfrm>
            <a:off x="13496925" y="3985260"/>
            <a:ext cx="176035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"apple=10"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41"/>
          <p:cNvSpPr/>
          <p:nvPr/>
        </p:nvSpPr>
        <p:spPr>
          <a:xfrm>
            <a:off x="952500" y="4899660"/>
            <a:ext cx="14716125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type decides what the value can do. Two numbers can be subtracted; two pieces of text cannot.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4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Asking Python what something is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42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42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42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print(type(7))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print(type(7.1))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print(type(True))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print(type("apple"))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42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42"/>
          <p:cNvSpPr/>
          <p:nvPr/>
        </p:nvSpPr>
        <p:spPr>
          <a:xfrm>
            <a:off x="2228850" y="5219700"/>
            <a:ext cx="15106650" cy="2247900"/>
          </a:xfrm>
          <a:prstGeom prst="roundRect">
            <a:avLst>
              <a:gd fmla="val 339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42"/>
          <p:cNvSpPr/>
          <p:nvPr/>
        </p:nvSpPr>
        <p:spPr>
          <a:xfrm>
            <a:off x="2533650" y="5486400"/>
            <a:ext cx="1495024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&lt;class 'int'&gt;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&lt;class 'float'&gt;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&lt;class 'bool'&gt;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&lt;class 'str'&gt;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4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One decimal point changes the answer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43"/>
          <p:cNvSpPr/>
          <p:nvPr/>
        </p:nvSpPr>
        <p:spPr>
          <a:xfrm>
            <a:off x="952500" y="2727960"/>
            <a:ext cx="7943850" cy="2225040"/>
          </a:xfrm>
          <a:prstGeom prst="roundRect">
            <a:avLst>
              <a:gd fmla="val 342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43"/>
          <p:cNvSpPr/>
          <p:nvPr/>
        </p:nvSpPr>
        <p:spPr>
          <a:xfrm>
            <a:off x="1245870" y="2983230"/>
            <a:ext cx="75954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= 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*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/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3"/>
          <p:cNvSpPr/>
          <p:nvPr/>
        </p:nvSpPr>
        <p:spPr>
          <a:xfrm>
            <a:off x="952500" y="5143500"/>
            <a:ext cx="7943850" cy="1352550"/>
          </a:xfrm>
          <a:prstGeom prst="roundRect">
            <a:avLst>
              <a:gd fmla="val 563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43"/>
          <p:cNvSpPr/>
          <p:nvPr/>
        </p:nvSpPr>
        <p:spPr>
          <a:xfrm>
            <a:off x="1238250" y="5391150"/>
            <a:ext cx="761066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2.3333333333333335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43"/>
          <p:cNvSpPr/>
          <p:nvPr/>
        </p:nvSpPr>
        <p:spPr>
          <a:xfrm>
            <a:off x="9391650" y="2727960"/>
            <a:ext cx="7943850" cy="2225040"/>
          </a:xfrm>
          <a:prstGeom prst="roundRect">
            <a:avLst>
              <a:gd fmla="val 342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3"/>
          <p:cNvSpPr/>
          <p:nvPr/>
        </p:nvSpPr>
        <p:spPr>
          <a:xfrm>
            <a:off x="9685020" y="2983230"/>
            <a:ext cx="75954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7.1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= 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*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-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3"/>
          <p:cNvSpPr/>
          <p:nvPr/>
        </p:nvSpPr>
        <p:spPr>
          <a:xfrm>
            <a:off x="9391650" y="5143500"/>
            <a:ext cx="7943850" cy="1352550"/>
          </a:xfrm>
          <a:prstGeom prst="roundRect">
            <a:avLst>
              <a:gd fmla="val 563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43"/>
          <p:cNvSpPr/>
          <p:nvPr/>
        </p:nvSpPr>
        <p:spPr>
          <a:xfrm>
            <a:off x="9677400" y="5391150"/>
            <a:ext cx="761066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21.299999999999997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43"/>
          <p:cNvSpPr/>
          <p:nvPr/>
        </p:nvSpPr>
        <p:spPr>
          <a:xfrm>
            <a:off x="952500" y="695325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Division always produces a float, even when it divides evenly.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4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Booleans are numbers in disguise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44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44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44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False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= True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+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print(b * 5)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44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44"/>
          <p:cNvSpPr/>
          <p:nvPr/>
        </p:nvSpPr>
        <p:spPr>
          <a:xfrm>
            <a:off x="2228850" y="521970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44"/>
          <p:cNvSpPr/>
          <p:nvPr/>
        </p:nvSpPr>
        <p:spPr>
          <a:xfrm>
            <a:off x="2533650" y="548640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44"/>
          <p:cNvSpPr/>
          <p:nvPr/>
        </p:nvSpPr>
        <p:spPr>
          <a:xfrm>
            <a:off x="952500" y="699135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True counts as 1, False as 0. This becomes useful for counting later.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4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same operator, two meanings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45"/>
          <p:cNvSpPr/>
          <p:nvPr/>
        </p:nvSpPr>
        <p:spPr>
          <a:xfrm>
            <a:off x="952500" y="2727960"/>
            <a:ext cx="869632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NUMBERS: ADDITION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45"/>
          <p:cNvSpPr/>
          <p:nvPr/>
        </p:nvSpPr>
        <p:spPr>
          <a:xfrm>
            <a:off x="952500" y="3276600"/>
            <a:ext cx="7905750" cy="1796415"/>
          </a:xfrm>
          <a:prstGeom prst="roundRect">
            <a:avLst>
              <a:gd fmla="val 42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45"/>
          <p:cNvSpPr/>
          <p:nvPr/>
        </p:nvSpPr>
        <p:spPr>
          <a:xfrm>
            <a:off x="1245870" y="3531870"/>
            <a:ext cx="7556183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= 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+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45"/>
          <p:cNvSpPr/>
          <p:nvPr/>
        </p:nvSpPr>
        <p:spPr>
          <a:xfrm>
            <a:off x="952500" y="5263515"/>
            <a:ext cx="79057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45"/>
          <p:cNvSpPr/>
          <p:nvPr/>
        </p:nvSpPr>
        <p:spPr>
          <a:xfrm>
            <a:off x="1238250" y="5511165"/>
            <a:ext cx="757142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45"/>
          <p:cNvSpPr/>
          <p:nvPr/>
        </p:nvSpPr>
        <p:spPr>
          <a:xfrm>
            <a:off x="9429750" y="2727960"/>
            <a:ext cx="869632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TEXT: CONCATENATION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45"/>
          <p:cNvSpPr/>
          <p:nvPr/>
        </p:nvSpPr>
        <p:spPr>
          <a:xfrm>
            <a:off x="9429750" y="3276600"/>
            <a:ext cx="7905750" cy="1796415"/>
          </a:xfrm>
          <a:prstGeom prst="roundRect">
            <a:avLst>
              <a:gd fmla="val 42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5"/>
          <p:cNvSpPr/>
          <p:nvPr/>
        </p:nvSpPr>
        <p:spPr>
          <a:xfrm>
            <a:off x="9723120" y="3531870"/>
            <a:ext cx="7556183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"2"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= "3"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+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45"/>
          <p:cNvSpPr/>
          <p:nvPr/>
        </p:nvSpPr>
        <p:spPr>
          <a:xfrm>
            <a:off x="9429750" y="5263515"/>
            <a:ext cx="79057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45"/>
          <p:cNvSpPr/>
          <p:nvPr/>
        </p:nvSpPr>
        <p:spPr>
          <a:xfrm>
            <a:off x="9715500" y="5511165"/>
            <a:ext cx="757142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4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Text times a number repeats it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46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[3]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46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46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"2"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= "3"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* 5)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print(5 *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46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46"/>
          <p:cNvSpPr/>
          <p:nvPr/>
        </p:nvSpPr>
        <p:spPr>
          <a:xfrm>
            <a:off x="2228850" y="521970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46"/>
          <p:cNvSpPr/>
          <p:nvPr/>
        </p:nvSpPr>
        <p:spPr>
          <a:xfrm>
            <a:off x="2533650" y="548640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22222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33333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6"/>
          <p:cNvSpPr/>
          <p:nvPr/>
        </p:nvSpPr>
        <p:spPr>
          <a:xfrm>
            <a:off x="952500" y="699135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There is no meaning for "2" - 5, so Python refuses it.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4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Mixing text and numbers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47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[4]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47"/>
          <p:cNvSpPr/>
          <p:nvPr/>
        </p:nvSpPr>
        <p:spPr>
          <a:xfrm>
            <a:off x="2228850" y="2727960"/>
            <a:ext cx="15106650" cy="12954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47"/>
          <p:cNvSpPr/>
          <p:nvPr/>
        </p:nvSpPr>
        <p:spPr>
          <a:xfrm>
            <a:off x="2541270" y="3002280"/>
            <a:ext cx="14935010" cy="78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"apple"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+ 3)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47"/>
          <p:cNvSpPr/>
          <p:nvPr/>
        </p:nvSpPr>
        <p:spPr>
          <a:xfrm>
            <a:off x="952500" y="4499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47"/>
          <p:cNvSpPr/>
          <p:nvPr/>
        </p:nvSpPr>
        <p:spPr>
          <a:xfrm>
            <a:off x="2228850" y="425196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47"/>
          <p:cNvSpPr/>
          <p:nvPr/>
        </p:nvSpPr>
        <p:spPr>
          <a:xfrm>
            <a:off x="2533650" y="451866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TypeError: can only concatenate str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(not "int") to str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47"/>
          <p:cNvSpPr/>
          <p:nvPr/>
        </p:nvSpPr>
        <p:spPr>
          <a:xfrm>
            <a:off x="952500" y="606171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TypeError means the operation is fine, but not for these types.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4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Converting on purpose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48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[5]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48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48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print(int(1.3) + 2)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print(float(2) + 2)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print(str(2) + "2")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print(bool(3) + 5)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48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48"/>
          <p:cNvSpPr/>
          <p:nvPr/>
        </p:nvSpPr>
        <p:spPr>
          <a:xfrm>
            <a:off x="2228850" y="5219700"/>
            <a:ext cx="15106650" cy="2247900"/>
          </a:xfrm>
          <a:prstGeom prst="roundRect">
            <a:avLst>
              <a:gd fmla="val 339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48"/>
          <p:cNvSpPr/>
          <p:nvPr/>
        </p:nvSpPr>
        <p:spPr>
          <a:xfrm>
            <a:off x="2533650" y="5486400"/>
            <a:ext cx="1495024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4.0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8"/>
          <p:cNvSpPr/>
          <p:nvPr/>
        </p:nvSpPr>
        <p:spPr>
          <a:xfrm>
            <a:off x="952500" y="78486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int() cuts the decimal part off. It does not round.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4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counts as True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49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[6]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49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49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print(bool(3))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print(bool(0))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print(bool(-3))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print(bool(""))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49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49"/>
          <p:cNvSpPr/>
          <p:nvPr/>
        </p:nvSpPr>
        <p:spPr>
          <a:xfrm>
            <a:off x="2228850" y="5219700"/>
            <a:ext cx="15106650" cy="2247900"/>
          </a:xfrm>
          <a:prstGeom prst="roundRect">
            <a:avLst>
              <a:gd fmla="val 339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49"/>
          <p:cNvSpPr/>
          <p:nvPr/>
        </p:nvSpPr>
        <p:spPr>
          <a:xfrm>
            <a:off x="2533650" y="5486400"/>
            <a:ext cx="1495024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49"/>
          <p:cNvSpPr/>
          <p:nvPr/>
        </p:nvSpPr>
        <p:spPr>
          <a:xfrm>
            <a:off x="952500" y="78486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Zero and empty text are False. Everything else is True.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5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5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conversion that cannot work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50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[7]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50"/>
          <p:cNvSpPr/>
          <p:nvPr/>
        </p:nvSpPr>
        <p:spPr>
          <a:xfrm>
            <a:off x="2228850" y="2727960"/>
            <a:ext cx="15106650" cy="922020"/>
          </a:xfrm>
          <a:prstGeom prst="roundRect">
            <a:avLst>
              <a:gd fmla="val 826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50"/>
          <p:cNvSpPr/>
          <p:nvPr/>
        </p:nvSpPr>
        <p:spPr>
          <a:xfrm>
            <a:off x="2541270" y="3002280"/>
            <a:ext cx="1493501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= int("hello")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50"/>
          <p:cNvSpPr/>
          <p:nvPr/>
        </p:nvSpPr>
        <p:spPr>
          <a:xfrm>
            <a:off x="952500" y="412623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50"/>
          <p:cNvSpPr/>
          <p:nvPr/>
        </p:nvSpPr>
        <p:spPr>
          <a:xfrm>
            <a:off x="2228850" y="387858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50"/>
          <p:cNvSpPr/>
          <p:nvPr/>
        </p:nvSpPr>
        <p:spPr>
          <a:xfrm>
            <a:off x="2533650" y="414528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ValueError: invalid literal for int()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base 10: 'hello'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50"/>
          <p:cNvSpPr/>
          <p:nvPr/>
        </p:nvSpPr>
        <p:spPr>
          <a:xfrm>
            <a:off x="952500" y="568833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int("42") works. int("hello") cannot. The type is right; the content is not.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5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5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Expression, type, result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51"/>
          <p:cNvSpPr/>
          <p:nvPr/>
        </p:nvSpPr>
        <p:spPr>
          <a:xfrm>
            <a:off x="952500" y="272796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51"/>
          <p:cNvSpPr/>
          <p:nvPr/>
        </p:nvSpPr>
        <p:spPr>
          <a:xfrm>
            <a:off x="952500" y="3482340"/>
            <a:ext cx="6762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51"/>
          <p:cNvSpPr/>
          <p:nvPr/>
        </p:nvSpPr>
        <p:spPr>
          <a:xfrm>
            <a:off x="1181100" y="2933700"/>
            <a:ext cx="650843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EXPRESSION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51"/>
          <p:cNvSpPr/>
          <p:nvPr/>
        </p:nvSpPr>
        <p:spPr>
          <a:xfrm>
            <a:off x="7715250" y="3482340"/>
            <a:ext cx="285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51"/>
          <p:cNvSpPr/>
          <p:nvPr/>
        </p:nvSpPr>
        <p:spPr>
          <a:xfrm>
            <a:off x="7943850" y="2933700"/>
            <a:ext cx="248602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 TYPE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51"/>
          <p:cNvSpPr/>
          <p:nvPr/>
        </p:nvSpPr>
        <p:spPr>
          <a:xfrm>
            <a:off x="10572750" y="3482340"/>
            <a:ext cx="6762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51"/>
          <p:cNvSpPr/>
          <p:nvPr/>
        </p:nvSpPr>
        <p:spPr>
          <a:xfrm>
            <a:off x="10801350" y="2933700"/>
            <a:ext cx="650843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VALUE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51"/>
          <p:cNvSpPr/>
          <p:nvPr/>
        </p:nvSpPr>
        <p:spPr>
          <a:xfrm>
            <a:off x="952500" y="4297680"/>
            <a:ext cx="6762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51"/>
          <p:cNvSpPr/>
          <p:nvPr/>
        </p:nvSpPr>
        <p:spPr>
          <a:xfrm>
            <a:off x="1181100" y="3680460"/>
            <a:ext cx="650843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 + 3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51"/>
          <p:cNvSpPr/>
          <p:nvPr/>
        </p:nvSpPr>
        <p:spPr>
          <a:xfrm>
            <a:off x="7715250" y="4297680"/>
            <a:ext cx="285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51"/>
          <p:cNvSpPr/>
          <p:nvPr/>
        </p:nvSpPr>
        <p:spPr>
          <a:xfrm>
            <a:off x="7943850" y="3680460"/>
            <a:ext cx="248602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51"/>
          <p:cNvSpPr/>
          <p:nvPr/>
        </p:nvSpPr>
        <p:spPr>
          <a:xfrm>
            <a:off x="10572750" y="4297680"/>
            <a:ext cx="6762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51"/>
          <p:cNvSpPr/>
          <p:nvPr/>
        </p:nvSpPr>
        <p:spPr>
          <a:xfrm>
            <a:off x="10801350" y="3680460"/>
            <a:ext cx="650843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51"/>
          <p:cNvSpPr/>
          <p:nvPr/>
        </p:nvSpPr>
        <p:spPr>
          <a:xfrm>
            <a:off x="952500" y="5113020"/>
            <a:ext cx="6762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51"/>
          <p:cNvSpPr/>
          <p:nvPr/>
        </p:nvSpPr>
        <p:spPr>
          <a:xfrm>
            <a:off x="1181100" y="4495800"/>
            <a:ext cx="650843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 / 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51"/>
          <p:cNvSpPr/>
          <p:nvPr/>
        </p:nvSpPr>
        <p:spPr>
          <a:xfrm>
            <a:off x="7715250" y="5113020"/>
            <a:ext cx="285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51"/>
          <p:cNvSpPr/>
          <p:nvPr/>
        </p:nvSpPr>
        <p:spPr>
          <a:xfrm>
            <a:off x="7943850" y="4495800"/>
            <a:ext cx="248602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float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51"/>
          <p:cNvSpPr/>
          <p:nvPr/>
        </p:nvSpPr>
        <p:spPr>
          <a:xfrm>
            <a:off x="10572750" y="5113020"/>
            <a:ext cx="6762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51"/>
          <p:cNvSpPr/>
          <p:nvPr/>
        </p:nvSpPr>
        <p:spPr>
          <a:xfrm>
            <a:off x="10801350" y="4495800"/>
            <a:ext cx="650843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2.333…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51"/>
          <p:cNvSpPr/>
          <p:nvPr/>
        </p:nvSpPr>
        <p:spPr>
          <a:xfrm>
            <a:off x="952500" y="5928360"/>
            <a:ext cx="6762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51"/>
          <p:cNvSpPr/>
          <p:nvPr/>
        </p:nvSpPr>
        <p:spPr>
          <a:xfrm>
            <a:off x="1181100" y="5311140"/>
            <a:ext cx="650843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 &gt; 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51"/>
          <p:cNvSpPr/>
          <p:nvPr/>
        </p:nvSpPr>
        <p:spPr>
          <a:xfrm>
            <a:off x="7715250" y="5928360"/>
            <a:ext cx="285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51"/>
          <p:cNvSpPr/>
          <p:nvPr/>
        </p:nvSpPr>
        <p:spPr>
          <a:xfrm>
            <a:off x="7943850" y="5311140"/>
            <a:ext cx="248602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bool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51"/>
          <p:cNvSpPr/>
          <p:nvPr/>
        </p:nvSpPr>
        <p:spPr>
          <a:xfrm>
            <a:off x="10572750" y="5928360"/>
            <a:ext cx="6762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51"/>
          <p:cNvSpPr/>
          <p:nvPr/>
        </p:nvSpPr>
        <p:spPr>
          <a:xfrm>
            <a:off x="10801350" y="5311140"/>
            <a:ext cx="650843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51"/>
          <p:cNvSpPr/>
          <p:nvPr/>
        </p:nvSpPr>
        <p:spPr>
          <a:xfrm>
            <a:off x="952500" y="6743700"/>
            <a:ext cx="6762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51"/>
          <p:cNvSpPr/>
          <p:nvPr/>
        </p:nvSpPr>
        <p:spPr>
          <a:xfrm>
            <a:off x="1181100" y="6126480"/>
            <a:ext cx="650843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"7" + "3"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51"/>
          <p:cNvSpPr/>
          <p:nvPr/>
        </p:nvSpPr>
        <p:spPr>
          <a:xfrm>
            <a:off x="7715250" y="6743700"/>
            <a:ext cx="285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51"/>
          <p:cNvSpPr/>
          <p:nvPr/>
        </p:nvSpPr>
        <p:spPr>
          <a:xfrm>
            <a:off x="7943850" y="6126480"/>
            <a:ext cx="248602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51"/>
          <p:cNvSpPr/>
          <p:nvPr/>
        </p:nvSpPr>
        <p:spPr>
          <a:xfrm>
            <a:off x="10572750" y="6743700"/>
            <a:ext cx="6762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51"/>
          <p:cNvSpPr/>
          <p:nvPr/>
        </p:nvSpPr>
        <p:spPr>
          <a:xfrm>
            <a:off x="10801350" y="6126480"/>
            <a:ext cx="650843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"73"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51"/>
          <p:cNvSpPr/>
          <p:nvPr/>
        </p:nvSpPr>
        <p:spPr>
          <a:xfrm>
            <a:off x="1181100" y="6941820"/>
            <a:ext cx="650843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"7" + 3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51"/>
          <p:cNvSpPr/>
          <p:nvPr/>
        </p:nvSpPr>
        <p:spPr>
          <a:xfrm>
            <a:off x="7943850" y="6941820"/>
            <a:ext cx="248602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TypeError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51"/>
          <p:cNvSpPr/>
          <p:nvPr/>
        </p:nvSpPr>
        <p:spPr>
          <a:xfrm>
            <a:off x="10801350" y="6941820"/>
            <a:ext cx="650843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nothing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5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Mixes Python handles for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52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[8]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52"/>
          <p:cNvSpPr/>
          <p:nvPr/>
        </p:nvSpPr>
        <p:spPr>
          <a:xfrm>
            <a:off x="2228850" y="2727960"/>
            <a:ext cx="15106650" cy="2691765"/>
          </a:xfrm>
          <a:prstGeom prst="roundRect">
            <a:avLst>
              <a:gd fmla="val 283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52"/>
          <p:cNvSpPr/>
          <p:nvPr/>
        </p:nvSpPr>
        <p:spPr>
          <a:xfrm>
            <a:off x="2541270" y="3002280"/>
            <a:ext cx="14935010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False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+ 3.1)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1.3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+ 2)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52"/>
          <p:cNvSpPr/>
          <p:nvPr/>
        </p:nvSpPr>
        <p:spPr>
          <a:xfrm>
            <a:off x="952500" y="58959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52"/>
          <p:cNvSpPr/>
          <p:nvPr/>
        </p:nvSpPr>
        <p:spPr>
          <a:xfrm>
            <a:off x="2228850" y="5648325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52"/>
          <p:cNvSpPr/>
          <p:nvPr/>
        </p:nvSpPr>
        <p:spPr>
          <a:xfrm>
            <a:off x="2533650" y="5915025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52"/>
          <p:cNvSpPr/>
          <p:nvPr/>
        </p:nvSpPr>
        <p:spPr>
          <a:xfrm>
            <a:off x="952500" y="741997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Numbers mix freely. Text never joins the party without str() or int().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QUICK 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5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Which two of these fail?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53"/>
          <p:cNvSpPr/>
          <p:nvPr/>
        </p:nvSpPr>
        <p:spPr>
          <a:xfrm>
            <a:off x="952500" y="2727960"/>
            <a:ext cx="8039100" cy="1051560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53"/>
          <p:cNvSpPr/>
          <p:nvPr/>
        </p:nvSpPr>
        <p:spPr>
          <a:xfrm>
            <a:off x="1283970" y="3021330"/>
            <a:ext cx="7617333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Courier New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"5" * 3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53"/>
          <p:cNvSpPr/>
          <p:nvPr/>
        </p:nvSpPr>
        <p:spPr>
          <a:xfrm>
            <a:off x="9296400" y="2727960"/>
            <a:ext cx="8039100" cy="1051560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53"/>
          <p:cNvSpPr/>
          <p:nvPr/>
        </p:nvSpPr>
        <p:spPr>
          <a:xfrm>
            <a:off x="9627870" y="3021330"/>
            <a:ext cx="7617333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Courier New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"5" * "3"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53"/>
          <p:cNvSpPr/>
          <p:nvPr/>
        </p:nvSpPr>
        <p:spPr>
          <a:xfrm>
            <a:off x="952500" y="4084320"/>
            <a:ext cx="8039100" cy="1051560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53"/>
          <p:cNvSpPr/>
          <p:nvPr/>
        </p:nvSpPr>
        <p:spPr>
          <a:xfrm>
            <a:off x="1283970" y="4377690"/>
            <a:ext cx="7617333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Courier New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5 + True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53"/>
          <p:cNvSpPr/>
          <p:nvPr/>
        </p:nvSpPr>
        <p:spPr>
          <a:xfrm>
            <a:off x="9296400" y="4084320"/>
            <a:ext cx="8039100" cy="1051560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53"/>
          <p:cNvSpPr/>
          <p:nvPr/>
        </p:nvSpPr>
        <p:spPr>
          <a:xfrm>
            <a:off x="9627870" y="4377690"/>
            <a:ext cx="7617333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Courier New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int("3.5")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5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5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54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54"/>
          <p:cNvSpPr/>
          <p:nvPr/>
        </p:nvSpPr>
        <p:spPr>
          <a:xfrm>
            <a:off x="1684139" y="2727960"/>
            <a:ext cx="9853434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 the type of each: 42, 42.0, "42", 42 == 42.0.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54"/>
          <p:cNvSpPr/>
          <p:nvPr/>
        </p:nvSpPr>
        <p:spPr>
          <a:xfrm>
            <a:off x="952500" y="363474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54"/>
          <p:cNvSpPr/>
          <p:nvPr/>
        </p:nvSpPr>
        <p:spPr>
          <a:xfrm>
            <a:off x="1684139" y="3573780"/>
            <a:ext cx="14146197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Store your age as text, then print it plus one. Fix the error you get.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54"/>
          <p:cNvSpPr/>
          <p:nvPr/>
        </p:nvSpPr>
        <p:spPr>
          <a:xfrm>
            <a:off x="952500" y="448056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54"/>
          <p:cNvSpPr/>
          <p:nvPr/>
        </p:nvSpPr>
        <p:spPr>
          <a:xfrm>
            <a:off x="1684139" y="441960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Produce one TypeError and one ValueError on purpose, and explain the difference in a comment.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5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55"/>
          <p:cNvSpPr/>
          <p:nvPr/>
        </p:nvSpPr>
        <p:spPr>
          <a:xfrm>
            <a:off x="952500" y="272796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55"/>
          <p:cNvSpPr/>
          <p:nvPr/>
        </p:nvSpPr>
        <p:spPr>
          <a:xfrm>
            <a:off x="1295400" y="307086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Name the four basic types and check any value with type().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55"/>
          <p:cNvSpPr/>
          <p:nvPr/>
        </p:nvSpPr>
        <p:spPr>
          <a:xfrm>
            <a:off x="9334500" y="272796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55"/>
          <p:cNvSpPr/>
          <p:nvPr/>
        </p:nvSpPr>
        <p:spPr>
          <a:xfrm>
            <a:off x="9677400" y="307086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Predict what + does from the types around it.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55"/>
          <p:cNvSpPr/>
          <p:nvPr/>
        </p:nvSpPr>
        <p:spPr>
          <a:xfrm>
            <a:off x="952500" y="470154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55"/>
          <p:cNvSpPr/>
          <p:nvPr/>
        </p:nvSpPr>
        <p:spPr>
          <a:xfrm>
            <a:off x="1295400" y="504444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Convert with int(), float(), str(), bool().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55"/>
          <p:cNvSpPr/>
          <p:nvPr/>
        </p:nvSpPr>
        <p:spPr>
          <a:xfrm>
            <a:off x="9334500" y="470154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55"/>
          <p:cNvSpPr/>
          <p:nvPr/>
        </p:nvSpPr>
        <p:spPr>
          <a:xfrm>
            <a:off x="9677400" y="504444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Tell a TypeError from a ValueError.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55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class: arithmetic, integer division and the modulus operator.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56"/>
          <p:cNvSpPr/>
          <p:nvPr/>
        </p:nvSpPr>
        <p:spPr>
          <a:xfrm>
            <a:off x="952500" y="3705225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1 · FOUNDATIONS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56"/>
          <p:cNvSpPr/>
          <p:nvPr/>
        </p:nvSpPr>
        <p:spPr>
          <a:xfrm>
            <a:off x="952500" y="4474845"/>
            <a:ext cx="2349055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04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56"/>
          <p:cNvSpPr/>
          <p:nvPr/>
        </p:nvSpPr>
        <p:spPr>
          <a:xfrm>
            <a:off x="3621405" y="5252085"/>
            <a:ext cx="10791825" cy="15582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Arithmetic and the Modulus Operator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5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04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5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57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57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57"/>
          <p:cNvSpPr/>
          <p:nvPr/>
        </p:nvSpPr>
        <p:spPr>
          <a:xfrm>
            <a:off x="1646039" y="2727960"/>
            <a:ext cx="590289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Seven arithmetic operators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57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57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57"/>
          <p:cNvSpPr/>
          <p:nvPr/>
        </p:nvSpPr>
        <p:spPr>
          <a:xfrm>
            <a:off x="1646039" y="3771900"/>
            <a:ext cx="731015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Quotient with //, remainder with 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57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57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57"/>
          <p:cNvSpPr/>
          <p:nvPr/>
        </p:nvSpPr>
        <p:spPr>
          <a:xfrm>
            <a:off x="1646039" y="4815840"/>
            <a:ext cx="425072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Order of operations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57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57"/>
          <p:cNvSpPr/>
          <p:nvPr/>
        </p:nvSpPr>
        <p:spPr>
          <a:xfrm>
            <a:off x="1646039" y="5859780"/>
            <a:ext cx="764019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Taking a number apart digit by digit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REFERENCE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5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Seven operators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58"/>
          <p:cNvSpPr/>
          <p:nvPr/>
        </p:nvSpPr>
        <p:spPr>
          <a:xfrm>
            <a:off x="952500" y="2727960"/>
            <a:ext cx="3867150" cy="1663065"/>
          </a:xfrm>
          <a:prstGeom prst="roundRect">
            <a:avLst>
              <a:gd fmla="val 458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58"/>
          <p:cNvSpPr/>
          <p:nvPr/>
        </p:nvSpPr>
        <p:spPr>
          <a:xfrm>
            <a:off x="1238250" y="3013710"/>
            <a:ext cx="3625215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53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600"/>
              <a:buFont typeface="JetBrains Mono"/>
              <a:buNone/>
            </a:pPr>
            <a:r>
              <a:rPr b="0" i="0" lang="en-US" sz="36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58"/>
          <p:cNvSpPr/>
          <p:nvPr/>
        </p:nvSpPr>
        <p:spPr>
          <a:xfrm>
            <a:off x="1238250" y="3760470"/>
            <a:ext cx="1123355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Addition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58"/>
          <p:cNvSpPr/>
          <p:nvPr/>
        </p:nvSpPr>
        <p:spPr>
          <a:xfrm>
            <a:off x="5124450" y="2727960"/>
            <a:ext cx="3867150" cy="1663065"/>
          </a:xfrm>
          <a:prstGeom prst="roundRect">
            <a:avLst>
              <a:gd fmla="val 458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58"/>
          <p:cNvSpPr/>
          <p:nvPr/>
        </p:nvSpPr>
        <p:spPr>
          <a:xfrm>
            <a:off x="5410200" y="3013710"/>
            <a:ext cx="3625215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53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600"/>
              <a:buFont typeface="JetBrains Mono"/>
              <a:buNone/>
            </a:pPr>
            <a:r>
              <a:rPr b="0" i="0" lang="en-US" sz="36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58"/>
          <p:cNvSpPr/>
          <p:nvPr/>
        </p:nvSpPr>
        <p:spPr>
          <a:xfrm>
            <a:off x="5410200" y="3760470"/>
            <a:ext cx="1547693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Subtraction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58"/>
          <p:cNvSpPr/>
          <p:nvPr/>
        </p:nvSpPr>
        <p:spPr>
          <a:xfrm>
            <a:off x="9296400" y="2727960"/>
            <a:ext cx="3867150" cy="1663065"/>
          </a:xfrm>
          <a:prstGeom prst="roundRect">
            <a:avLst>
              <a:gd fmla="val 458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58"/>
          <p:cNvSpPr/>
          <p:nvPr/>
        </p:nvSpPr>
        <p:spPr>
          <a:xfrm>
            <a:off x="9582150" y="3013710"/>
            <a:ext cx="3625215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53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600"/>
              <a:buFont typeface="JetBrains Mono"/>
              <a:buNone/>
            </a:pPr>
            <a:r>
              <a:rPr b="0" i="0" lang="en-US" sz="36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58"/>
          <p:cNvSpPr/>
          <p:nvPr/>
        </p:nvSpPr>
        <p:spPr>
          <a:xfrm>
            <a:off x="9582150" y="3760470"/>
            <a:ext cx="1782604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Multiplication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58"/>
          <p:cNvSpPr/>
          <p:nvPr/>
        </p:nvSpPr>
        <p:spPr>
          <a:xfrm>
            <a:off x="13468350" y="2727960"/>
            <a:ext cx="3867150" cy="1663065"/>
          </a:xfrm>
          <a:prstGeom prst="roundRect">
            <a:avLst>
              <a:gd fmla="val 458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58"/>
          <p:cNvSpPr/>
          <p:nvPr/>
        </p:nvSpPr>
        <p:spPr>
          <a:xfrm>
            <a:off x="13754100" y="3013710"/>
            <a:ext cx="3625215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53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600"/>
              <a:buFont typeface="JetBrains Mono"/>
              <a:buNone/>
            </a:pPr>
            <a:r>
              <a:rPr b="0" i="0" lang="en-US" sz="36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58"/>
          <p:cNvSpPr/>
          <p:nvPr/>
        </p:nvSpPr>
        <p:spPr>
          <a:xfrm>
            <a:off x="13754100" y="3760470"/>
            <a:ext cx="2910359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Division, always a float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58"/>
          <p:cNvSpPr/>
          <p:nvPr/>
        </p:nvSpPr>
        <p:spPr>
          <a:xfrm>
            <a:off x="952500" y="4695825"/>
            <a:ext cx="3867150" cy="2053590"/>
          </a:xfrm>
          <a:prstGeom prst="roundRect">
            <a:avLst>
              <a:gd fmla="val 3711" name="adj"/>
            </a:avLst>
          </a:prstGeom>
          <a:solidFill>
            <a:srgbClr val="FFFFFF"/>
          </a:solidFill>
          <a:ln cap="flat" cmpd="sng" w="15225">
            <a:solidFill>
              <a:srgbClr val="7A2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58"/>
          <p:cNvSpPr/>
          <p:nvPr/>
        </p:nvSpPr>
        <p:spPr>
          <a:xfrm>
            <a:off x="1253490" y="4996815"/>
            <a:ext cx="3591687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532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3600"/>
              <a:buFont typeface="JetBrains Mono"/>
              <a:buNone/>
            </a:pPr>
            <a:r>
              <a:rPr b="0" i="0" lang="en-US" sz="36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58"/>
          <p:cNvSpPr/>
          <p:nvPr/>
        </p:nvSpPr>
        <p:spPr>
          <a:xfrm>
            <a:off x="1253490" y="5743575"/>
            <a:ext cx="2255401" cy="718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Quotient, decimal dropped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58"/>
          <p:cNvSpPr/>
          <p:nvPr/>
        </p:nvSpPr>
        <p:spPr>
          <a:xfrm>
            <a:off x="5124450" y="4695825"/>
            <a:ext cx="3867150" cy="2053590"/>
          </a:xfrm>
          <a:prstGeom prst="roundRect">
            <a:avLst>
              <a:gd fmla="val 3711" name="adj"/>
            </a:avLst>
          </a:prstGeom>
          <a:solidFill>
            <a:srgbClr val="FFFFFF"/>
          </a:solidFill>
          <a:ln cap="flat" cmpd="sng" w="15225">
            <a:solidFill>
              <a:srgbClr val="7A2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58"/>
          <p:cNvSpPr/>
          <p:nvPr/>
        </p:nvSpPr>
        <p:spPr>
          <a:xfrm>
            <a:off x="5425440" y="4996815"/>
            <a:ext cx="3591687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532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3600"/>
              <a:buFont typeface="JetBrains Mono"/>
              <a:buNone/>
            </a:pPr>
            <a:r>
              <a:rPr b="0" i="0" lang="en-US" sz="36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58"/>
          <p:cNvSpPr/>
          <p:nvPr/>
        </p:nvSpPr>
        <p:spPr>
          <a:xfrm>
            <a:off x="5425440" y="5743575"/>
            <a:ext cx="1431845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Remainder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58"/>
          <p:cNvSpPr/>
          <p:nvPr/>
        </p:nvSpPr>
        <p:spPr>
          <a:xfrm>
            <a:off x="9296400" y="4695825"/>
            <a:ext cx="3867150" cy="2053590"/>
          </a:xfrm>
          <a:prstGeom prst="roundRect">
            <a:avLst>
              <a:gd fmla="val 3711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58"/>
          <p:cNvSpPr/>
          <p:nvPr/>
        </p:nvSpPr>
        <p:spPr>
          <a:xfrm>
            <a:off x="9582150" y="4981575"/>
            <a:ext cx="3625215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53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600"/>
              <a:buFont typeface="JetBrains Mono"/>
              <a:buNone/>
            </a:pPr>
            <a:r>
              <a:rPr b="0" i="0" lang="en-US" sz="36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**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58"/>
          <p:cNvSpPr/>
          <p:nvPr/>
        </p:nvSpPr>
        <p:spPr>
          <a:xfrm>
            <a:off x="9582150" y="5728335"/>
            <a:ext cx="872728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Power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58"/>
          <p:cNvSpPr/>
          <p:nvPr/>
        </p:nvSpPr>
        <p:spPr>
          <a:xfrm>
            <a:off x="13468350" y="4695825"/>
            <a:ext cx="3867150" cy="2053590"/>
          </a:xfrm>
          <a:prstGeom prst="roundRect">
            <a:avLst>
              <a:gd fmla="val 3711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58"/>
          <p:cNvSpPr/>
          <p:nvPr/>
        </p:nvSpPr>
        <p:spPr>
          <a:xfrm>
            <a:off x="13754100" y="4981575"/>
            <a:ext cx="3625215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53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600"/>
              <a:buFont typeface="JetBrains Mono"/>
              <a:buNone/>
            </a:pPr>
            <a:r>
              <a:rPr b="0" i="0" lang="en-US" sz="36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 )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58"/>
          <p:cNvSpPr/>
          <p:nvPr/>
        </p:nvSpPr>
        <p:spPr>
          <a:xfrm>
            <a:off x="13754100" y="5728335"/>
            <a:ext cx="2012752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Force the order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5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5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Seven results from two numbers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59"/>
          <p:cNvSpPr/>
          <p:nvPr/>
        </p:nvSpPr>
        <p:spPr>
          <a:xfrm>
            <a:off x="952500" y="2727960"/>
            <a:ext cx="7943850" cy="4663440"/>
          </a:xfrm>
          <a:prstGeom prst="roundRect">
            <a:avLst>
              <a:gd fmla="val 163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59"/>
          <p:cNvSpPr/>
          <p:nvPr/>
        </p:nvSpPr>
        <p:spPr>
          <a:xfrm>
            <a:off x="1264920" y="3002280"/>
            <a:ext cx="7557325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= 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+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-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*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/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//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%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**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59"/>
          <p:cNvSpPr/>
          <p:nvPr/>
        </p:nvSpPr>
        <p:spPr>
          <a:xfrm>
            <a:off x="9391650" y="2727960"/>
            <a:ext cx="7943850" cy="4663440"/>
          </a:xfrm>
          <a:prstGeom prst="roundRect">
            <a:avLst>
              <a:gd fmla="val 163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59"/>
          <p:cNvSpPr/>
          <p:nvPr/>
        </p:nvSpPr>
        <p:spPr>
          <a:xfrm>
            <a:off x="9696450" y="2994660"/>
            <a:ext cx="7572566" cy="416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2.3333333333333335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343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6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6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// and % split one division in two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60"/>
          <p:cNvSpPr/>
          <p:nvPr/>
        </p:nvSpPr>
        <p:spPr>
          <a:xfrm>
            <a:off x="952500" y="2727960"/>
            <a:ext cx="7905750" cy="2857500"/>
          </a:xfrm>
          <a:prstGeom prst="roundRect">
            <a:avLst>
              <a:gd fmla="val 2667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60"/>
          <p:cNvSpPr/>
          <p:nvPr/>
        </p:nvSpPr>
        <p:spPr>
          <a:xfrm>
            <a:off x="1333500" y="3070860"/>
            <a:ext cx="7380923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91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JetBrains Mono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3 ) 7 ( 2   ← 7 // 3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91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JetBrains Mono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6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91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JetBrains Mono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-----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91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JetBrains Mono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1       ← 7 % 3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60"/>
          <p:cNvSpPr/>
          <p:nvPr/>
        </p:nvSpPr>
        <p:spPr>
          <a:xfrm>
            <a:off x="9429750" y="3202305"/>
            <a:ext cx="8696325" cy="499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 // 3 </a:t>
            </a: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is how many whole 3s fit into 7. Two.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60"/>
          <p:cNvSpPr/>
          <p:nvPr/>
        </p:nvSpPr>
        <p:spPr>
          <a:xfrm>
            <a:off x="9429750" y="3930015"/>
            <a:ext cx="8696325" cy="499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7 % 3 </a:t>
            </a: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is what is left over after those two. One.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60"/>
          <p:cNvSpPr/>
          <p:nvPr/>
        </p:nvSpPr>
        <p:spPr>
          <a:xfrm>
            <a:off x="9429750" y="4657725"/>
            <a:ext cx="8696325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Together they rebuild the original: 3 × 2 + 1 = 7.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61"/>
          <p:cNvSpPr/>
          <p:nvPr/>
        </p:nvSpPr>
        <p:spPr>
          <a:xfrm>
            <a:off x="952500" y="3522345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MOST USEFUL LINE IN THE COURSE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61"/>
          <p:cNvSpPr/>
          <p:nvPr/>
        </p:nvSpPr>
        <p:spPr>
          <a:xfrm>
            <a:off x="952500" y="4299585"/>
            <a:ext cx="1687449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6600"/>
              <a:buFont typeface="JetBrains Mono"/>
              <a:buNone/>
            </a:pPr>
            <a:r>
              <a:rPr b="1" i="0" lang="en-US" sz="660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% 2 == 0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61"/>
          <p:cNvSpPr/>
          <p:nvPr/>
        </p:nvSpPr>
        <p:spPr>
          <a:xfrm>
            <a:off x="952500" y="5823585"/>
            <a:ext cx="13735050" cy="11696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True when a is even. Change the 2 and you can test for a multiple of anything.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6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6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Testing divisibility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62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62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62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50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% 2 == 0)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% 3 == 0)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% 5 == 0)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62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62"/>
          <p:cNvSpPr/>
          <p:nvPr/>
        </p:nvSpPr>
        <p:spPr>
          <a:xfrm>
            <a:off x="2228850" y="5219700"/>
            <a:ext cx="15106650" cy="1819275"/>
          </a:xfrm>
          <a:prstGeom prst="roundRect">
            <a:avLst>
              <a:gd fmla="val 418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62"/>
          <p:cNvSpPr/>
          <p:nvPr/>
        </p:nvSpPr>
        <p:spPr>
          <a:xfrm>
            <a:off x="2533650" y="5486400"/>
            <a:ext cx="14950249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6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TECHNIQUE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6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Taking a number apart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63"/>
          <p:cNvSpPr/>
          <p:nvPr/>
        </p:nvSpPr>
        <p:spPr>
          <a:xfrm>
            <a:off x="952500" y="2727960"/>
            <a:ext cx="8696325" cy="499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 % 10 </a:t>
            </a: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gives the last digit.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63"/>
          <p:cNvSpPr/>
          <p:nvPr/>
        </p:nvSpPr>
        <p:spPr>
          <a:xfrm>
            <a:off x="952500" y="3455670"/>
            <a:ext cx="8696325" cy="499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 // 10 </a:t>
            </a: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gives everything except the last digit.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63"/>
          <p:cNvSpPr/>
          <p:nvPr/>
        </p:nvSpPr>
        <p:spPr>
          <a:xfrm>
            <a:off x="952500" y="4183380"/>
            <a:ext cx="8142923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Repeat until nothing is left, and you have visited every digit.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63"/>
          <p:cNvSpPr/>
          <p:nvPr/>
        </p:nvSpPr>
        <p:spPr>
          <a:xfrm>
            <a:off x="9429750" y="2727960"/>
            <a:ext cx="7905750" cy="1920240"/>
          </a:xfrm>
          <a:prstGeom prst="roundRect">
            <a:avLst>
              <a:gd fmla="val 396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63"/>
          <p:cNvSpPr/>
          <p:nvPr/>
        </p:nvSpPr>
        <p:spPr>
          <a:xfrm>
            <a:off x="9742170" y="3002280"/>
            <a:ext cx="7518083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 = 452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print(n % 10)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print(n // 10)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6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6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Peeling the digits off 4522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64"/>
          <p:cNvSpPr/>
          <p:nvPr/>
        </p:nvSpPr>
        <p:spPr>
          <a:xfrm>
            <a:off x="952500" y="272796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64"/>
          <p:cNvSpPr/>
          <p:nvPr/>
        </p:nvSpPr>
        <p:spPr>
          <a:xfrm>
            <a:off x="952500" y="348234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64"/>
          <p:cNvSpPr/>
          <p:nvPr/>
        </p:nvSpPr>
        <p:spPr>
          <a:xfrm>
            <a:off x="1181100" y="2933700"/>
            <a:ext cx="5167548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64"/>
          <p:cNvSpPr/>
          <p:nvPr/>
        </p:nvSpPr>
        <p:spPr>
          <a:xfrm>
            <a:off x="6413421" y="348234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64"/>
          <p:cNvSpPr/>
          <p:nvPr/>
        </p:nvSpPr>
        <p:spPr>
          <a:xfrm>
            <a:off x="6642021" y="2933700"/>
            <a:ext cx="516767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 % 10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64"/>
          <p:cNvSpPr/>
          <p:nvPr/>
        </p:nvSpPr>
        <p:spPr>
          <a:xfrm>
            <a:off x="11874460" y="348234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64"/>
          <p:cNvSpPr/>
          <p:nvPr/>
        </p:nvSpPr>
        <p:spPr>
          <a:xfrm>
            <a:off x="12103060" y="2933700"/>
            <a:ext cx="516767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 // 10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64"/>
          <p:cNvSpPr/>
          <p:nvPr/>
        </p:nvSpPr>
        <p:spPr>
          <a:xfrm>
            <a:off x="952500" y="429768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64"/>
          <p:cNvSpPr/>
          <p:nvPr/>
        </p:nvSpPr>
        <p:spPr>
          <a:xfrm>
            <a:off x="1181100" y="368046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4522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64"/>
          <p:cNvSpPr/>
          <p:nvPr/>
        </p:nvSpPr>
        <p:spPr>
          <a:xfrm>
            <a:off x="6413421" y="429768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64"/>
          <p:cNvSpPr/>
          <p:nvPr/>
        </p:nvSpPr>
        <p:spPr>
          <a:xfrm>
            <a:off x="6642021" y="368046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64"/>
          <p:cNvSpPr/>
          <p:nvPr/>
        </p:nvSpPr>
        <p:spPr>
          <a:xfrm>
            <a:off x="11874460" y="429768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64"/>
          <p:cNvSpPr/>
          <p:nvPr/>
        </p:nvSpPr>
        <p:spPr>
          <a:xfrm>
            <a:off x="12103060" y="368046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452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64"/>
          <p:cNvSpPr/>
          <p:nvPr/>
        </p:nvSpPr>
        <p:spPr>
          <a:xfrm>
            <a:off x="952500" y="511302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64"/>
          <p:cNvSpPr/>
          <p:nvPr/>
        </p:nvSpPr>
        <p:spPr>
          <a:xfrm>
            <a:off x="1181100" y="449580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452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64"/>
          <p:cNvSpPr/>
          <p:nvPr/>
        </p:nvSpPr>
        <p:spPr>
          <a:xfrm>
            <a:off x="6413421" y="511302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64"/>
          <p:cNvSpPr/>
          <p:nvPr/>
        </p:nvSpPr>
        <p:spPr>
          <a:xfrm>
            <a:off x="6642021" y="449580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64"/>
          <p:cNvSpPr/>
          <p:nvPr/>
        </p:nvSpPr>
        <p:spPr>
          <a:xfrm>
            <a:off x="11874460" y="511302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64"/>
          <p:cNvSpPr/>
          <p:nvPr/>
        </p:nvSpPr>
        <p:spPr>
          <a:xfrm>
            <a:off x="12103060" y="449580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45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64"/>
          <p:cNvSpPr/>
          <p:nvPr/>
        </p:nvSpPr>
        <p:spPr>
          <a:xfrm>
            <a:off x="952500" y="592836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64"/>
          <p:cNvSpPr/>
          <p:nvPr/>
        </p:nvSpPr>
        <p:spPr>
          <a:xfrm>
            <a:off x="1181100" y="531114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45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64"/>
          <p:cNvSpPr/>
          <p:nvPr/>
        </p:nvSpPr>
        <p:spPr>
          <a:xfrm>
            <a:off x="6413421" y="592836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64"/>
          <p:cNvSpPr/>
          <p:nvPr/>
        </p:nvSpPr>
        <p:spPr>
          <a:xfrm>
            <a:off x="6642021" y="531114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64"/>
          <p:cNvSpPr/>
          <p:nvPr/>
        </p:nvSpPr>
        <p:spPr>
          <a:xfrm>
            <a:off x="11874460" y="592836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64"/>
          <p:cNvSpPr/>
          <p:nvPr/>
        </p:nvSpPr>
        <p:spPr>
          <a:xfrm>
            <a:off x="12103060" y="531114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64"/>
          <p:cNvSpPr/>
          <p:nvPr/>
        </p:nvSpPr>
        <p:spPr>
          <a:xfrm>
            <a:off x="952500" y="674370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64"/>
          <p:cNvSpPr/>
          <p:nvPr/>
        </p:nvSpPr>
        <p:spPr>
          <a:xfrm>
            <a:off x="1181100" y="612648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64"/>
          <p:cNvSpPr/>
          <p:nvPr/>
        </p:nvSpPr>
        <p:spPr>
          <a:xfrm>
            <a:off x="6413421" y="674370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64"/>
          <p:cNvSpPr/>
          <p:nvPr/>
        </p:nvSpPr>
        <p:spPr>
          <a:xfrm>
            <a:off x="6642021" y="612648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64"/>
          <p:cNvSpPr/>
          <p:nvPr/>
        </p:nvSpPr>
        <p:spPr>
          <a:xfrm>
            <a:off x="11874460" y="674370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64"/>
          <p:cNvSpPr/>
          <p:nvPr/>
        </p:nvSpPr>
        <p:spPr>
          <a:xfrm>
            <a:off x="12103060" y="612648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64"/>
          <p:cNvSpPr/>
          <p:nvPr/>
        </p:nvSpPr>
        <p:spPr>
          <a:xfrm>
            <a:off x="1181100" y="694182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64"/>
          <p:cNvSpPr/>
          <p:nvPr/>
        </p:nvSpPr>
        <p:spPr>
          <a:xfrm>
            <a:off x="6642021" y="694182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stop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64"/>
          <p:cNvSpPr/>
          <p:nvPr/>
        </p:nvSpPr>
        <p:spPr>
          <a:xfrm>
            <a:off x="12103060" y="694182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—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6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6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same operators on floats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65"/>
          <p:cNvSpPr/>
          <p:nvPr/>
        </p:nvSpPr>
        <p:spPr>
          <a:xfrm>
            <a:off x="952500" y="2727960"/>
            <a:ext cx="7943850" cy="2834640"/>
          </a:xfrm>
          <a:prstGeom prst="roundRect">
            <a:avLst>
              <a:gd fmla="val 268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65"/>
          <p:cNvSpPr/>
          <p:nvPr/>
        </p:nvSpPr>
        <p:spPr>
          <a:xfrm>
            <a:off x="1264920" y="3002280"/>
            <a:ext cx="7557325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7.1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= 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/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//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%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65"/>
          <p:cNvSpPr/>
          <p:nvPr/>
        </p:nvSpPr>
        <p:spPr>
          <a:xfrm>
            <a:off x="9391650" y="2727960"/>
            <a:ext cx="7943850" cy="2834640"/>
          </a:xfrm>
          <a:prstGeom prst="roundRect">
            <a:avLst>
              <a:gd fmla="val 268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65"/>
          <p:cNvSpPr/>
          <p:nvPr/>
        </p:nvSpPr>
        <p:spPr>
          <a:xfrm>
            <a:off x="9696450" y="2994660"/>
            <a:ext cx="7572566" cy="2339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2.3666666666666667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1.0999999999999996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65"/>
          <p:cNvSpPr/>
          <p:nvPr/>
        </p:nvSpPr>
        <p:spPr>
          <a:xfrm>
            <a:off x="952500" y="60198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Note 2.0, not 2. Once a float enters the calculation, the result stays a float.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6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RULES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6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Order of operations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66"/>
          <p:cNvSpPr/>
          <p:nvPr/>
        </p:nvSpPr>
        <p:spPr>
          <a:xfrm>
            <a:off x="952500" y="3550920"/>
            <a:ext cx="1428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66"/>
          <p:cNvSpPr/>
          <p:nvPr/>
        </p:nvSpPr>
        <p:spPr>
          <a:xfrm>
            <a:off x="952500" y="288036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66"/>
          <p:cNvSpPr/>
          <p:nvPr/>
        </p:nvSpPr>
        <p:spPr>
          <a:xfrm>
            <a:off x="1615559" y="2727960"/>
            <a:ext cx="1833039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 ) </a:t>
            </a: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first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66"/>
          <p:cNvSpPr/>
          <p:nvPr/>
        </p:nvSpPr>
        <p:spPr>
          <a:xfrm>
            <a:off x="952500" y="4648200"/>
            <a:ext cx="1428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66"/>
          <p:cNvSpPr/>
          <p:nvPr/>
        </p:nvSpPr>
        <p:spPr>
          <a:xfrm>
            <a:off x="952500" y="397764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66"/>
          <p:cNvSpPr/>
          <p:nvPr/>
        </p:nvSpPr>
        <p:spPr>
          <a:xfrm>
            <a:off x="1615559" y="3825240"/>
            <a:ext cx="1618643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** </a:t>
            </a: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66"/>
          <p:cNvSpPr/>
          <p:nvPr/>
        </p:nvSpPr>
        <p:spPr>
          <a:xfrm>
            <a:off x="952500" y="5745480"/>
            <a:ext cx="1428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66"/>
          <p:cNvSpPr/>
          <p:nvPr/>
        </p:nvSpPr>
        <p:spPr>
          <a:xfrm>
            <a:off x="952500" y="507492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66"/>
          <p:cNvSpPr/>
          <p:nvPr/>
        </p:nvSpPr>
        <p:spPr>
          <a:xfrm>
            <a:off x="1615559" y="4922520"/>
            <a:ext cx="4744343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/ // % </a:t>
            </a: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left to right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66"/>
          <p:cNvSpPr/>
          <p:nvPr/>
        </p:nvSpPr>
        <p:spPr>
          <a:xfrm>
            <a:off x="952500" y="617220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66"/>
          <p:cNvSpPr/>
          <p:nvPr/>
        </p:nvSpPr>
        <p:spPr>
          <a:xfrm>
            <a:off x="1615559" y="6019800"/>
            <a:ext cx="173350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- </a:t>
            </a: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last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66"/>
          <p:cNvSpPr/>
          <p:nvPr/>
        </p:nvSpPr>
        <p:spPr>
          <a:xfrm>
            <a:off x="952500" y="7071360"/>
            <a:ext cx="16383000" cy="1447800"/>
          </a:xfrm>
          <a:prstGeom prst="roundRect">
            <a:avLst>
              <a:gd fmla="val 526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66"/>
          <p:cNvSpPr/>
          <p:nvPr/>
        </p:nvSpPr>
        <p:spPr>
          <a:xfrm>
            <a:off x="1257300" y="7338060"/>
            <a:ext cx="1626489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 + 3 * 4      # 14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(2 + 3) * 4    # 20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6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6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Dividing by zero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67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67"/>
          <p:cNvSpPr/>
          <p:nvPr/>
        </p:nvSpPr>
        <p:spPr>
          <a:xfrm>
            <a:off x="2228850" y="2727960"/>
            <a:ext cx="15106650" cy="922020"/>
          </a:xfrm>
          <a:prstGeom prst="roundRect">
            <a:avLst>
              <a:gd fmla="val 826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67"/>
          <p:cNvSpPr/>
          <p:nvPr/>
        </p:nvSpPr>
        <p:spPr>
          <a:xfrm>
            <a:off x="2541270" y="3002280"/>
            <a:ext cx="1493501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= 10 /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67"/>
          <p:cNvSpPr/>
          <p:nvPr/>
        </p:nvSpPr>
        <p:spPr>
          <a:xfrm>
            <a:off x="952500" y="412623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67"/>
          <p:cNvSpPr/>
          <p:nvPr/>
        </p:nvSpPr>
        <p:spPr>
          <a:xfrm>
            <a:off x="2228850" y="3878580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67"/>
          <p:cNvSpPr/>
          <p:nvPr/>
        </p:nvSpPr>
        <p:spPr>
          <a:xfrm>
            <a:off x="2533650" y="4145280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ZeroDivisionError: division by zero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67"/>
          <p:cNvSpPr/>
          <p:nvPr/>
        </p:nvSpPr>
        <p:spPr>
          <a:xfrm>
            <a:off x="952500" y="520446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This one is not a typing mistake. It depends on the value, so it can appear months after you write the line.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6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APPLICATION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6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Where // and % show up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68"/>
          <p:cNvSpPr/>
          <p:nvPr/>
        </p:nvSpPr>
        <p:spPr>
          <a:xfrm>
            <a:off x="952500" y="2727960"/>
            <a:ext cx="5181600" cy="2034540"/>
          </a:xfrm>
          <a:prstGeom prst="roundRect">
            <a:avLst>
              <a:gd fmla="val 374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68"/>
          <p:cNvSpPr/>
          <p:nvPr/>
        </p:nvSpPr>
        <p:spPr>
          <a:xfrm>
            <a:off x="1295400" y="3070860"/>
            <a:ext cx="494538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Time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68"/>
          <p:cNvSpPr/>
          <p:nvPr/>
        </p:nvSpPr>
        <p:spPr>
          <a:xfrm>
            <a:off x="1295400" y="3665220"/>
            <a:ext cx="158432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200 // 60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68"/>
          <p:cNvSpPr/>
          <p:nvPr/>
        </p:nvSpPr>
        <p:spPr>
          <a:xfrm>
            <a:off x="2803327" y="3695700"/>
            <a:ext cx="1128713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minutes,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68"/>
          <p:cNvSpPr/>
          <p:nvPr/>
        </p:nvSpPr>
        <p:spPr>
          <a:xfrm>
            <a:off x="3923586" y="3665220"/>
            <a:ext cx="140830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200 % 60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68"/>
          <p:cNvSpPr/>
          <p:nvPr/>
        </p:nvSpPr>
        <p:spPr>
          <a:xfrm>
            <a:off x="1295400" y="4069080"/>
            <a:ext cx="1188244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seconds.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68"/>
          <p:cNvSpPr/>
          <p:nvPr/>
        </p:nvSpPr>
        <p:spPr>
          <a:xfrm>
            <a:off x="6553200" y="2727960"/>
            <a:ext cx="5181600" cy="2034540"/>
          </a:xfrm>
          <a:prstGeom prst="roundRect">
            <a:avLst>
              <a:gd fmla="val 374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68"/>
          <p:cNvSpPr/>
          <p:nvPr/>
        </p:nvSpPr>
        <p:spPr>
          <a:xfrm>
            <a:off x="6896100" y="3070860"/>
            <a:ext cx="494538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Pages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68"/>
          <p:cNvSpPr/>
          <p:nvPr/>
        </p:nvSpPr>
        <p:spPr>
          <a:xfrm>
            <a:off x="6896100" y="3695700"/>
            <a:ext cx="2708626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47 items, 10 per page: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68"/>
          <p:cNvSpPr/>
          <p:nvPr/>
        </p:nvSpPr>
        <p:spPr>
          <a:xfrm>
            <a:off x="9593580" y="3665220"/>
            <a:ext cx="140830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47 // 10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68"/>
          <p:cNvSpPr/>
          <p:nvPr/>
        </p:nvSpPr>
        <p:spPr>
          <a:xfrm>
            <a:off x="6896100" y="3695700"/>
            <a:ext cx="456604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full pages and a remainder.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68"/>
          <p:cNvSpPr/>
          <p:nvPr/>
        </p:nvSpPr>
        <p:spPr>
          <a:xfrm>
            <a:off x="12153900" y="2727960"/>
            <a:ext cx="5181600" cy="2034540"/>
          </a:xfrm>
          <a:prstGeom prst="roundRect">
            <a:avLst>
              <a:gd fmla="val 374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68"/>
          <p:cNvSpPr/>
          <p:nvPr/>
        </p:nvSpPr>
        <p:spPr>
          <a:xfrm>
            <a:off x="12496800" y="3070860"/>
            <a:ext cx="494538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Alternating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68"/>
          <p:cNvSpPr/>
          <p:nvPr/>
        </p:nvSpPr>
        <p:spPr>
          <a:xfrm>
            <a:off x="12496800" y="3665220"/>
            <a:ext cx="87641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 % 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68"/>
          <p:cNvSpPr/>
          <p:nvPr/>
        </p:nvSpPr>
        <p:spPr>
          <a:xfrm>
            <a:off x="13364647" y="3695700"/>
            <a:ext cx="3502192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gives 0, 1, 0, 1 as i counts up.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6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QUICK 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6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Predict the four results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69"/>
          <p:cNvSpPr/>
          <p:nvPr/>
        </p:nvSpPr>
        <p:spPr>
          <a:xfrm>
            <a:off x="952500" y="2727960"/>
            <a:ext cx="8039100" cy="1051560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69"/>
          <p:cNvSpPr/>
          <p:nvPr/>
        </p:nvSpPr>
        <p:spPr>
          <a:xfrm>
            <a:off x="1283970" y="3021330"/>
            <a:ext cx="7617333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Courier New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9 // 2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69"/>
          <p:cNvSpPr/>
          <p:nvPr/>
        </p:nvSpPr>
        <p:spPr>
          <a:xfrm>
            <a:off x="9296400" y="2727960"/>
            <a:ext cx="8039100" cy="1051560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69"/>
          <p:cNvSpPr/>
          <p:nvPr/>
        </p:nvSpPr>
        <p:spPr>
          <a:xfrm>
            <a:off x="9627870" y="3021330"/>
            <a:ext cx="7617333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Courier New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9 % 2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69"/>
          <p:cNvSpPr/>
          <p:nvPr/>
        </p:nvSpPr>
        <p:spPr>
          <a:xfrm>
            <a:off x="952500" y="4084320"/>
            <a:ext cx="8039100" cy="1051560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69"/>
          <p:cNvSpPr/>
          <p:nvPr/>
        </p:nvSpPr>
        <p:spPr>
          <a:xfrm>
            <a:off x="1283970" y="4377690"/>
            <a:ext cx="7617333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Courier New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2 ** 10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69"/>
          <p:cNvSpPr/>
          <p:nvPr/>
        </p:nvSpPr>
        <p:spPr>
          <a:xfrm>
            <a:off x="9296400" y="4084320"/>
            <a:ext cx="8039100" cy="1051560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69"/>
          <p:cNvSpPr/>
          <p:nvPr/>
        </p:nvSpPr>
        <p:spPr>
          <a:xfrm>
            <a:off x="9627870" y="4377690"/>
            <a:ext cx="7617333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Courier New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-7 // 2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7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7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70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70"/>
          <p:cNvSpPr/>
          <p:nvPr/>
        </p:nvSpPr>
        <p:spPr>
          <a:xfrm>
            <a:off x="1684139" y="272796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Convert 3745 seconds into hours, minutes and seconds using only // and %.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70"/>
          <p:cNvSpPr/>
          <p:nvPr/>
        </p:nvSpPr>
        <p:spPr>
          <a:xfrm>
            <a:off x="952500" y="413766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70"/>
          <p:cNvSpPr/>
          <p:nvPr/>
        </p:nvSpPr>
        <p:spPr>
          <a:xfrm>
            <a:off x="1684139" y="407670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Given a three-digit number, print its hundreds, tens and units digits separately.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70"/>
          <p:cNvSpPr/>
          <p:nvPr/>
        </p:nvSpPr>
        <p:spPr>
          <a:xfrm>
            <a:off x="952500" y="548640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70"/>
          <p:cNvSpPr/>
          <p:nvPr/>
        </p:nvSpPr>
        <p:spPr>
          <a:xfrm>
            <a:off x="1684139" y="5425440"/>
            <a:ext cx="1434841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 True or False for whether 2027 is divisible by 3, by 7, and by 11.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7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7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71"/>
          <p:cNvSpPr/>
          <p:nvPr/>
        </p:nvSpPr>
        <p:spPr>
          <a:xfrm>
            <a:off x="952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71"/>
          <p:cNvSpPr/>
          <p:nvPr/>
        </p:nvSpPr>
        <p:spPr>
          <a:xfrm>
            <a:off x="1295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Use all seven arithmetic operators correctly.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71"/>
          <p:cNvSpPr/>
          <p:nvPr/>
        </p:nvSpPr>
        <p:spPr>
          <a:xfrm>
            <a:off x="9334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71"/>
          <p:cNvSpPr/>
          <p:nvPr/>
        </p:nvSpPr>
        <p:spPr>
          <a:xfrm>
            <a:off x="9677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Explain the difference between /, // and %.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71"/>
          <p:cNvSpPr/>
          <p:nvPr/>
        </p:nvSpPr>
        <p:spPr>
          <a:xfrm>
            <a:off x="952500" y="424815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71"/>
          <p:cNvSpPr/>
          <p:nvPr/>
        </p:nvSpPr>
        <p:spPr>
          <a:xfrm>
            <a:off x="1295400" y="459105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Test whether one number divides another.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71"/>
          <p:cNvSpPr/>
          <p:nvPr/>
        </p:nvSpPr>
        <p:spPr>
          <a:xfrm>
            <a:off x="9334500" y="424815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71"/>
          <p:cNvSpPr/>
          <p:nvPr/>
        </p:nvSpPr>
        <p:spPr>
          <a:xfrm>
            <a:off x="9677400" y="459105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Pull individual digits out of a number.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71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class: input, output and casting.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72"/>
          <p:cNvSpPr/>
          <p:nvPr/>
        </p:nvSpPr>
        <p:spPr>
          <a:xfrm>
            <a:off x="952500" y="4085272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1 · FOUNDATIONS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72"/>
          <p:cNvSpPr/>
          <p:nvPr/>
        </p:nvSpPr>
        <p:spPr>
          <a:xfrm>
            <a:off x="952500" y="4854893"/>
            <a:ext cx="2256854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05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72"/>
          <p:cNvSpPr/>
          <p:nvPr/>
        </p:nvSpPr>
        <p:spPr>
          <a:xfrm>
            <a:off x="3537585" y="5632132"/>
            <a:ext cx="9696010" cy="79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Input, Output, and Casting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7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05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7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73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73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73"/>
          <p:cNvSpPr/>
          <p:nvPr/>
        </p:nvSpPr>
        <p:spPr>
          <a:xfrm>
            <a:off x="1646039" y="2727960"/>
            <a:ext cx="645034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Reading a value from the user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73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73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73"/>
          <p:cNvSpPr/>
          <p:nvPr/>
        </p:nvSpPr>
        <p:spPr>
          <a:xfrm>
            <a:off x="1646039" y="3771900"/>
            <a:ext cx="649356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Why input always returns text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73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73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73"/>
          <p:cNvSpPr/>
          <p:nvPr/>
        </p:nvSpPr>
        <p:spPr>
          <a:xfrm>
            <a:off x="1646039" y="4815840"/>
            <a:ext cx="5980426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Casting with int() and float()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73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73"/>
          <p:cNvSpPr/>
          <p:nvPr/>
        </p:nvSpPr>
        <p:spPr>
          <a:xfrm>
            <a:off x="1646039" y="5859780"/>
            <a:ext cx="633495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Printing several values neatly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7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7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Asking the user for a value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74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74"/>
          <p:cNvSpPr/>
          <p:nvPr/>
        </p:nvSpPr>
        <p:spPr>
          <a:xfrm>
            <a:off x="2228850" y="2727960"/>
            <a:ext cx="15106650" cy="1405890"/>
          </a:xfrm>
          <a:prstGeom prst="roundRect">
            <a:avLst>
              <a:gd fmla="val 5420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74"/>
          <p:cNvSpPr/>
          <p:nvPr/>
        </p:nvSpPr>
        <p:spPr>
          <a:xfrm>
            <a:off x="2541270" y="3002280"/>
            <a:ext cx="1493501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input("Enter something: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74"/>
          <p:cNvSpPr/>
          <p:nvPr/>
        </p:nvSpPr>
        <p:spPr>
          <a:xfrm>
            <a:off x="952500" y="46101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74"/>
          <p:cNvSpPr/>
          <p:nvPr/>
        </p:nvSpPr>
        <p:spPr>
          <a:xfrm>
            <a:off x="2228850" y="436245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74"/>
          <p:cNvSpPr/>
          <p:nvPr/>
        </p:nvSpPr>
        <p:spPr>
          <a:xfrm>
            <a:off x="2533650" y="462915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Enter something: mango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mango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74"/>
          <p:cNvSpPr/>
          <p:nvPr/>
        </p:nvSpPr>
        <p:spPr>
          <a:xfrm>
            <a:off x="952500" y="61341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text inside the brackets is the prompt. It is shown, not stored.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75"/>
          <p:cNvSpPr/>
          <p:nvPr/>
        </p:nvSpPr>
        <p:spPr>
          <a:xfrm>
            <a:off x="952500" y="363474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REMEMBER THIS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75"/>
          <p:cNvSpPr/>
          <p:nvPr/>
        </p:nvSpPr>
        <p:spPr>
          <a:xfrm>
            <a:off x="952500" y="4411980"/>
            <a:ext cx="15716250" cy="91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6600"/>
              <a:buFont typeface="Bricolage Grotesque"/>
              <a:buNone/>
            </a:pPr>
            <a:r>
              <a:rPr b="1" i="0" lang="en-US" sz="66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input() always gives you text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75"/>
          <p:cNvSpPr/>
          <p:nvPr/>
        </p:nvSpPr>
        <p:spPr>
          <a:xfrm>
            <a:off x="952500" y="5711190"/>
            <a:ext cx="13735050" cy="11696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Even when the user types 7, your variable holds the string "7" until you convert it.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7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7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answer that looks wrong but is not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76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76"/>
          <p:cNvSpPr/>
          <p:nvPr/>
        </p:nvSpPr>
        <p:spPr>
          <a:xfrm>
            <a:off x="2228850" y="2727960"/>
            <a:ext cx="15106650" cy="1405890"/>
          </a:xfrm>
          <a:prstGeom prst="roundRect">
            <a:avLst>
              <a:gd fmla="val 5420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76"/>
          <p:cNvSpPr/>
          <p:nvPr/>
        </p:nvSpPr>
        <p:spPr>
          <a:xfrm>
            <a:off x="2541270" y="3002280"/>
            <a:ext cx="1493501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input("Enter num: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+ "8")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76"/>
          <p:cNvSpPr/>
          <p:nvPr/>
        </p:nvSpPr>
        <p:spPr>
          <a:xfrm>
            <a:off x="952500" y="46101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76"/>
          <p:cNvSpPr/>
          <p:nvPr/>
        </p:nvSpPr>
        <p:spPr>
          <a:xfrm>
            <a:off x="2228850" y="436245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76"/>
          <p:cNvSpPr/>
          <p:nvPr/>
        </p:nvSpPr>
        <p:spPr>
          <a:xfrm>
            <a:off x="2533650" y="462915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Enter num: 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76"/>
          <p:cNvSpPr/>
          <p:nvPr/>
        </p:nvSpPr>
        <p:spPr>
          <a:xfrm>
            <a:off x="952500" y="61341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Python did exactly what you asked: it joined two pieces of text.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7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7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Converting as you read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77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[3]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77"/>
          <p:cNvSpPr/>
          <p:nvPr/>
        </p:nvSpPr>
        <p:spPr>
          <a:xfrm>
            <a:off x="2228850" y="2727960"/>
            <a:ext cx="15106650" cy="1405890"/>
          </a:xfrm>
          <a:prstGeom prst="roundRect">
            <a:avLst>
              <a:gd fmla="val 5420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77"/>
          <p:cNvSpPr/>
          <p:nvPr/>
        </p:nvSpPr>
        <p:spPr>
          <a:xfrm>
            <a:off x="2541270" y="3002280"/>
            <a:ext cx="1493501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int(input("Enter num: 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+ 8)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77"/>
          <p:cNvSpPr/>
          <p:nvPr/>
        </p:nvSpPr>
        <p:spPr>
          <a:xfrm>
            <a:off x="952500" y="46101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77"/>
          <p:cNvSpPr/>
          <p:nvPr/>
        </p:nvSpPr>
        <p:spPr>
          <a:xfrm>
            <a:off x="2228850" y="436245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77"/>
          <p:cNvSpPr/>
          <p:nvPr/>
        </p:nvSpPr>
        <p:spPr>
          <a:xfrm>
            <a:off x="2533650" y="462915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Enter num: 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77"/>
          <p:cNvSpPr/>
          <p:nvPr/>
        </p:nvSpPr>
        <p:spPr>
          <a:xfrm>
            <a:off x="952500" y="61341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Use float() instead when the answer may have a decimal point.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7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7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When the user types something else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78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[4]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78"/>
          <p:cNvSpPr/>
          <p:nvPr/>
        </p:nvSpPr>
        <p:spPr>
          <a:xfrm>
            <a:off x="2228850" y="2727960"/>
            <a:ext cx="15106650" cy="977265"/>
          </a:xfrm>
          <a:prstGeom prst="roundRect">
            <a:avLst>
              <a:gd fmla="val 779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78"/>
          <p:cNvSpPr/>
          <p:nvPr/>
        </p:nvSpPr>
        <p:spPr>
          <a:xfrm>
            <a:off x="2541270" y="3002280"/>
            <a:ext cx="1493501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int(input("Enter a: 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78"/>
          <p:cNvSpPr/>
          <p:nvPr/>
        </p:nvSpPr>
        <p:spPr>
          <a:xfrm>
            <a:off x="952500" y="41814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78"/>
          <p:cNvSpPr/>
          <p:nvPr/>
        </p:nvSpPr>
        <p:spPr>
          <a:xfrm>
            <a:off x="2228850" y="3933825"/>
            <a:ext cx="15106650" cy="1819275"/>
          </a:xfrm>
          <a:prstGeom prst="roundRect">
            <a:avLst>
              <a:gd fmla="val 4188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78"/>
          <p:cNvSpPr/>
          <p:nvPr/>
        </p:nvSpPr>
        <p:spPr>
          <a:xfrm>
            <a:off x="2533650" y="4200525"/>
            <a:ext cx="14950249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Enter a: ten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ValueError: invalid literal for int()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base 10: 'ten'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78"/>
          <p:cNvSpPr/>
          <p:nvPr/>
        </p:nvSpPr>
        <p:spPr>
          <a:xfrm>
            <a:off x="952500" y="61722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Your code is correct. The input was not what it promised to be.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7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7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Printing more than one thing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79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COMMAS: SAFE WITH ANY TYPE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79"/>
          <p:cNvSpPr/>
          <p:nvPr/>
        </p:nvSpPr>
        <p:spPr>
          <a:xfrm>
            <a:off x="952500" y="327660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79"/>
          <p:cNvSpPr/>
          <p:nvPr/>
        </p:nvSpPr>
        <p:spPr>
          <a:xfrm>
            <a:off x="1245870" y="353187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 = 20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print("Age is", age)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79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PLUS: TEXT ONLY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79"/>
          <p:cNvSpPr/>
          <p:nvPr/>
        </p:nvSpPr>
        <p:spPr>
          <a:xfrm>
            <a:off x="9391650" y="327660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79"/>
          <p:cNvSpPr/>
          <p:nvPr/>
        </p:nvSpPr>
        <p:spPr>
          <a:xfrm>
            <a:off x="9685020" y="353187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 = 20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print("Age is " + str(age))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79"/>
          <p:cNvSpPr/>
          <p:nvPr/>
        </p:nvSpPr>
        <p:spPr>
          <a:xfrm>
            <a:off x="952500" y="5101590"/>
            <a:ext cx="1638300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79"/>
          <p:cNvSpPr/>
          <p:nvPr/>
        </p:nvSpPr>
        <p:spPr>
          <a:xfrm>
            <a:off x="1238250" y="5349240"/>
            <a:ext cx="1630299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 is 20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8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8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Controlling how print ends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80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[5]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80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80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print("a",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print("b",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print("c")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print("x", "y", sep = "-")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80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80"/>
          <p:cNvSpPr/>
          <p:nvPr/>
        </p:nvSpPr>
        <p:spPr>
          <a:xfrm>
            <a:off x="2228850" y="521970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80"/>
          <p:cNvSpPr/>
          <p:nvPr/>
        </p:nvSpPr>
        <p:spPr>
          <a:xfrm>
            <a:off x="2533650" y="548640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b c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x-y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80"/>
          <p:cNvSpPr/>
          <p:nvPr/>
        </p:nvSpPr>
        <p:spPr>
          <a:xfrm>
            <a:off x="952500" y="699135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By default print ends with a new line. end replaces it.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8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8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f-strings: values inside text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81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[6]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81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81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name = "apple"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count = 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print(f"{name} has {count} vowels")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print(f"{7/3:.2f}")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81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81"/>
          <p:cNvSpPr/>
          <p:nvPr/>
        </p:nvSpPr>
        <p:spPr>
          <a:xfrm>
            <a:off x="2228850" y="521970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81"/>
          <p:cNvSpPr/>
          <p:nvPr/>
        </p:nvSpPr>
        <p:spPr>
          <a:xfrm>
            <a:off x="2533650" y="548640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apple has 2 vowels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2.33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81"/>
          <p:cNvSpPr/>
          <p:nvPr/>
        </p:nvSpPr>
        <p:spPr>
          <a:xfrm>
            <a:off x="952500" y="699135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f before the quote is required. Inside the braces goes any expression.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8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8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user types 7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82"/>
          <p:cNvSpPr/>
          <p:nvPr/>
        </p:nvSpPr>
        <p:spPr>
          <a:xfrm>
            <a:off x="952500" y="272796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82"/>
          <p:cNvSpPr/>
          <p:nvPr/>
        </p:nvSpPr>
        <p:spPr>
          <a:xfrm>
            <a:off x="952500" y="3482340"/>
            <a:ext cx="6745843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82"/>
          <p:cNvSpPr/>
          <p:nvPr/>
        </p:nvSpPr>
        <p:spPr>
          <a:xfrm>
            <a:off x="1181100" y="2933700"/>
            <a:ext cx="649101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82"/>
          <p:cNvSpPr/>
          <p:nvPr/>
        </p:nvSpPr>
        <p:spPr>
          <a:xfrm>
            <a:off x="7698343" y="3482340"/>
            <a:ext cx="4818579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82"/>
          <p:cNvSpPr/>
          <p:nvPr/>
        </p:nvSpPr>
        <p:spPr>
          <a:xfrm>
            <a:off x="7926943" y="2933700"/>
            <a:ext cx="4505936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HOLDS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82"/>
          <p:cNvSpPr/>
          <p:nvPr/>
        </p:nvSpPr>
        <p:spPr>
          <a:xfrm>
            <a:off x="12516922" y="3482340"/>
            <a:ext cx="4818459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82"/>
          <p:cNvSpPr/>
          <p:nvPr/>
        </p:nvSpPr>
        <p:spPr>
          <a:xfrm>
            <a:off x="12745522" y="2933700"/>
            <a:ext cx="450581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+ 1 GIVES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82"/>
          <p:cNvSpPr/>
          <p:nvPr/>
        </p:nvSpPr>
        <p:spPr>
          <a:xfrm>
            <a:off x="952500" y="4297680"/>
            <a:ext cx="6745843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82"/>
          <p:cNvSpPr/>
          <p:nvPr/>
        </p:nvSpPr>
        <p:spPr>
          <a:xfrm>
            <a:off x="1181100" y="3680460"/>
            <a:ext cx="649101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input()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82"/>
          <p:cNvSpPr/>
          <p:nvPr/>
        </p:nvSpPr>
        <p:spPr>
          <a:xfrm>
            <a:off x="7698343" y="4297680"/>
            <a:ext cx="4818579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82"/>
          <p:cNvSpPr/>
          <p:nvPr/>
        </p:nvSpPr>
        <p:spPr>
          <a:xfrm>
            <a:off x="7926943" y="3680460"/>
            <a:ext cx="4505936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"7"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82"/>
          <p:cNvSpPr/>
          <p:nvPr/>
        </p:nvSpPr>
        <p:spPr>
          <a:xfrm>
            <a:off x="12516922" y="4297680"/>
            <a:ext cx="4818459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82"/>
          <p:cNvSpPr/>
          <p:nvPr/>
        </p:nvSpPr>
        <p:spPr>
          <a:xfrm>
            <a:off x="12745522" y="3680460"/>
            <a:ext cx="450581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TypeError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82"/>
          <p:cNvSpPr/>
          <p:nvPr/>
        </p:nvSpPr>
        <p:spPr>
          <a:xfrm>
            <a:off x="952500" y="5113020"/>
            <a:ext cx="6745843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82"/>
          <p:cNvSpPr/>
          <p:nvPr/>
        </p:nvSpPr>
        <p:spPr>
          <a:xfrm>
            <a:off x="1181100" y="4495800"/>
            <a:ext cx="649101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int(input())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82"/>
          <p:cNvSpPr/>
          <p:nvPr/>
        </p:nvSpPr>
        <p:spPr>
          <a:xfrm>
            <a:off x="7698343" y="5113020"/>
            <a:ext cx="4818579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82"/>
          <p:cNvSpPr/>
          <p:nvPr/>
        </p:nvSpPr>
        <p:spPr>
          <a:xfrm>
            <a:off x="7926943" y="4495800"/>
            <a:ext cx="4505936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82"/>
          <p:cNvSpPr/>
          <p:nvPr/>
        </p:nvSpPr>
        <p:spPr>
          <a:xfrm>
            <a:off x="12516922" y="5113020"/>
            <a:ext cx="4818459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82"/>
          <p:cNvSpPr/>
          <p:nvPr/>
        </p:nvSpPr>
        <p:spPr>
          <a:xfrm>
            <a:off x="12745522" y="4495800"/>
            <a:ext cx="450581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82"/>
          <p:cNvSpPr/>
          <p:nvPr/>
        </p:nvSpPr>
        <p:spPr>
          <a:xfrm>
            <a:off x="1181100" y="5311140"/>
            <a:ext cx="649101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float(input())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82"/>
          <p:cNvSpPr/>
          <p:nvPr/>
        </p:nvSpPr>
        <p:spPr>
          <a:xfrm>
            <a:off x="7926943" y="5311140"/>
            <a:ext cx="4505936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7.0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82"/>
          <p:cNvSpPr/>
          <p:nvPr/>
        </p:nvSpPr>
        <p:spPr>
          <a:xfrm>
            <a:off x="12745522" y="5311140"/>
            <a:ext cx="450581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8.0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8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WORKED EXAMPLE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8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Area of a rectangle the user describes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83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[7]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83"/>
          <p:cNvSpPr/>
          <p:nvPr/>
        </p:nvSpPr>
        <p:spPr>
          <a:xfrm>
            <a:off x="2228850" y="2727960"/>
            <a:ext cx="15106650" cy="3120390"/>
          </a:xfrm>
          <a:prstGeom prst="roundRect">
            <a:avLst>
              <a:gd fmla="val 24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83"/>
          <p:cNvSpPr/>
          <p:nvPr/>
        </p:nvSpPr>
        <p:spPr>
          <a:xfrm>
            <a:off x="2541270" y="3002280"/>
            <a:ext cx="14935010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length = float(input("Length: 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width = float(input("Width: 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area = length * width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perimeter = 2 * (length + width)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print(f"Area: {area}")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print(f"Perimeter: {perimeter}")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83"/>
          <p:cNvSpPr/>
          <p:nvPr/>
        </p:nvSpPr>
        <p:spPr>
          <a:xfrm>
            <a:off x="952500" y="63246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83"/>
          <p:cNvSpPr/>
          <p:nvPr/>
        </p:nvSpPr>
        <p:spPr>
          <a:xfrm>
            <a:off x="2228850" y="6076950"/>
            <a:ext cx="15106650" cy="2247900"/>
          </a:xfrm>
          <a:prstGeom prst="roundRect">
            <a:avLst>
              <a:gd fmla="val 339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83"/>
          <p:cNvSpPr/>
          <p:nvPr/>
        </p:nvSpPr>
        <p:spPr>
          <a:xfrm>
            <a:off x="2533650" y="6343650"/>
            <a:ext cx="1495024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Length: 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Width: 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Area: 20.0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Perimeter: 18.0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8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HABIT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8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prompts the user can obey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84"/>
          <p:cNvSpPr/>
          <p:nvPr/>
        </p:nvSpPr>
        <p:spPr>
          <a:xfrm>
            <a:off x="952500" y="2727960"/>
            <a:ext cx="869632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VAGUE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84"/>
          <p:cNvSpPr/>
          <p:nvPr/>
        </p:nvSpPr>
        <p:spPr>
          <a:xfrm>
            <a:off x="952500" y="3276600"/>
            <a:ext cx="7905750" cy="1352550"/>
          </a:xfrm>
          <a:prstGeom prst="roundRect">
            <a:avLst>
              <a:gd fmla="val 563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84"/>
          <p:cNvSpPr/>
          <p:nvPr/>
        </p:nvSpPr>
        <p:spPr>
          <a:xfrm>
            <a:off x="1238250" y="3524250"/>
            <a:ext cx="7571423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input("Enter: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input("num?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84"/>
          <p:cNvSpPr/>
          <p:nvPr/>
        </p:nvSpPr>
        <p:spPr>
          <a:xfrm>
            <a:off x="9429750" y="2727960"/>
            <a:ext cx="869632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SPECIFIC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84"/>
          <p:cNvSpPr/>
          <p:nvPr/>
        </p:nvSpPr>
        <p:spPr>
          <a:xfrm>
            <a:off x="9429750" y="3276600"/>
            <a:ext cx="79057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84"/>
          <p:cNvSpPr/>
          <p:nvPr/>
        </p:nvSpPr>
        <p:spPr>
          <a:xfrm>
            <a:off x="9723120" y="3531870"/>
            <a:ext cx="7556183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input("Length in cm: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input("How many integers?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84"/>
          <p:cNvSpPr/>
          <p:nvPr/>
        </p:nvSpPr>
        <p:spPr>
          <a:xfrm>
            <a:off x="952500" y="513969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End every prompt with a space so the typed answer does not touch the text.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8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QUICK 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8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user types 5. What prints?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85"/>
          <p:cNvSpPr/>
          <p:nvPr/>
        </p:nvSpPr>
        <p:spPr>
          <a:xfrm>
            <a:off x="952500" y="2727960"/>
            <a:ext cx="16383000" cy="929640"/>
          </a:xfrm>
          <a:prstGeom prst="roundRect">
            <a:avLst>
              <a:gd fmla="val 819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85"/>
          <p:cNvSpPr/>
          <p:nvPr/>
        </p:nvSpPr>
        <p:spPr>
          <a:xfrm>
            <a:off x="1245870" y="2983230"/>
            <a:ext cx="16287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a = input(); print(a * 2)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85"/>
          <p:cNvSpPr/>
          <p:nvPr/>
        </p:nvSpPr>
        <p:spPr>
          <a:xfrm>
            <a:off x="952500" y="3924300"/>
            <a:ext cx="16383000" cy="929640"/>
          </a:xfrm>
          <a:prstGeom prst="roundRect">
            <a:avLst>
              <a:gd fmla="val 819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85"/>
          <p:cNvSpPr/>
          <p:nvPr/>
        </p:nvSpPr>
        <p:spPr>
          <a:xfrm>
            <a:off x="1245870" y="4179570"/>
            <a:ext cx="16287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a = int(input()); print(a * 2)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85"/>
          <p:cNvSpPr/>
          <p:nvPr/>
        </p:nvSpPr>
        <p:spPr>
          <a:xfrm>
            <a:off x="952500" y="5120640"/>
            <a:ext cx="16383000" cy="929640"/>
          </a:xfrm>
          <a:prstGeom prst="roundRect">
            <a:avLst>
              <a:gd fmla="val 819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85"/>
          <p:cNvSpPr/>
          <p:nvPr/>
        </p:nvSpPr>
        <p:spPr>
          <a:xfrm>
            <a:off x="1245870" y="5375910"/>
            <a:ext cx="16287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a = input(); print(int(a) + a)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8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8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86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86"/>
          <p:cNvSpPr/>
          <p:nvPr/>
        </p:nvSpPr>
        <p:spPr>
          <a:xfrm>
            <a:off x="1684139" y="272796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Ask for a name and a birth year, then print a sentence using an f-string.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86"/>
          <p:cNvSpPr/>
          <p:nvPr/>
        </p:nvSpPr>
        <p:spPr>
          <a:xfrm>
            <a:off x="952500" y="413766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86"/>
          <p:cNvSpPr/>
          <p:nvPr/>
        </p:nvSpPr>
        <p:spPr>
          <a:xfrm>
            <a:off x="1684139" y="407670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Ask for marks in three subjects and print the total and the average to two decimal places.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86"/>
          <p:cNvSpPr/>
          <p:nvPr/>
        </p:nvSpPr>
        <p:spPr>
          <a:xfrm>
            <a:off x="952500" y="548640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86"/>
          <p:cNvSpPr/>
          <p:nvPr/>
        </p:nvSpPr>
        <p:spPr>
          <a:xfrm>
            <a:off x="1684139" y="542544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Ask for a number of seconds and print it as hours, minutes and seconds.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8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1 COMPLETE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8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87"/>
          <p:cNvSpPr/>
          <p:nvPr/>
        </p:nvSpPr>
        <p:spPr>
          <a:xfrm>
            <a:off x="952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87"/>
          <p:cNvSpPr/>
          <p:nvPr/>
        </p:nvSpPr>
        <p:spPr>
          <a:xfrm>
            <a:off x="1295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 a value from the user and convert it.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87"/>
          <p:cNvSpPr/>
          <p:nvPr/>
        </p:nvSpPr>
        <p:spPr>
          <a:xfrm>
            <a:off x="9334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87"/>
          <p:cNvSpPr/>
          <p:nvPr/>
        </p:nvSpPr>
        <p:spPr>
          <a:xfrm>
            <a:off x="9677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 several values with commas or an f-string.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87"/>
          <p:cNvSpPr/>
          <p:nvPr/>
        </p:nvSpPr>
        <p:spPr>
          <a:xfrm>
            <a:off x="952500" y="424815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87"/>
          <p:cNvSpPr/>
          <p:nvPr/>
        </p:nvSpPr>
        <p:spPr>
          <a:xfrm>
            <a:off x="1295400" y="459105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a small program that takes input, calculates, and reports.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87"/>
          <p:cNvSpPr/>
          <p:nvPr/>
        </p:nvSpPr>
        <p:spPr>
          <a:xfrm>
            <a:off x="9334500" y="424815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87"/>
          <p:cNvSpPr/>
          <p:nvPr/>
        </p:nvSpPr>
        <p:spPr>
          <a:xfrm>
            <a:off x="9677400" y="459105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Recognise SyntaxError, NameError, TypeError, ValueError and ZeroDivisionError.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87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class: strings, one character at a time.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88"/>
          <p:cNvSpPr/>
          <p:nvPr/>
        </p:nvSpPr>
        <p:spPr>
          <a:xfrm>
            <a:off x="952500" y="4085272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2 · STRINGS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88"/>
          <p:cNvSpPr/>
          <p:nvPr/>
        </p:nvSpPr>
        <p:spPr>
          <a:xfrm>
            <a:off x="952500" y="4854893"/>
            <a:ext cx="2321814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06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88"/>
          <p:cNvSpPr/>
          <p:nvPr/>
        </p:nvSpPr>
        <p:spPr>
          <a:xfrm>
            <a:off x="3596640" y="5632132"/>
            <a:ext cx="7692450" cy="79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Strings and Indexing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8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06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8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89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89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89"/>
          <p:cNvSpPr/>
          <p:nvPr/>
        </p:nvSpPr>
        <p:spPr>
          <a:xfrm>
            <a:off x="1646039" y="2727960"/>
            <a:ext cx="7905667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string as a sequence of characters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89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89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89"/>
          <p:cNvSpPr/>
          <p:nvPr/>
        </p:nvSpPr>
        <p:spPr>
          <a:xfrm>
            <a:off x="1646039" y="3771900"/>
            <a:ext cx="948894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Positions count from zero, and from the end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89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89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89"/>
          <p:cNvSpPr/>
          <p:nvPr/>
        </p:nvSpPr>
        <p:spPr>
          <a:xfrm>
            <a:off x="1646039" y="4815840"/>
            <a:ext cx="6818626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len(), in, and the useful methods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89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89"/>
          <p:cNvSpPr/>
          <p:nvPr/>
        </p:nvSpPr>
        <p:spPr>
          <a:xfrm>
            <a:off x="1646039" y="5859780"/>
            <a:ext cx="8285345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Why a string cannot be edited in place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9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9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Every character has a position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90"/>
          <p:cNvSpPr/>
          <p:nvPr/>
        </p:nvSpPr>
        <p:spPr>
          <a:xfrm>
            <a:off x="914400" y="2727960"/>
            <a:ext cx="15240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90"/>
          <p:cNvSpPr/>
          <p:nvPr/>
        </p:nvSpPr>
        <p:spPr>
          <a:xfrm>
            <a:off x="2476500" y="2727960"/>
            <a:ext cx="15240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90"/>
          <p:cNvSpPr/>
          <p:nvPr/>
        </p:nvSpPr>
        <p:spPr>
          <a:xfrm>
            <a:off x="4038600" y="2727960"/>
            <a:ext cx="15240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90"/>
          <p:cNvSpPr/>
          <p:nvPr/>
        </p:nvSpPr>
        <p:spPr>
          <a:xfrm>
            <a:off x="5600700" y="2727960"/>
            <a:ext cx="15240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90"/>
          <p:cNvSpPr/>
          <p:nvPr/>
        </p:nvSpPr>
        <p:spPr>
          <a:xfrm>
            <a:off x="7162800" y="2727960"/>
            <a:ext cx="15240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90"/>
          <p:cNvSpPr/>
          <p:nvPr/>
        </p:nvSpPr>
        <p:spPr>
          <a:xfrm>
            <a:off x="8724900" y="2727960"/>
            <a:ext cx="15240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90"/>
          <p:cNvSpPr/>
          <p:nvPr/>
        </p:nvSpPr>
        <p:spPr>
          <a:xfrm>
            <a:off x="10287000" y="2727960"/>
            <a:ext cx="15240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90"/>
          <p:cNvSpPr/>
          <p:nvPr/>
        </p:nvSpPr>
        <p:spPr>
          <a:xfrm>
            <a:off x="11849100" y="2727960"/>
            <a:ext cx="15240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90"/>
          <p:cNvSpPr/>
          <p:nvPr/>
        </p:nvSpPr>
        <p:spPr>
          <a:xfrm>
            <a:off x="952500" y="3333750"/>
            <a:ext cx="1447800" cy="1097280"/>
          </a:xfrm>
          <a:prstGeom prst="roundRect">
            <a:avLst>
              <a:gd fmla="val 694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90"/>
          <p:cNvSpPr/>
          <p:nvPr/>
        </p:nvSpPr>
        <p:spPr>
          <a:xfrm>
            <a:off x="922020" y="3531870"/>
            <a:ext cx="1508760" cy="739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200"/>
              <a:buFont typeface="JetBrains Mono"/>
              <a:buNone/>
            </a:pPr>
            <a:r>
              <a:rPr b="0" i="0" lang="en-US" sz="42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90"/>
          <p:cNvSpPr/>
          <p:nvPr/>
        </p:nvSpPr>
        <p:spPr>
          <a:xfrm>
            <a:off x="2514600" y="3333750"/>
            <a:ext cx="1447800" cy="1097280"/>
          </a:xfrm>
          <a:prstGeom prst="roundRect">
            <a:avLst>
              <a:gd fmla="val 694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90"/>
          <p:cNvSpPr/>
          <p:nvPr/>
        </p:nvSpPr>
        <p:spPr>
          <a:xfrm>
            <a:off x="2484120" y="3531870"/>
            <a:ext cx="1508760" cy="739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200"/>
              <a:buFont typeface="JetBrains Mono"/>
              <a:buNone/>
            </a:pPr>
            <a:r>
              <a:rPr b="0" i="0" lang="en-US" sz="42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90"/>
          <p:cNvSpPr/>
          <p:nvPr/>
        </p:nvSpPr>
        <p:spPr>
          <a:xfrm>
            <a:off x="4076700" y="3333750"/>
            <a:ext cx="1447800" cy="1097280"/>
          </a:xfrm>
          <a:prstGeom prst="roundRect">
            <a:avLst>
              <a:gd fmla="val 694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90"/>
          <p:cNvSpPr/>
          <p:nvPr/>
        </p:nvSpPr>
        <p:spPr>
          <a:xfrm>
            <a:off x="4046220" y="3531870"/>
            <a:ext cx="1508760" cy="739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200"/>
              <a:buFont typeface="JetBrains Mono"/>
              <a:buNone/>
            </a:pPr>
            <a:r>
              <a:rPr b="0" i="0" lang="en-US" sz="42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90"/>
          <p:cNvSpPr/>
          <p:nvPr/>
        </p:nvSpPr>
        <p:spPr>
          <a:xfrm>
            <a:off x="5638800" y="3333750"/>
            <a:ext cx="1447800" cy="1097280"/>
          </a:xfrm>
          <a:prstGeom prst="roundRect">
            <a:avLst>
              <a:gd fmla="val 694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90"/>
          <p:cNvSpPr/>
          <p:nvPr/>
        </p:nvSpPr>
        <p:spPr>
          <a:xfrm>
            <a:off x="5608320" y="3531870"/>
            <a:ext cx="1508760" cy="739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200"/>
              <a:buFont typeface="JetBrains Mono"/>
              <a:buNone/>
            </a:pPr>
            <a:r>
              <a:rPr b="0" i="0" lang="en-US" sz="42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90"/>
          <p:cNvSpPr/>
          <p:nvPr/>
        </p:nvSpPr>
        <p:spPr>
          <a:xfrm>
            <a:off x="7200900" y="3333750"/>
            <a:ext cx="1447800" cy="1097280"/>
          </a:xfrm>
          <a:prstGeom prst="roundRect">
            <a:avLst>
              <a:gd fmla="val 694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90"/>
          <p:cNvSpPr/>
          <p:nvPr/>
        </p:nvSpPr>
        <p:spPr>
          <a:xfrm>
            <a:off x="7170420" y="3531870"/>
            <a:ext cx="1508760" cy="739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200"/>
              <a:buFont typeface="JetBrains Mono"/>
              <a:buNone/>
            </a:pPr>
            <a:r>
              <a:rPr b="0" i="0" lang="en-US" sz="42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90"/>
          <p:cNvSpPr/>
          <p:nvPr/>
        </p:nvSpPr>
        <p:spPr>
          <a:xfrm>
            <a:off x="8763000" y="3333750"/>
            <a:ext cx="1447800" cy="1097280"/>
          </a:xfrm>
          <a:prstGeom prst="roundRect">
            <a:avLst>
              <a:gd fmla="val 694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90"/>
          <p:cNvSpPr/>
          <p:nvPr/>
        </p:nvSpPr>
        <p:spPr>
          <a:xfrm>
            <a:off x="8732520" y="3531870"/>
            <a:ext cx="1508760" cy="739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200"/>
              <a:buFont typeface="JetBrains Mono"/>
              <a:buNone/>
            </a:pPr>
            <a:r>
              <a:rPr b="0" i="0" lang="en-US" sz="42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90"/>
          <p:cNvSpPr/>
          <p:nvPr/>
        </p:nvSpPr>
        <p:spPr>
          <a:xfrm>
            <a:off x="10325100" y="3333750"/>
            <a:ext cx="1447800" cy="1097280"/>
          </a:xfrm>
          <a:prstGeom prst="roundRect">
            <a:avLst>
              <a:gd fmla="val 694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90"/>
          <p:cNvSpPr/>
          <p:nvPr/>
        </p:nvSpPr>
        <p:spPr>
          <a:xfrm>
            <a:off x="10294620" y="3531870"/>
            <a:ext cx="1508760" cy="739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200"/>
              <a:buFont typeface="JetBrains Mono"/>
              <a:buNone/>
            </a:pPr>
            <a:r>
              <a:rPr b="0" i="0" lang="en-US" sz="42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90"/>
          <p:cNvSpPr/>
          <p:nvPr/>
        </p:nvSpPr>
        <p:spPr>
          <a:xfrm>
            <a:off x="11887200" y="3333750"/>
            <a:ext cx="1447800" cy="1097280"/>
          </a:xfrm>
          <a:prstGeom prst="roundRect">
            <a:avLst>
              <a:gd fmla="val 694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90"/>
          <p:cNvSpPr/>
          <p:nvPr/>
        </p:nvSpPr>
        <p:spPr>
          <a:xfrm>
            <a:off x="11856720" y="3531870"/>
            <a:ext cx="1508760" cy="739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200"/>
              <a:buFont typeface="JetBrains Mono"/>
              <a:buNone/>
            </a:pPr>
            <a:r>
              <a:rPr b="0" i="0" lang="en-US" sz="42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90"/>
          <p:cNvSpPr/>
          <p:nvPr/>
        </p:nvSpPr>
        <p:spPr>
          <a:xfrm>
            <a:off x="914400" y="4678680"/>
            <a:ext cx="15240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90"/>
          <p:cNvSpPr/>
          <p:nvPr/>
        </p:nvSpPr>
        <p:spPr>
          <a:xfrm>
            <a:off x="2476500" y="4678680"/>
            <a:ext cx="15240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-7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90"/>
          <p:cNvSpPr/>
          <p:nvPr/>
        </p:nvSpPr>
        <p:spPr>
          <a:xfrm>
            <a:off x="4038600" y="4678680"/>
            <a:ext cx="15240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90"/>
          <p:cNvSpPr/>
          <p:nvPr/>
        </p:nvSpPr>
        <p:spPr>
          <a:xfrm>
            <a:off x="5600700" y="4678680"/>
            <a:ext cx="15240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90"/>
          <p:cNvSpPr/>
          <p:nvPr/>
        </p:nvSpPr>
        <p:spPr>
          <a:xfrm>
            <a:off x="7162800" y="4678680"/>
            <a:ext cx="15240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90"/>
          <p:cNvSpPr/>
          <p:nvPr/>
        </p:nvSpPr>
        <p:spPr>
          <a:xfrm>
            <a:off x="8724900" y="4678680"/>
            <a:ext cx="15240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90"/>
          <p:cNvSpPr/>
          <p:nvPr/>
        </p:nvSpPr>
        <p:spPr>
          <a:xfrm>
            <a:off x="10287000" y="4678680"/>
            <a:ext cx="15240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90"/>
          <p:cNvSpPr/>
          <p:nvPr/>
        </p:nvSpPr>
        <p:spPr>
          <a:xfrm>
            <a:off x="11849100" y="4678680"/>
            <a:ext cx="15240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90"/>
          <p:cNvSpPr/>
          <p:nvPr/>
        </p:nvSpPr>
        <p:spPr>
          <a:xfrm>
            <a:off x="952500" y="5570220"/>
            <a:ext cx="146685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first character sits at 0, not 1. The last one is always at -1, whatever the length.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9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9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Reading one character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91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91"/>
          <p:cNvSpPr/>
          <p:nvPr/>
        </p:nvSpPr>
        <p:spPr>
          <a:xfrm>
            <a:off x="2228850" y="2727960"/>
            <a:ext cx="15106650" cy="2691765"/>
          </a:xfrm>
          <a:prstGeom prst="roundRect">
            <a:avLst>
              <a:gd fmla="val 283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91"/>
          <p:cNvSpPr/>
          <p:nvPr/>
        </p:nvSpPr>
        <p:spPr>
          <a:xfrm>
            <a:off x="2541270" y="3002280"/>
            <a:ext cx="14935010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"elephant"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print(a[0])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print(a[7])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print(a[-1])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print(len(a))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91"/>
          <p:cNvSpPr/>
          <p:nvPr/>
        </p:nvSpPr>
        <p:spPr>
          <a:xfrm>
            <a:off x="952500" y="58959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91"/>
          <p:cNvSpPr/>
          <p:nvPr/>
        </p:nvSpPr>
        <p:spPr>
          <a:xfrm>
            <a:off x="2228850" y="5648325"/>
            <a:ext cx="15106650" cy="2247900"/>
          </a:xfrm>
          <a:prstGeom prst="roundRect">
            <a:avLst>
              <a:gd fmla="val 339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91"/>
          <p:cNvSpPr/>
          <p:nvPr/>
        </p:nvSpPr>
        <p:spPr>
          <a:xfrm>
            <a:off x="2533650" y="5915025"/>
            <a:ext cx="1495024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92"/>
          <p:cNvSpPr/>
          <p:nvPr/>
        </p:nvSpPr>
        <p:spPr>
          <a:xfrm>
            <a:off x="952500" y="352425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OFF BY ONE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92"/>
          <p:cNvSpPr/>
          <p:nvPr/>
        </p:nvSpPr>
        <p:spPr>
          <a:xfrm>
            <a:off x="952500" y="4301490"/>
            <a:ext cx="1471612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6000"/>
              <a:buFont typeface="Bricolage Grotesque"/>
              <a:buNone/>
            </a:pPr>
            <a:r>
              <a:rPr b="1" i="0" lang="en-US" sz="6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len(a) counts characters. The last one lives at len(a) - 1.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92"/>
          <p:cNvSpPr/>
          <p:nvPr/>
        </p:nvSpPr>
        <p:spPr>
          <a:xfrm>
            <a:off x="952500" y="6396990"/>
            <a:ext cx="180213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"elephant" → len 8 → last index 7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9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9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Reaching past the end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93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93"/>
          <p:cNvSpPr/>
          <p:nvPr/>
        </p:nvSpPr>
        <p:spPr>
          <a:xfrm>
            <a:off x="2228850" y="2727960"/>
            <a:ext cx="15106650" cy="1405890"/>
          </a:xfrm>
          <a:prstGeom prst="roundRect">
            <a:avLst>
              <a:gd fmla="val 5420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93"/>
          <p:cNvSpPr/>
          <p:nvPr/>
        </p:nvSpPr>
        <p:spPr>
          <a:xfrm>
            <a:off x="2541270" y="3002280"/>
            <a:ext cx="1493501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"elephant"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print(a[8])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93"/>
          <p:cNvSpPr/>
          <p:nvPr/>
        </p:nvSpPr>
        <p:spPr>
          <a:xfrm>
            <a:off x="952500" y="46101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93"/>
          <p:cNvSpPr/>
          <p:nvPr/>
        </p:nvSpPr>
        <p:spPr>
          <a:xfrm>
            <a:off x="2228850" y="4362450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93"/>
          <p:cNvSpPr/>
          <p:nvPr/>
        </p:nvSpPr>
        <p:spPr>
          <a:xfrm>
            <a:off x="2533650" y="4629150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IndexError: string index out of range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93"/>
          <p:cNvSpPr/>
          <p:nvPr/>
        </p:nvSpPr>
        <p:spPr>
          <a:xfrm>
            <a:off x="952500" y="568833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Valid positions run from 0 to len(a) - 1, or -1 down to -len(a).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9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9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string cannot be edited in place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94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[3]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94"/>
          <p:cNvSpPr/>
          <p:nvPr/>
        </p:nvSpPr>
        <p:spPr>
          <a:xfrm>
            <a:off x="2228850" y="2727960"/>
            <a:ext cx="15106650" cy="1834515"/>
          </a:xfrm>
          <a:prstGeom prst="roundRect">
            <a:avLst>
              <a:gd fmla="val 415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94"/>
          <p:cNvSpPr/>
          <p:nvPr/>
        </p:nvSpPr>
        <p:spPr>
          <a:xfrm>
            <a:off x="2541270" y="3002280"/>
            <a:ext cx="1493501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"apple"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print(a[1])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a[0] = "w"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94"/>
          <p:cNvSpPr/>
          <p:nvPr/>
        </p:nvSpPr>
        <p:spPr>
          <a:xfrm>
            <a:off x="952500" y="503872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94"/>
          <p:cNvSpPr/>
          <p:nvPr/>
        </p:nvSpPr>
        <p:spPr>
          <a:xfrm>
            <a:off x="2228850" y="4791075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94"/>
          <p:cNvSpPr/>
          <p:nvPr/>
        </p:nvSpPr>
        <p:spPr>
          <a:xfrm>
            <a:off x="2533650" y="5057775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TypeError: 'str' object does not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support item assignment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94"/>
          <p:cNvSpPr/>
          <p:nvPr/>
        </p:nvSpPr>
        <p:spPr>
          <a:xfrm>
            <a:off x="952500" y="660082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Reading is allowed. Writing is not. To change text, build a new string.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9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9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Changing text means making new text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95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[4]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95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95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"apple"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 = a.replace("a", "b")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print(p)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95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95"/>
          <p:cNvSpPr/>
          <p:nvPr/>
        </p:nvSpPr>
        <p:spPr>
          <a:xfrm>
            <a:off x="2228850" y="521970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95"/>
          <p:cNvSpPr/>
          <p:nvPr/>
        </p:nvSpPr>
        <p:spPr>
          <a:xfrm>
            <a:off x="2533650" y="548640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bpple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95"/>
          <p:cNvSpPr/>
          <p:nvPr/>
        </p:nvSpPr>
        <p:spPr>
          <a:xfrm>
            <a:off x="952500" y="699135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is unchanged. If you want to keep the result, assign it to something.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9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REFERENCE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9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String methods worth knowing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96"/>
          <p:cNvSpPr/>
          <p:nvPr/>
        </p:nvSpPr>
        <p:spPr>
          <a:xfrm>
            <a:off x="952500" y="2727960"/>
            <a:ext cx="5232321" cy="1512570"/>
          </a:xfrm>
          <a:prstGeom prst="roundRect">
            <a:avLst>
              <a:gd fmla="val 503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96"/>
          <p:cNvSpPr/>
          <p:nvPr/>
        </p:nvSpPr>
        <p:spPr>
          <a:xfrm>
            <a:off x="1238250" y="3013710"/>
            <a:ext cx="5126903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.upper()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96"/>
          <p:cNvSpPr/>
          <p:nvPr/>
        </p:nvSpPr>
        <p:spPr>
          <a:xfrm>
            <a:off x="1238250" y="3604260"/>
            <a:ext cx="1433513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All capitals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96"/>
          <p:cNvSpPr/>
          <p:nvPr/>
        </p:nvSpPr>
        <p:spPr>
          <a:xfrm>
            <a:off x="6527721" y="2727960"/>
            <a:ext cx="5232440" cy="1512570"/>
          </a:xfrm>
          <a:prstGeom prst="roundRect">
            <a:avLst>
              <a:gd fmla="val 503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96"/>
          <p:cNvSpPr/>
          <p:nvPr/>
        </p:nvSpPr>
        <p:spPr>
          <a:xfrm>
            <a:off x="6813471" y="3013710"/>
            <a:ext cx="5127034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.lower()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96"/>
          <p:cNvSpPr/>
          <p:nvPr/>
        </p:nvSpPr>
        <p:spPr>
          <a:xfrm>
            <a:off x="6813471" y="3604260"/>
            <a:ext cx="1996202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All small letters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96"/>
          <p:cNvSpPr/>
          <p:nvPr/>
        </p:nvSpPr>
        <p:spPr>
          <a:xfrm>
            <a:off x="12103060" y="2727960"/>
            <a:ext cx="5232440" cy="1512570"/>
          </a:xfrm>
          <a:prstGeom prst="roundRect">
            <a:avLst>
              <a:gd fmla="val 503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96"/>
          <p:cNvSpPr/>
          <p:nvPr/>
        </p:nvSpPr>
        <p:spPr>
          <a:xfrm>
            <a:off x="12388810" y="3013710"/>
            <a:ext cx="5127034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.strip()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96"/>
          <p:cNvSpPr/>
          <p:nvPr/>
        </p:nvSpPr>
        <p:spPr>
          <a:xfrm>
            <a:off x="12388810" y="3604260"/>
            <a:ext cx="3870586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Removes spaces at both ends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96"/>
          <p:cNvSpPr/>
          <p:nvPr/>
        </p:nvSpPr>
        <p:spPr>
          <a:xfrm>
            <a:off x="952500" y="4583430"/>
            <a:ext cx="5232321" cy="1512570"/>
          </a:xfrm>
          <a:prstGeom prst="roundRect">
            <a:avLst>
              <a:gd fmla="val 503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96"/>
          <p:cNvSpPr/>
          <p:nvPr/>
        </p:nvSpPr>
        <p:spPr>
          <a:xfrm>
            <a:off x="1238250" y="4869180"/>
            <a:ext cx="5126903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.replace(a, b)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96"/>
          <p:cNvSpPr/>
          <p:nvPr/>
        </p:nvSpPr>
        <p:spPr>
          <a:xfrm>
            <a:off x="1238250" y="5459730"/>
            <a:ext cx="2561511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Swaps every a for 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96"/>
          <p:cNvSpPr/>
          <p:nvPr/>
        </p:nvSpPr>
        <p:spPr>
          <a:xfrm>
            <a:off x="6527721" y="4583430"/>
            <a:ext cx="5232440" cy="1512570"/>
          </a:xfrm>
          <a:prstGeom prst="roundRect">
            <a:avLst>
              <a:gd fmla="val 503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96"/>
          <p:cNvSpPr/>
          <p:nvPr/>
        </p:nvSpPr>
        <p:spPr>
          <a:xfrm>
            <a:off x="6813471" y="4869180"/>
            <a:ext cx="5127034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.count(x)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p96"/>
          <p:cNvSpPr/>
          <p:nvPr/>
        </p:nvSpPr>
        <p:spPr>
          <a:xfrm>
            <a:off x="6813471" y="5459730"/>
            <a:ext cx="3491646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How many times x appears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96"/>
          <p:cNvSpPr/>
          <p:nvPr/>
        </p:nvSpPr>
        <p:spPr>
          <a:xfrm>
            <a:off x="12103060" y="4583430"/>
            <a:ext cx="5232440" cy="1512570"/>
          </a:xfrm>
          <a:prstGeom prst="roundRect">
            <a:avLst>
              <a:gd fmla="val 503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96"/>
          <p:cNvSpPr/>
          <p:nvPr/>
        </p:nvSpPr>
        <p:spPr>
          <a:xfrm>
            <a:off x="12388810" y="4869180"/>
            <a:ext cx="5127034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.find(x)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p96"/>
          <p:cNvSpPr/>
          <p:nvPr/>
        </p:nvSpPr>
        <p:spPr>
          <a:xfrm>
            <a:off x="12388810" y="5459730"/>
            <a:ext cx="3316157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Position of the first x, or -1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9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9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Is this character in there?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97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[5]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97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97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"apple"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print("p" in a)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print("z" in a)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print(a[0] in "aeiou")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p97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97"/>
          <p:cNvSpPr/>
          <p:nvPr/>
        </p:nvSpPr>
        <p:spPr>
          <a:xfrm>
            <a:off x="2228850" y="5219700"/>
            <a:ext cx="15106650" cy="1819275"/>
          </a:xfrm>
          <a:prstGeom prst="roundRect">
            <a:avLst>
              <a:gd fmla="val 418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97"/>
          <p:cNvSpPr/>
          <p:nvPr/>
        </p:nvSpPr>
        <p:spPr>
          <a:xfrm>
            <a:off x="2533650" y="5486400"/>
            <a:ext cx="14950249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97"/>
          <p:cNvSpPr/>
          <p:nvPr/>
        </p:nvSpPr>
        <p:spPr>
          <a:xfrm>
            <a:off x="952500" y="741997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last line is how you will count vowels once we have loops.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9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REFERENCE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9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Three ways to write a string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98"/>
          <p:cNvSpPr/>
          <p:nvPr/>
        </p:nvSpPr>
        <p:spPr>
          <a:xfrm>
            <a:off x="952500" y="2727960"/>
            <a:ext cx="5181600" cy="872490"/>
          </a:xfrm>
          <a:prstGeom prst="roundRect">
            <a:avLst>
              <a:gd fmla="val 873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98"/>
          <p:cNvSpPr/>
          <p:nvPr/>
        </p:nvSpPr>
        <p:spPr>
          <a:xfrm>
            <a:off x="1207770" y="2964180"/>
            <a:ext cx="4826508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143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'apple'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98"/>
          <p:cNvSpPr/>
          <p:nvPr/>
        </p:nvSpPr>
        <p:spPr>
          <a:xfrm>
            <a:off x="952500" y="3813810"/>
            <a:ext cx="1830824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Single quotes.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98"/>
          <p:cNvSpPr/>
          <p:nvPr/>
        </p:nvSpPr>
        <p:spPr>
          <a:xfrm>
            <a:off x="6553200" y="2727960"/>
            <a:ext cx="5181600" cy="872490"/>
          </a:xfrm>
          <a:prstGeom prst="roundRect">
            <a:avLst>
              <a:gd fmla="val 873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98"/>
          <p:cNvSpPr/>
          <p:nvPr/>
        </p:nvSpPr>
        <p:spPr>
          <a:xfrm>
            <a:off x="6808470" y="2964180"/>
            <a:ext cx="4826508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143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"it's here"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98"/>
          <p:cNvSpPr/>
          <p:nvPr/>
        </p:nvSpPr>
        <p:spPr>
          <a:xfrm>
            <a:off x="6553200" y="3813810"/>
            <a:ext cx="515064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Double quotes, so an apostrophe is safe inside.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98"/>
          <p:cNvSpPr/>
          <p:nvPr/>
        </p:nvSpPr>
        <p:spPr>
          <a:xfrm>
            <a:off x="12153900" y="2727960"/>
            <a:ext cx="5181600" cy="1272540"/>
          </a:xfrm>
          <a:prstGeom prst="roundRect">
            <a:avLst>
              <a:gd fmla="val 598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98"/>
          <p:cNvSpPr/>
          <p:nvPr/>
        </p:nvSpPr>
        <p:spPr>
          <a:xfrm>
            <a:off x="12409170" y="2964180"/>
            <a:ext cx="4826508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143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'''two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143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lines'''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98"/>
          <p:cNvSpPr/>
          <p:nvPr/>
        </p:nvSpPr>
        <p:spPr>
          <a:xfrm>
            <a:off x="12153900" y="4213860"/>
            <a:ext cx="4961541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Triple quotes span lines, and double as block comments.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9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9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Positions in "elephant"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99"/>
          <p:cNvSpPr/>
          <p:nvPr/>
        </p:nvSpPr>
        <p:spPr>
          <a:xfrm>
            <a:off x="952500" y="272796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99"/>
          <p:cNvSpPr/>
          <p:nvPr/>
        </p:nvSpPr>
        <p:spPr>
          <a:xfrm>
            <a:off x="952500" y="348234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99"/>
          <p:cNvSpPr/>
          <p:nvPr/>
        </p:nvSpPr>
        <p:spPr>
          <a:xfrm>
            <a:off x="1181100" y="2933700"/>
            <a:ext cx="5167548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EXPRESSION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99"/>
          <p:cNvSpPr/>
          <p:nvPr/>
        </p:nvSpPr>
        <p:spPr>
          <a:xfrm>
            <a:off x="6413421" y="348234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99"/>
          <p:cNvSpPr/>
          <p:nvPr/>
        </p:nvSpPr>
        <p:spPr>
          <a:xfrm>
            <a:off x="6642021" y="2933700"/>
            <a:ext cx="516767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POSITION USED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99"/>
          <p:cNvSpPr/>
          <p:nvPr/>
        </p:nvSpPr>
        <p:spPr>
          <a:xfrm>
            <a:off x="11874460" y="348234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99"/>
          <p:cNvSpPr/>
          <p:nvPr/>
        </p:nvSpPr>
        <p:spPr>
          <a:xfrm>
            <a:off x="12103060" y="2933700"/>
            <a:ext cx="516767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99"/>
          <p:cNvSpPr/>
          <p:nvPr/>
        </p:nvSpPr>
        <p:spPr>
          <a:xfrm>
            <a:off x="952500" y="429768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99"/>
          <p:cNvSpPr/>
          <p:nvPr/>
        </p:nvSpPr>
        <p:spPr>
          <a:xfrm>
            <a:off x="1181100" y="368046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a[0]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99"/>
          <p:cNvSpPr/>
          <p:nvPr/>
        </p:nvSpPr>
        <p:spPr>
          <a:xfrm>
            <a:off x="6413421" y="429768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99"/>
          <p:cNvSpPr/>
          <p:nvPr/>
        </p:nvSpPr>
        <p:spPr>
          <a:xfrm>
            <a:off x="6642021" y="368046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first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99"/>
          <p:cNvSpPr/>
          <p:nvPr/>
        </p:nvSpPr>
        <p:spPr>
          <a:xfrm>
            <a:off x="11874460" y="429768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99"/>
          <p:cNvSpPr/>
          <p:nvPr/>
        </p:nvSpPr>
        <p:spPr>
          <a:xfrm>
            <a:off x="12103060" y="368046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4" name="Google Shape;1564;p99"/>
          <p:cNvSpPr/>
          <p:nvPr/>
        </p:nvSpPr>
        <p:spPr>
          <a:xfrm>
            <a:off x="952500" y="511302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99"/>
          <p:cNvSpPr/>
          <p:nvPr/>
        </p:nvSpPr>
        <p:spPr>
          <a:xfrm>
            <a:off x="1181100" y="449580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a[3]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99"/>
          <p:cNvSpPr/>
          <p:nvPr/>
        </p:nvSpPr>
        <p:spPr>
          <a:xfrm>
            <a:off x="6413421" y="511302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99"/>
          <p:cNvSpPr/>
          <p:nvPr/>
        </p:nvSpPr>
        <p:spPr>
          <a:xfrm>
            <a:off x="6642021" y="449580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fourth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99"/>
          <p:cNvSpPr/>
          <p:nvPr/>
        </p:nvSpPr>
        <p:spPr>
          <a:xfrm>
            <a:off x="11874460" y="511302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p99"/>
          <p:cNvSpPr/>
          <p:nvPr/>
        </p:nvSpPr>
        <p:spPr>
          <a:xfrm>
            <a:off x="12103060" y="449580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99"/>
          <p:cNvSpPr/>
          <p:nvPr/>
        </p:nvSpPr>
        <p:spPr>
          <a:xfrm>
            <a:off x="952500" y="592836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99"/>
          <p:cNvSpPr/>
          <p:nvPr/>
        </p:nvSpPr>
        <p:spPr>
          <a:xfrm>
            <a:off x="1181100" y="531114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a[-1]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99"/>
          <p:cNvSpPr/>
          <p:nvPr/>
        </p:nvSpPr>
        <p:spPr>
          <a:xfrm>
            <a:off x="6413421" y="592836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99"/>
          <p:cNvSpPr/>
          <p:nvPr/>
        </p:nvSpPr>
        <p:spPr>
          <a:xfrm>
            <a:off x="6642021" y="531114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last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99"/>
          <p:cNvSpPr/>
          <p:nvPr/>
        </p:nvSpPr>
        <p:spPr>
          <a:xfrm>
            <a:off x="11874460" y="592836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99"/>
          <p:cNvSpPr/>
          <p:nvPr/>
        </p:nvSpPr>
        <p:spPr>
          <a:xfrm>
            <a:off x="12103060" y="531114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p99"/>
          <p:cNvSpPr/>
          <p:nvPr/>
        </p:nvSpPr>
        <p:spPr>
          <a:xfrm>
            <a:off x="952500" y="674370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99"/>
          <p:cNvSpPr/>
          <p:nvPr/>
        </p:nvSpPr>
        <p:spPr>
          <a:xfrm>
            <a:off x="1181100" y="612648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a[len(a) - 1]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99"/>
          <p:cNvSpPr/>
          <p:nvPr/>
        </p:nvSpPr>
        <p:spPr>
          <a:xfrm>
            <a:off x="6413421" y="674370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99"/>
          <p:cNvSpPr/>
          <p:nvPr/>
        </p:nvSpPr>
        <p:spPr>
          <a:xfrm>
            <a:off x="6642021" y="612648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last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99"/>
          <p:cNvSpPr/>
          <p:nvPr/>
        </p:nvSpPr>
        <p:spPr>
          <a:xfrm>
            <a:off x="11874460" y="674370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99"/>
          <p:cNvSpPr/>
          <p:nvPr/>
        </p:nvSpPr>
        <p:spPr>
          <a:xfrm>
            <a:off x="12103060" y="612648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99"/>
          <p:cNvSpPr/>
          <p:nvPr/>
        </p:nvSpPr>
        <p:spPr>
          <a:xfrm>
            <a:off x="1181100" y="694182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a[len(a)]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99"/>
          <p:cNvSpPr/>
          <p:nvPr/>
        </p:nvSpPr>
        <p:spPr>
          <a:xfrm>
            <a:off x="6642021" y="694182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one past the end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99"/>
          <p:cNvSpPr/>
          <p:nvPr/>
        </p:nvSpPr>
        <p:spPr>
          <a:xfrm>
            <a:off x="12103060" y="694182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IndexError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10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QUICK 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10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= "programming". What is…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100"/>
          <p:cNvSpPr/>
          <p:nvPr/>
        </p:nvSpPr>
        <p:spPr>
          <a:xfrm>
            <a:off x="952500" y="2727960"/>
            <a:ext cx="8039100" cy="1051560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100"/>
          <p:cNvSpPr/>
          <p:nvPr/>
        </p:nvSpPr>
        <p:spPr>
          <a:xfrm>
            <a:off x="1283970" y="3021330"/>
            <a:ext cx="7617333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Courier New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a[0]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100"/>
          <p:cNvSpPr/>
          <p:nvPr/>
        </p:nvSpPr>
        <p:spPr>
          <a:xfrm>
            <a:off x="9296400" y="2727960"/>
            <a:ext cx="8039100" cy="1051560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100"/>
          <p:cNvSpPr/>
          <p:nvPr/>
        </p:nvSpPr>
        <p:spPr>
          <a:xfrm>
            <a:off x="9627870" y="3021330"/>
            <a:ext cx="7617333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Courier New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a[-2]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100"/>
          <p:cNvSpPr/>
          <p:nvPr/>
        </p:nvSpPr>
        <p:spPr>
          <a:xfrm>
            <a:off x="952500" y="4084320"/>
            <a:ext cx="8039100" cy="1051560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100"/>
          <p:cNvSpPr/>
          <p:nvPr/>
        </p:nvSpPr>
        <p:spPr>
          <a:xfrm>
            <a:off x="1283970" y="4377690"/>
            <a:ext cx="7617333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Courier New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len(a)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100"/>
          <p:cNvSpPr/>
          <p:nvPr/>
        </p:nvSpPr>
        <p:spPr>
          <a:xfrm>
            <a:off x="9296400" y="4084320"/>
            <a:ext cx="8039100" cy="1051560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100"/>
          <p:cNvSpPr/>
          <p:nvPr/>
        </p:nvSpPr>
        <p:spPr>
          <a:xfrm>
            <a:off x="9627870" y="4377690"/>
            <a:ext cx="7617333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Courier New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a.count("m")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10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10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101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101"/>
          <p:cNvSpPr/>
          <p:nvPr/>
        </p:nvSpPr>
        <p:spPr>
          <a:xfrm>
            <a:off x="1684139" y="272796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Ask for a word and print its first character, its last character, and its length.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101"/>
          <p:cNvSpPr/>
          <p:nvPr/>
        </p:nvSpPr>
        <p:spPr>
          <a:xfrm>
            <a:off x="952500" y="413766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101"/>
          <p:cNvSpPr/>
          <p:nvPr/>
        </p:nvSpPr>
        <p:spPr>
          <a:xfrm>
            <a:off x="1684139" y="4076700"/>
            <a:ext cx="14523125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 how many times the letter a appears in a word the user types.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1" name="Google Shape;1611;p101"/>
          <p:cNvSpPr/>
          <p:nvPr/>
        </p:nvSpPr>
        <p:spPr>
          <a:xfrm>
            <a:off x="952500" y="498348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p101"/>
          <p:cNvSpPr/>
          <p:nvPr/>
        </p:nvSpPr>
        <p:spPr>
          <a:xfrm>
            <a:off x="1684139" y="4922520"/>
            <a:ext cx="1443092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 the middle character of a word with an odd number of letters.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10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10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102"/>
          <p:cNvSpPr/>
          <p:nvPr/>
        </p:nvSpPr>
        <p:spPr>
          <a:xfrm>
            <a:off x="952500" y="272796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102"/>
          <p:cNvSpPr/>
          <p:nvPr/>
        </p:nvSpPr>
        <p:spPr>
          <a:xfrm>
            <a:off x="1295400" y="307086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 any character by position, forwards or backwards.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102"/>
          <p:cNvSpPr/>
          <p:nvPr/>
        </p:nvSpPr>
        <p:spPr>
          <a:xfrm>
            <a:off x="9334500" y="272796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102"/>
          <p:cNvSpPr/>
          <p:nvPr/>
        </p:nvSpPr>
        <p:spPr>
          <a:xfrm>
            <a:off x="9677400" y="307086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Use len() and avoid the off-by-one error.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102"/>
          <p:cNvSpPr/>
          <p:nvPr/>
        </p:nvSpPr>
        <p:spPr>
          <a:xfrm>
            <a:off x="952500" y="470154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102"/>
          <p:cNvSpPr/>
          <p:nvPr/>
        </p:nvSpPr>
        <p:spPr>
          <a:xfrm>
            <a:off x="1295400" y="504444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Apply upper, lower, strip, replace, count and find.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102"/>
          <p:cNvSpPr/>
          <p:nvPr/>
        </p:nvSpPr>
        <p:spPr>
          <a:xfrm>
            <a:off x="9334500" y="470154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102"/>
          <p:cNvSpPr/>
          <p:nvPr/>
        </p:nvSpPr>
        <p:spPr>
          <a:xfrm>
            <a:off x="9677400" y="504444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Explain why a[0] = "w" is not allowed.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102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class: slicing, and reversing a string in one line.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103"/>
          <p:cNvSpPr/>
          <p:nvPr/>
        </p:nvSpPr>
        <p:spPr>
          <a:xfrm>
            <a:off x="952500" y="4085272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2 · STRINGS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103"/>
          <p:cNvSpPr/>
          <p:nvPr/>
        </p:nvSpPr>
        <p:spPr>
          <a:xfrm>
            <a:off x="952500" y="4854893"/>
            <a:ext cx="207664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07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103"/>
          <p:cNvSpPr/>
          <p:nvPr/>
        </p:nvSpPr>
        <p:spPr>
          <a:xfrm>
            <a:off x="3373755" y="5632132"/>
            <a:ext cx="8582513" cy="79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Slicing: Start, End, Step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10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07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10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p104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104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104"/>
          <p:cNvSpPr/>
          <p:nvPr/>
        </p:nvSpPr>
        <p:spPr>
          <a:xfrm>
            <a:off x="1646039" y="2727960"/>
            <a:ext cx="619901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Taking a piece out of a string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104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104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104"/>
          <p:cNvSpPr/>
          <p:nvPr/>
        </p:nvSpPr>
        <p:spPr>
          <a:xfrm>
            <a:off x="1646039" y="3771900"/>
            <a:ext cx="675694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Why the end position is left out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0" name="Google Shape;1650;p104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104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2" name="Google Shape;1652;p104"/>
          <p:cNvSpPr/>
          <p:nvPr/>
        </p:nvSpPr>
        <p:spPr>
          <a:xfrm>
            <a:off x="1646039" y="4815840"/>
            <a:ext cx="420972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Leaving parts blank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104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104"/>
          <p:cNvSpPr/>
          <p:nvPr/>
        </p:nvSpPr>
        <p:spPr>
          <a:xfrm>
            <a:off x="1646039" y="5859780"/>
            <a:ext cx="865952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Walking backwards with a negative step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105"/>
          <p:cNvSpPr/>
          <p:nvPr/>
        </p:nvSpPr>
        <p:spPr>
          <a:xfrm>
            <a:off x="952500" y="3434715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SHAPE OF A SLICE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105"/>
          <p:cNvSpPr/>
          <p:nvPr/>
        </p:nvSpPr>
        <p:spPr>
          <a:xfrm>
            <a:off x="952500" y="4288155"/>
            <a:ext cx="16874490" cy="998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JetBrains Mono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a[start : end : step]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105"/>
          <p:cNvSpPr/>
          <p:nvPr/>
        </p:nvSpPr>
        <p:spPr>
          <a:xfrm>
            <a:off x="952500" y="5743575"/>
            <a:ext cx="569976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1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start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105"/>
          <p:cNvSpPr/>
          <p:nvPr/>
        </p:nvSpPr>
        <p:spPr>
          <a:xfrm>
            <a:off x="952500" y="6265545"/>
            <a:ext cx="3925649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Where to begin. Included.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105"/>
          <p:cNvSpPr/>
          <p:nvPr/>
        </p:nvSpPr>
        <p:spPr>
          <a:xfrm>
            <a:off x="6553200" y="5743575"/>
            <a:ext cx="569976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1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105"/>
          <p:cNvSpPr/>
          <p:nvPr/>
        </p:nvSpPr>
        <p:spPr>
          <a:xfrm>
            <a:off x="6553200" y="6265545"/>
            <a:ext cx="4403311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Where to stop. Not included.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105"/>
          <p:cNvSpPr/>
          <p:nvPr/>
        </p:nvSpPr>
        <p:spPr>
          <a:xfrm>
            <a:off x="12153900" y="5743575"/>
            <a:ext cx="569976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1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105"/>
          <p:cNvSpPr/>
          <p:nvPr/>
        </p:nvSpPr>
        <p:spPr>
          <a:xfrm>
            <a:off x="12153900" y="6265545"/>
            <a:ext cx="4185879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How far to jump each time. Default 1.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10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10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end position is left out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p106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106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106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"elephant"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print(a[3:7])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print(a[3:8])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print(a[3:10])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106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106"/>
          <p:cNvSpPr/>
          <p:nvPr/>
        </p:nvSpPr>
        <p:spPr>
          <a:xfrm>
            <a:off x="2228850" y="5219700"/>
            <a:ext cx="15106650" cy="1819275"/>
          </a:xfrm>
          <a:prstGeom prst="roundRect">
            <a:avLst>
              <a:gd fmla="val 418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106"/>
          <p:cNvSpPr/>
          <p:nvPr/>
        </p:nvSpPr>
        <p:spPr>
          <a:xfrm>
            <a:off x="2533650" y="5486400"/>
            <a:ext cx="14950249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p106"/>
          <p:cNvSpPr/>
          <p:nvPr/>
        </p:nvSpPr>
        <p:spPr>
          <a:xfrm>
            <a:off x="952500" y="741997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 end past the last character is forgiven. A single index past the end is not.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10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10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Leaving a number out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9" name="Google Shape;1689;p107"/>
          <p:cNvSpPr/>
          <p:nvPr/>
        </p:nvSpPr>
        <p:spPr>
          <a:xfrm>
            <a:off x="952500" y="2727960"/>
            <a:ext cx="7943850" cy="2834640"/>
          </a:xfrm>
          <a:prstGeom prst="roundRect">
            <a:avLst>
              <a:gd fmla="val 268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107"/>
          <p:cNvSpPr/>
          <p:nvPr/>
        </p:nvSpPr>
        <p:spPr>
          <a:xfrm>
            <a:off x="1264920" y="3002280"/>
            <a:ext cx="7557325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"elephant"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print(a[:4])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print(a[4:])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print(a[:])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print(a[3:len(a)])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p107"/>
          <p:cNvSpPr/>
          <p:nvPr/>
        </p:nvSpPr>
        <p:spPr>
          <a:xfrm>
            <a:off x="9391650" y="2727960"/>
            <a:ext cx="7943850" cy="2834640"/>
          </a:xfrm>
          <a:prstGeom prst="roundRect">
            <a:avLst>
              <a:gd fmla="val 268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107"/>
          <p:cNvSpPr/>
          <p:nvPr/>
        </p:nvSpPr>
        <p:spPr>
          <a:xfrm>
            <a:off x="9696450" y="2994660"/>
            <a:ext cx="7572566" cy="2339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elep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elephant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107"/>
          <p:cNvSpPr/>
          <p:nvPr/>
        </p:nvSpPr>
        <p:spPr>
          <a:xfrm>
            <a:off x="952500" y="60198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Blank start means from the beginning. Blank end means to the very end.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p10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10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Jumping with a step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p108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108"/>
          <p:cNvSpPr/>
          <p:nvPr/>
        </p:nvSpPr>
        <p:spPr>
          <a:xfrm>
            <a:off x="2228850" y="2727960"/>
            <a:ext cx="15106650" cy="1834515"/>
          </a:xfrm>
          <a:prstGeom prst="roundRect">
            <a:avLst>
              <a:gd fmla="val 415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108"/>
          <p:cNvSpPr/>
          <p:nvPr/>
        </p:nvSpPr>
        <p:spPr>
          <a:xfrm>
            <a:off x="2541270" y="3002280"/>
            <a:ext cx="1493501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"elephant"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print(a[0:7:2])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print(a[::3])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p108"/>
          <p:cNvSpPr/>
          <p:nvPr/>
        </p:nvSpPr>
        <p:spPr>
          <a:xfrm>
            <a:off x="952500" y="503872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108"/>
          <p:cNvSpPr/>
          <p:nvPr/>
        </p:nvSpPr>
        <p:spPr>
          <a:xfrm>
            <a:off x="2228850" y="4791075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108"/>
          <p:cNvSpPr/>
          <p:nvPr/>
        </p:nvSpPr>
        <p:spPr>
          <a:xfrm>
            <a:off x="2533650" y="5057775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eehn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eph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108"/>
          <p:cNvSpPr/>
          <p:nvPr/>
        </p:nvSpPr>
        <p:spPr>
          <a:xfrm>
            <a:off x="952500" y="656272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Positions 0, 2, 4, 6. The end at 7 still stops it before the last 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10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10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Walking backwards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109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[3]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109"/>
          <p:cNvSpPr/>
          <p:nvPr/>
        </p:nvSpPr>
        <p:spPr>
          <a:xfrm>
            <a:off x="2228850" y="2727960"/>
            <a:ext cx="15106650" cy="1834515"/>
          </a:xfrm>
          <a:prstGeom prst="roundRect">
            <a:avLst>
              <a:gd fmla="val 415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109"/>
          <p:cNvSpPr/>
          <p:nvPr/>
        </p:nvSpPr>
        <p:spPr>
          <a:xfrm>
            <a:off x="2541270" y="3002280"/>
            <a:ext cx="1493501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"elephant"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print(a[7:3:-1])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print(a[-1:-4:-1])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109"/>
          <p:cNvSpPr/>
          <p:nvPr/>
        </p:nvSpPr>
        <p:spPr>
          <a:xfrm>
            <a:off x="952500" y="503872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109"/>
          <p:cNvSpPr/>
          <p:nvPr/>
        </p:nvSpPr>
        <p:spPr>
          <a:xfrm>
            <a:off x="2228850" y="4791075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109"/>
          <p:cNvSpPr/>
          <p:nvPr/>
        </p:nvSpPr>
        <p:spPr>
          <a:xfrm>
            <a:off x="2533650" y="5057775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tnah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tna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109"/>
          <p:cNvSpPr/>
          <p:nvPr/>
        </p:nvSpPr>
        <p:spPr>
          <a:xfrm>
            <a:off x="952500" y="656272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end is still excluded. Position 3 never appears.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11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TRAP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11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slice that returns nothing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110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[4]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0" name="Google Shape;1730;p110"/>
          <p:cNvSpPr/>
          <p:nvPr/>
        </p:nvSpPr>
        <p:spPr>
          <a:xfrm>
            <a:off x="2228850" y="2727960"/>
            <a:ext cx="15106650" cy="1834515"/>
          </a:xfrm>
          <a:prstGeom prst="roundRect">
            <a:avLst>
              <a:gd fmla="val 415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110"/>
          <p:cNvSpPr/>
          <p:nvPr/>
        </p:nvSpPr>
        <p:spPr>
          <a:xfrm>
            <a:off x="2541270" y="3002280"/>
            <a:ext cx="1493501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"elephant"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print(a[7:-1:-1])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print(a[5:2])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p110"/>
          <p:cNvSpPr/>
          <p:nvPr/>
        </p:nvSpPr>
        <p:spPr>
          <a:xfrm>
            <a:off x="952500" y="503872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p110"/>
          <p:cNvSpPr/>
          <p:nvPr/>
        </p:nvSpPr>
        <p:spPr>
          <a:xfrm>
            <a:off x="2228850" y="4791075"/>
            <a:ext cx="15106650" cy="533400"/>
          </a:xfrm>
          <a:prstGeom prst="roundRect">
            <a:avLst>
              <a:gd fmla="val 14286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110"/>
          <p:cNvSpPr/>
          <p:nvPr/>
        </p:nvSpPr>
        <p:spPr>
          <a:xfrm>
            <a:off x="952500" y="577786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Two blank lines. When start and end point the wrong way, you get an empty string rather than an error.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11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11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Reversing a string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111"/>
          <p:cNvSpPr/>
          <p:nvPr/>
        </p:nvSpPr>
        <p:spPr>
          <a:xfrm>
            <a:off x="952500" y="2727960"/>
            <a:ext cx="7943850" cy="2377440"/>
          </a:xfrm>
          <a:prstGeom prst="roundRect">
            <a:avLst>
              <a:gd fmla="val 320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3" name="Google Shape;1743;p111"/>
          <p:cNvSpPr/>
          <p:nvPr/>
        </p:nvSpPr>
        <p:spPr>
          <a:xfrm>
            <a:off x="1264920" y="3002280"/>
            <a:ext cx="7557325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"elephant"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print(a[-1:-len(a)-1:-1])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print(a[-1::-1])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print(a[::-1])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111"/>
          <p:cNvSpPr/>
          <p:nvPr/>
        </p:nvSpPr>
        <p:spPr>
          <a:xfrm>
            <a:off x="9391650" y="2727960"/>
            <a:ext cx="7943850" cy="2377440"/>
          </a:xfrm>
          <a:prstGeom prst="roundRect">
            <a:avLst>
              <a:gd fmla="val 320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111"/>
          <p:cNvSpPr/>
          <p:nvPr/>
        </p:nvSpPr>
        <p:spPr>
          <a:xfrm>
            <a:off x="9696450" y="2994660"/>
            <a:ext cx="7572566" cy="1882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tnahpele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tnahpele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tnahpele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p111"/>
          <p:cNvSpPr/>
          <p:nvPr/>
        </p:nvSpPr>
        <p:spPr>
          <a:xfrm>
            <a:off x="952500" y="55626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All three do the same thing. Write the short one.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11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p11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Slices of "elephant"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p112"/>
          <p:cNvSpPr/>
          <p:nvPr/>
        </p:nvSpPr>
        <p:spPr>
          <a:xfrm>
            <a:off x="952500" y="272796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112"/>
          <p:cNvSpPr/>
          <p:nvPr/>
        </p:nvSpPr>
        <p:spPr>
          <a:xfrm>
            <a:off x="952500" y="3444240"/>
            <a:ext cx="4818459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112"/>
          <p:cNvSpPr/>
          <p:nvPr/>
        </p:nvSpPr>
        <p:spPr>
          <a:xfrm>
            <a:off x="1181100" y="2914650"/>
            <a:ext cx="450581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7" name="Google Shape;1757;p112"/>
          <p:cNvSpPr/>
          <p:nvPr/>
        </p:nvSpPr>
        <p:spPr>
          <a:xfrm>
            <a:off x="5770959" y="3444240"/>
            <a:ext cx="674596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112"/>
          <p:cNvSpPr/>
          <p:nvPr/>
        </p:nvSpPr>
        <p:spPr>
          <a:xfrm>
            <a:off x="5999559" y="2914650"/>
            <a:ext cx="649114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POSITIONS VISITED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p112"/>
          <p:cNvSpPr/>
          <p:nvPr/>
        </p:nvSpPr>
        <p:spPr>
          <a:xfrm>
            <a:off x="12516922" y="3444240"/>
            <a:ext cx="4818459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112"/>
          <p:cNvSpPr/>
          <p:nvPr/>
        </p:nvSpPr>
        <p:spPr>
          <a:xfrm>
            <a:off x="12745522" y="2914650"/>
            <a:ext cx="450581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1" name="Google Shape;1761;p112"/>
          <p:cNvSpPr/>
          <p:nvPr/>
        </p:nvSpPr>
        <p:spPr>
          <a:xfrm>
            <a:off x="952500" y="4221480"/>
            <a:ext cx="4818459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112"/>
          <p:cNvSpPr/>
          <p:nvPr/>
        </p:nvSpPr>
        <p:spPr>
          <a:xfrm>
            <a:off x="1181100" y="3623310"/>
            <a:ext cx="450581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a[0:3]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112"/>
          <p:cNvSpPr/>
          <p:nvPr/>
        </p:nvSpPr>
        <p:spPr>
          <a:xfrm>
            <a:off x="5770959" y="4221480"/>
            <a:ext cx="674596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112"/>
          <p:cNvSpPr/>
          <p:nvPr/>
        </p:nvSpPr>
        <p:spPr>
          <a:xfrm>
            <a:off x="5999559" y="3623310"/>
            <a:ext cx="649114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0, 1, 2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112"/>
          <p:cNvSpPr/>
          <p:nvPr/>
        </p:nvSpPr>
        <p:spPr>
          <a:xfrm>
            <a:off x="12516922" y="4221480"/>
            <a:ext cx="4818459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112"/>
          <p:cNvSpPr/>
          <p:nvPr/>
        </p:nvSpPr>
        <p:spPr>
          <a:xfrm>
            <a:off x="12745522" y="3623310"/>
            <a:ext cx="450581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p112"/>
          <p:cNvSpPr/>
          <p:nvPr/>
        </p:nvSpPr>
        <p:spPr>
          <a:xfrm>
            <a:off x="952500" y="4998720"/>
            <a:ext cx="4818459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112"/>
          <p:cNvSpPr/>
          <p:nvPr/>
        </p:nvSpPr>
        <p:spPr>
          <a:xfrm>
            <a:off x="1181100" y="4400550"/>
            <a:ext cx="450581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a[2:6:2]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112"/>
          <p:cNvSpPr/>
          <p:nvPr/>
        </p:nvSpPr>
        <p:spPr>
          <a:xfrm>
            <a:off x="5770959" y="4998720"/>
            <a:ext cx="674596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112"/>
          <p:cNvSpPr/>
          <p:nvPr/>
        </p:nvSpPr>
        <p:spPr>
          <a:xfrm>
            <a:off x="5999559" y="4400550"/>
            <a:ext cx="649114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2, 4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112"/>
          <p:cNvSpPr/>
          <p:nvPr/>
        </p:nvSpPr>
        <p:spPr>
          <a:xfrm>
            <a:off x="12516922" y="4998720"/>
            <a:ext cx="4818459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112"/>
          <p:cNvSpPr/>
          <p:nvPr/>
        </p:nvSpPr>
        <p:spPr>
          <a:xfrm>
            <a:off x="12745522" y="4400550"/>
            <a:ext cx="450581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p112"/>
          <p:cNvSpPr/>
          <p:nvPr/>
        </p:nvSpPr>
        <p:spPr>
          <a:xfrm>
            <a:off x="952500" y="5775960"/>
            <a:ext cx="4818459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112"/>
          <p:cNvSpPr/>
          <p:nvPr/>
        </p:nvSpPr>
        <p:spPr>
          <a:xfrm>
            <a:off x="1181100" y="5177790"/>
            <a:ext cx="450581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a[-3:]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5" name="Google Shape;1775;p112"/>
          <p:cNvSpPr/>
          <p:nvPr/>
        </p:nvSpPr>
        <p:spPr>
          <a:xfrm>
            <a:off x="5770959" y="5775960"/>
            <a:ext cx="674596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112"/>
          <p:cNvSpPr/>
          <p:nvPr/>
        </p:nvSpPr>
        <p:spPr>
          <a:xfrm>
            <a:off x="5999559" y="5177790"/>
            <a:ext cx="649114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5, 6, 7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p112"/>
          <p:cNvSpPr/>
          <p:nvPr/>
        </p:nvSpPr>
        <p:spPr>
          <a:xfrm>
            <a:off x="12516922" y="5775960"/>
            <a:ext cx="4818459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112"/>
          <p:cNvSpPr/>
          <p:nvPr/>
        </p:nvSpPr>
        <p:spPr>
          <a:xfrm>
            <a:off x="12745522" y="5177790"/>
            <a:ext cx="450581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112"/>
          <p:cNvSpPr/>
          <p:nvPr/>
        </p:nvSpPr>
        <p:spPr>
          <a:xfrm>
            <a:off x="952500" y="6553200"/>
            <a:ext cx="4818459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112"/>
          <p:cNvSpPr/>
          <p:nvPr/>
        </p:nvSpPr>
        <p:spPr>
          <a:xfrm>
            <a:off x="1181100" y="5955030"/>
            <a:ext cx="450581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a[::-2]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112"/>
          <p:cNvSpPr/>
          <p:nvPr/>
        </p:nvSpPr>
        <p:spPr>
          <a:xfrm>
            <a:off x="5770959" y="6553200"/>
            <a:ext cx="674596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112"/>
          <p:cNvSpPr/>
          <p:nvPr/>
        </p:nvSpPr>
        <p:spPr>
          <a:xfrm>
            <a:off x="5999559" y="5955030"/>
            <a:ext cx="649114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7, 5, 3, 1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112"/>
          <p:cNvSpPr/>
          <p:nvPr/>
        </p:nvSpPr>
        <p:spPr>
          <a:xfrm>
            <a:off x="12516922" y="6553200"/>
            <a:ext cx="4818459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112"/>
          <p:cNvSpPr/>
          <p:nvPr/>
        </p:nvSpPr>
        <p:spPr>
          <a:xfrm>
            <a:off x="12745522" y="5955030"/>
            <a:ext cx="450581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tahl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112"/>
          <p:cNvSpPr/>
          <p:nvPr/>
        </p:nvSpPr>
        <p:spPr>
          <a:xfrm>
            <a:off x="1181100" y="6732270"/>
            <a:ext cx="450581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a[4:2]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112"/>
          <p:cNvSpPr/>
          <p:nvPr/>
        </p:nvSpPr>
        <p:spPr>
          <a:xfrm>
            <a:off x="5999559" y="6732270"/>
            <a:ext cx="649114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none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7" name="Google Shape;1787;p112"/>
          <p:cNvSpPr/>
          <p:nvPr/>
        </p:nvSpPr>
        <p:spPr>
          <a:xfrm>
            <a:off x="12745522" y="6732270"/>
            <a:ext cx="450581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empty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11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APPLICATION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4" name="Google Shape;1794;p11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palindrome reads the same reversed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113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[5]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6" name="Google Shape;1796;p113"/>
          <p:cNvSpPr/>
          <p:nvPr/>
        </p:nvSpPr>
        <p:spPr>
          <a:xfrm>
            <a:off x="2228850" y="2727960"/>
            <a:ext cx="15106650" cy="2691765"/>
          </a:xfrm>
          <a:prstGeom prst="roundRect">
            <a:avLst>
              <a:gd fmla="val 283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113"/>
          <p:cNvSpPr/>
          <p:nvPr/>
        </p:nvSpPr>
        <p:spPr>
          <a:xfrm>
            <a:off x="2541270" y="3002280"/>
            <a:ext cx="14935010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"noon"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print(a[::-1] == a)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"apple"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print(a[::-1] == a)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p113"/>
          <p:cNvSpPr/>
          <p:nvPr/>
        </p:nvSpPr>
        <p:spPr>
          <a:xfrm>
            <a:off x="952500" y="58959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9" name="Google Shape;1799;p113"/>
          <p:cNvSpPr/>
          <p:nvPr/>
        </p:nvSpPr>
        <p:spPr>
          <a:xfrm>
            <a:off x="2228850" y="5648325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113"/>
          <p:cNvSpPr/>
          <p:nvPr/>
        </p:nvSpPr>
        <p:spPr>
          <a:xfrm>
            <a:off x="2533650" y="5915025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p113"/>
          <p:cNvSpPr/>
          <p:nvPr/>
        </p:nvSpPr>
        <p:spPr>
          <a:xfrm>
            <a:off x="952500" y="741997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eye, noon, madam, racecar all pass this test.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11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11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step of zero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9" name="Google Shape;1809;p114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[6]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114"/>
          <p:cNvSpPr/>
          <p:nvPr/>
        </p:nvSpPr>
        <p:spPr>
          <a:xfrm>
            <a:off x="2228850" y="2727960"/>
            <a:ext cx="15106650" cy="922020"/>
          </a:xfrm>
          <a:prstGeom prst="roundRect">
            <a:avLst>
              <a:gd fmla="val 826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114"/>
          <p:cNvSpPr/>
          <p:nvPr/>
        </p:nvSpPr>
        <p:spPr>
          <a:xfrm>
            <a:off x="2541270" y="3002280"/>
            <a:ext cx="1493501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print("elephant"[::0])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2" name="Google Shape;1812;p114"/>
          <p:cNvSpPr/>
          <p:nvPr/>
        </p:nvSpPr>
        <p:spPr>
          <a:xfrm>
            <a:off x="952500" y="412623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114"/>
          <p:cNvSpPr/>
          <p:nvPr/>
        </p:nvSpPr>
        <p:spPr>
          <a:xfrm>
            <a:off x="2228850" y="3878580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4" name="Google Shape;1814;p114"/>
          <p:cNvSpPr/>
          <p:nvPr/>
        </p:nvSpPr>
        <p:spPr>
          <a:xfrm>
            <a:off x="2533650" y="4145280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ValueError: slice step cannot be zero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11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11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slice is a new string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115"/>
          <p:cNvSpPr/>
          <p:nvPr/>
        </p:nvSpPr>
        <p:spPr>
          <a:xfrm>
            <a:off x="952500" y="2727960"/>
            <a:ext cx="14716125" cy="11696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Slicing never edits the original. It hands you a fresh piece of text, which you keep only if you assign it.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115"/>
          <p:cNvSpPr/>
          <p:nvPr/>
        </p:nvSpPr>
        <p:spPr>
          <a:xfrm>
            <a:off x="952500" y="4278630"/>
            <a:ext cx="16383000" cy="1920240"/>
          </a:xfrm>
          <a:prstGeom prst="roundRect">
            <a:avLst>
              <a:gd fmla="val 396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115"/>
          <p:cNvSpPr/>
          <p:nvPr/>
        </p:nvSpPr>
        <p:spPr>
          <a:xfrm>
            <a:off x="1264920" y="4552950"/>
            <a:ext cx="1624965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"elephant"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a[0:4]          # made, then thrown away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first = a[0:4]  # kept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p11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QUICK 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1" name="Google Shape;1831;p11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= "computer". What comes back?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p116"/>
          <p:cNvSpPr/>
          <p:nvPr/>
        </p:nvSpPr>
        <p:spPr>
          <a:xfrm>
            <a:off x="952500" y="2727960"/>
            <a:ext cx="8039100" cy="1051560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116"/>
          <p:cNvSpPr/>
          <p:nvPr/>
        </p:nvSpPr>
        <p:spPr>
          <a:xfrm>
            <a:off x="1283970" y="3021330"/>
            <a:ext cx="7617333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Courier New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a[1:5]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116"/>
          <p:cNvSpPr/>
          <p:nvPr/>
        </p:nvSpPr>
        <p:spPr>
          <a:xfrm>
            <a:off x="9296400" y="2727960"/>
            <a:ext cx="8039100" cy="1051560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p116"/>
          <p:cNvSpPr/>
          <p:nvPr/>
        </p:nvSpPr>
        <p:spPr>
          <a:xfrm>
            <a:off x="9627870" y="3021330"/>
            <a:ext cx="7617333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Courier New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a[::-1]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p116"/>
          <p:cNvSpPr/>
          <p:nvPr/>
        </p:nvSpPr>
        <p:spPr>
          <a:xfrm>
            <a:off x="952500" y="4084320"/>
            <a:ext cx="8039100" cy="1051560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116"/>
          <p:cNvSpPr/>
          <p:nvPr/>
        </p:nvSpPr>
        <p:spPr>
          <a:xfrm>
            <a:off x="1283970" y="4377690"/>
            <a:ext cx="7617333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Courier New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a[-4:]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116"/>
          <p:cNvSpPr/>
          <p:nvPr/>
        </p:nvSpPr>
        <p:spPr>
          <a:xfrm>
            <a:off x="9296400" y="4084320"/>
            <a:ext cx="8039100" cy="1051560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116"/>
          <p:cNvSpPr/>
          <p:nvPr/>
        </p:nvSpPr>
        <p:spPr>
          <a:xfrm>
            <a:off x="9627870" y="4377690"/>
            <a:ext cx="7617333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Courier New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a[2:2]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p11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11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7" name="Google Shape;1847;p117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8" name="Google Shape;1848;p117"/>
          <p:cNvSpPr/>
          <p:nvPr/>
        </p:nvSpPr>
        <p:spPr>
          <a:xfrm>
            <a:off x="1684139" y="2727960"/>
            <a:ext cx="12089725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Ask for a word and print its first half and its second half.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9" name="Google Shape;1849;p117"/>
          <p:cNvSpPr/>
          <p:nvPr/>
        </p:nvSpPr>
        <p:spPr>
          <a:xfrm>
            <a:off x="952500" y="363474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0" name="Google Shape;1850;p117"/>
          <p:cNvSpPr/>
          <p:nvPr/>
        </p:nvSpPr>
        <p:spPr>
          <a:xfrm>
            <a:off x="1684139" y="357378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 every second character of a word, then every second character of its reverse.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p117"/>
          <p:cNvSpPr/>
          <p:nvPr/>
        </p:nvSpPr>
        <p:spPr>
          <a:xfrm>
            <a:off x="952500" y="498348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117"/>
          <p:cNvSpPr/>
          <p:nvPr/>
        </p:nvSpPr>
        <p:spPr>
          <a:xfrm>
            <a:off x="1684139" y="492252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 True or False for whether a word the user types is a palindrome.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11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2 COMPLETE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p11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0" name="Google Shape;1860;p118"/>
          <p:cNvSpPr/>
          <p:nvPr/>
        </p:nvSpPr>
        <p:spPr>
          <a:xfrm>
            <a:off x="952500" y="272796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118"/>
          <p:cNvSpPr/>
          <p:nvPr/>
        </p:nvSpPr>
        <p:spPr>
          <a:xfrm>
            <a:off x="1295400" y="307086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Take any piece out of a string with start, end and step.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118"/>
          <p:cNvSpPr/>
          <p:nvPr/>
        </p:nvSpPr>
        <p:spPr>
          <a:xfrm>
            <a:off x="9334500" y="272796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118"/>
          <p:cNvSpPr/>
          <p:nvPr/>
        </p:nvSpPr>
        <p:spPr>
          <a:xfrm>
            <a:off x="9677400" y="307086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Explain why the end position is excluded.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4" name="Google Shape;1864;p118"/>
          <p:cNvSpPr/>
          <p:nvPr/>
        </p:nvSpPr>
        <p:spPr>
          <a:xfrm>
            <a:off x="952500" y="470154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118"/>
          <p:cNvSpPr/>
          <p:nvPr/>
        </p:nvSpPr>
        <p:spPr>
          <a:xfrm>
            <a:off x="1295400" y="504444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Reverse a string with a[::-1].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6" name="Google Shape;1866;p118"/>
          <p:cNvSpPr/>
          <p:nvPr/>
        </p:nvSpPr>
        <p:spPr>
          <a:xfrm>
            <a:off x="9334500" y="470154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118"/>
          <p:cNvSpPr/>
          <p:nvPr/>
        </p:nvSpPr>
        <p:spPr>
          <a:xfrm>
            <a:off x="9677400" y="504444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Test a word for being a palindrome.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118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class: making the program decide.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119"/>
          <p:cNvSpPr/>
          <p:nvPr/>
        </p:nvSpPr>
        <p:spPr>
          <a:xfrm>
            <a:off x="952500" y="3705225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3 · DECISIONS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5" name="Google Shape;1875;p119"/>
          <p:cNvSpPr/>
          <p:nvPr/>
        </p:nvSpPr>
        <p:spPr>
          <a:xfrm>
            <a:off x="952500" y="4474845"/>
            <a:ext cx="2344865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08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p119"/>
          <p:cNvSpPr/>
          <p:nvPr/>
        </p:nvSpPr>
        <p:spPr>
          <a:xfrm>
            <a:off x="3617595" y="5252085"/>
            <a:ext cx="10791825" cy="15582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Conditional Statements: if and else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12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08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3" name="Google Shape;1883;p12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4" name="Google Shape;1884;p120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120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p120"/>
          <p:cNvSpPr/>
          <p:nvPr/>
        </p:nvSpPr>
        <p:spPr>
          <a:xfrm>
            <a:off x="1646039" y="2727960"/>
            <a:ext cx="915235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Running code only when a condition holds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7" name="Google Shape;1887;p120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8" name="Google Shape;1888;p120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p120"/>
          <p:cNvSpPr/>
          <p:nvPr/>
        </p:nvSpPr>
        <p:spPr>
          <a:xfrm>
            <a:off x="1646039" y="3771900"/>
            <a:ext cx="7175647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colon and the indented block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p120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1" name="Google Shape;1891;p120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p120"/>
          <p:cNvSpPr/>
          <p:nvPr/>
        </p:nvSpPr>
        <p:spPr>
          <a:xfrm>
            <a:off x="1646039" y="4815840"/>
            <a:ext cx="605245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else, and what it attaches to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3" name="Google Shape;1893;p120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4" name="Google Shape;1894;p120"/>
          <p:cNvSpPr/>
          <p:nvPr/>
        </p:nvSpPr>
        <p:spPr>
          <a:xfrm>
            <a:off x="1646039" y="5859780"/>
            <a:ext cx="728330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Two separate ifs are not an if/else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p12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1" name="Google Shape;1901;p12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Anatomy of an if statement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2" name="Google Shape;1902;p121"/>
          <p:cNvSpPr/>
          <p:nvPr/>
        </p:nvSpPr>
        <p:spPr>
          <a:xfrm>
            <a:off x="952500" y="2727960"/>
            <a:ext cx="16383000" cy="2072640"/>
          </a:xfrm>
          <a:prstGeom prst="roundRect">
            <a:avLst>
              <a:gd fmla="val 367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3" name="Google Shape;1903;p121"/>
          <p:cNvSpPr/>
          <p:nvPr/>
        </p:nvSpPr>
        <p:spPr>
          <a:xfrm>
            <a:off x="1341120" y="3078480"/>
            <a:ext cx="1609725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924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600"/>
              <a:buFont typeface="JetBrains Mono"/>
              <a:buNone/>
            </a:pPr>
            <a:r>
              <a:rPr b="0" i="0" lang="en-US" sz="36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2 == 0: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924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600"/>
              <a:buFont typeface="JetBrains Mono"/>
              <a:buNone/>
            </a:pPr>
            <a:r>
              <a:rPr b="0" i="0" lang="en-US" sz="36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print("even")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121"/>
          <p:cNvSpPr/>
          <p:nvPr/>
        </p:nvSpPr>
        <p:spPr>
          <a:xfrm>
            <a:off x="952500" y="5295900"/>
            <a:ext cx="569976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1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condition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p121"/>
          <p:cNvSpPr/>
          <p:nvPr/>
        </p:nvSpPr>
        <p:spPr>
          <a:xfrm>
            <a:off x="952500" y="5905500"/>
            <a:ext cx="3807552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Anything that is True or False.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p121"/>
          <p:cNvSpPr/>
          <p:nvPr/>
        </p:nvSpPr>
        <p:spPr>
          <a:xfrm>
            <a:off x="6553200" y="5295900"/>
            <a:ext cx="569976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1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colon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7" name="Google Shape;1907;p121"/>
          <p:cNvSpPr/>
          <p:nvPr/>
        </p:nvSpPr>
        <p:spPr>
          <a:xfrm>
            <a:off x="6553200" y="5905500"/>
            <a:ext cx="4840257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Says a block follows. Forgetting it is a SyntaxError.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8" name="Google Shape;1908;p121"/>
          <p:cNvSpPr/>
          <p:nvPr/>
        </p:nvSpPr>
        <p:spPr>
          <a:xfrm>
            <a:off x="12153900" y="5295900"/>
            <a:ext cx="569976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1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indent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9" name="Google Shape;1909;p121"/>
          <p:cNvSpPr/>
          <p:nvPr/>
        </p:nvSpPr>
        <p:spPr>
          <a:xfrm>
            <a:off x="12153900" y="5905500"/>
            <a:ext cx="524703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Four spaces. The indented lines are what runs.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p12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6" name="Google Shape;1916;p12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One of two paths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7" name="Google Shape;1917;p122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p122"/>
          <p:cNvSpPr/>
          <p:nvPr/>
        </p:nvSpPr>
        <p:spPr>
          <a:xfrm>
            <a:off x="2228850" y="2727960"/>
            <a:ext cx="15106650" cy="2691765"/>
          </a:xfrm>
          <a:prstGeom prst="roundRect">
            <a:avLst>
              <a:gd fmla="val 283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122"/>
          <p:cNvSpPr/>
          <p:nvPr/>
        </p:nvSpPr>
        <p:spPr>
          <a:xfrm>
            <a:off x="2541270" y="3002280"/>
            <a:ext cx="14935010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610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2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print("a is an even number")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print("a is an odd number")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0" name="Google Shape;1920;p122"/>
          <p:cNvSpPr/>
          <p:nvPr/>
        </p:nvSpPr>
        <p:spPr>
          <a:xfrm>
            <a:off x="952500" y="58959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1" name="Google Shape;1921;p122"/>
          <p:cNvSpPr/>
          <p:nvPr/>
        </p:nvSpPr>
        <p:spPr>
          <a:xfrm>
            <a:off x="2228850" y="5648325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p122"/>
          <p:cNvSpPr/>
          <p:nvPr/>
        </p:nvSpPr>
        <p:spPr>
          <a:xfrm>
            <a:off x="2533650" y="5915025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is an even number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3" name="Google Shape;1923;p122"/>
          <p:cNvSpPr/>
          <p:nvPr/>
        </p:nvSpPr>
        <p:spPr>
          <a:xfrm>
            <a:off x="952500" y="693610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Exactly one of the two blocks runs. Never both, never neither.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p123"/>
          <p:cNvSpPr/>
          <p:nvPr/>
        </p:nvSpPr>
        <p:spPr>
          <a:xfrm>
            <a:off x="952500" y="355092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RULE THAT SURPRISES EVERYONE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123"/>
          <p:cNvSpPr/>
          <p:nvPr/>
        </p:nvSpPr>
        <p:spPr>
          <a:xfrm>
            <a:off x="952500" y="4328160"/>
            <a:ext cx="1471612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6000"/>
              <a:buFont typeface="Bricolage Grotesque"/>
              <a:buNone/>
            </a:pPr>
            <a:r>
              <a:rPr b="1" i="0" lang="en-US" sz="6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 Python, the spaces at the start of a line change what the program does.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1" name="Google Shape;1931;p123"/>
          <p:cNvSpPr/>
          <p:nvPr/>
        </p:nvSpPr>
        <p:spPr>
          <a:xfrm>
            <a:off x="952500" y="6423660"/>
            <a:ext cx="1802130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Four spaces in, and the line belongs to the if. Back at the margin, and it always runs.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p12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8" name="Google Shape;1938;p12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same lines, indented differently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p124"/>
          <p:cNvSpPr/>
          <p:nvPr/>
        </p:nvSpPr>
        <p:spPr>
          <a:xfrm>
            <a:off x="952500" y="2727960"/>
            <a:ext cx="7943850" cy="2225040"/>
          </a:xfrm>
          <a:prstGeom prst="roundRect">
            <a:avLst>
              <a:gd fmla="val 342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0" name="Google Shape;1940;p124"/>
          <p:cNvSpPr/>
          <p:nvPr/>
        </p:nvSpPr>
        <p:spPr>
          <a:xfrm>
            <a:off x="1245870" y="2983230"/>
            <a:ext cx="75954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2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print("even")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print("done")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1" name="Google Shape;1941;p124"/>
          <p:cNvSpPr/>
          <p:nvPr/>
        </p:nvSpPr>
        <p:spPr>
          <a:xfrm>
            <a:off x="952500" y="5143500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2" name="Google Shape;1942;p124"/>
          <p:cNvSpPr/>
          <p:nvPr/>
        </p:nvSpPr>
        <p:spPr>
          <a:xfrm>
            <a:off x="1238250" y="5391150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(nothing)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124"/>
          <p:cNvSpPr/>
          <p:nvPr/>
        </p:nvSpPr>
        <p:spPr>
          <a:xfrm>
            <a:off x="9391650" y="2727960"/>
            <a:ext cx="7943850" cy="2225040"/>
          </a:xfrm>
          <a:prstGeom prst="roundRect">
            <a:avLst>
              <a:gd fmla="val 342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124"/>
          <p:cNvSpPr/>
          <p:nvPr/>
        </p:nvSpPr>
        <p:spPr>
          <a:xfrm>
            <a:off x="9685020" y="2983230"/>
            <a:ext cx="75954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2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print("even")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print("done")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5" name="Google Shape;1945;p124"/>
          <p:cNvSpPr/>
          <p:nvPr/>
        </p:nvSpPr>
        <p:spPr>
          <a:xfrm>
            <a:off x="9391650" y="5143500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6" name="Google Shape;1946;p124"/>
          <p:cNvSpPr/>
          <p:nvPr/>
        </p:nvSpPr>
        <p:spPr>
          <a:xfrm>
            <a:off x="9677400" y="5391150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done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95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p12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3" name="Google Shape;1953;p12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Forgetting the indent, or the colon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p125"/>
          <p:cNvSpPr/>
          <p:nvPr/>
        </p:nvSpPr>
        <p:spPr>
          <a:xfrm>
            <a:off x="952500" y="272796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5" name="Google Shape;1955;p125"/>
          <p:cNvSpPr/>
          <p:nvPr/>
        </p:nvSpPr>
        <p:spPr>
          <a:xfrm>
            <a:off x="1245870" y="298323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2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print("even")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p125"/>
          <p:cNvSpPr/>
          <p:nvPr/>
        </p:nvSpPr>
        <p:spPr>
          <a:xfrm>
            <a:off x="952500" y="4286250"/>
            <a:ext cx="7943850" cy="1242060"/>
          </a:xfrm>
          <a:prstGeom prst="roundRect">
            <a:avLst>
              <a:gd fmla="val 6135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125"/>
          <p:cNvSpPr/>
          <p:nvPr/>
        </p:nvSpPr>
        <p:spPr>
          <a:xfrm>
            <a:off x="1238250" y="4533900"/>
            <a:ext cx="7610665" cy="78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IndentationError: expected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 indented block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8" name="Google Shape;1958;p125"/>
          <p:cNvSpPr/>
          <p:nvPr/>
        </p:nvSpPr>
        <p:spPr>
          <a:xfrm>
            <a:off x="9391650" y="272796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9" name="Google Shape;1959;p125"/>
          <p:cNvSpPr/>
          <p:nvPr/>
        </p:nvSpPr>
        <p:spPr>
          <a:xfrm>
            <a:off x="9685020" y="298323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2 ==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print("even")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0" name="Google Shape;1960;p125"/>
          <p:cNvSpPr/>
          <p:nvPr/>
        </p:nvSpPr>
        <p:spPr>
          <a:xfrm>
            <a:off x="9391650" y="4286250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125"/>
          <p:cNvSpPr/>
          <p:nvPr/>
        </p:nvSpPr>
        <p:spPr>
          <a:xfrm>
            <a:off x="9677400" y="4533900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SyntaxError: expected ':'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p12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8" name="Google Shape;1968;p12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Two ifs are two separate questions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9" name="Google Shape;1969;p126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0" name="Google Shape;1970;p126"/>
          <p:cNvSpPr/>
          <p:nvPr/>
        </p:nvSpPr>
        <p:spPr>
          <a:xfrm>
            <a:off x="2228850" y="2727960"/>
            <a:ext cx="15106650" cy="2691765"/>
          </a:xfrm>
          <a:prstGeom prst="roundRect">
            <a:avLst>
              <a:gd fmla="val 283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126"/>
          <p:cNvSpPr/>
          <p:nvPr/>
        </p:nvSpPr>
        <p:spPr>
          <a:xfrm>
            <a:off x="2541270" y="3002280"/>
            <a:ext cx="14935010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12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2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print("num is a multiple of 2")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3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print("num is a multiple of 3")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2" name="Google Shape;1972;p126"/>
          <p:cNvSpPr/>
          <p:nvPr/>
        </p:nvSpPr>
        <p:spPr>
          <a:xfrm>
            <a:off x="952500" y="58959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3" name="Google Shape;1973;p126"/>
          <p:cNvSpPr/>
          <p:nvPr/>
        </p:nvSpPr>
        <p:spPr>
          <a:xfrm>
            <a:off x="2228850" y="5648325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p126"/>
          <p:cNvSpPr/>
          <p:nvPr/>
        </p:nvSpPr>
        <p:spPr>
          <a:xfrm>
            <a:off x="2533650" y="5915025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 is a multiple of 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 is a multiple of 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979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12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1" name="Google Shape;1981;p12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Which if does the else belong to?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2" name="Google Shape;1982;p127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[3]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3" name="Google Shape;1983;p127"/>
          <p:cNvSpPr/>
          <p:nvPr/>
        </p:nvSpPr>
        <p:spPr>
          <a:xfrm>
            <a:off x="2228850" y="2727960"/>
            <a:ext cx="15106650" cy="3549015"/>
          </a:xfrm>
          <a:prstGeom prst="roundRect">
            <a:avLst>
              <a:gd fmla="val 214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127"/>
          <p:cNvSpPr/>
          <p:nvPr/>
        </p:nvSpPr>
        <p:spPr>
          <a:xfrm>
            <a:off x="2541270" y="3002280"/>
            <a:ext cx="14935010" cy="3038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2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print("num is a multiple of 2")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3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print("num is a multiple of 3")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print("Something else")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5" name="Google Shape;1985;p127"/>
          <p:cNvSpPr/>
          <p:nvPr/>
        </p:nvSpPr>
        <p:spPr>
          <a:xfrm>
            <a:off x="952500" y="675322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6" name="Google Shape;1986;p127"/>
          <p:cNvSpPr/>
          <p:nvPr/>
        </p:nvSpPr>
        <p:spPr>
          <a:xfrm>
            <a:off x="2228850" y="6505575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127"/>
          <p:cNvSpPr/>
          <p:nvPr/>
        </p:nvSpPr>
        <p:spPr>
          <a:xfrm>
            <a:off x="2533650" y="6772275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 is a multiple of 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Something else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8" name="Google Shape;1988;p127"/>
          <p:cNvSpPr/>
          <p:nvPr/>
        </p:nvSpPr>
        <p:spPr>
          <a:xfrm>
            <a:off x="952500" y="827722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else pairs with the if directly above it, not with both.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993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p12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5" name="Google Shape;1995;p12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Three values through the same code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6" name="Google Shape;1996;p128"/>
          <p:cNvSpPr/>
          <p:nvPr/>
        </p:nvSpPr>
        <p:spPr>
          <a:xfrm>
            <a:off x="952500" y="272796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7" name="Google Shape;1997;p128"/>
          <p:cNvSpPr/>
          <p:nvPr/>
        </p:nvSpPr>
        <p:spPr>
          <a:xfrm>
            <a:off x="952500" y="3482340"/>
            <a:ext cx="1143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8" name="Google Shape;1998;p128"/>
          <p:cNvSpPr/>
          <p:nvPr/>
        </p:nvSpPr>
        <p:spPr>
          <a:xfrm>
            <a:off x="1181100" y="2933700"/>
            <a:ext cx="7620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9" name="Google Shape;1999;p128"/>
          <p:cNvSpPr/>
          <p:nvPr/>
        </p:nvSpPr>
        <p:spPr>
          <a:xfrm>
            <a:off x="2095500" y="3482340"/>
            <a:ext cx="4233267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0" name="Google Shape;2000;p128"/>
          <p:cNvSpPr/>
          <p:nvPr/>
        </p:nvSpPr>
        <p:spPr>
          <a:xfrm>
            <a:off x="2324100" y="2933700"/>
            <a:ext cx="390306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% 2 == 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1" name="Google Shape;2001;p128"/>
          <p:cNvSpPr/>
          <p:nvPr/>
        </p:nvSpPr>
        <p:spPr>
          <a:xfrm>
            <a:off x="6328767" y="3482340"/>
            <a:ext cx="4233386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2" name="Google Shape;2002;p128"/>
          <p:cNvSpPr/>
          <p:nvPr/>
        </p:nvSpPr>
        <p:spPr>
          <a:xfrm>
            <a:off x="6557367" y="2933700"/>
            <a:ext cx="3903188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% 3 == 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128"/>
          <p:cNvSpPr/>
          <p:nvPr/>
        </p:nvSpPr>
        <p:spPr>
          <a:xfrm>
            <a:off x="10562154" y="3482340"/>
            <a:ext cx="6773228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128"/>
          <p:cNvSpPr/>
          <p:nvPr/>
        </p:nvSpPr>
        <p:spPr>
          <a:xfrm>
            <a:off x="10790754" y="2933700"/>
            <a:ext cx="651922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Google Shape;2005;p128"/>
          <p:cNvSpPr/>
          <p:nvPr/>
        </p:nvSpPr>
        <p:spPr>
          <a:xfrm>
            <a:off x="952500" y="4297680"/>
            <a:ext cx="1143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6" name="Google Shape;2006;p128"/>
          <p:cNvSpPr/>
          <p:nvPr/>
        </p:nvSpPr>
        <p:spPr>
          <a:xfrm>
            <a:off x="1181100" y="3680460"/>
            <a:ext cx="7620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7" name="Google Shape;2007;p128"/>
          <p:cNvSpPr/>
          <p:nvPr/>
        </p:nvSpPr>
        <p:spPr>
          <a:xfrm>
            <a:off x="2095500" y="4297680"/>
            <a:ext cx="4233267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128"/>
          <p:cNvSpPr/>
          <p:nvPr/>
        </p:nvSpPr>
        <p:spPr>
          <a:xfrm>
            <a:off x="2324100" y="3680460"/>
            <a:ext cx="390306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9" name="Google Shape;2009;p128"/>
          <p:cNvSpPr/>
          <p:nvPr/>
        </p:nvSpPr>
        <p:spPr>
          <a:xfrm>
            <a:off x="6328767" y="4297680"/>
            <a:ext cx="4233386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128"/>
          <p:cNvSpPr/>
          <p:nvPr/>
        </p:nvSpPr>
        <p:spPr>
          <a:xfrm>
            <a:off x="6557367" y="3680460"/>
            <a:ext cx="390318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1" name="Google Shape;2011;p128"/>
          <p:cNvSpPr/>
          <p:nvPr/>
        </p:nvSpPr>
        <p:spPr>
          <a:xfrm>
            <a:off x="10562154" y="4297680"/>
            <a:ext cx="6773228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2" name="Google Shape;2012;p128"/>
          <p:cNvSpPr/>
          <p:nvPr/>
        </p:nvSpPr>
        <p:spPr>
          <a:xfrm>
            <a:off x="10790754" y="3680460"/>
            <a:ext cx="651922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multiple of 2, multiple of 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128"/>
          <p:cNvSpPr/>
          <p:nvPr/>
        </p:nvSpPr>
        <p:spPr>
          <a:xfrm>
            <a:off x="952500" y="5113020"/>
            <a:ext cx="1143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128"/>
          <p:cNvSpPr/>
          <p:nvPr/>
        </p:nvSpPr>
        <p:spPr>
          <a:xfrm>
            <a:off x="1181100" y="4495800"/>
            <a:ext cx="7620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p128"/>
          <p:cNvSpPr/>
          <p:nvPr/>
        </p:nvSpPr>
        <p:spPr>
          <a:xfrm>
            <a:off x="2095500" y="5113020"/>
            <a:ext cx="4233267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128"/>
          <p:cNvSpPr/>
          <p:nvPr/>
        </p:nvSpPr>
        <p:spPr>
          <a:xfrm>
            <a:off x="2324100" y="4495800"/>
            <a:ext cx="390306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7" name="Google Shape;2017;p128"/>
          <p:cNvSpPr/>
          <p:nvPr/>
        </p:nvSpPr>
        <p:spPr>
          <a:xfrm>
            <a:off x="6328767" y="5113020"/>
            <a:ext cx="4233386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p128"/>
          <p:cNvSpPr/>
          <p:nvPr/>
        </p:nvSpPr>
        <p:spPr>
          <a:xfrm>
            <a:off x="6557367" y="4495800"/>
            <a:ext cx="390318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9" name="Google Shape;2019;p128"/>
          <p:cNvSpPr/>
          <p:nvPr/>
        </p:nvSpPr>
        <p:spPr>
          <a:xfrm>
            <a:off x="10562154" y="5113020"/>
            <a:ext cx="6773228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0" name="Google Shape;2020;p128"/>
          <p:cNvSpPr/>
          <p:nvPr/>
        </p:nvSpPr>
        <p:spPr>
          <a:xfrm>
            <a:off x="10790754" y="4495800"/>
            <a:ext cx="651922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multiple of 2, Something else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1" name="Google Shape;2021;p128"/>
          <p:cNvSpPr/>
          <p:nvPr/>
        </p:nvSpPr>
        <p:spPr>
          <a:xfrm>
            <a:off x="1181100" y="5311140"/>
            <a:ext cx="7620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2" name="Google Shape;2022;p128"/>
          <p:cNvSpPr/>
          <p:nvPr/>
        </p:nvSpPr>
        <p:spPr>
          <a:xfrm>
            <a:off x="2324100" y="5311140"/>
            <a:ext cx="390306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3" name="Google Shape;2023;p128"/>
          <p:cNvSpPr/>
          <p:nvPr/>
        </p:nvSpPr>
        <p:spPr>
          <a:xfrm>
            <a:off x="6557367" y="5311140"/>
            <a:ext cx="390318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128"/>
          <p:cNvSpPr/>
          <p:nvPr/>
        </p:nvSpPr>
        <p:spPr>
          <a:xfrm>
            <a:off x="10790754" y="5311140"/>
            <a:ext cx="651922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Something else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029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p12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1" name="Google Shape;2031;p12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condition is only a True or a False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2" name="Google Shape;2032;p129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CHECK IT ON ITS OWN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3" name="Google Shape;2033;p129"/>
          <p:cNvSpPr/>
          <p:nvPr/>
        </p:nvSpPr>
        <p:spPr>
          <a:xfrm>
            <a:off x="952500" y="3276600"/>
            <a:ext cx="7943850" cy="1796415"/>
          </a:xfrm>
          <a:prstGeom prst="roundRect">
            <a:avLst>
              <a:gd fmla="val 42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4" name="Google Shape;2034;p129"/>
          <p:cNvSpPr/>
          <p:nvPr/>
        </p:nvSpPr>
        <p:spPr>
          <a:xfrm>
            <a:off x="1245870" y="3531870"/>
            <a:ext cx="7595425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50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% 2 == 0)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&gt; 100)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5" name="Google Shape;2035;p129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THEN USE 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6" name="Google Shape;2036;p129"/>
          <p:cNvSpPr/>
          <p:nvPr/>
        </p:nvSpPr>
        <p:spPr>
          <a:xfrm>
            <a:off x="9391650" y="327660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7" name="Google Shape;2037;p129"/>
          <p:cNvSpPr/>
          <p:nvPr/>
        </p:nvSpPr>
        <p:spPr>
          <a:xfrm>
            <a:off x="9685020" y="353187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2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print("even")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8" name="Google Shape;2038;p129"/>
          <p:cNvSpPr/>
          <p:nvPr/>
        </p:nvSpPr>
        <p:spPr>
          <a:xfrm>
            <a:off x="952500" y="556831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When an if behaves oddly, print the condition by itself and look at it.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p13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REFERENCE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5" name="Google Shape;2045;p13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Comparison operators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6" name="Google Shape;2046;p130"/>
          <p:cNvSpPr/>
          <p:nvPr/>
        </p:nvSpPr>
        <p:spPr>
          <a:xfrm>
            <a:off x="952500" y="2727960"/>
            <a:ext cx="5232321" cy="1645920"/>
          </a:xfrm>
          <a:prstGeom prst="roundRect">
            <a:avLst>
              <a:gd fmla="val 463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130"/>
          <p:cNvSpPr/>
          <p:nvPr/>
        </p:nvSpPr>
        <p:spPr>
          <a:xfrm>
            <a:off x="1238250" y="3013710"/>
            <a:ext cx="5126903" cy="624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47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8" name="Google Shape;2048;p130"/>
          <p:cNvSpPr/>
          <p:nvPr/>
        </p:nvSpPr>
        <p:spPr>
          <a:xfrm>
            <a:off x="1238250" y="3737610"/>
            <a:ext cx="1623536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greater than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9" name="Google Shape;2049;p130"/>
          <p:cNvSpPr/>
          <p:nvPr/>
        </p:nvSpPr>
        <p:spPr>
          <a:xfrm>
            <a:off x="6527721" y="2727960"/>
            <a:ext cx="5232440" cy="1645920"/>
          </a:xfrm>
          <a:prstGeom prst="roundRect">
            <a:avLst>
              <a:gd fmla="val 463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0" name="Google Shape;2050;p130"/>
          <p:cNvSpPr/>
          <p:nvPr/>
        </p:nvSpPr>
        <p:spPr>
          <a:xfrm>
            <a:off x="6813471" y="3013710"/>
            <a:ext cx="5127034" cy="624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47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1" name="Google Shape;2051;p130"/>
          <p:cNvSpPr/>
          <p:nvPr/>
        </p:nvSpPr>
        <p:spPr>
          <a:xfrm>
            <a:off x="6813471" y="3737610"/>
            <a:ext cx="1213366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less than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2" name="Google Shape;2052;p130"/>
          <p:cNvSpPr/>
          <p:nvPr/>
        </p:nvSpPr>
        <p:spPr>
          <a:xfrm>
            <a:off x="12103060" y="2727960"/>
            <a:ext cx="5232440" cy="1645920"/>
          </a:xfrm>
          <a:prstGeom prst="roundRect">
            <a:avLst>
              <a:gd fmla="val 463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3" name="Google Shape;2053;p130"/>
          <p:cNvSpPr/>
          <p:nvPr/>
        </p:nvSpPr>
        <p:spPr>
          <a:xfrm>
            <a:off x="12388810" y="3013710"/>
            <a:ext cx="5127034" cy="624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47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&gt;=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p130"/>
          <p:cNvSpPr/>
          <p:nvPr/>
        </p:nvSpPr>
        <p:spPr>
          <a:xfrm>
            <a:off x="12388810" y="3737610"/>
            <a:ext cx="2713163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greater than or equal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5" name="Google Shape;2055;p130"/>
          <p:cNvSpPr/>
          <p:nvPr/>
        </p:nvSpPr>
        <p:spPr>
          <a:xfrm>
            <a:off x="952500" y="4716780"/>
            <a:ext cx="5232321" cy="1645920"/>
          </a:xfrm>
          <a:prstGeom prst="roundRect">
            <a:avLst>
              <a:gd fmla="val 463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6" name="Google Shape;2056;p130"/>
          <p:cNvSpPr/>
          <p:nvPr/>
        </p:nvSpPr>
        <p:spPr>
          <a:xfrm>
            <a:off x="1238250" y="5002530"/>
            <a:ext cx="5126903" cy="624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47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&lt;=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7" name="Google Shape;2057;p130"/>
          <p:cNvSpPr/>
          <p:nvPr/>
        </p:nvSpPr>
        <p:spPr>
          <a:xfrm>
            <a:off x="1238250" y="5726430"/>
            <a:ext cx="2300169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less than or equal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8" name="Google Shape;2058;p130"/>
          <p:cNvSpPr/>
          <p:nvPr/>
        </p:nvSpPr>
        <p:spPr>
          <a:xfrm>
            <a:off x="6527721" y="4716780"/>
            <a:ext cx="5232440" cy="1645920"/>
          </a:xfrm>
          <a:prstGeom prst="roundRect">
            <a:avLst>
              <a:gd fmla="val 463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9" name="Google Shape;2059;p130"/>
          <p:cNvSpPr/>
          <p:nvPr/>
        </p:nvSpPr>
        <p:spPr>
          <a:xfrm>
            <a:off x="6813471" y="5002530"/>
            <a:ext cx="5127034" cy="624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47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==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0" name="Google Shape;2060;p130"/>
          <p:cNvSpPr/>
          <p:nvPr/>
        </p:nvSpPr>
        <p:spPr>
          <a:xfrm>
            <a:off x="6813471" y="5726430"/>
            <a:ext cx="1085731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equal to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1" name="Google Shape;2061;p130"/>
          <p:cNvSpPr/>
          <p:nvPr/>
        </p:nvSpPr>
        <p:spPr>
          <a:xfrm>
            <a:off x="12103060" y="4716780"/>
            <a:ext cx="5232440" cy="1645920"/>
          </a:xfrm>
          <a:prstGeom prst="roundRect">
            <a:avLst>
              <a:gd fmla="val 463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2" name="Google Shape;2062;p130"/>
          <p:cNvSpPr/>
          <p:nvPr/>
        </p:nvSpPr>
        <p:spPr>
          <a:xfrm>
            <a:off x="12388810" y="5002530"/>
            <a:ext cx="5127034" cy="624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47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!=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3" name="Google Shape;2063;p130"/>
          <p:cNvSpPr/>
          <p:nvPr/>
        </p:nvSpPr>
        <p:spPr>
          <a:xfrm>
            <a:off x="12388810" y="5726430"/>
            <a:ext cx="1571625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not equal to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p13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p13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Writing = where == belongs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1" name="Google Shape;2071;p131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[4]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2" name="Google Shape;2072;p131"/>
          <p:cNvSpPr/>
          <p:nvPr/>
        </p:nvSpPr>
        <p:spPr>
          <a:xfrm>
            <a:off x="2228850" y="2727960"/>
            <a:ext cx="15106650" cy="1834515"/>
          </a:xfrm>
          <a:prstGeom prst="roundRect">
            <a:avLst>
              <a:gd fmla="val 415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3" name="Google Shape;2073;p131"/>
          <p:cNvSpPr/>
          <p:nvPr/>
        </p:nvSpPr>
        <p:spPr>
          <a:xfrm>
            <a:off x="2541270" y="3002280"/>
            <a:ext cx="1493501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= 5: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print("five")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4" name="Google Shape;2074;p131"/>
          <p:cNvSpPr/>
          <p:nvPr/>
        </p:nvSpPr>
        <p:spPr>
          <a:xfrm>
            <a:off x="952500" y="503872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5" name="Google Shape;2075;p131"/>
          <p:cNvSpPr/>
          <p:nvPr/>
        </p:nvSpPr>
        <p:spPr>
          <a:xfrm>
            <a:off x="2228850" y="4791075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6" name="Google Shape;2076;p131"/>
          <p:cNvSpPr/>
          <p:nvPr/>
        </p:nvSpPr>
        <p:spPr>
          <a:xfrm>
            <a:off x="2533650" y="5057775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SyntaxError: invalid syntax. Maybe you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meant '==' instead of '='?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7" name="Google Shape;2077;p131"/>
          <p:cNvSpPr/>
          <p:nvPr/>
        </p:nvSpPr>
        <p:spPr>
          <a:xfrm>
            <a:off x="952500" y="660082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condition asks a question. Assignment answers nothing.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082" name="Shape 2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Google Shape;2083;p13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4" name="Google Shape;2084;p13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Two ways to say the same thing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5" name="Google Shape;2085;p132"/>
          <p:cNvSpPr/>
          <p:nvPr/>
        </p:nvSpPr>
        <p:spPr>
          <a:xfrm>
            <a:off x="952500" y="2727960"/>
            <a:ext cx="7943850" cy="2653665"/>
          </a:xfrm>
          <a:prstGeom prst="roundRect">
            <a:avLst>
              <a:gd fmla="val 287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6" name="Google Shape;2086;p132"/>
          <p:cNvSpPr/>
          <p:nvPr/>
        </p:nvSpPr>
        <p:spPr>
          <a:xfrm>
            <a:off x="1245870" y="2983230"/>
            <a:ext cx="7595425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2 !=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print("Number is odd")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print("Number is even")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7" name="Google Shape;2087;p132"/>
          <p:cNvSpPr/>
          <p:nvPr/>
        </p:nvSpPr>
        <p:spPr>
          <a:xfrm>
            <a:off x="9391650" y="2727960"/>
            <a:ext cx="7943850" cy="2653665"/>
          </a:xfrm>
          <a:prstGeom prst="roundRect">
            <a:avLst>
              <a:gd fmla="val 287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132"/>
          <p:cNvSpPr/>
          <p:nvPr/>
        </p:nvSpPr>
        <p:spPr>
          <a:xfrm>
            <a:off x="9685020" y="2983230"/>
            <a:ext cx="7595425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2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print("Number is even")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print("Number is odd")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9" name="Google Shape;2089;p132"/>
          <p:cNvSpPr/>
          <p:nvPr/>
        </p:nvSpPr>
        <p:spPr>
          <a:xfrm>
            <a:off x="952500" y="587692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Prefer whichever reads more naturally out loud.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13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WORKED EXAMPLE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6" name="Google Shape;2096;p13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Pass or fail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7" name="Google Shape;2097;p133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[5]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8" name="Google Shape;2098;p133"/>
          <p:cNvSpPr/>
          <p:nvPr/>
        </p:nvSpPr>
        <p:spPr>
          <a:xfrm>
            <a:off x="2228850" y="2727960"/>
            <a:ext cx="15106650" cy="2691765"/>
          </a:xfrm>
          <a:prstGeom prst="roundRect">
            <a:avLst>
              <a:gd fmla="val 283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9" name="Google Shape;2099;p133"/>
          <p:cNvSpPr/>
          <p:nvPr/>
        </p:nvSpPr>
        <p:spPr>
          <a:xfrm>
            <a:off x="2541270" y="3002280"/>
            <a:ext cx="14935010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= int(input("Marks out of 100: 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marks &gt;= 40: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print("Pass")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print("Fail")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0" name="Google Shape;2100;p133"/>
          <p:cNvSpPr/>
          <p:nvPr/>
        </p:nvSpPr>
        <p:spPr>
          <a:xfrm>
            <a:off x="952500" y="58959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1" name="Google Shape;2101;p133"/>
          <p:cNvSpPr/>
          <p:nvPr/>
        </p:nvSpPr>
        <p:spPr>
          <a:xfrm>
            <a:off x="2228850" y="5648325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p133"/>
          <p:cNvSpPr/>
          <p:nvPr/>
        </p:nvSpPr>
        <p:spPr>
          <a:xfrm>
            <a:off x="2533650" y="5915025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out of 100: 38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Fail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107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p13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QUICK 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9" name="Google Shape;2109;p13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prints when a is 9?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0" name="Google Shape;2110;p134"/>
          <p:cNvSpPr/>
          <p:nvPr/>
        </p:nvSpPr>
        <p:spPr>
          <a:xfrm>
            <a:off x="952500" y="2727960"/>
            <a:ext cx="16383000" cy="4225290"/>
          </a:xfrm>
          <a:prstGeom prst="roundRect">
            <a:avLst>
              <a:gd fmla="val 1803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p134"/>
          <p:cNvSpPr/>
          <p:nvPr/>
        </p:nvSpPr>
        <p:spPr>
          <a:xfrm>
            <a:off x="1303020" y="3040380"/>
            <a:ext cx="16173450" cy="3638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2 == 0: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print("two")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3 == 0: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print("three")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else: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print("neither")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2116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Google Shape;2117;p13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8" name="Google Shape;2118;p13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9" name="Google Shape;2119;p135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0" name="Google Shape;2120;p135"/>
          <p:cNvSpPr/>
          <p:nvPr/>
        </p:nvSpPr>
        <p:spPr>
          <a:xfrm>
            <a:off x="1684139" y="2727960"/>
            <a:ext cx="1154594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 a number and print whether it is positive, or not.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1" name="Google Shape;2121;p135"/>
          <p:cNvSpPr/>
          <p:nvPr/>
        </p:nvSpPr>
        <p:spPr>
          <a:xfrm>
            <a:off x="952500" y="363474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2" name="Google Shape;2122;p135"/>
          <p:cNvSpPr/>
          <p:nvPr/>
        </p:nvSpPr>
        <p:spPr>
          <a:xfrm>
            <a:off x="1684139" y="3573780"/>
            <a:ext cx="936596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 two numbers and print the larger one.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3" name="Google Shape;2123;p135"/>
          <p:cNvSpPr/>
          <p:nvPr/>
        </p:nvSpPr>
        <p:spPr>
          <a:xfrm>
            <a:off x="952500" y="448056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4" name="Google Shape;2124;p135"/>
          <p:cNvSpPr/>
          <p:nvPr/>
        </p:nvSpPr>
        <p:spPr>
          <a:xfrm>
            <a:off x="1684139" y="441960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 a number and print a separate line for each of 2, 3 and 5 that divides it.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p13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1" name="Google Shape;2131;p13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2" name="Google Shape;2132;p136"/>
          <p:cNvSpPr/>
          <p:nvPr/>
        </p:nvSpPr>
        <p:spPr>
          <a:xfrm>
            <a:off x="952500" y="272796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3" name="Google Shape;2133;p136"/>
          <p:cNvSpPr/>
          <p:nvPr/>
        </p:nvSpPr>
        <p:spPr>
          <a:xfrm>
            <a:off x="1295400" y="307086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an if with a colon and a correctly indented block.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4" name="Google Shape;2134;p136"/>
          <p:cNvSpPr/>
          <p:nvPr/>
        </p:nvSpPr>
        <p:spPr>
          <a:xfrm>
            <a:off x="9334500" y="272796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5" name="Google Shape;2135;p136"/>
          <p:cNvSpPr/>
          <p:nvPr/>
        </p:nvSpPr>
        <p:spPr>
          <a:xfrm>
            <a:off x="9677400" y="307086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Add an else and know which if it belongs to.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6" name="Google Shape;2136;p136"/>
          <p:cNvSpPr/>
          <p:nvPr/>
        </p:nvSpPr>
        <p:spPr>
          <a:xfrm>
            <a:off x="952500" y="470154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7" name="Google Shape;2137;p136"/>
          <p:cNvSpPr/>
          <p:nvPr/>
        </p:nvSpPr>
        <p:spPr>
          <a:xfrm>
            <a:off x="1295400" y="504444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Use all six comparison operators.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8" name="Google Shape;2138;p136"/>
          <p:cNvSpPr/>
          <p:nvPr/>
        </p:nvSpPr>
        <p:spPr>
          <a:xfrm>
            <a:off x="9334500" y="470154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9" name="Google Shape;2139;p136"/>
          <p:cNvSpPr/>
          <p:nvPr/>
        </p:nvSpPr>
        <p:spPr>
          <a:xfrm>
            <a:off x="9677400" y="504444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Fix IndentationError and the missing colon.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0" name="Google Shape;2140;p136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class: elif, and conditions inside conditions.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2145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p137"/>
          <p:cNvSpPr/>
          <p:nvPr/>
        </p:nvSpPr>
        <p:spPr>
          <a:xfrm>
            <a:off x="952500" y="4085272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3 · DECISIONS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7" name="Google Shape;2147;p137"/>
          <p:cNvSpPr/>
          <p:nvPr/>
        </p:nvSpPr>
        <p:spPr>
          <a:xfrm>
            <a:off x="952500" y="4854893"/>
            <a:ext cx="2336483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09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8" name="Google Shape;2148;p137"/>
          <p:cNvSpPr/>
          <p:nvPr/>
        </p:nvSpPr>
        <p:spPr>
          <a:xfrm>
            <a:off x="3609975" y="5632132"/>
            <a:ext cx="9857101" cy="79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elif and Nested Conditions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13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09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5" name="Google Shape;2155;p13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6" name="Google Shape;2156;p138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7" name="Google Shape;2157;p138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8" name="Google Shape;2158;p138"/>
          <p:cNvSpPr/>
          <p:nvPr/>
        </p:nvSpPr>
        <p:spPr>
          <a:xfrm>
            <a:off x="1646039" y="2727960"/>
            <a:ext cx="4926914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Chaining tests with elif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9" name="Google Shape;2159;p138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0" name="Google Shape;2160;p138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1" name="Google Shape;2161;p138"/>
          <p:cNvSpPr/>
          <p:nvPr/>
        </p:nvSpPr>
        <p:spPr>
          <a:xfrm>
            <a:off x="1646039" y="3771900"/>
            <a:ext cx="568391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Why only one branch runs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2" name="Google Shape;2162;p138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p138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4" name="Google Shape;2164;p138"/>
          <p:cNvSpPr/>
          <p:nvPr/>
        </p:nvSpPr>
        <p:spPr>
          <a:xfrm>
            <a:off x="1646039" y="4815840"/>
            <a:ext cx="669184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Why the order of tests matters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5" name="Google Shape;2165;p138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6" name="Google Shape;2166;p138"/>
          <p:cNvSpPr/>
          <p:nvPr/>
        </p:nvSpPr>
        <p:spPr>
          <a:xfrm>
            <a:off x="1646039" y="5859780"/>
            <a:ext cx="614610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Conditions inside conditions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17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2" name="Google Shape;2172;p13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13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One question, several answers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4" name="Google Shape;2174;p139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139"/>
          <p:cNvSpPr/>
          <p:nvPr/>
        </p:nvSpPr>
        <p:spPr>
          <a:xfrm>
            <a:off x="2228850" y="2727960"/>
            <a:ext cx="15106650" cy="4406265"/>
          </a:xfrm>
          <a:prstGeom prst="roundRect">
            <a:avLst>
              <a:gd fmla="val 1729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6" name="Google Shape;2176;p139"/>
          <p:cNvSpPr/>
          <p:nvPr/>
        </p:nvSpPr>
        <p:spPr>
          <a:xfrm>
            <a:off x="2541270" y="3002280"/>
            <a:ext cx="14935010" cy="3895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12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2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print("num is a multiple of 2")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elif a % 3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print("num is a multiple of 3")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elif a % 4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print("num is a multiple of 4")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print("Something else")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7" name="Google Shape;2177;p139"/>
          <p:cNvSpPr/>
          <p:nvPr/>
        </p:nvSpPr>
        <p:spPr>
          <a:xfrm>
            <a:off x="952500" y="76104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8" name="Google Shape;2178;p139"/>
          <p:cNvSpPr/>
          <p:nvPr/>
        </p:nvSpPr>
        <p:spPr>
          <a:xfrm>
            <a:off x="2228850" y="7362825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9" name="Google Shape;2179;p139"/>
          <p:cNvSpPr/>
          <p:nvPr/>
        </p:nvSpPr>
        <p:spPr>
          <a:xfrm>
            <a:off x="2533650" y="7629525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 is a multiple of 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2184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140"/>
          <p:cNvSpPr/>
          <p:nvPr/>
        </p:nvSpPr>
        <p:spPr>
          <a:xfrm>
            <a:off x="952500" y="355092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RULE OF THE CHAIN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6" name="Google Shape;2186;p140"/>
          <p:cNvSpPr/>
          <p:nvPr/>
        </p:nvSpPr>
        <p:spPr>
          <a:xfrm>
            <a:off x="952500" y="4328160"/>
            <a:ext cx="1471612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6000"/>
              <a:buFont typeface="Bricolage Grotesque"/>
              <a:buNone/>
            </a:pPr>
            <a:r>
              <a:rPr b="1" i="0" lang="en-US" sz="6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Python stops at the first test that is True. Everything below is skipped.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7" name="Google Shape;2187;p140"/>
          <p:cNvSpPr/>
          <p:nvPr/>
        </p:nvSpPr>
        <p:spPr>
          <a:xfrm>
            <a:off x="952500" y="6423660"/>
            <a:ext cx="1802130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12 is a multiple of 2, 3 and 4. Only the first one was reported.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192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p14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COMPARISON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4" name="Google Shape;2194;p14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Chain or separate ifs?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5" name="Google Shape;2195;p141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SEPARATE IFS · ALL TESTED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6" name="Google Shape;2196;p141"/>
          <p:cNvSpPr/>
          <p:nvPr/>
        </p:nvSpPr>
        <p:spPr>
          <a:xfrm>
            <a:off x="952500" y="3276600"/>
            <a:ext cx="7943850" cy="2225040"/>
          </a:xfrm>
          <a:prstGeom prst="roundRect">
            <a:avLst>
              <a:gd fmla="val 342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7" name="Google Shape;2197;p141"/>
          <p:cNvSpPr/>
          <p:nvPr/>
        </p:nvSpPr>
        <p:spPr>
          <a:xfrm>
            <a:off x="1245870" y="3531870"/>
            <a:ext cx="75954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2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print("two")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3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print("three")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8" name="Google Shape;2198;p141"/>
          <p:cNvSpPr/>
          <p:nvPr/>
        </p:nvSpPr>
        <p:spPr>
          <a:xfrm>
            <a:off x="952500" y="5692140"/>
            <a:ext cx="7943850" cy="1352550"/>
          </a:xfrm>
          <a:prstGeom prst="roundRect">
            <a:avLst>
              <a:gd fmla="val 563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9" name="Google Shape;2199;p141"/>
          <p:cNvSpPr/>
          <p:nvPr/>
        </p:nvSpPr>
        <p:spPr>
          <a:xfrm>
            <a:off x="1238250" y="5939790"/>
            <a:ext cx="761066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two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three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0" name="Google Shape;2200;p141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CHAIN · FIRST MATCH ONLY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1" name="Google Shape;2201;p141"/>
          <p:cNvSpPr/>
          <p:nvPr/>
        </p:nvSpPr>
        <p:spPr>
          <a:xfrm>
            <a:off x="9391650" y="3276600"/>
            <a:ext cx="7943850" cy="2225040"/>
          </a:xfrm>
          <a:prstGeom prst="roundRect">
            <a:avLst>
              <a:gd fmla="val 342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2" name="Google Shape;2202;p141"/>
          <p:cNvSpPr/>
          <p:nvPr/>
        </p:nvSpPr>
        <p:spPr>
          <a:xfrm>
            <a:off x="9685020" y="3531870"/>
            <a:ext cx="75954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2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print("two")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elif a % 3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print("three")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3" name="Google Shape;2203;p141"/>
          <p:cNvSpPr/>
          <p:nvPr/>
        </p:nvSpPr>
        <p:spPr>
          <a:xfrm>
            <a:off x="9391650" y="5692140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4" name="Google Shape;2204;p141"/>
          <p:cNvSpPr/>
          <p:nvPr/>
        </p:nvSpPr>
        <p:spPr>
          <a:xfrm>
            <a:off x="9677400" y="5939790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two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5" name="Google Shape;2205;p141"/>
          <p:cNvSpPr/>
          <p:nvPr/>
        </p:nvSpPr>
        <p:spPr>
          <a:xfrm>
            <a:off x="952500" y="746379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With a = 12. Use a chain when the answers exclude one another.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210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p14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2" name="Google Shape;2212;p14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branch that can never run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3" name="Google Shape;2213;p142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BROADEST TEST FIRST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4" name="Google Shape;2214;p142"/>
          <p:cNvSpPr/>
          <p:nvPr/>
        </p:nvSpPr>
        <p:spPr>
          <a:xfrm>
            <a:off x="952500" y="3276600"/>
            <a:ext cx="7943850" cy="2225040"/>
          </a:xfrm>
          <a:prstGeom prst="roundRect">
            <a:avLst>
              <a:gd fmla="val 342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5" name="Google Shape;2215;p142"/>
          <p:cNvSpPr/>
          <p:nvPr/>
        </p:nvSpPr>
        <p:spPr>
          <a:xfrm>
            <a:off x="1245870" y="3531870"/>
            <a:ext cx="75954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marks &gt;= 40: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print("Pass")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elif marks &gt;= 80: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print("Excellent")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6" name="Google Shape;2216;p142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NARROWEST TEST FIRST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7" name="Google Shape;2217;p142"/>
          <p:cNvSpPr/>
          <p:nvPr/>
        </p:nvSpPr>
        <p:spPr>
          <a:xfrm>
            <a:off x="9391650" y="3276600"/>
            <a:ext cx="7943850" cy="2225040"/>
          </a:xfrm>
          <a:prstGeom prst="roundRect">
            <a:avLst>
              <a:gd fmla="val 342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8" name="Google Shape;2218;p142"/>
          <p:cNvSpPr/>
          <p:nvPr/>
        </p:nvSpPr>
        <p:spPr>
          <a:xfrm>
            <a:off x="9685020" y="3531870"/>
            <a:ext cx="75954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marks &gt;= 80: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print("Excellent")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elif marks &gt;= 40: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print("Pass")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9" name="Google Shape;2219;p142"/>
          <p:cNvSpPr/>
          <p:nvPr/>
        </p:nvSpPr>
        <p:spPr>
          <a:xfrm>
            <a:off x="952500" y="599694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 the left, 90 marks prints Pass. The Excellent branch is unreachable. Python gives no warning.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224" name="Shape 2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Google Shape;2225;p14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WORKED EXAMPLE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6" name="Google Shape;2226;p14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Marks to a grade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7" name="Google Shape;2227;p143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8" name="Google Shape;2228;p143"/>
          <p:cNvSpPr/>
          <p:nvPr/>
        </p:nvSpPr>
        <p:spPr>
          <a:xfrm>
            <a:off x="2228850" y="2727960"/>
            <a:ext cx="15106650" cy="5263515"/>
          </a:xfrm>
          <a:prstGeom prst="roundRect">
            <a:avLst>
              <a:gd fmla="val 144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9" name="Google Shape;2229;p143"/>
          <p:cNvSpPr/>
          <p:nvPr/>
        </p:nvSpPr>
        <p:spPr>
          <a:xfrm>
            <a:off x="2541270" y="3002280"/>
            <a:ext cx="14935010" cy="4752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= int(input("Marks: 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marks &gt;= 80: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print("A")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elif marks &gt;= 70: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print("B")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elif marks &gt;= 60: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print("C")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elif marks &gt;= 40: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print("D")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print("F")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0" name="Google Shape;2230;p143"/>
          <p:cNvSpPr/>
          <p:nvPr/>
        </p:nvSpPr>
        <p:spPr>
          <a:xfrm>
            <a:off x="952500" y="846772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1" name="Google Shape;2231;p143"/>
          <p:cNvSpPr/>
          <p:nvPr/>
        </p:nvSpPr>
        <p:spPr>
          <a:xfrm>
            <a:off x="2228850" y="8220075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2" name="Google Shape;2232;p143"/>
          <p:cNvSpPr/>
          <p:nvPr/>
        </p:nvSpPr>
        <p:spPr>
          <a:xfrm>
            <a:off x="2533650" y="8486775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Marks: 72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237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14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9" name="Google Shape;2239;p14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Following marks = 72 down the ladder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0" name="Google Shape;2240;p144"/>
          <p:cNvSpPr/>
          <p:nvPr/>
        </p:nvSpPr>
        <p:spPr>
          <a:xfrm>
            <a:off x="952500" y="272796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1" name="Google Shape;2241;p144"/>
          <p:cNvSpPr/>
          <p:nvPr/>
        </p:nvSpPr>
        <p:spPr>
          <a:xfrm>
            <a:off x="952500" y="3482340"/>
            <a:ext cx="5119688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2" name="Google Shape;2242;p144"/>
          <p:cNvSpPr/>
          <p:nvPr/>
        </p:nvSpPr>
        <p:spPr>
          <a:xfrm>
            <a:off x="1181100" y="2933700"/>
            <a:ext cx="4816078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3" name="Google Shape;2243;p144"/>
          <p:cNvSpPr/>
          <p:nvPr/>
        </p:nvSpPr>
        <p:spPr>
          <a:xfrm>
            <a:off x="6072188" y="3482340"/>
            <a:ext cx="5119688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4" name="Google Shape;2244;p144"/>
          <p:cNvSpPr/>
          <p:nvPr/>
        </p:nvSpPr>
        <p:spPr>
          <a:xfrm>
            <a:off x="6300788" y="2933700"/>
            <a:ext cx="4816078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5" name="Google Shape;2245;p144"/>
          <p:cNvSpPr/>
          <p:nvPr/>
        </p:nvSpPr>
        <p:spPr>
          <a:xfrm>
            <a:off x="11191875" y="3482340"/>
            <a:ext cx="6143625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6" name="Google Shape;2246;p144"/>
          <p:cNvSpPr/>
          <p:nvPr/>
        </p:nvSpPr>
        <p:spPr>
          <a:xfrm>
            <a:off x="11420475" y="2933700"/>
            <a:ext cx="5870734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PYTHON DOES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7" name="Google Shape;2247;p144"/>
          <p:cNvSpPr/>
          <p:nvPr/>
        </p:nvSpPr>
        <p:spPr>
          <a:xfrm>
            <a:off x="952500" y="4297680"/>
            <a:ext cx="5119688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8" name="Google Shape;2248;p144"/>
          <p:cNvSpPr/>
          <p:nvPr/>
        </p:nvSpPr>
        <p:spPr>
          <a:xfrm>
            <a:off x="1181100" y="3680460"/>
            <a:ext cx="481607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&gt;= 80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9" name="Google Shape;2249;p144"/>
          <p:cNvSpPr/>
          <p:nvPr/>
        </p:nvSpPr>
        <p:spPr>
          <a:xfrm>
            <a:off x="6072188" y="4297680"/>
            <a:ext cx="5119688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0" name="Google Shape;2250;p144"/>
          <p:cNvSpPr/>
          <p:nvPr/>
        </p:nvSpPr>
        <p:spPr>
          <a:xfrm>
            <a:off x="6300788" y="3680460"/>
            <a:ext cx="481607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1" name="Google Shape;2251;p144"/>
          <p:cNvSpPr/>
          <p:nvPr/>
        </p:nvSpPr>
        <p:spPr>
          <a:xfrm>
            <a:off x="11191875" y="4297680"/>
            <a:ext cx="6143625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2" name="Google Shape;2252;p144"/>
          <p:cNvSpPr/>
          <p:nvPr/>
        </p:nvSpPr>
        <p:spPr>
          <a:xfrm>
            <a:off x="11420475" y="3680460"/>
            <a:ext cx="5870734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move to the next test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3" name="Google Shape;2253;p144"/>
          <p:cNvSpPr/>
          <p:nvPr/>
        </p:nvSpPr>
        <p:spPr>
          <a:xfrm>
            <a:off x="952500" y="5113020"/>
            <a:ext cx="5119688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4" name="Google Shape;2254;p144"/>
          <p:cNvSpPr/>
          <p:nvPr/>
        </p:nvSpPr>
        <p:spPr>
          <a:xfrm>
            <a:off x="1181100" y="4495800"/>
            <a:ext cx="481607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&gt;= 70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5" name="Google Shape;2255;p144"/>
          <p:cNvSpPr/>
          <p:nvPr/>
        </p:nvSpPr>
        <p:spPr>
          <a:xfrm>
            <a:off x="6072188" y="5113020"/>
            <a:ext cx="5119688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6" name="Google Shape;2256;p144"/>
          <p:cNvSpPr/>
          <p:nvPr/>
        </p:nvSpPr>
        <p:spPr>
          <a:xfrm>
            <a:off x="6300788" y="4495800"/>
            <a:ext cx="481607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144"/>
          <p:cNvSpPr/>
          <p:nvPr/>
        </p:nvSpPr>
        <p:spPr>
          <a:xfrm>
            <a:off x="11191875" y="5113020"/>
            <a:ext cx="6143625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8" name="Google Shape;2258;p144"/>
          <p:cNvSpPr/>
          <p:nvPr/>
        </p:nvSpPr>
        <p:spPr>
          <a:xfrm>
            <a:off x="11420475" y="4495800"/>
            <a:ext cx="5870734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 B, leave the chain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144"/>
          <p:cNvSpPr/>
          <p:nvPr/>
        </p:nvSpPr>
        <p:spPr>
          <a:xfrm>
            <a:off x="952500" y="5928360"/>
            <a:ext cx="5119688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0" name="Google Shape;2260;p144"/>
          <p:cNvSpPr/>
          <p:nvPr/>
        </p:nvSpPr>
        <p:spPr>
          <a:xfrm>
            <a:off x="1181100" y="5311140"/>
            <a:ext cx="481607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&gt;= 60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1" name="Google Shape;2261;p144"/>
          <p:cNvSpPr/>
          <p:nvPr/>
        </p:nvSpPr>
        <p:spPr>
          <a:xfrm>
            <a:off x="6072188" y="5928360"/>
            <a:ext cx="5119688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2" name="Google Shape;2262;p144"/>
          <p:cNvSpPr/>
          <p:nvPr/>
        </p:nvSpPr>
        <p:spPr>
          <a:xfrm>
            <a:off x="6300788" y="5311140"/>
            <a:ext cx="481607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not evaluated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3" name="Google Shape;2263;p144"/>
          <p:cNvSpPr/>
          <p:nvPr/>
        </p:nvSpPr>
        <p:spPr>
          <a:xfrm>
            <a:off x="11191875" y="5928360"/>
            <a:ext cx="6143625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4" name="Google Shape;2264;p144"/>
          <p:cNvSpPr/>
          <p:nvPr/>
        </p:nvSpPr>
        <p:spPr>
          <a:xfrm>
            <a:off x="11420475" y="5311140"/>
            <a:ext cx="5870734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skipped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5" name="Google Shape;2265;p144"/>
          <p:cNvSpPr/>
          <p:nvPr/>
        </p:nvSpPr>
        <p:spPr>
          <a:xfrm>
            <a:off x="1181100" y="6126480"/>
            <a:ext cx="481607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6" name="Google Shape;2266;p144"/>
          <p:cNvSpPr/>
          <p:nvPr/>
        </p:nvSpPr>
        <p:spPr>
          <a:xfrm>
            <a:off x="6300788" y="6126480"/>
            <a:ext cx="481607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not reached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7" name="Google Shape;2267;p144"/>
          <p:cNvSpPr/>
          <p:nvPr/>
        </p:nvSpPr>
        <p:spPr>
          <a:xfrm>
            <a:off x="11420475" y="6126480"/>
            <a:ext cx="5870734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skipped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272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p14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FLOW CHART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4" name="Google Shape;2274;p14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grade ladder as a diagram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5" name="Google Shape;2275;p145"/>
          <p:cNvSpPr/>
          <p:nvPr/>
        </p:nvSpPr>
        <p:spPr>
          <a:xfrm>
            <a:off x="2994660" y="2575560"/>
            <a:ext cx="2324100" cy="678180"/>
          </a:xfrm>
          <a:prstGeom prst="roundRect">
            <a:avLst>
              <a:gd fmla="val 8427" name="adj"/>
            </a:avLst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6" name="Google Shape;2276;p145"/>
          <p:cNvSpPr/>
          <p:nvPr/>
        </p:nvSpPr>
        <p:spPr>
          <a:xfrm>
            <a:off x="3299460" y="2727960"/>
            <a:ext cx="17907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= 72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7" name="Google Shape;2277;p145"/>
          <p:cNvSpPr/>
          <p:nvPr/>
        </p:nvSpPr>
        <p:spPr>
          <a:xfrm>
            <a:off x="4147185" y="3253740"/>
            <a:ext cx="19050" cy="24765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8" name="Google Shape;2278;p145"/>
          <p:cNvSpPr/>
          <p:nvPr/>
        </p:nvSpPr>
        <p:spPr>
          <a:xfrm>
            <a:off x="952500" y="3722370"/>
            <a:ext cx="92430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9" name="Google Shape;2279;p145"/>
          <p:cNvSpPr/>
          <p:nvPr/>
        </p:nvSpPr>
        <p:spPr>
          <a:xfrm>
            <a:off x="1965960" y="3501390"/>
            <a:ext cx="4381500" cy="746760"/>
          </a:xfrm>
          <a:prstGeom prst="roundRect">
            <a:avLst>
              <a:gd fmla="val 7653" name="adj"/>
            </a:avLst>
          </a:prstGeom>
          <a:noFill/>
          <a:ln cap="flat" cmpd="sng" w="15225">
            <a:solidFill>
              <a:srgbClr val="7A2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0" name="Google Shape;2280;p145"/>
          <p:cNvSpPr/>
          <p:nvPr/>
        </p:nvSpPr>
        <p:spPr>
          <a:xfrm>
            <a:off x="2182178" y="3688080"/>
            <a:ext cx="39490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&gt;= 80 ?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1" name="Google Shape;2281;p145"/>
          <p:cNvSpPr/>
          <p:nvPr/>
        </p:nvSpPr>
        <p:spPr>
          <a:xfrm>
            <a:off x="6347460" y="3865245"/>
            <a:ext cx="643414" cy="19050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2" name="Google Shape;2282;p145"/>
          <p:cNvSpPr/>
          <p:nvPr/>
        </p:nvSpPr>
        <p:spPr>
          <a:xfrm>
            <a:off x="7067074" y="3722370"/>
            <a:ext cx="2138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3" name="Google Shape;2283;p145"/>
          <p:cNvSpPr/>
          <p:nvPr/>
        </p:nvSpPr>
        <p:spPr>
          <a:xfrm>
            <a:off x="7204710" y="3535680"/>
            <a:ext cx="2476500" cy="678180"/>
          </a:xfrm>
          <a:prstGeom prst="roundRect">
            <a:avLst>
              <a:gd fmla="val 8427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4" name="Google Shape;2284;p145"/>
          <p:cNvSpPr/>
          <p:nvPr/>
        </p:nvSpPr>
        <p:spPr>
          <a:xfrm>
            <a:off x="7395210" y="3688080"/>
            <a:ext cx="20955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 "A"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5" name="Google Shape;2285;p145"/>
          <p:cNvSpPr/>
          <p:nvPr/>
        </p:nvSpPr>
        <p:spPr>
          <a:xfrm>
            <a:off x="3737610" y="4248150"/>
            <a:ext cx="19050" cy="30480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6" name="Google Shape;2286;p145"/>
          <p:cNvSpPr/>
          <p:nvPr/>
        </p:nvSpPr>
        <p:spPr>
          <a:xfrm>
            <a:off x="3890010" y="4248150"/>
            <a:ext cx="76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7" name="Google Shape;2287;p145"/>
          <p:cNvSpPr/>
          <p:nvPr/>
        </p:nvSpPr>
        <p:spPr>
          <a:xfrm>
            <a:off x="952500" y="4781550"/>
            <a:ext cx="92430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8" name="Google Shape;2288;p145"/>
          <p:cNvSpPr/>
          <p:nvPr/>
        </p:nvSpPr>
        <p:spPr>
          <a:xfrm>
            <a:off x="1965960" y="4552950"/>
            <a:ext cx="4381500" cy="76200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 cap="flat" cmpd="sng" w="22850">
            <a:solidFill>
              <a:srgbClr val="7A2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9" name="Google Shape;2289;p145"/>
          <p:cNvSpPr/>
          <p:nvPr/>
        </p:nvSpPr>
        <p:spPr>
          <a:xfrm>
            <a:off x="2189798" y="4747260"/>
            <a:ext cx="393382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1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&gt;= 70 ?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0" name="Google Shape;2290;p145"/>
          <p:cNvSpPr/>
          <p:nvPr/>
        </p:nvSpPr>
        <p:spPr>
          <a:xfrm>
            <a:off x="6347460" y="4919663"/>
            <a:ext cx="643414" cy="28575"/>
          </a:xfrm>
          <a:prstGeom prst="rect">
            <a:avLst/>
          </a:prstGeom>
          <a:solidFill>
            <a:srgbClr val="7A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1" name="Google Shape;2291;p145"/>
          <p:cNvSpPr/>
          <p:nvPr/>
        </p:nvSpPr>
        <p:spPr>
          <a:xfrm>
            <a:off x="7067074" y="4781550"/>
            <a:ext cx="2138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2" name="Google Shape;2292;p145"/>
          <p:cNvSpPr/>
          <p:nvPr/>
        </p:nvSpPr>
        <p:spPr>
          <a:xfrm>
            <a:off x="7204710" y="4594860"/>
            <a:ext cx="2476500" cy="678180"/>
          </a:xfrm>
          <a:prstGeom prst="roundRect">
            <a:avLst>
              <a:gd fmla="val 8427" name="adj"/>
            </a:avLst>
          </a:prstGeom>
          <a:solidFill>
            <a:srgbClr val="7A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145"/>
          <p:cNvSpPr/>
          <p:nvPr/>
        </p:nvSpPr>
        <p:spPr>
          <a:xfrm>
            <a:off x="7395210" y="4747260"/>
            <a:ext cx="20955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250"/>
              <a:buFont typeface="JetBrains Mono"/>
              <a:buNone/>
            </a:pPr>
            <a:r>
              <a:rPr b="1" i="0" lang="en-US" sz="22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 "B"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4" name="Google Shape;2294;p145"/>
          <p:cNvSpPr/>
          <p:nvPr/>
        </p:nvSpPr>
        <p:spPr>
          <a:xfrm>
            <a:off x="3737610" y="5314950"/>
            <a:ext cx="19050" cy="304800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5" name="Google Shape;2295;p145"/>
          <p:cNvSpPr/>
          <p:nvPr/>
        </p:nvSpPr>
        <p:spPr>
          <a:xfrm>
            <a:off x="3890010" y="5314950"/>
            <a:ext cx="76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6" name="Google Shape;2296;p145"/>
          <p:cNvSpPr/>
          <p:nvPr/>
        </p:nvSpPr>
        <p:spPr>
          <a:xfrm>
            <a:off x="952500" y="5840730"/>
            <a:ext cx="92430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7" name="Google Shape;2297;p145"/>
          <p:cNvSpPr/>
          <p:nvPr/>
        </p:nvSpPr>
        <p:spPr>
          <a:xfrm>
            <a:off x="1965960" y="5619750"/>
            <a:ext cx="4381500" cy="746760"/>
          </a:xfrm>
          <a:prstGeom prst="roundRect">
            <a:avLst>
              <a:gd fmla="val 7653" name="adj"/>
            </a:avLst>
          </a:prstGeom>
          <a:noFill/>
          <a:ln cap="flat" cmpd="sng" w="152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8" name="Google Shape;2298;p145"/>
          <p:cNvSpPr/>
          <p:nvPr/>
        </p:nvSpPr>
        <p:spPr>
          <a:xfrm>
            <a:off x="2182178" y="5806440"/>
            <a:ext cx="39490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&gt;= 60 ?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9" name="Google Shape;2299;p145"/>
          <p:cNvSpPr/>
          <p:nvPr/>
        </p:nvSpPr>
        <p:spPr>
          <a:xfrm>
            <a:off x="6347460" y="5983605"/>
            <a:ext cx="643414" cy="19050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0" name="Google Shape;2300;p145"/>
          <p:cNvSpPr/>
          <p:nvPr/>
        </p:nvSpPr>
        <p:spPr>
          <a:xfrm>
            <a:off x="7067074" y="5840730"/>
            <a:ext cx="2138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1" name="Google Shape;2301;p145"/>
          <p:cNvSpPr/>
          <p:nvPr/>
        </p:nvSpPr>
        <p:spPr>
          <a:xfrm>
            <a:off x="7204710" y="5657850"/>
            <a:ext cx="2476500" cy="670560"/>
          </a:xfrm>
          <a:prstGeom prst="roundRect">
            <a:avLst>
              <a:gd fmla="val 8523" name="adj"/>
            </a:avLst>
          </a:prstGeom>
          <a:noFill/>
          <a:ln cap="flat" cmpd="sng" w="15225">
            <a:solidFill>
              <a:srgbClr val="E3D9C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2" name="Google Shape;2302;p145"/>
          <p:cNvSpPr/>
          <p:nvPr/>
        </p:nvSpPr>
        <p:spPr>
          <a:xfrm>
            <a:off x="7410450" y="5806440"/>
            <a:ext cx="20650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 "C"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3" name="Google Shape;2303;p145"/>
          <p:cNvSpPr/>
          <p:nvPr/>
        </p:nvSpPr>
        <p:spPr>
          <a:xfrm>
            <a:off x="3737610" y="6366510"/>
            <a:ext cx="19050" cy="304800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4" name="Google Shape;2304;p145"/>
          <p:cNvSpPr/>
          <p:nvPr/>
        </p:nvSpPr>
        <p:spPr>
          <a:xfrm>
            <a:off x="3890010" y="6366510"/>
            <a:ext cx="76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5" name="Google Shape;2305;p145"/>
          <p:cNvSpPr/>
          <p:nvPr/>
        </p:nvSpPr>
        <p:spPr>
          <a:xfrm>
            <a:off x="952500" y="6892290"/>
            <a:ext cx="92430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6" name="Google Shape;2306;p145"/>
          <p:cNvSpPr/>
          <p:nvPr/>
        </p:nvSpPr>
        <p:spPr>
          <a:xfrm>
            <a:off x="1965960" y="6671310"/>
            <a:ext cx="4381500" cy="746760"/>
          </a:xfrm>
          <a:prstGeom prst="roundRect">
            <a:avLst>
              <a:gd fmla="val 7653" name="adj"/>
            </a:avLst>
          </a:prstGeom>
          <a:noFill/>
          <a:ln cap="flat" cmpd="sng" w="152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7" name="Google Shape;2307;p145"/>
          <p:cNvSpPr/>
          <p:nvPr/>
        </p:nvSpPr>
        <p:spPr>
          <a:xfrm>
            <a:off x="2182178" y="6858000"/>
            <a:ext cx="39490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&gt;= 40 ?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8" name="Google Shape;2308;p145"/>
          <p:cNvSpPr/>
          <p:nvPr/>
        </p:nvSpPr>
        <p:spPr>
          <a:xfrm>
            <a:off x="6347460" y="7035165"/>
            <a:ext cx="643414" cy="19050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9" name="Google Shape;2309;p145"/>
          <p:cNvSpPr/>
          <p:nvPr/>
        </p:nvSpPr>
        <p:spPr>
          <a:xfrm>
            <a:off x="7067074" y="6892290"/>
            <a:ext cx="2138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0" name="Google Shape;2310;p145"/>
          <p:cNvSpPr/>
          <p:nvPr/>
        </p:nvSpPr>
        <p:spPr>
          <a:xfrm>
            <a:off x="7204710" y="6709410"/>
            <a:ext cx="2476500" cy="670560"/>
          </a:xfrm>
          <a:prstGeom prst="roundRect">
            <a:avLst>
              <a:gd fmla="val 8523" name="adj"/>
            </a:avLst>
          </a:prstGeom>
          <a:noFill/>
          <a:ln cap="flat" cmpd="sng" w="15225">
            <a:solidFill>
              <a:srgbClr val="E3D9C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1" name="Google Shape;2311;p145"/>
          <p:cNvSpPr/>
          <p:nvPr/>
        </p:nvSpPr>
        <p:spPr>
          <a:xfrm>
            <a:off x="7410450" y="6858000"/>
            <a:ext cx="20650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 "D"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2" name="Google Shape;2312;p145"/>
          <p:cNvSpPr/>
          <p:nvPr/>
        </p:nvSpPr>
        <p:spPr>
          <a:xfrm>
            <a:off x="3737610" y="7418070"/>
            <a:ext cx="19050" cy="304800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145"/>
          <p:cNvSpPr/>
          <p:nvPr/>
        </p:nvSpPr>
        <p:spPr>
          <a:xfrm>
            <a:off x="3890010" y="7418070"/>
            <a:ext cx="76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4" name="Google Shape;2314;p145"/>
          <p:cNvSpPr/>
          <p:nvPr/>
        </p:nvSpPr>
        <p:spPr>
          <a:xfrm>
            <a:off x="1226820" y="7905750"/>
            <a:ext cx="62255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5" name="Google Shape;2315;p145"/>
          <p:cNvSpPr/>
          <p:nvPr/>
        </p:nvSpPr>
        <p:spPr>
          <a:xfrm>
            <a:off x="1965960" y="7722870"/>
            <a:ext cx="4381500" cy="670560"/>
          </a:xfrm>
          <a:prstGeom prst="roundRect">
            <a:avLst>
              <a:gd fmla="val 8523" name="adj"/>
            </a:avLst>
          </a:prstGeom>
          <a:noFill/>
          <a:ln cap="flat" cmpd="sng" w="15225">
            <a:solidFill>
              <a:srgbClr val="E3D9C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6" name="Google Shape;2316;p145"/>
          <p:cNvSpPr/>
          <p:nvPr/>
        </p:nvSpPr>
        <p:spPr>
          <a:xfrm>
            <a:off x="2182178" y="7871460"/>
            <a:ext cx="39490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 "F"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7" name="Google Shape;2317;p145"/>
          <p:cNvSpPr/>
          <p:nvPr/>
        </p:nvSpPr>
        <p:spPr>
          <a:xfrm>
            <a:off x="952500" y="8747760"/>
            <a:ext cx="14716125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Highlighted is the path 72 takes. Everything greyed out is never evaluated, because the chain stops at the first test that succeeds.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322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4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4" name="Google Shape;2324;p14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condition inside a condition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5" name="Google Shape;2325;p146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[3]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6" name="Google Shape;2326;p146"/>
          <p:cNvSpPr/>
          <p:nvPr/>
        </p:nvSpPr>
        <p:spPr>
          <a:xfrm>
            <a:off x="2228850" y="2727960"/>
            <a:ext cx="15106650" cy="4406265"/>
          </a:xfrm>
          <a:prstGeom prst="roundRect">
            <a:avLst>
              <a:gd fmla="val 1729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7" name="Google Shape;2327;p146"/>
          <p:cNvSpPr/>
          <p:nvPr/>
        </p:nvSpPr>
        <p:spPr>
          <a:xfrm>
            <a:off x="2541270" y="3002280"/>
            <a:ext cx="14935010" cy="3895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12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2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print("Number is a multiple of 2")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a % 3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print("Number is a multiple of 6")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else: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print("Number is not a multiple of 6")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print("Number is not a multiple of 2")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8" name="Google Shape;2328;p146"/>
          <p:cNvSpPr/>
          <p:nvPr/>
        </p:nvSpPr>
        <p:spPr>
          <a:xfrm>
            <a:off x="952500" y="76104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9" name="Google Shape;2329;p146"/>
          <p:cNvSpPr/>
          <p:nvPr/>
        </p:nvSpPr>
        <p:spPr>
          <a:xfrm>
            <a:off x="2228850" y="7362825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0" name="Google Shape;2330;p146"/>
          <p:cNvSpPr/>
          <p:nvPr/>
        </p:nvSpPr>
        <p:spPr>
          <a:xfrm>
            <a:off x="2533650" y="7629525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Number is a multiple of 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Number is a multiple of 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335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14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7" name="Google Shape;2337;p14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Reading levels of indentation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8" name="Google Shape;2338;p147"/>
          <p:cNvSpPr/>
          <p:nvPr/>
        </p:nvSpPr>
        <p:spPr>
          <a:xfrm>
            <a:off x="952500" y="2727960"/>
            <a:ext cx="7905750" cy="2834640"/>
          </a:xfrm>
          <a:prstGeom prst="roundRect">
            <a:avLst>
              <a:gd fmla="val 268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p147"/>
          <p:cNvSpPr/>
          <p:nvPr/>
        </p:nvSpPr>
        <p:spPr>
          <a:xfrm>
            <a:off x="1264920" y="3002280"/>
            <a:ext cx="7518083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2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a % 3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print("six")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print("two")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print("always")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0" name="Google Shape;2340;p147"/>
          <p:cNvSpPr/>
          <p:nvPr/>
        </p:nvSpPr>
        <p:spPr>
          <a:xfrm>
            <a:off x="9429750" y="3276600"/>
            <a:ext cx="869632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"six" </a:t>
            </a: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runs only when both tests pass.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1" name="Google Shape;2341;p147"/>
          <p:cNvSpPr/>
          <p:nvPr/>
        </p:nvSpPr>
        <p:spPr>
          <a:xfrm>
            <a:off x="9429750" y="3931920"/>
            <a:ext cx="869632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"two" </a:t>
            </a: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runs whenever the outer test passes.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2" name="Google Shape;2342;p147"/>
          <p:cNvSpPr/>
          <p:nvPr/>
        </p:nvSpPr>
        <p:spPr>
          <a:xfrm>
            <a:off x="9429750" y="4587240"/>
            <a:ext cx="869632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"always" </a:t>
            </a: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is outside everything, so it always runs.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347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Google Shape;2348;p14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COMPARISON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9" name="Google Shape;2349;p14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Two shapes, one result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0" name="Google Shape;2350;p148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NESTED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1" name="Google Shape;2351;p148"/>
          <p:cNvSpPr/>
          <p:nvPr/>
        </p:nvSpPr>
        <p:spPr>
          <a:xfrm>
            <a:off x="952500" y="3276600"/>
            <a:ext cx="7943850" cy="1796415"/>
          </a:xfrm>
          <a:prstGeom prst="roundRect">
            <a:avLst>
              <a:gd fmla="val 42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2" name="Google Shape;2352;p148"/>
          <p:cNvSpPr/>
          <p:nvPr/>
        </p:nvSpPr>
        <p:spPr>
          <a:xfrm>
            <a:off x="1245870" y="3531870"/>
            <a:ext cx="7595425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2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a % 3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print("six")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3" name="Google Shape;2353;p148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ONE CONDITION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4" name="Google Shape;2354;p148"/>
          <p:cNvSpPr/>
          <p:nvPr/>
        </p:nvSpPr>
        <p:spPr>
          <a:xfrm>
            <a:off x="9391650" y="327660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5" name="Google Shape;2355;p148"/>
          <p:cNvSpPr/>
          <p:nvPr/>
        </p:nvSpPr>
        <p:spPr>
          <a:xfrm>
            <a:off x="9685020" y="353187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2 == 0 and a % 3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print("six")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6" name="Google Shape;2356;p148"/>
          <p:cNvSpPr/>
          <p:nvPr/>
        </p:nvSpPr>
        <p:spPr>
          <a:xfrm>
            <a:off x="952500" y="556831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Nest when the two questions need different responses. Combine when they do not.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36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p14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3" name="Google Shape;2363;p14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elif with no if above it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4" name="Google Shape;2364;p149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[4]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5" name="Google Shape;2365;p149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6" name="Google Shape;2366;p149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elif a &gt; 3: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print("big")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7" name="Google Shape;2367;p149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8" name="Google Shape;2368;p149"/>
          <p:cNvSpPr/>
          <p:nvPr/>
        </p:nvSpPr>
        <p:spPr>
          <a:xfrm>
            <a:off x="2228850" y="5219700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9" name="Google Shape;2369;p149"/>
          <p:cNvSpPr/>
          <p:nvPr/>
        </p:nvSpPr>
        <p:spPr>
          <a:xfrm>
            <a:off x="2533650" y="5486400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SyntaxError: invalid syntax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0" name="Google Shape;2370;p149"/>
          <p:cNvSpPr/>
          <p:nvPr/>
        </p:nvSpPr>
        <p:spPr>
          <a:xfrm>
            <a:off x="952500" y="65455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blank line between the if and the elif breaks the chain too.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375" name="Shape 2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Google Shape;2376;p15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7" name="Google Shape;2377;p15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else is optional, and it is a catch-all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8" name="Google Shape;2378;p150"/>
          <p:cNvSpPr/>
          <p:nvPr/>
        </p:nvSpPr>
        <p:spPr>
          <a:xfrm>
            <a:off x="952500" y="3497580"/>
            <a:ext cx="1428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9" name="Google Shape;2379;p150"/>
          <p:cNvSpPr/>
          <p:nvPr/>
        </p:nvSpPr>
        <p:spPr>
          <a:xfrm>
            <a:off x="952500" y="284226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0" name="Google Shape;2380;p150"/>
          <p:cNvSpPr/>
          <p:nvPr/>
        </p:nvSpPr>
        <p:spPr>
          <a:xfrm>
            <a:off x="1615559" y="2727960"/>
            <a:ext cx="8685716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There can be one else, and it comes last.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1" name="Google Shape;2381;p150"/>
          <p:cNvSpPr/>
          <p:nvPr/>
        </p:nvSpPr>
        <p:spPr>
          <a:xfrm>
            <a:off x="952500" y="4541520"/>
            <a:ext cx="1428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2" name="Google Shape;2382;p150"/>
          <p:cNvSpPr/>
          <p:nvPr/>
        </p:nvSpPr>
        <p:spPr>
          <a:xfrm>
            <a:off x="952500" y="388620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3" name="Google Shape;2383;p150"/>
          <p:cNvSpPr/>
          <p:nvPr/>
        </p:nvSpPr>
        <p:spPr>
          <a:xfrm>
            <a:off x="1615559" y="3771900"/>
            <a:ext cx="11378697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It has no condition. It runs when nothing above it did.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4" name="Google Shape;2384;p150"/>
          <p:cNvSpPr/>
          <p:nvPr/>
        </p:nvSpPr>
        <p:spPr>
          <a:xfrm>
            <a:off x="952500" y="493014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5" name="Google Shape;2385;p150"/>
          <p:cNvSpPr/>
          <p:nvPr/>
        </p:nvSpPr>
        <p:spPr>
          <a:xfrm>
            <a:off x="1615559" y="4815840"/>
            <a:ext cx="1393704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Leave it out and an unmatched value simply produces no output.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390" name="Shape 2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1" name="Google Shape;2391;p15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QUICK 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2" name="Google Shape;2392;p15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prints for a = 15, then a = 30?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3" name="Google Shape;2393;p151"/>
          <p:cNvSpPr/>
          <p:nvPr/>
        </p:nvSpPr>
        <p:spPr>
          <a:xfrm>
            <a:off x="952500" y="2727960"/>
            <a:ext cx="16383000" cy="4225290"/>
          </a:xfrm>
          <a:prstGeom prst="roundRect">
            <a:avLst>
              <a:gd fmla="val 1803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p151"/>
          <p:cNvSpPr/>
          <p:nvPr/>
        </p:nvSpPr>
        <p:spPr>
          <a:xfrm>
            <a:off x="1303020" y="3040380"/>
            <a:ext cx="16173450" cy="3638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5 == 0: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print("five")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elif a % 3 == 0: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print("three")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else: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print("neither")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2399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p15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1" name="Google Shape;2401;p15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2" name="Google Shape;2402;p152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3" name="Google Shape;2403;p152"/>
          <p:cNvSpPr/>
          <p:nvPr/>
        </p:nvSpPr>
        <p:spPr>
          <a:xfrm>
            <a:off x="1684139" y="2727960"/>
            <a:ext cx="11842064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 marks and print the grade using the A to F ladder.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4" name="Google Shape;2404;p152"/>
          <p:cNvSpPr/>
          <p:nvPr/>
        </p:nvSpPr>
        <p:spPr>
          <a:xfrm>
            <a:off x="952500" y="363474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5" name="Google Shape;2405;p152"/>
          <p:cNvSpPr/>
          <p:nvPr/>
        </p:nvSpPr>
        <p:spPr>
          <a:xfrm>
            <a:off x="1684139" y="3573780"/>
            <a:ext cx="10910614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 a number and print positive, negative or zero.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6" name="Google Shape;2406;p152"/>
          <p:cNvSpPr/>
          <p:nvPr/>
        </p:nvSpPr>
        <p:spPr>
          <a:xfrm>
            <a:off x="952500" y="448056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7" name="Google Shape;2407;p152"/>
          <p:cNvSpPr/>
          <p:nvPr/>
        </p:nvSpPr>
        <p:spPr>
          <a:xfrm>
            <a:off x="1684139" y="4419600"/>
            <a:ext cx="14385084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 three numbers and print the largest, using nested conditions.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412" name="Shape 2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3" name="Google Shape;2413;p15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4" name="Google Shape;2414;p15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5" name="Google Shape;2415;p153"/>
          <p:cNvSpPr/>
          <p:nvPr/>
        </p:nvSpPr>
        <p:spPr>
          <a:xfrm>
            <a:off x="952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6" name="Google Shape;2416;p153"/>
          <p:cNvSpPr/>
          <p:nvPr/>
        </p:nvSpPr>
        <p:spPr>
          <a:xfrm>
            <a:off x="1295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an if / elif / else chain.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7" name="Google Shape;2417;p153"/>
          <p:cNvSpPr/>
          <p:nvPr/>
        </p:nvSpPr>
        <p:spPr>
          <a:xfrm>
            <a:off x="9334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8" name="Google Shape;2418;p153"/>
          <p:cNvSpPr/>
          <p:nvPr/>
        </p:nvSpPr>
        <p:spPr>
          <a:xfrm>
            <a:off x="9677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Explain why only one branch of a chain runs.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9" name="Google Shape;2419;p153"/>
          <p:cNvSpPr/>
          <p:nvPr/>
        </p:nvSpPr>
        <p:spPr>
          <a:xfrm>
            <a:off x="952500" y="424815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0" name="Google Shape;2420;p153"/>
          <p:cNvSpPr/>
          <p:nvPr/>
        </p:nvSpPr>
        <p:spPr>
          <a:xfrm>
            <a:off x="1295400" y="459105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Order tests from narrowest to broadest.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1" name="Google Shape;2421;p153"/>
          <p:cNvSpPr/>
          <p:nvPr/>
        </p:nvSpPr>
        <p:spPr>
          <a:xfrm>
            <a:off x="9334500" y="424815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2" name="Google Shape;2422;p153"/>
          <p:cNvSpPr/>
          <p:nvPr/>
        </p:nvSpPr>
        <p:spPr>
          <a:xfrm>
            <a:off x="9677400" y="459105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Nest a condition and read its indentation levels.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3" name="Google Shape;2423;p153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class: and, or and not.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2428" name="Shape 2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9" name="Google Shape;2429;p154"/>
          <p:cNvSpPr/>
          <p:nvPr/>
        </p:nvSpPr>
        <p:spPr>
          <a:xfrm>
            <a:off x="952500" y="3705225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3 · DECISIONS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0" name="Google Shape;2430;p154"/>
          <p:cNvSpPr/>
          <p:nvPr/>
        </p:nvSpPr>
        <p:spPr>
          <a:xfrm>
            <a:off x="952500" y="4474845"/>
            <a:ext cx="1726692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10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1" name="Google Shape;2431;p154"/>
          <p:cNvSpPr/>
          <p:nvPr/>
        </p:nvSpPr>
        <p:spPr>
          <a:xfrm>
            <a:off x="3055620" y="5252085"/>
            <a:ext cx="10791825" cy="15582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Comparison and Logical Operators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436" name="Shape 2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" name="Google Shape;2437;p15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10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8" name="Google Shape;2438;p15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9" name="Google Shape;2439;p155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0" name="Google Shape;2440;p155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1" name="Google Shape;2441;p155"/>
          <p:cNvSpPr/>
          <p:nvPr/>
        </p:nvSpPr>
        <p:spPr>
          <a:xfrm>
            <a:off x="1646039" y="2727960"/>
            <a:ext cx="2338185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and, or, not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2" name="Google Shape;2442;p155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3" name="Google Shape;2443;p155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4" name="Google Shape;2444;p155"/>
          <p:cNvSpPr/>
          <p:nvPr/>
        </p:nvSpPr>
        <p:spPr>
          <a:xfrm>
            <a:off x="1646039" y="3771900"/>
            <a:ext cx="2585454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Truth tables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5" name="Google Shape;2445;p155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6" name="Google Shape;2446;p155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7" name="Google Shape;2447;p155"/>
          <p:cNvSpPr/>
          <p:nvPr/>
        </p:nvSpPr>
        <p:spPr>
          <a:xfrm>
            <a:off x="1646039" y="4815840"/>
            <a:ext cx="712849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Combining tests in one condition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8" name="Google Shape;2448;p155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9" name="Google Shape;2449;p155"/>
          <p:cNvSpPr/>
          <p:nvPr/>
        </p:nvSpPr>
        <p:spPr>
          <a:xfrm>
            <a:off x="1646039" y="5859780"/>
            <a:ext cx="761164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Writing conditions that read clearly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454" name="Shape 2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5" name="Google Shape;2455;p15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TRUTH TABLE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6" name="Google Shape;2456;p15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and: both must hold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7" name="Google Shape;2457;p156"/>
          <p:cNvSpPr/>
          <p:nvPr/>
        </p:nvSpPr>
        <p:spPr>
          <a:xfrm>
            <a:off x="952500" y="2727960"/>
            <a:ext cx="11430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8" name="Google Shape;2458;p156"/>
          <p:cNvSpPr/>
          <p:nvPr/>
        </p:nvSpPr>
        <p:spPr>
          <a:xfrm>
            <a:off x="952500" y="3482340"/>
            <a:ext cx="381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9" name="Google Shape;2459;p156"/>
          <p:cNvSpPr/>
          <p:nvPr/>
        </p:nvSpPr>
        <p:spPr>
          <a:xfrm>
            <a:off x="1181100" y="2933700"/>
            <a:ext cx="34671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0" name="Google Shape;2460;p156"/>
          <p:cNvSpPr/>
          <p:nvPr/>
        </p:nvSpPr>
        <p:spPr>
          <a:xfrm>
            <a:off x="4762500" y="3482340"/>
            <a:ext cx="381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1" name="Google Shape;2461;p156"/>
          <p:cNvSpPr/>
          <p:nvPr/>
        </p:nvSpPr>
        <p:spPr>
          <a:xfrm>
            <a:off x="4991100" y="2933700"/>
            <a:ext cx="34671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2" name="Google Shape;2462;p156"/>
          <p:cNvSpPr/>
          <p:nvPr/>
        </p:nvSpPr>
        <p:spPr>
          <a:xfrm>
            <a:off x="8572500" y="3482340"/>
            <a:ext cx="381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3" name="Google Shape;2463;p156"/>
          <p:cNvSpPr/>
          <p:nvPr/>
        </p:nvSpPr>
        <p:spPr>
          <a:xfrm>
            <a:off x="8801100" y="2933700"/>
            <a:ext cx="34671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and 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4" name="Google Shape;2464;p156"/>
          <p:cNvSpPr/>
          <p:nvPr/>
        </p:nvSpPr>
        <p:spPr>
          <a:xfrm>
            <a:off x="952500" y="4389120"/>
            <a:ext cx="381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5" name="Google Shape;2465;p156"/>
          <p:cNvSpPr/>
          <p:nvPr/>
        </p:nvSpPr>
        <p:spPr>
          <a:xfrm>
            <a:off x="1181100" y="3661410"/>
            <a:ext cx="34671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6" name="Google Shape;2466;p156"/>
          <p:cNvSpPr/>
          <p:nvPr/>
        </p:nvSpPr>
        <p:spPr>
          <a:xfrm>
            <a:off x="4762500" y="4389120"/>
            <a:ext cx="381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7" name="Google Shape;2467;p156"/>
          <p:cNvSpPr/>
          <p:nvPr/>
        </p:nvSpPr>
        <p:spPr>
          <a:xfrm>
            <a:off x="4991100" y="3661410"/>
            <a:ext cx="34671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8" name="Google Shape;2468;p156"/>
          <p:cNvSpPr/>
          <p:nvPr/>
        </p:nvSpPr>
        <p:spPr>
          <a:xfrm>
            <a:off x="8572500" y="4389120"/>
            <a:ext cx="381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9" name="Google Shape;2469;p156"/>
          <p:cNvSpPr/>
          <p:nvPr/>
        </p:nvSpPr>
        <p:spPr>
          <a:xfrm>
            <a:off x="8801100" y="3661410"/>
            <a:ext cx="34671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0" name="Google Shape;2470;p156"/>
          <p:cNvSpPr/>
          <p:nvPr/>
        </p:nvSpPr>
        <p:spPr>
          <a:xfrm>
            <a:off x="952500" y="5295900"/>
            <a:ext cx="381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1" name="Google Shape;2471;p156"/>
          <p:cNvSpPr/>
          <p:nvPr/>
        </p:nvSpPr>
        <p:spPr>
          <a:xfrm>
            <a:off x="1181100" y="4568190"/>
            <a:ext cx="34671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2" name="Google Shape;2472;p156"/>
          <p:cNvSpPr/>
          <p:nvPr/>
        </p:nvSpPr>
        <p:spPr>
          <a:xfrm>
            <a:off x="4762500" y="5295900"/>
            <a:ext cx="381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3" name="Google Shape;2473;p156"/>
          <p:cNvSpPr/>
          <p:nvPr/>
        </p:nvSpPr>
        <p:spPr>
          <a:xfrm>
            <a:off x="4991100" y="4568190"/>
            <a:ext cx="34671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4" name="Google Shape;2474;p156"/>
          <p:cNvSpPr/>
          <p:nvPr/>
        </p:nvSpPr>
        <p:spPr>
          <a:xfrm>
            <a:off x="8572500" y="5295900"/>
            <a:ext cx="381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5" name="Google Shape;2475;p156"/>
          <p:cNvSpPr/>
          <p:nvPr/>
        </p:nvSpPr>
        <p:spPr>
          <a:xfrm>
            <a:off x="8801100" y="4568190"/>
            <a:ext cx="34671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6" name="Google Shape;2476;p156"/>
          <p:cNvSpPr/>
          <p:nvPr/>
        </p:nvSpPr>
        <p:spPr>
          <a:xfrm>
            <a:off x="952500" y="6202680"/>
            <a:ext cx="381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7" name="Google Shape;2477;p156"/>
          <p:cNvSpPr/>
          <p:nvPr/>
        </p:nvSpPr>
        <p:spPr>
          <a:xfrm>
            <a:off x="1181100" y="5474970"/>
            <a:ext cx="34671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8" name="Google Shape;2478;p156"/>
          <p:cNvSpPr/>
          <p:nvPr/>
        </p:nvSpPr>
        <p:spPr>
          <a:xfrm>
            <a:off x="4762500" y="6202680"/>
            <a:ext cx="381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9" name="Google Shape;2479;p156"/>
          <p:cNvSpPr/>
          <p:nvPr/>
        </p:nvSpPr>
        <p:spPr>
          <a:xfrm>
            <a:off x="4991100" y="5474970"/>
            <a:ext cx="34671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0" name="Google Shape;2480;p156"/>
          <p:cNvSpPr/>
          <p:nvPr/>
        </p:nvSpPr>
        <p:spPr>
          <a:xfrm>
            <a:off x="8572500" y="6202680"/>
            <a:ext cx="381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1" name="Google Shape;2481;p156"/>
          <p:cNvSpPr/>
          <p:nvPr/>
        </p:nvSpPr>
        <p:spPr>
          <a:xfrm>
            <a:off x="8801100" y="5474970"/>
            <a:ext cx="34671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2" name="Google Shape;2482;p156"/>
          <p:cNvSpPr/>
          <p:nvPr/>
        </p:nvSpPr>
        <p:spPr>
          <a:xfrm>
            <a:off x="1181100" y="6381750"/>
            <a:ext cx="34671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3" name="Google Shape;2483;p156"/>
          <p:cNvSpPr/>
          <p:nvPr/>
        </p:nvSpPr>
        <p:spPr>
          <a:xfrm>
            <a:off x="4991100" y="6381750"/>
            <a:ext cx="34671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4" name="Google Shape;2484;p156"/>
          <p:cNvSpPr/>
          <p:nvPr/>
        </p:nvSpPr>
        <p:spPr>
          <a:xfrm>
            <a:off x="8801100" y="6381750"/>
            <a:ext cx="34671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489" name="Shape 2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0" name="Google Shape;2490;p15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1" name="Google Shape;2491;p15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Two tests joined by and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2" name="Google Shape;2492;p157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3" name="Google Shape;2493;p157"/>
          <p:cNvSpPr/>
          <p:nvPr/>
        </p:nvSpPr>
        <p:spPr>
          <a:xfrm>
            <a:off x="2228850" y="2727960"/>
            <a:ext cx="15106650" cy="2691765"/>
          </a:xfrm>
          <a:prstGeom prst="roundRect">
            <a:avLst>
              <a:gd fmla="val 283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4" name="Google Shape;2494;p157"/>
          <p:cNvSpPr/>
          <p:nvPr/>
        </p:nvSpPr>
        <p:spPr>
          <a:xfrm>
            <a:off x="2541270" y="3002280"/>
            <a:ext cx="14935010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2 == 0 and a % 3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print("Multiple of 2 and multiple of 3")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print("something else")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5" name="Google Shape;2495;p157"/>
          <p:cNvSpPr/>
          <p:nvPr/>
        </p:nvSpPr>
        <p:spPr>
          <a:xfrm>
            <a:off x="952500" y="58959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6" name="Google Shape;2496;p157"/>
          <p:cNvSpPr/>
          <p:nvPr/>
        </p:nvSpPr>
        <p:spPr>
          <a:xfrm>
            <a:off x="2228850" y="5648325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7" name="Google Shape;2497;p157"/>
          <p:cNvSpPr/>
          <p:nvPr/>
        </p:nvSpPr>
        <p:spPr>
          <a:xfrm>
            <a:off x="2533650" y="5915025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something else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502" name="Shape 2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3" name="Google Shape;2503;p15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TRUTH TABLE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4" name="Google Shape;2504;p15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or: one is enough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5" name="Google Shape;2505;p158"/>
          <p:cNvSpPr/>
          <p:nvPr/>
        </p:nvSpPr>
        <p:spPr>
          <a:xfrm>
            <a:off x="952500" y="2727960"/>
            <a:ext cx="11430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6" name="Google Shape;2506;p158"/>
          <p:cNvSpPr/>
          <p:nvPr/>
        </p:nvSpPr>
        <p:spPr>
          <a:xfrm>
            <a:off x="952500" y="3482340"/>
            <a:ext cx="381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7" name="Google Shape;2507;p158"/>
          <p:cNvSpPr/>
          <p:nvPr/>
        </p:nvSpPr>
        <p:spPr>
          <a:xfrm>
            <a:off x="1181100" y="2933700"/>
            <a:ext cx="34671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8" name="Google Shape;2508;p158"/>
          <p:cNvSpPr/>
          <p:nvPr/>
        </p:nvSpPr>
        <p:spPr>
          <a:xfrm>
            <a:off x="4762500" y="3482340"/>
            <a:ext cx="381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9" name="Google Shape;2509;p158"/>
          <p:cNvSpPr/>
          <p:nvPr/>
        </p:nvSpPr>
        <p:spPr>
          <a:xfrm>
            <a:off x="4991100" y="2933700"/>
            <a:ext cx="34671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0" name="Google Shape;2510;p158"/>
          <p:cNvSpPr/>
          <p:nvPr/>
        </p:nvSpPr>
        <p:spPr>
          <a:xfrm>
            <a:off x="8572500" y="3482340"/>
            <a:ext cx="381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1" name="Google Shape;2511;p158"/>
          <p:cNvSpPr/>
          <p:nvPr/>
        </p:nvSpPr>
        <p:spPr>
          <a:xfrm>
            <a:off x="8801100" y="2933700"/>
            <a:ext cx="34671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or 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2" name="Google Shape;2512;p158"/>
          <p:cNvSpPr/>
          <p:nvPr/>
        </p:nvSpPr>
        <p:spPr>
          <a:xfrm>
            <a:off x="952500" y="4389120"/>
            <a:ext cx="381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3" name="Google Shape;2513;p158"/>
          <p:cNvSpPr/>
          <p:nvPr/>
        </p:nvSpPr>
        <p:spPr>
          <a:xfrm>
            <a:off x="1181100" y="3661410"/>
            <a:ext cx="34671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4" name="Google Shape;2514;p158"/>
          <p:cNvSpPr/>
          <p:nvPr/>
        </p:nvSpPr>
        <p:spPr>
          <a:xfrm>
            <a:off x="4762500" y="4389120"/>
            <a:ext cx="381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5" name="Google Shape;2515;p158"/>
          <p:cNvSpPr/>
          <p:nvPr/>
        </p:nvSpPr>
        <p:spPr>
          <a:xfrm>
            <a:off x="4991100" y="3661410"/>
            <a:ext cx="34671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6" name="Google Shape;2516;p158"/>
          <p:cNvSpPr/>
          <p:nvPr/>
        </p:nvSpPr>
        <p:spPr>
          <a:xfrm>
            <a:off x="8572500" y="4389120"/>
            <a:ext cx="381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7" name="Google Shape;2517;p158"/>
          <p:cNvSpPr/>
          <p:nvPr/>
        </p:nvSpPr>
        <p:spPr>
          <a:xfrm>
            <a:off x="8801100" y="3661410"/>
            <a:ext cx="34671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8" name="Google Shape;2518;p158"/>
          <p:cNvSpPr/>
          <p:nvPr/>
        </p:nvSpPr>
        <p:spPr>
          <a:xfrm>
            <a:off x="952500" y="5295900"/>
            <a:ext cx="381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9" name="Google Shape;2519;p158"/>
          <p:cNvSpPr/>
          <p:nvPr/>
        </p:nvSpPr>
        <p:spPr>
          <a:xfrm>
            <a:off x="1181100" y="4568190"/>
            <a:ext cx="34671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0" name="Google Shape;2520;p158"/>
          <p:cNvSpPr/>
          <p:nvPr/>
        </p:nvSpPr>
        <p:spPr>
          <a:xfrm>
            <a:off x="4762500" y="5295900"/>
            <a:ext cx="381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1" name="Google Shape;2521;p158"/>
          <p:cNvSpPr/>
          <p:nvPr/>
        </p:nvSpPr>
        <p:spPr>
          <a:xfrm>
            <a:off x="4991100" y="4568190"/>
            <a:ext cx="34671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2" name="Google Shape;2522;p158"/>
          <p:cNvSpPr/>
          <p:nvPr/>
        </p:nvSpPr>
        <p:spPr>
          <a:xfrm>
            <a:off x="8572500" y="5295900"/>
            <a:ext cx="381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3" name="Google Shape;2523;p158"/>
          <p:cNvSpPr/>
          <p:nvPr/>
        </p:nvSpPr>
        <p:spPr>
          <a:xfrm>
            <a:off x="8801100" y="4568190"/>
            <a:ext cx="34671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4" name="Google Shape;2524;p158"/>
          <p:cNvSpPr/>
          <p:nvPr/>
        </p:nvSpPr>
        <p:spPr>
          <a:xfrm>
            <a:off x="952500" y="6202680"/>
            <a:ext cx="381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5" name="Google Shape;2525;p158"/>
          <p:cNvSpPr/>
          <p:nvPr/>
        </p:nvSpPr>
        <p:spPr>
          <a:xfrm>
            <a:off x="1181100" y="5474970"/>
            <a:ext cx="34671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6" name="Google Shape;2526;p158"/>
          <p:cNvSpPr/>
          <p:nvPr/>
        </p:nvSpPr>
        <p:spPr>
          <a:xfrm>
            <a:off x="4762500" y="6202680"/>
            <a:ext cx="381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7" name="Google Shape;2527;p158"/>
          <p:cNvSpPr/>
          <p:nvPr/>
        </p:nvSpPr>
        <p:spPr>
          <a:xfrm>
            <a:off x="4991100" y="5474970"/>
            <a:ext cx="34671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8" name="Google Shape;2528;p158"/>
          <p:cNvSpPr/>
          <p:nvPr/>
        </p:nvSpPr>
        <p:spPr>
          <a:xfrm>
            <a:off x="8572500" y="6202680"/>
            <a:ext cx="3810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9" name="Google Shape;2529;p158"/>
          <p:cNvSpPr/>
          <p:nvPr/>
        </p:nvSpPr>
        <p:spPr>
          <a:xfrm>
            <a:off x="8801100" y="5474970"/>
            <a:ext cx="34671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0" name="Google Shape;2530;p158"/>
          <p:cNvSpPr/>
          <p:nvPr/>
        </p:nvSpPr>
        <p:spPr>
          <a:xfrm>
            <a:off x="1181100" y="6381750"/>
            <a:ext cx="34671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1" name="Google Shape;2531;p158"/>
          <p:cNvSpPr/>
          <p:nvPr/>
        </p:nvSpPr>
        <p:spPr>
          <a:xfrm>
            <a:off x="4991100" y="6381750"/>
            <a:ext cx="34671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2" name="Google Shape;2532;p158"/>
          <p:cNvSpPr/>
          <p:nvPr/>
        </p:nvSpPr>
        <p:spPr>
          <a:xfrm>
            <a:off x="8801100" y="6381750"/>
            <a:ext cx="34671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537" name="Shape 2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8" name="Google Shape;2538;p15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9" name="Google Shape;2539;p15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Two tests joined by or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0" name="Google Shape;2540;p159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1" name="Google Shape;2541;p159"/>
          <p:cNvSpPr/>
          <p:nvPr/>
        </p:nvSpPr>
        <p:spPr>
          <a:xfrm>
            <a:off x="2228850" y="2727960"/>
            <a:ext cx="15106650" cy="2691765"/>
          </a:xfrm>
          <a:prstGeom prst="roundRect">
            <a:avLst>
              <a:gd fmla="val 283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2" name="Google Shape;2542;p159"/>
          <p:cNvSpPr/>
          <p:nvPr/>
        </p:nvSpPr>
        <p:spPr>
          <a:xfrm>
            <a:off x="2541270" y="3002280"/>
            <a:ext cx="14935010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12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(a % 2 == 0) or (a % 3 == 0):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print("Multiple of 2 or multiple of 3")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print("something else")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3" name="Google Shape;2543;p159"/>
          <p:cNvSpPr/>
          <p:nvPr/>
        </p:nvSpPr>
        <p:spPr>
          <a:xfrm>
            <a:off x="952500" y="58959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4" name="Google Shape;2544;p159"/>
          <p:cNvSpPr/>
          <p:nvPr/>
        </p:nvSpPr>
        <p:spPr>
          <a:xfrm>
            <a:off x="2228850" y="5648325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5" name="Google Shape;2545;p159"/>
          <p:cNvSpPr/>
          <p:nvPr/>
        </p:nvSpPr>
        <p:spPr>
          <a:xfrm>
            <a:off x="2533650" y="5915025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Multiple of 2 or multiple of 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6" name="Google Shape;2546;p159"/>
          <p:cNvSpPr/>
          <p:nvPr/>
        </p:nvSpPr>
        <p:spPr>
          <a:xfrm>
            <a:off x="952500" y="693610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Brackets are optional here, but they make the two halves obvious.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55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2" name="Google Shape;2552;p16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3" name="Google Shape;2553;p16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not turns True into False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4" name="Google Shape;2554;p160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not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5" name="Google Shape;2555;p160"/>
          <p:cNvSpPr/>
          <p:nvPr/>
        </p:nvSpPr>
        <p:spPr>
          <a:xfrm>
            <a:off x="952500" y="3276600"/>
            <a:ext cx="7943850" cy="2653665"/>
          </a:xfrm>
          <a:prstGeom prst="roundRect">
            <a:avLst>
              <a:gd fmla="val 287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6" name="Google Shape;2556;p160"/>
          <p:cNvSpPr/>
          <p:nvPr/>
        </p:nvSpPr>
        <p:spPr>
          <a:xfrm>
            <a:off x="1245870" y="3531870"/>
            <a:ext cx="7595425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50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not(a % 2 == 0):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print("Number is odd")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print("Number is even")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7" name="Google Shape;2557;p160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!=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8" name="Google Shape;2558;p160"/>
          <p:cNvSpPr/>
          <p:nvPr/>
        </p:nvSpPr>
        <p:spPr>
          <a:xfrm>
            <a:off x="9391650" y="3276600"/>
            <a:ext cx="7943850" cy="2653665"/>
          </a:xfrm>
          <a:prstGeom prst="roundRect">
            <a:avLst>
              <a:gd fmla="val 287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9" name="Google Shape;2559;p160"/>
          <p:cNvSpPr/>
          <p:nvPr/>
        </p:nvSpPr>
        <p:spPr>
          <a:xfrm>
            <a:off x="9685020" y="3531870"/>
            <a:ext cx="7595425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50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2 !=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print("Number is odd")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print("Number is even")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0" name="Google Shape;2560;p160"/>
          <p:cNvSpPr/>
          <p:nvPr/>
        </p:nvSpPr>
        <p:spPr>
          <a:xfrm>
            <a:off x="952500" y="642556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Both print Number is even. Reach for not only when nothing simpler fits.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565" name="Shape 2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6" name="Google Shape;2566;p16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7" name="Google Shape;2567;p16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Borrowing symbols from other languages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8" name="Google Shape;2568;p161"/>
          <p:cNvSpPr/>
          <p:nvPr/>
        </p:nvSpPr>
        <p:spPr>
          <a:xfrm>
            <a:off x="952500" y="272796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9" name="Google Shape;2569;p161"/>
          <p:cNvSpPr/>
          <p:nvPr/>
        </p:nvSpPr>
        <p:spPr>
          <a:xfrm>
            <a:off x="1245870" y="298323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!(a % 2 == 0):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print("odd")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0" name="Google Shape;2570;p161"/>
          <p:cNvSpPr/>
          <p:nvPr/>
        </p:nvSpPr>
        <p:spPr>
          <a:xfrm>
            <a:off x="952500" y="4286250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1" name="Google Shape;2571;p161"/>
          <p:cNvSpPr/>
          <p:nvPr/>
        </p:nvSpPr>
        <p:spPr>
          <a:xfrm>
            <a:off x="1238250" y="4533900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SyntaxError: invalid syntax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2" name="Google Shape;2572;p161"/>
          <p:cNvSpPr/>
          <p:nvPr/>
        </p:nvSpPr>
        <p:spPr>
          <a:xfrm>
            <a:off x="9391650" y="272796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3" name="Google Shape;2573;p161"/>
          <p:cNvSpPr/>
          <p:nvPr/>
        </p:nvSpPr>
        <p:spPr>
          <a:xfrm>
            <a:off x="9685020" y="298323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% 2 ! 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print("odd")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4" name="Google Shape;2574;p161"/>
          <p:cNvSpPr/>
          <p:nvPr/>
        </p:nvSpPr>
        <p:spPr>
          <a:xfrm>
            <a:off x="9391650" y="4286250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5" name="Google Shape;2575;p161"/>
          <p:cNvSpPr/>
          <p:nvPr/>
        </p:nvSpPr>
        <p:spPr>
          <a:xfrm>
            <a:off x="9677400" y="4533900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SyntaxError: invalid syntax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6" name="Google Shape;2576;p161"/>
          <p:cNvSpPr/>
          <p:nvPr/>
        </p:nvSpPr>
        <p:spPr>
          <a:xfrm>
            <a:off x="952500" y="561213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not in words, and write != with no space between the two characters.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581" name="Shape 2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2" name="Google Shape;2582;p16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RULES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3" name="Google Shape;2583;p16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Which logical operator goes first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4" name="Google Shape;2584;p162"/>
          <p:cNvSpPr/>
          <p:nvPr/>
        </p:nvSpPr>
        <p:spPr>
          <a:xfrm>
            <a:off x="952500" y="3497580"/>
            <a:ext cx="1428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5" name="Google Shape;2585;p162"/>
          <p:cNvSpPr/>
          <p:nvPr/>
        </p:nvSpPr>
        <p:spPr>
          <a:xfrm>
            <a:off x="952500" y="284226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6" name="Google Shape;2586;p162"/>
          <p:cNvSpPr/>
          <p:nvPr/>
        </p:nvSpPr>
        <p:spPr>
          <a:xfrm>
            <a:off x="1615559" y="2727960"/>
            <a:ext cx="11009626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Comparisons such as == and &gt; are worked out first.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7" name="Google Shape;2587;p162"/>
          <p:cNvSpPr/>
          <p:nvPr/>
        </p:nvSpPr>
        <p:spPr>
          <a:xfrm>
            <a:off x="952500" y="4541520"/>
            <a:ext cx="1428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8" name="Google Shape;2588;p162"/>
          <p:cNvSpPr/>
          <p:nvPr/>
        </p:nvSpPr>
        <p:spPr>
          <a:xfrm>
            <a:off x="952500" y="388620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9" name="Google Shape;2589;p162"/>
          <p:cNvSpPr/>
          <p:nvPr/>
        </p:nvSpPr>
        <p:spPr>
          <a:xfrm>
            <a:off x="1615559" y="3771900"/>
            <a:ext cx="5805976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Then not, then and, then or.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0" name="Google Shape;2590;p162"/>
          <p:cNvSpPr/>
          <p:nvPr/>
        </p:nvSpPr>
        <p:spPr>
          <a:xfrm>
            <a:off x="952500" y="493014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1" name="Google Shape;2591;p162"/>
          <p:cNvSpPr/>
          <p:nvPr/>
        </p:nvSpPr>
        <p:spPr>
          <a:xfrm>
            <a:off x="1615559" y="4815840"/>
            <a:ext cx="851702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Brackets beat all of it, and cost nothing.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2" name="Google Shape;2592;p162"/>
          <p:cNvSpPr/>
          <p:nvPr/>
        </p:nvSpPr>
        <p:spPr>
          <a:xfrm>
            <a:off x="952500" y="5814060"/>
            <a:ext cx="16383000" cy="1447800"/>
          </a:xfrm>
          <a:prstGeom prst="roundRect">
            <a:avLst>
              <a:gd fmla="val 526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3" name="Google Shape;2593;p162"/>
          <p:cNvSpPr/>
          <p:nvPr/>
        </p:nvSpPr>
        <p:spPr>
          <a:xfrm>
            <a:off x="1257300" y="6080760"/>
            <a:ext cx="1626489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&gt; 0 and b &gt; 0 or c &gt; 0        # ambiguous to a reader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(a &gt; 0 and b &gt; 0) or (c &gt; 0)    # says what you mean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598" name="Shape 2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9" name="Google Shape;2599;p16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0" name="Google Shape;2600;p16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Testing a range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1" name="Google Shape;2601;p163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and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2" name="Google Shape;2602;p163"/>
          <p:cNvSpPr/>
          <p:nvPr/>
        </p:nvSpPr>
        <p:spPr>
          <a:xfrm>
            <a:off x="952500" y="327660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3" name="Google Shape;2603;p163"/>
          <p:cNvSpPr/>
          <p:nvPr/>
        </p:nvSpPr>
        <p:spPr>
          <a:xfrm>
            <a:off x="1245870" y="353187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marks &gt;= 70 and marks &lt; 80: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print("B")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4" name="Google Shape;2604;p163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CHAINED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5" name="Google Shape;2605;p163"/>
          <p:cNvSpPr/>
          <p:nvPr/>
        </p:nvSpPr>
        <p:spPr>
          <a:xfrm>
            <a:off x="9391650" y="327660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6" name="Google Shape;2606;p163"/>
          <p:cNvSpPr/>
          <p:nvPr/>
        </p:nvSpPr>
        <p:spPr>
          <a:xfrm>
            <a:off x="9685020" y="353187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70 &lt;= marks &lt; 80: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print("B")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7" name="Google Shape;2607;p163"/>
          <p:cNvSpPr/>
          <p:nvPr/>
        </p:nvSpPr>
        <p:spPr>
          <a:xfrm>
            <a:off x="952500" y="513969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Unlike most languages, Python reads the chained form the way mathematics does.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612" name="Shape 2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3" name="Google Shape;2613;p16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4" name="Google Shape;2614;p16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Evaluating a combined condition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5" name="Google Shape;2615;p164"/>
          <p:cNvSpPr/>
          <p:nvPr/>
        </p:nvSpPr>
        <p:spPr>
          <a:xfrm>
            <a:off x="952500" y="2727960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condition: a % 2 == 0 and a &gt; 10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6" name="Google Shape;2616;p164"/>
          <p:cNvSpPr/>
          <p:nvPr/>
        </p:nvSpPr>
        <p:spPr>
          <a:xfrm>
            <a:off x="952500" y="345948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7" name="Google Shape;2617;p164"/>
          <p:cNvSpPr/>
          <p:nvPr/>
        </p:nvSpPr>
        <p:spPr>
          <a:xfrm>
            <a:off x="952500" y="421386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8" name="Google Shape;2618;p164"/>
          <p:cNvSpPr/>
          <p:nvPr/>
        </p:nvSpPr>
        <p:spPr>
          <a:xfrm>
            <a:off x="1181100" y="3665220"/>
            <a:ext cx="376142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9" name="Google Shape;2619;p164"/>
          <p:cNvSpPr/>
          <p:nvPr/>
        </p:nvSpPr>
        <p:spPr>
          <a:xfrm>
            <a:off x="5048250" y="421386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0" name="Google Shape;2620;p164"/>
          <p:cNvSpPr/>
          <p:nvPr/>
        </p:nvSpPr>
        <p:spPr>
          <a:xfrm>
            <a:off x="5276850" y="3665220"/>
            <a:ext cx="376142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% 2 == 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1" name="Google Shape;2621;p164"/>
          <p:cNvSpPr/>
          <p:nvPr/>
        </p:nvSpPr>
        <p:spPr>
          <a:xfrm>
            <a:off x="9144000" y="421386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2" name="Google Shape;2622;p164"/>
          <p:cNvSpPr/>
          <p:nvPr/>
        </p:nvSpPr>
        <p:spPr>
          <a:xfrm>
            <a:off x="9372600" y="3665220"/>
            <a:ext cx="376142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&gt; 10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3" name="Google Shape;2623;p164"/>
          <p:cNvSpPr/>
          <p:nvPr/>
        </p:nvSpPr>
        <p:spPr>
          <a:xfrm>
            <a:off x="13239750" y="421386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4" name="Google Shape;2624;p164"/>
          <p:cNvSpPr/>
          <p:nvPr/>
        </p:nvSpPr>
        <p:spPr>
          <a:xfrm>
            <a:off x="13468350" y="3665220"/>
            <a:ext cx="376142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WHOLE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5" name="Google Shape;2625;p164"/>
          <p:cNvSpPr/>
          <p:nvPr/>
        </p:nvSpPr>
        <p:spPr>
          <a:xfrm>
            <a:off x="952500" y="499110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6" name="Google Shape;2626;p164"/>
          <p:cNvSpPr/>
          <p:nvPr/>
        </p:nvSpPr>
        <p:spPr>
          <a:xfrm>
            <a:off x="1181100" y="439293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7" name="Google Shape;2627;p164"/>
          <p:cNvSpPr/>
          <p:nvPr/>
        </p:nvSpPr>
        <p:spPr>
          <a:xfrm>
            <a:off x="5048250" y="499110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8" name="Google Shape;2628;p164"/>
          <p:cNvSpPr/>
          <p:nvPr/>
        </p:nvSpPr>
        <p:spPr>
          <a:xfrm>
            <a:off x="5276850" y="439293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9" name="Google Shape;2629;p164"/>
          <p:cNvSpPr/>
          <p:nvPr/>
        </p:nvSpPr>
        <p:spPr>
          <a:xfrm>
            <a:off x="9144000" y="499110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0" name="Google Shape;2630;p164"/>
          <p:cNvSpPr/>
          <p:nvPr/>
        </p:nvSpPr>
        <p:spPr>
          <a:xfrm>
            <a:off x="9372600" y="439293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1" name="Google Shape;2631;p164"/>
          <p:cNvSpPr/>
          <p:nvPr/>
        </p:nvSpPr>
        <p:spPr>
          <a:xfrm>
            <a:off x="13239750" y="499110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2" name="Google Shape;2632;p164"/>
          <p:cNvSpPr/>
          <p:nvPr/>
        </p:nvSpPr>
        <p:spPr>
          <a:xfrm>
            <a:off x="13468350" y="439293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3" name="Google Shape;2633;p164"/>
          <p:cNvSpPr/>
          <p:nvPr/>
        </p:nvSpPr>
        <p:spPr>
          <a:xfrm>
            <a:off x="952500" y="57683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4" name="Google Shape;2634;p164"/>
          <p:cNvSpPr/>
          <p:nvPr/>
        </p:nvSpPr>
        <p:spPr>
          <a:xfrm>
            <a:off x="1181100" y="517017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5" name="Google Shape;2635;p164"/>
          <p:cNvSpPr/>
          <p:nvPr/>
        </p:nvSpPr>
        <p:spPr>
          <a:xfrm>
            <a:off x="5048250" y="57683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6" name="Google Shape;2636;p164"/>
          <p:cNvSpPr/>
          <p:nvPr/>
        </p:nvSpPr>
        <p:spPr>
          <a:xfrm>
            <a:off x="5276850" y="517017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7" name="Google Shape;2637;p164"/>
          <p:cNvSpPr/>
          <p:nvPr/>
        </p:nvSpPr>
        <p:spPr>
          <a:xfrm>
            <a:off x="9144000" y="57683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8" name="Google Shape;2638;p164"/>
          <p:cNvSpPr/>
          <p:nvPr/>
        </p:nvSpPr>
        <p:spPr>
          <a:xfrm>
            <a:off x="9372600" y="517017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9" name="Google Shape;2639;p164"/>
          <p:cNvSpPr/>
          <p:nvPr/>
        </p:nvSpPr>
        <p:spPr>
          <a:xfrm>
            <a:off x="13239750" y="57683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0" name="Google Shape;2640;p164"/>
          <p:cNvSpPr/>
          <p:nvPr/>
        </p:nvSpPr>
        <p:spPr>
          <a:xfrm>
            <a:off x="13468350" y="517017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1" name="Google Shape;2641;p164"/>
          <p:cNvSpPr/>
          <p:nvPr/>
        </p:nvSpPr>
        <p:spPr>
          <a:xfrm>
            <a:off x="952500" y="65455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2" name="Google Shape;2642;p164"/>
          <p:cNvSpPr/>
          <p:nvPr/>
        </p:nvSpPr>
        <p:spPr>
          <a:xfrm>
            <a:off x="1181100" y="594741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3" name="Google Shape;2643;p164"/>
          <p:cNvSpPr/>
          <p:nvPr/>
        </p:nvSpPr>
        <p:spPr>
          <a:xfrm>
            <a:off x="5048250" y="65455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4" name="Google Shape;2644;p164"/>
          <p:cNvSpPr/>
          <p:nvPr/>
        </p:nvSpPr>
        <p:spPr>
          <a:xfrm>
            <a:off x="5276850" y="594741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5" name="Google Shape;2645;p164"/>
          <p:cNvSpPr/>
          <p:nvPr/>
        </p:nvSpPr>
        <p:spPr>
          <a:xfrm>
            <a:off x="9144000" y="65455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6" name="Google Shape;2646;p164"/>
          <p:cNvSpPr/>
          <p:nvPr/>
        </p:nvSpPr>
        <p:spPr>
          <a:xfrm>
            <a:off x="9372600" y="594741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7" name="Google Shape;2647;p164"/>
          <p:cNvSpPr/>
          <p:nvPr/>
        </p:nvSpPr>
        <p:spPr>
          <a:xfrm>
            <a:off x="13239750" y="65455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8" name="Google Shape;2648;p164"/>
          <p:cNvSpPr/>
          <p:nvPr/>
        </p:nvSpPr>
        <p:spPr>
          <a:xfrm>
            <a:off x="13468350" y="594741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9" name="Google Shape;2649;p164"/>
          <p:cNvSpPr/>
          <p:nvPr/>
        </p:nvSpPr>
        <p:spPr>
          <a:xfrm>
            <a:off x="1181100" y="672465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0" name="Google Shape;2650;p164"/>
          <p:cNvSpPr/>
          <p:nvPr/>
        </p:nvSpPr>
        <p:spPr>
          <a:xfrm>
            <a:off x="5276850" y="672465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1" name="Google Shape;2651;p164"/>
          <p:cNvSpPr/>
          <p:nvPr/>
        </p:nvSpPr>
        <p:spPr>
          <a:xfrm>
            <a:off x="9372600" y="672465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2" name="Google Shape;2652;p164"/>
          <p:cNvSpPr/>
          <p:nvPr/>
        </p:nvSpPr>
        <p:spPr>
          <a:xfrm>
            <a:off x="13468350" y="672465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657" name="Shape 2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" name="Google Shape;2658;p16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WORKED EXAMPLE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9" name="Google Shape;2659;p16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Is it a leap year?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0" name="Google Shape;2660;p165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[3]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1" name="Google Shape;2661;p165"/>
          <p:cNvSpPr/>
          <p:nvPr/>
        </p:nvSpPr>
        <p:spPr>
          <a:xfrm>
            <a:off x="2228850" y="2727960"/>
            <a:ext cx="15106650" cy="2691765"/>
          </a:xfrm>
          <a:prstGeom prst="roundRect">
            <a:avLst>
              <a:gd fmla="val 283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2" name="Google Shape;2662;p165"/>
          <p:cNvSpPr/>
          <p:nvPr/>
        </p:nvSpPr>
        <p:spPr>
          <a:xfrm>
            <a:off x="2541270" y="3002280"/>
            <a:ext cx="14935010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year = int(input("Year: 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(year % 4 == 0 and year % 100 != 0) or (year % 400 == 0):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print("Leap year")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print("Not a leap year")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3" name="Google Shape;2663;p165"/>
          <p:cNvSpPr/>
          <p:nvPr/>
        </p:nvSpPr>
        <p:spPr>
          <a:xfrm>
            <a:off x="952500" y="58959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4" name="Google Shape;2664;p165"/>
          <p:cNvSpPr/>
          <p:nvPr/>
        </p:nvSpPr>
        <p:spPr>
          <a:xfrm>
            <a:off x="2228850" y="5648325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5" name="Google Shape;2665;p165"/>
          <p:cNvSpPr/>
          <p:nvPr/>
        </p:nvSpPr>
        <p:spPr>
          <a:xfrm>
            <a:off x="2533650" y="5915025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Year: 1900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Not a leap year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670" name="Shape 2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1" name="Google Shape;2671;p16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HABIT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2" name="Google Shape;2672;p16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Name a complicated condition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3" name="Google Shape;2673;p166"/>
          <p:cNvSpPr/>
          <p:nvPr/>
        </p:nvSpPr>
        <p:spPr>
          <a:xfrm>
            <a:off x="952500" y="2727960"/>
            <a:ext cx="911542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HARD TO READ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4" name="Google Shape;2674;p166"/>
          <p:cNvSpPr/>
          <p:nvPr/>
        </p:nvSpPr>
        <p:spPr>
          <a:xfrm>
            <a:off x="952500" y="3276600"/>
            <a:ext cx="8286750" cy="1352550"/>
          </a:xfrm>
          <a:prstGeom prst="roundRect">
            <a:avLst>
              <a:gd fmla="val 563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5" name="Google Shape;2675;p166"/>
          <p:cNvSpPr/>
          <p:nvPr/>
        </p:nvSpPr>
        <p:spPr>
          <a:xfrm>
            <a:off x="1238250" y="3524250"/>
            <a:ext cx="7963853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 &gt;= 40 and b &gt;= 40 and (a + b) / 2 &gt;= 50: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print("Promoted")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6" name="Google Shape;2676;p166"/>
          <p:cNvSpPr/>
          <p:nvPr/>
        </p:nvSpPr>
        <p:spPr>
          <a:xfrm>
            <a:off x="9734550" y="2727960"/>
            <a:ext cx="836104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EASIER TO TRUST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7" name="Google Shape;2677;p166"/>
          <p:cNvSpPr/>
          <p:nvPr/>
        </p:nvSpPr>
        <p:spPr>
          <a:xfrm>
            <a:off x="9734550" y="3276600"/>
            <a:ext cx="7600950" cy="2225040"/>
          </a:xfrm>
          <a:prstGeom prst="roundRect">
            <a:avLst>
              <a:gd fmla="val 342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8" name="Google Shape;2678;p166"/>
          <p:cNvSpPr/>
          <p:nvPr/>
        </p:nvSpPr>
        <p:spPr>
          <a:xfrm>
            <a:off x="10027920" y="3531870"/>
            <a:ext cx="724223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passed_both = a &gt;= 40 and b &gt;= 40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good_average = (a + b) / 2 &gt;= 50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passed_both and good_average: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print("Promoted")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683" name="Shape 2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4" name="Google Shape;2684;p16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QUICK 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5" name="Google Shape;2685;p16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True or False, with a = 6 and b = 0?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6" name="Google Shape;2686;p167"/>
          <p:cNvSpPr/>
          <p:nvPr/>
        </p:nvSpPr>
        <p:spPr>
          <a:xfrm>
            <a:off x="952500" y="2727960"/>
            <a:ext cx="8039100" cy="1051560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7" name="Google Shape;2687;p167"/>
          <p:cNvSpPr/>
          <p:nvPr/>
        </p:nvSpPr>
        <p:spPr>
          <a:xfrm>
            <a:off x="1283970" y="3021330"/>
            <a:ext cx="7617333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Courier New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a &gt; 0 and b &gt; 0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8" name="Google Shape;2688;p167"/>
          <p:cNvSpPr/>
          <p:nvPr/>
        </p:nvSpPr>
        <p:spPr>
          <a:xfrm>
            <a:off x="9296400" y="2727960"/>
            <a:ext cx="8039100" cy="1051560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9" name="Google Shape;2689;p167"/>
          <p:cNvSpPr/>
          <p:nvPr/>
        </p:nvSpPr>
        <p:spPr>
          <a:xfrm>
            <a:off x="9627870" y="3021330"/>
            <a:ext cx="7617333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Courier New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a &gt; 0 or b &gt; 0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0" name="Google Shape;2690;p167"/>
          <p:cNvSpPr/>
          <p:nvPr/>
        </p:nvSpPr>
        <p:spPr>
          <a:xfrm>
            <a:off x="952500" y="4084320"/>
            <a:ext cx="8039100" cy="1051560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1" name="Google Shape;2691;p167"/>
          <p:cNvSpPr/>
          <p:nvPr/>
        </p:nvSpPr>
        <p:spPr>
          <a:xfrm>
            <a:off x="1283970" y="4377690"/>
            <a:ext cx="7617333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Courier New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not (a == 6)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2" name="Google Shape;2692;p167"/>
          <p:cNvSpPr/>
          <p:nvPr/>
        </p:nvSpPr>
        <p:spPr>
          <a:xfrm>
            <a:off x="9296400" y="4084320"/>
            <a:ext cx="8039100" cy="1051560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3" name="Google Shape;2693;p167"/>
          <p:cNvSpPr/>
          <p:nvPr/>
        </p:nvSpPr>
        <p:spPr>
          <a:xfrm>
            <a:off x="9627870" y="4377690"/>
            <a:ext cx="7617333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Courier New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0 &lt; a &lt; 10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2698" name="Shape 2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9" name="Google Shape;2699;p16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0" name="Google Shape;2700;p16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1" name="Google Shape;2701;p168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2" name="Google Shape;2702;p168"/>
          <p:cNvSpPr/>
          <p:nvPr/>
        </p:nvSpPr>
        <p:spPr>
          <a:xfrm>
            <a:off x="1684139" y="2727960"/>
            <a:ext cx="9974056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 a year and print whether it is a leap year.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3" name="Google Shape;2703;p168"/>
          <p:cNvSpPr/>
          <p:nvPr/>
        </p:nvSpPr>
        <p:spPr>
          <a:xfrm>
            <a:off x="952500" y="363474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4" name="Google Shape;2704;p168"/>
          <p:cNvSpPr/>
          <p:nvPr/>
        </p:nvSpPr>
        <p:spPr>
          <a:xfrm>
            <a:off x="1684139" y="3573780"/>
            <a:ext cx="1447781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 three side lengths and print whether they can form a triangle.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5" name="Google Shape;2705;p168"/>
          <p:cNvSpPr/>
          <p:nvPr/>
        </p:nvSpPr>
        <p:spPr>
          <a:xfrm>
            <a:off x="952500" y="448056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6" name="Google Shape;2706;p168"/>
          <p:cNvSpPr/>
          <p:nvPr/>
        </p:nvSpPr>
        <p:spPr>
          <a:xfrm>
            <a:off x="1684139" y="4419600"/>
            <a:ext cx="1228617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 a character and print whether it is a vowel, using or.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711" name="Shape 2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2" name="Google Shape;2712;p16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3 COMPLETE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3" name="Google Shape;2713;p16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4" name="Google Shape;2714;p169"/>
          <p:cNvSpPr/>
          <p:nvPr/>
        </p:nvSpPr>
        <p:spPr>
          <a:xfrm>
            <a:off x="952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5" name="Google Shape;2715;p169"/>
          <p:cNvSpPr/>
          <p:nvPr/>
        </p:nvSpPr>
        <p:spPr>
          <a:xfrm>
            <a:off x="1295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Combine tests with and, or and not.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6" name="Google Shape;2716;p169"/>
          <p:cNvSpPr/>
          <p:nvPr/>
        </p:nvSpPr>
        <p:spPr>
          <a:xfrm>
            <a:off x="9334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7" name="Google Shape;2717;p169"/>
          <p:cNvSpPr/>
          <p:nvPr/>
        </p:nvSpPr>
        <p:spPr>
          <a:xfrm>
            <a:off x="9677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Complete a truth table for any combination.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8" name="Google Shape;2718;p169"/>
          <p:cNvSpPr/>
          <p:nvPr/>
        </p:nvSpPr>
        <p:spPr>
          <a:xfrm>
            <a:off x="952500" y="424815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9" name="Google Shape;2719;p169"/>
          <p:cNvSpPr/>
          <p:nvPr/>
        </p:nvSpPr>
        <p:spPr>
          <a:xfrm>
            <a:off x="1295400" y="459105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Test a range with a chained comparison.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0" name="Google Shape;2720;p169"/>
          <p:cNvSpPr/>
          <p:nvPr/>
        </p:nvSpPr>
        <p:spPr>
          <a:xfrm>
            <a:off x="9334500" y="424815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1" name="Google Shape;2721;p169"/>
          <p:cNvSpPr/>
          <p:nvPr/>
        </p:nvSpPr>
        <p:spPr>
          <a:xfrm>
            <a:off x="9677400" y="459105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Break a long condition into named parts.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2" name="Google Shape;2722;p169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class: doing something many times.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2727" name="Shape 2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8" name="Google Shape;2728;p170"/>
          <p:cNvSpPr/>
          <p:nvPr/>
        </p:nvSpPr>
        <p:spPr>
          <a:xfrm>
            <a:off x="952500" y="4085272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4 · REPETITION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9" name="Google Shape;2729;p170"/>
          <p:cNvSpPr/>
          <p:nvPr/>
        </p:nvSpPr>
        <p:spPr>
          <a:xfrm>
            <a:off x="952500" y="4854893"/>
            <a:ext cx="11049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11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0" name="Google Shape;2730;p170"/>
          <p:cNvSpPr/>
          <p:nvPr/>
        </p:nvSpPr>
        <p:spPr>
          <a:xfrm>
            <a:off x="2514600" y="5632132"/>
            <a:ext cx="9066574" cy="79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for Loop and range()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735" name="Shape 2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6" name="Google Shape;2736;p17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11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7" name="Google Shape;2737;p17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8" name="Google Shape;2738;p171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9" name="Google Shape;2739;p171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0" name="Google Shape;2740;p171"/>
          <p:cNvSpPr/>
          <p:nvPr/>
        </p:nvSpPr>
        <p:spPr>
          <a:xfrm>
            <a:off x="1646039" y="2727960"/>
            <a:ext cx="971945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Repeating a block without repeating yourself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1" name="Google Shape;2741;p171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2" name="Google Shape;2742;p171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3" name="Google Shape;2743;p171"/>
          <p:cNvSpPr/>
          <p:nvPr/>
        </p:nvSpPr>
        <p:spPr>
          <a:xfrm>
            <a:off x="1646039" y="3771900"/>
            <a:ext cx="887575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range with one, two and three arguments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4" name="Google Shape;2744;p171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5" name="Google Shape;2745;p171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6" name="Google Shape;2746;p171"/>
          <p:cNvSpPr/>
          <p:nvPr/>
        </p:nvSpPr>
        <p:spPr>
          <a:xfrm>
            <a:off x="1646039" y="4815840"/>
            <a:ext cx="327880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Counting down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7" name="Google Shape;2747;p171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8" name="Google Shape;2748;p171"/>
          <p:cNvSpPr/>
          <p:nvPr/>
        </p:nvSpPr>
        <p:spPr>
          <a:xfrm>
            <a:off x="1646039" y="5859780"/>
            <a:ext cx="388820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Building up a total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753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p17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5" name="Google Shape;2755;p17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Your first loop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6" name="Google Shape;2756;p172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7" name="Google Shape;2757;p172"/>
          <p:cNvSpPr/>
          <p:nvPr/>
        </p:nvSpPr>
        <p:spPr>
          <a:xfrm>
            <a:off x="2228850" y="2727960"/>
            <a:ext cx="15106650" cy="1405890"/>
          </a:xfrm>
          <a:prstGeom prst="roundRect">
            <a:avLst>
              <a:gd fmla="val 5420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8" name="Google Shape;2758;p172"/>
          <p:cNvSpPr/>
          <p:nvPr/>
        </p:nvSpPr>
        <p:spPr>
          <a:xfrm>
            <a:off x="2541270" y="3002280"/>
            <a:ext cx="1493501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range(5):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print(i, "apple")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9" name="Google Shape;2759;p172"/>
          <p:cNvSpPr/>
          <p:nvPr/>
        </p:nvSpPr>
        <p:spPr>
          <a:xfrm>
            <a:off x="952500" y="46101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0" name="Google Shape;2760;p172"/>
          <p:cNvSpPr/>
          <p:nvPr/>
        </p:nvSpPr>
        <p:spPr>
          <a:xfrm>
            <a:off x="2228850" y="4362450"/>
            <a:ext cx="15106650" cy="2676525"/>
          </a:xfrm>
          <a:prstGeom prst="roundRect">
            <a:avLst>
              <a:gd fmla="val 2847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1" name="Google Shape;2761;p172"/>
          <p:cNvSpPr/>
          <p:nvPr/>
        </p:nvSpPr>
        <p:spPr>
          <a:xfrm>
            <a:off x="2533650" y="4629150"/>
            <a:ext cx="14950249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apple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 apple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 apple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 apple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 apple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2" name="Google Shape;2762;p172"/>
          <p:cNvSpPr/>
          <p:nvPr/>
        </p:nvSpPr>
        <p:spPr>
          <a:xfrm>
            <a:off x="952500" y="741997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Five times, starting at 0. The 5 is never reached.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2767" name="Shape 2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8" name="Google Shape;2768;p173"/>
          <p:cNvSpPr/>
          <p:nvPr/>
        </p:nvSpPr>
        <p:spPr>
          <a:xfrm>
            <a:off x="952500" y="3655695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SHAPE OF A RANGE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9" name="Google Shape;2769;p173"/>
          <p:cNvSpPr/>
          <p:nvPr/>
        </p:nvSpPr>
        <p:spPr>
          <a:xfrm>
            <a:off x="952500" y="4509135"/>
            <a:ext cx="1687449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400"/>
              <a:buFont typeface="JetBrains Mono"/>
              <a:buNone/>
            </a:pPr>
            <a:r>
              <a:rPr b="1" i="0" lang="en-US" sz="540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range(start, end, step)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0" name="Google Shape;2770;p173"/>
          <p:cNvSpPr/>
          <p:nvPr/>
        </p:nvSpPr>
        <p:spPr>
          <a:xfrm>
            <a:off x="952500" y="5911215"/>
            <a:ext cx="569976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1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start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1" name="Google Shape;2771;p173"/>
          <p:cNvSpPr/>
          <p:nvPr/>
        </p:nvSpPr>
        <p:spPr>
          <a:xfrm>
            <a:off x="952500" y="6433185"/>
            <a:ext cx="3250915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First value. Default 0.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2" name="Google Shape;2772;p173"/>
          <p:cNvSpPr/>
          <p:nvPr/>
        </p:nvSpPr>
        <p:spPr>
          <a:xfrm>
            <a:off x="6553200" y="5911215"/>
            <a:ext cx="569976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1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3" name="Google Shape;2773;p173"/>
          <p:cNvSpPr/>
          <p:nvPr/>
        </p:nvSpPr>
        <p:spPr>
          <a:xfrm>
            <a:off x="6553200" y="6433185"/>
            <a:ext cx="5195773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Stops before this. Never reached.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4" name="Google Shape;2774;p173"/>
          <p:cNvSpPr/>
          <p:nvPr/>
        </p:nvSpPr>
        <p:spPr>
          <a:xfrm>
            <a:off x="12153900" y="5911215"/>
            <a:ext cx="569976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1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5" name="Google Shape;2775;p173"/>
          <p:cNvSpPr/>
          <p:nvPr/>
        </p:nvSpPr>
        <p:spPr>
          <a:xfrm>
            <a:off x="12153900" y="6433185"/>
            <a:ext cx="4767044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How much i changes. Default 1.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780" name="Shape 2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1" name="Google Shape;2781;p17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2" name="Google Shape;2782;p17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same loop, four ranges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3" name="Google Shape;2783;p174"/>
          <p:cNvSpPr/>
          <p:nvPr/>
        </p:nvSpPr>
        <p:spPr>
          <a:xfrm>
            <a:off x="952500" y="2727960"/>
            <a:ext cx="7943850" cy="2377440"/>
          </a:xfrm>
          <a:prstGeom prst="roundRect">
            <a:avLst>
              <a:gd fmla="val 320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4" name="Google Shape;2784;p174"/>
          <p:cNvSpPr/>
          <p:nvPr/>
        </p:nvSpPr>
        <p:spPr>
          <a:xfrm>
            <a:off x="1264920" y="3002280"/>
            <a:ext cx="7557325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range(5)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range(0, 5)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range(5, 10)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range(0, 10, 3)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5" name="Google Shape;2785;p174"/>
          <p:cNvSpPr/>
          <p:nvPr/>
        </p:nvSpPr>
        <p:spPr>
          <a:xfrm>
            <a:off x="9391650" y="2727960"/>
            <a:ext cx="7943850" cy="2377440"/>
          </a:xfrm>
          <a:prstGeom prst="roundRect">
            <a:avLst>
              <a:gd fmla="val 320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6" name="Google Shape;2786;p174"/>
          <p:cNvSpPr/>
          <p:nvPr/>
        </p:nvSpPr>
        <p:spPr>
          <a:xfrm>
            <a:off x="9696450" y="2994660"/>
            <a:ext cx="7572566" cy="1882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0 1 2 3 4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0 1 2 3 4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5 6 7 8 9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0 3 6 9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7" name="Google Shape;2787;p174"/>
          <p:cNvSpPr/>
          <p:nvPr/>
        </p:nvSpPr>
        <p:spPr>
          <a:xfrm>
            <a:off x="952500" y="55626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range(5) and range(0, 5) are the same. The start is what you may leave out.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792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p17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4" name="Google Shape;2794;p17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Counting down, and counting nothing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5" name="Google Shape;2795;p175"/>
          <p:cNvSpPr/>
          <p:nvPr/>
        </p:nvSpPr>
        <p:spPr>
          <a:xfrm>
            <a:off x="952500" y="272796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6" name="Google Shape;2796;p175"/>
          <p:cNvSpPr/>
          <p:nvPr/>
        </p:nvSpPr>
        <p:spPr>
          <a:xfrm>
            <a:off x="1245870" y="298323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range(10, 0, -2):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print(i,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7" name="Google Shape;2797;p175"/>
          <p:cNvSpPr/>
          <p:nvPr/>
        </p:nvSpPr>
        <p:spPr>
          <a:xfrm>
            <a:off x="952500" y="4286250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8" name="Google Shape;2798;p175"/>
          <p:cNvSpPr/>
          <p:nvPr/>
        </p:nvSpPr>
        <p:spPr>
          <a:xfrm>
            <a:off x="1238250" y="4533900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10 8 6 4 2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9" name="Google Shape;2799;p175"/>
          <p:cNvSpPr/>
          <p:nvPr/>
        </p:nvSpPr>
        <p:spPr>
          <a:xfrm>
            <a:off x="9391650" y="272796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0" name="Google Shape;2800;p175"/>
          <p:cNvSpPr/>
          <p:nvPr/>
        </p:nvSpPr>
        <p:spPr>
          <a:xfrm>
            <a:off x="9685020" y="298323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range(10, 0):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print(i,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1" name="Google Shape;2801;p175"/>
          <p:cNvSpPr/>
          <p:nvPr/>
        </p:nvSpPr>
        <p:spPr>
          <a:xfrm>
            <a:off x="9391650" y="4286250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2" name="Google Shape;2802;p175"/>
          <p:cNvSpPr/>
          <p:nvPr/>
        </p:nvSpPr>
        <p:spPr>
          <a:xfrm>
            <a:off x="9677400" y="4533900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(nothing)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3" name="Google Shape;2803;p175"/>
          <p:cNvSpPr/>
          <p:nvPr/>
        </p:nvSpPr>
        <p:spPr>
          <a:xfrm>
            <a:off x="952500" y="561213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With the default step of 1, you can never get from 10 down to 0. The loop body never runs.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808" name="Shape 2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9" name="Google Shape;2809;p17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0" name="Google Shape;2810;p17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for i in range(0, 10, 3)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1" name="Google Shape;2811;p176"/>
          <p:cNvSpPr/>
          <p:nvPr/>
        </p:nvSpPr>
        <p:spPr>
          <a:xfrm>
            <a:off x="952500" y="272796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2" name="Google Shape;2812;p176"/>
          <p:cNvSpPr/>
          <p:nvPr/>
        </p:nvSpPr>
        <p:spPr>
          <a:xfrm>
            <a:off x="952500" y="348234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3" name="Google Shape;2813;p176"/>
          <p:cNvSpPr/>
          <p:nvPr/>
        </p:nvSpPr>
        <p:spPr>
          <a:xfrm>
            <a:off x="1181100" y="2933700"/>
            <a:ext cx="5167548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PASS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4" name="Google Shape;2814;p176"/>
          <p:cNvSpPr/>
          <p:nvPr/>
        </p:nvSpPr>
        <p:spPr>
          <a:xfrm>
            <a:off x="6413421" y="348234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5" name="Google Shape;2815;p176"/>
          <p:cNvSpPr/>
          <p:nvPr/>
        </p:nvSpPr>
        <p:spPr>
          <a:xfrm>
            <a:off x="6642021" y="2933700"/>
            <a:ext cx="516767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6" name="Google Shape;2816;p176"/>
          <p:cNvSpPr/>
          <p:nvPr/>
        </p:nvSpPr>
        <p:spPr>
          <a:xfrm>
            <a:off x="11874460" y="348234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7" name="Google Shape;2817;p176"/>
          <p:cNvSpPr/>
          <p:nvPr/>
        </p:nvSpPr>
        <p:spPr>
          <a:xfrm>
            <a:off x="12103060" y="2933700"/>
            <a:ext cx="516767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 &lt; 10?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8" name="Google Shape;2818;p176"/>
          <p:cNvSpPr/>
          <p:nvPr/>
        </p:nvSpPr>
        <p:spPr>
          <a:xfrm>
            <a:off x="952500" y="425958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9" name="Google Shape;2819;p176"/>
          <p:cNvSpPr/>
          <p:nvPr/>
        </p:nvSpPr>
        <p:spPr>
          <a:xfrm>
            <a:off x="1181100" y="366141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0" name="Google Shape;2820;p176"/>
          <p:cNvSpPr/>
          <p:nvPr/>
        </p:nvSpPr>
        <p:spPr>
          <a:xfrm>
            <a:off x="6413421" y="425958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1" name="Google Shape;2821;p176"/>
          <p:cNvSpPr/>
          <p:nvPr/>
        </p:nvSpPr>
        <p:spPr>
          <a:xfrm>
            <a:off x="6642021" y="366141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2" name="Google Shape;2822;p176"/>
          <p:cNvSpPr/>
          <p:nvPr/>
        </p:nvSpPr>
        <p:spPr>
          <a:xfrm>
            <a:off x="11874460" y="425958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3" name="Google Shape;2823;p176"/>
          <p:cNvSpPr/>
          <p:nvPr/>
        </p:nvSpPr>
        <p:spPr>
          <a:xfrm>
            <a:off x="12103060" y="366141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yes, body runs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4" name="Google Shape;2824;p176"/>
          <p:cNvSpPr/>
          <p:nvPr/>
        </p:nvSpPr>
        <p:spPr>
          <a:xfrm>
            <a:off x="952500" y="503682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5" name="Google Shape;2825;p176"/>
          <p:cNvSpPr/>
          <p:nvPr/>
        </p:nvSpPr>
        <p:spPr>
          <a:xfrm>
            <a:off x="1181100" y="443865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6" name="Google Shape;2826;p176"/>
          <p:cNvSpPr/>
          <p:nvPr/>
        </p:nvSpPr>
        <p:spPr>
          <a:xfrm>
            <a:off x="6413421" y="503682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7" name="Google Shape;2827;p176"/>
          <p:cNvSpPr/>
          <p:nvPr/>
        </p:nvSpPr>
        <p:spPr>
          <a:xfrm>
            <a:off x="6642021" y="443865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8" name="Google Shape;2828;p176"/>
          <p:cNvSpPr/>
          <p:nvPr/>
        </p:nvSpPr>
        <p:spPr>
          <a:xfrm>
            <a:off x="11874460" y="503682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9" name="Google Shape;2829;p176"/>
          <p:cNvSpPr/>
          <p:nvPr/>
        </p:nvSpPr>
        <p:spPr>
          <a:xfrm>
            <a:off x="12103060" y="443865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yes, body runs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0" name="Google Shape;2830;p176"/>
          <p:cNvSpPr/>
          <p:nvPr/>
        </p:nvSpPr>
        <p:spPr>
          <a:xfrm>
            <a:off x="952500" y="581406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1" name="Google Shape;2831;p176"/>
          <p:cNvSpPr/>
          <p:nvPr/>
        </p:nvSpPr>
        <p:spPr>
          <a:xfrm>
            <a:off x="1181100" y="521589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2" name="Google Shape;2832;p176"/>
          <p:cNvSpPr/>
          <p:nvPr/>
        </p:nvSpPr>
        <p:spPr>
          <a:xfrm>
            <a:off x="6413421" y="581406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3" name="Google Shape;2833;p176"/>
          <p:cNvSpPr/>
          <p:nvPr/>
        </p:nvSpPr>
        <p:spPr>
          <a:xfrm>
            <a:off x="6642021" y="521589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4" name="Google Shape;2834;p176"/>
          <p:cNvSpPr/>
          <p:nvPr/>
        </p:nvSpPr>
        <p:spPr>
          <a:xfrm>
            <a:off x="11874460" y="581406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5" name="Google Shape;2835;p176"/>
          <p:cNvSpPr/>
          <p:nvPr/>
        </p:nvSpPr>
        <p:spPr>
          <a:xfrm>
            <a:off x="12103060" y="521589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yes, body runs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6" name="Google Shape;2836;p176"/>
          <p:cNvSpPr/>
          <p:nvPr/>
        </p:nvSpPr>
        <p:spPr>
          <a:xfrm>
            <a:off x="952500" y="659130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7" name="Google Shape;2837;p176"/>
          <p:cNvSpPr/>
          <p:nvPr/>
        </p:nvSpPr>
        <p:spPr>
          <a:xfrm>
            <a:off x="1181100" y="599313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8" name="Google Shape;2838;p176"/>
          <p:cNvSpPr/>
          <p:nvPr/>
        </p:nvSpPr>
        <p:spPr>
          <a:xfrm>
            <a:off x="6413421" y="659130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9" name="Google Shape;2839;p176"/>
          <p:cNvSpPr/>
          <p:nvPr/>
        </p:nvSpPr>
        <p:spPr>
          <a:xfrm>
            <a:off x="6642021" y="599313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0" name="Google Shape;2840;p176"/>
          <p:cNvSpPr/>
          <p:nvPr/>
        </p:nvSpPr>
        <p:spPr>
          <a:xfrm>
            <a:off x="11874460" y="659130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1" name="Google Shape;2841;p176"/>
          <p:cNvSpPr/>
          <p:nvPr/>
        </p:nvSpPr>
        <p:spPr>
          <a:xfrm>
            <a:off x="12103060" y="599313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yes, body runs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2" name="Google Shape;2842;p176"/>
          <p:cNvSpPr/>
          <p:nvPr/>
        </p:nvSpPr>
        <p:spPr>
          <a:xfrm>
            <a:off x="1181100" y="677037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3" name="Google Shape;2843;p176"/>
          <p:cNvSpPr/>
          <p:nvPr/>
        </p:nvSpPr>
        <p:spPr>
          <a:xfrm>
            <a:off x="6642021" y="677037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4" name="Google Shape;2844;p176"/>
          <p:cNvSpPr/>
          <p:nvPr/>
        </p:nvSpPr>
        <p:spPr>
          <a:xfrm>
            <a:off x="12103060" y="677037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no, loop ends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849" name="Shape 2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0" name="Google Shape;2850;p17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TRAP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1" name="Google Shape;2851;p17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Changing i inside the loop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2" name="Google Shape;2852;p177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3" name="Google Shape;2853;p177"/>
          <p:cNvSpPr/>
          <p:nvPr/>
        </p:nvSpPr>
        <p:spPr>
          <a:xfrm>
            <a:off x="2228850" y="2727960"/>
            <a:ext cx="15106650" cy="1834515"/>
          </a:xfrm>
          <a:prstGeom prst="roundRect">
            <a:avLst>
              <a:gd fmla="val 415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4" name="Google Shape;2854;p177"/>
          <p:cNvSpPr/>
          <p:nvPr/>
        </p:nvSpPr>
        <p:spPr>
          <a:xfrm>
            <a:off x="2541270" y="3002280"/>
            <a:ext cx="1493501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range(0, 10, 2):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 = i + 3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print(i,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5" name="Google Shape;2855;p177"/>
          <p:cNvSpPr/>
          <p:nvPr/>
        </p:nvSpPr>
        <p:spPr>
          <a:xfrm>
            <a:off x="952500" y="503872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6" name="Google Shape;2856;p177"/>
          <p:cNvSpPr/>
          <p:nvPr/>
        </p:nvSpPr>
        <p:spPr>
          <a:xfrm>
            <a:off x="2228850" y="4791075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7" name="Google Shape;2857;p177"/>
          <p:cNvSpPr/>
          <p:nvPr/>
        </p:nvSpPr>
        <p:spPr>
          <a:xfrm>
            <a:off x="2533650" y="5057775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3 5 7 9 11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8" name="Google Shape;2858;p177"/>
          <p:cNvSpPr/>
          <p:nvPr/>
        </p:nvSpPr>
        <p:spPr>
          <a:xfrm>
            <a:off x="952500" y="607885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Still five passes. The range decides how many times; your line only changes what is printed.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863" name="Shape 2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4" name="Google Shape;2864;p17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5" name="Google Shape;2865;p17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Changing start, end, step or i inside the loop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6" name="Google Shape;2866;p178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7" name="Google Shape;2867;p178"/>
          <p:cNvSpPr/>
          <p:nvPr/>
        </p:nvSpPr>
        <p:spPr>
          <a:xfrm>
            <a:off x="2228850" y="2727960"/>
            <a:ext cx="15106650" cy="4263390"/>
          </a:xfrm>
          <a:prstGeom prst="roundRect">
            <a:avLst>
              <a:gd fmla="val 178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8" name="Google Shape;2868;p178"/>
          <p:cNvSpPr/>
          <p:nvPr/>
        </p:nvSpPr>
        <p:spPr>
          <a:xfrm>
            <a:off x="2541270" y="3002280"/>
            <a:ext cx="14935010" cy="3752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start = 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end = 10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=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range(start, end, step):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print(i, end = " ")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start = 100     # none of these four lines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end = 4         # has any effect on the loop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step = 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 = 99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9" name="Google Shape;2869;p178"/>
          <p:cNvSpPr/>
          <p:nvPr/>
        </p:nvSpPr>
        <p:spPr>
          <a:xfrm>
            <a:off x="952500" y="74104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0" name="Google Shape;2870;p178"/>
          <p:cNvSpPr/>
          <p:nvPr/>
        </p:nvSpPr>
        <p:spPr>
          <a:xfrm>
            <a:off x="2228850" y="7219950"/>
            <a:ext cx="15106650" cy="792480"/>
          </a:xfrm>
          <a:prstGeom prst="roundRect">
            <a:avLst>
              <a:gd fmla="val 961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1" name="Google Shape;2871;p178"/>
          <p:cNvSpPr/>
          <p:nvPr/>
        </p:nvSpPr>
        <p:spPr>
          <a:xfrm>
            <a:off x="2533650" y="7429500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0 2 4 6 8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2" name="Google Shape;2872;p178"/>
          <p:cNvSpPr/>
          <p:nvPr/>
        </p:nvSpPr>
        <p:spPr>
          <a:xfrm>
            <a:off x="952500" y="8355330"/>
            <a:ext cx="16874490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range(start, end, step) is worked out once, before the first pass. After that the loop no longer reads those names, and i is overwritten with the next value at the top of every pass.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877" name="Shape 2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8" name="Google Shape;2878;p17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PATTERN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9" name="Google Shape;2879;p17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Building up a total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0" name="Google Shape;2880;p179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[3]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1" name="Google Shape;2881;p179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2" name="Google Shape;2882;p179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sm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range(6):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sm = sm + i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print(sm)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3" name="Google Shape;2883;p179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4" name="Google Shape;2884;p179"/>
          <p:cNvSpPr/>
          <p:nvPr/>
        </p:nvSpPr>
        <p:spPr>
          <a:xfrm>
            <a:off x="2228850" y="5219700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5" name="Google Shape;2885;p179"/>
          <p:cNvSpPr/>
          <p:nvPr/>
        </p:nvSpPr>
        <p:spPr>
          <a:xfrm>
            <a:off x="2533650" y="5486400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6" name="Google Shape;2886;p179"/>
          <p:cNvSpPr/>
          <p:nvPr/>
        </p:nvSpPr>
        <p:spPr>
          <a:xfrm>
            <a:off x="952500" y="65074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Set the total before the loop. Print it after. Both lines sit at the margin.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891" name="Shape 2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2" name="Google Shape;2892;p18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3" name="Google Shape;2893;p18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How the total grows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4" name="Google Shape;2894;p180"/>
          <p:cNvSpPr/>
          <p:nvPr/>
        </p:nvSpPr>
        <p:spPr>
          <a:xfrm>
            <a:off x="952500" y="272796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5" name="Google Shape;2895;p180"/>
          <p:cNvSpPr/>
          <p:nvPr/>
        </p:nvSpPr>
        <p:spPr>
          <a:xfrm>
            <a:off x="952500" y="344424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6" name="Google Shape;2896;p180"/>
          <p:cNvSpPr/>
          <p:nvPr/>
        </p:nvSpPr>
        <p:spPr>
          <a:xfrm>
            <a:off x="1181100" y="2914650"/>
            <a:ext cx="5167548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7" name="Google Shape;2897;p180"/>
          <p:cNvSpPr/>
          <p:nvPr/>
        </p:nvSpPr>
        <p:spPr>
          <a:xfrm>
            <a:off x="6413421" y="344424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8" name="Google Shape;2898;p180"/>
          <p:cNvSpPr/>
          <p:nvPr/>
        </p:nvSpPr>
        <p:spPr>
          <a:xfrm>
            <a:off x="6642021" y="2914650"/>
            <a:ext cx="516767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sm BEFORE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9" name="Google Shape;2899;p180"/>
          <p:cNvSpPr/>
          <p:nvPr/>
        </p:nvSpPr>
        <p:spPr>
          <a:xfrm>
            <a:off x="11874460" y="344424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0" name="Google Shape;2900;p180"/>
          <p:cNvSpPr/>
          <p:nvPr/>
        </p:nvSpPr>
        <p:spPr>
          <a:xfrm>
            <a:off x="12103060" y="2914650"/>
            <a:ext cx="516767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sm AFTER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1" name="Google Shape;2901;p180"/>
          <p:cNvSpPr/>
          <p:nvPr/>
        </p:nvSpPr>
        <p:spPr>
          <a:xfrm>
            <a:off x="952500" y="418338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2" name="Google Shape;2902;p180"/>
          <p:cNvSpPr/>
          <p:nvPr/>
        </p:nvSpPr>
        <p:spPr>
          <a:xfrm>
            <a:off x="1181100" y="360426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3" name="Google Shape;2903;p180"/>
          <p:cNvSpPr/>
          <p:nvPr/>
        </p:nvSpPr>
        <p:spPr>
          <a:xfrm>
            <a:off x="6413421" y="418338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4" name="Google Shape;2904;p180"/>
          <p:cNvSpPr/>
          <p:nvPr/>
        </p:nvSpPr>
        <p:spPr>
          <a:xfrm>
            <a:off x="6642021" y="360426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5" name="Google Shape;2905;p180"/>
          <p:cNvSpPr/>
          <p:nvPr/>
        </p:nvSpPr>
        <p:spPr>
          <a:xfrm>
            <a:off x="11874460" y="418338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6" name="Google Shape;2906;p180"/>
          <p:cNvSpPr/>
          <p:nvPr/>
        </p:nvSpPr>
        <p:spPr>
          <a:xfrm>
            <a:off x="12103060" y="360426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7" name="Google Shape;2907;p180"/>
          <p:cNvSpPr/>
          <p:nvPr/>
        </p:nvSpPr>
        <p:spPr>
          <a:xfrm>
            <a:off x="952500" y="492252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8" name="Google Shape;2908;p180"/>
          <p:cNvSpPr/>
          <p:nvPr/>
        </p:nvSpPr>
        <p:spPr>
          <a:xfrm>
            <a:off x="1181100" y="434340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9" name="Google Shape;2909;p180"/>
          <p:cNvSpPr/>
          <p:nvPr/>
        </p:nvSpPr>
        <p:spPr>
          <a:xfrm>
            <a:off x="6413421" y="492252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0" name="Google Shape;2910;p180"/>
          <p:cNvSpPr/>
          <p:nvPr/>
        </p:nvSpPr>
        <p:spPr>
          <a:xfrm>
            <a:off x="6642021" y="434340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1" name="Google Shape;2911;p180"/>
          <p:cNvSpPr/>
          <p:nvPr/>
        </p:nvSpPr>
        <p:spPr>
          <a:xfrm>
            <a:off x="11874460" y="492252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2" name="Google Shape;2912;p180"/>
          <p:cNvSpPr/>
          <p:nvPr/>
        </p:nvSpPr>
        <p:spPr>
          <a:xfrm>
            <a:off x="12103060" y="434340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3" name="Google Shape;2913;p180"/>
          <p:cNvSpPr/>
          <p:nvPr/>
        </p:nvSpPr>
        <p:spPr>
          <a:xfrm>
            <a:off x="952500" y="566166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4" name="Google Shape;2914;p180"/>
          <p:cNvSpPr/>
          <p:nvPr/>
        </p:nvSpPr>
        <p:spPr>
          <a:xfrm>
            <a:off x="1181100" y="508254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5" name="Google Shape;2915;p180"/>
          <p:cNvSpPr/>
          <p:nvPr/>
        </p:nvSpPr>
        <p:spPr>
          <a:xfrm>
            <a:off x="6413421" y="566166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6" name="Google Shape;2916;p180"/>
          <p:cNvSpPr/>
          <p:nvPr/>
        </p:nvSpPr>
        <p:spPr>
          <a:xfrm>
            <a:off x="6642021" y="508254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7" name="Google Shape;2917;p180"/>
          <p:cNvSpPr/>
          <p:nvPr/>
        </p:nvSpPr>
        <p:spPr>
          <a:xfrm>
            <a:off x="11874460" y="566166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8" name="Google Shape;2918;p180"/>
          <p:cNvSpPr/>
          <p:nvPr/>
        </p:nvSpPr>
        <p:spPr>
          <a:xfrm>
            <a:off x="12103060" y="508254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9" name="Google Shape;2919;p180"/>
          <p:cNvSpPr/>
          <p:nvPr/>
        </p:nvSpPr>
        <p:spPr>
          <a:xfrm>
            <a:off x="952500" y="640080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0" name="Google Shape;2920;p180"/>
          <p:cNvSpPr/>
          <p:nvPr/>
        </p:nvSpPr>
        <p:spPr>
          <a:xfrm>
            <a:off x="1181100" y="582168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1" name="Google Shape;2921;p180"/>
          <p:cNvSpPr/>
          <p:nvPr/>
        </p:nvSpPr>
        <p:spPr>
          <a:xfrm>
            <a:off x="6413421" y="640080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2" name="Google Shape;2922;p180"/>
          <p:cNvSpPr/>
          <p:nvPr/>
        </p:nvSpPr>
        <p:spPr>
          <a:xfrm>
            <a:off x="6642021" y="582168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3" name="Google Shape;2923;p180"/>
          <p:cNvSpPr/>
          <p:nvPr/>
        </p:nvSpPr>
        <p:spPr>
          <a:xfrm>
            <a:off x="11874460" y="640080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4" name="Google Shape;2924;p180"/>
          <p:cNvSpPr/>
          <p:nvPr/>
        </p:nvSpPr>
        <p:spPr>
          <a:xfrm>
            <a:off x="12103060" y="582168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5" name="Google Shape;2925;p180"/>
          <p:cNvSpPr/>
          <p:nvPr/>
        </p:nvSpPr>
        <p:spPr>
          <a:xfrm>
            <a:off x="952500" y="713994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6" name="Google Shape;2926;p180"/>
          <p:cNvSpPr/>
          <p:nvPr/>
        </p:nvSpPr>
        <p:spPr>
          <a:xfrm>
            <a:off x="1181100" y="656082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7" name="Google Shape;2927;p180"/>
          <p:cNvSpPr/>
          <p:nvPr/>
        </p:nvSpPr>
        <p:spPr>
          <a:xfrm>
            <a:off x="6413421" y="713994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8" name="Google Shape;2928;p180"/>
          <p:cNvSpPr/>
          <p:nvPr/>
        </p:nvSpPr>
        <p:spPr>
          <a:xfrm>
            <a:off x="6642021" y="656082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9" name="Google Shape;2929;p180"/>
          <p:cNvSpPr/>
          <p:nvPr/>
        </p:nvSpPr>
        <p:spPr>
          <a:xfrm>
            <a:off x="11874460" y="713994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0" name="Google Shape;2930;p180"/>
          <p:cNvSpPr/>
          <p:nvPr/>
        </p:nvSpPr>
        <p:spPr>
          <a:xfrm>
            <a:off x="12103060" y="656082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1" name="Google Shape;2931;p180"/>
          <p:cNvSpPr/>
          <p:nvPr/>
        </p:nvSpPr>
        <p:spPr>
          <a:xfrm>
            <a:off x="1181100" y="729996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2" name="Google Shape;2932;p180"/>
          <p:cNvSpPr/>
          <p:nvPr/>
        </p:nvSpPr>
        <p:spPr>
          <a:xfrm>
            <a:off x="6642021" y="729996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3" name="Google Shape;2933;p180"/>
          <p:cNvSpPr/>
          <p:nvPr/>
        </p:nvSpPr>
        <p:spPr>
          <a:xfrm>
            <a:off x="12103060" y="729996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938" name="Shape 2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" name="Google Shape;2939;p18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0" name="Google Shape;2940;p18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Printing inside instead of after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1" name="Google Shape;2941;p181"/>
          <p:cNvSpPr/>
          <p:nvPr/>
        </p:nvSpPr>
        <p:spPr>
          <a:xfrm>
            <a:off x="952500" y="2727960"/>
            <a:ext cx="7943850" cy="2225040"/>
          </a:xfrm>
          <a:prstGeom prst="roundRect">
            <a:avLst>
              <a:gd fmla="val 342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2" name="Google Shape;2942;p181"/>
          <p:cNvSpPr/>
          <p:nvPr/>
        </p:nvSpPr>
        <p:spPr>
          <a:xfrm>
            <a:off x="1245870" y="2983230"/>
            <a:ext cx="75954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sm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range(4):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sm = sm + i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print(sm)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3" name="Google Shape;2943;p181"/>
          <p:cNvSpPr/>
          <p:nvPr/>
        </p:nvSpPr>
        <p:spPr>
          <a:xfrm>
            <a:off x="952500" y="5143500"/>
            <a:ext cx="7943850" cy="2209800"/>
          </a:xfrm>
          <a:prstGeom prst="roundRect">
            <a:avLst>
              <a:gd fmla="val 344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4" name="Google Shape;2944;p181"/>
          <p:cNvSpPr/>
          <p:nvPr/>
        </p:nvSpPr>
        <p:spPr>
          <a:xfrm>
            <a:off x="1238250" y="5391150"/>
            <a:ext cx="761066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5" name="Google Shape;2945;p181"/>
          <p:cNvSpPr/>
          <p:nvPr/>
        </p:nvSpPr>
        <p:spPr>
          <a:xfrm>
            <a:off x="9391650" y="2727960"/>
            <a:ext cx="7943850" cy="2225040"/>
          </a:xfrm>
          <a:prstGeom prst="roundRect">
            <a:avLst>
              <a:gd fmla="val 342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6" name="Google Shape;2946;p181"/>
          <p:cNvSpPr/>
          <p:nvPr/>
        </p:nvSpPr>
        <p:spPr>
          <a:xfrm>
            <a:off x="9685020" y="2983230"/>
            <a:ext cx="75954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sm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range(4):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sm = sm + i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print(sm)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7" name="Google Shape;2947;p181"/>
          <p:cNvSpPr/>
          <p:nvPr/>
        </p:nvSpPr>
        <p:spPr>
          <a:xfrm>
            <a:off x="9391650" y="5143500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8" name="Google Shape;2948;p181"/>
          <p:cNvSpPr/>
          <p:nvPr/>
        </p:nvSpPr>
        <p:spPr>
          <a:xfrm>
            <a:off x="9677400" y="5391150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953" name="Shape 2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4" name="Google Shape;2954;p18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5" name="Google Shape;2955;p18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Walking through a string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6" name="Google Shape;2956;p182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BY CHARACTER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7" name="Google Shape;2957;p182"/>
          <p:cNvSpPr/>
          <p:nvPr/>
        </p:nvSpPr>
        <p:spPr>
          <a:xfrm>
            <a:off x="952500" y="3276600"/>
            <a:ext cx="7943850" cy="1796415"/>
          </a:xfrm>
          <a:prstGeom prst="roundRect">
            <a:avLst>
              <a:gd fmla="val 42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8" name="Google Shape;2958;p182"/>
          <p:cNvSpPr/>
          <p:nvPr/>
        </p:nvSpPr>
        <p:spPr>
          <a:xfrm>
            <a:off x="1245870" y="3531870"/>
            <a:ext cx="7595425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"elephant"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ch in a: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print(ch,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9" name="Google Shape;2959;p182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BY POSITION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0" name="Google Shape;2960;p182"/>
          <p:cNvSpPr/>
          <p:nvPr/>
        </p:nvSpPr>
        <p:spPr>
          <a:xfrm>
            <a:off x="9391650" y="3276600"/>
            <a:ext cx="7943850" cy="1796415"/>
          </a:xfrm>
          <a:prstGeom prst="roundRect">
            <a:avLst>
              <a:gd fmla="val 42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1" name="Google Shape;2961;p182"/>
          <p:cNvSpPr/>
          <p:nvPr/>
        </p:nvSpPr>
        <p:spPr>
          <a:xfrm>
            <a:off x="9685020" y="3531870"/>
            <a:ext cx="7595425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"elephant"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range(len(a)):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print(a[i],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2" name="Google Shape;2962;p182"/>
          <p:cNvSpPr/>
          <p:nvPr/>
        </p:nvSpPr>
        <p:spPr>
          <a:xfrm>
            <a:off x="952500" y="556831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Both print e l e p h a n t. Use the position form when you need i for something.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967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p18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WORKED EXAMPLE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9" name="Google Shape;2969;p18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Counting vowels in a word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0" name="Google Shape;2970;p183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[4]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1" name="Google Shape;2971;p183"/>
          <p:cNvSpPr/>
          <p:nvPr/>
        </p:nvSpPr>
        <p:spPr>
          <a:xfrm>
            <a:off x="2228850" y="2727960"/>
            <a:ext cx="15106650" cy="3120390"/>
          </a:xfrm>
          <a:prstGeom prst="roundRect">
            <a:avLst>
              <a:gd fmla="val 24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2" name="Google Shape;2972;p183"/>
          <p:cNvSpPr/>
          <p:nvPr/>
        </p:nvSpPr>
        <p:spPr>
          <a:xfrm>
            <a:off x="2541270" y="3002280"/>
            <a:ext cx="14935010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word = "orange"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count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range(len(word)):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word[i] in "aeiou":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count = count + 1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print(f"{word} has {count} vowels")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3" name="Google Shape;2973;p183"/>
          <p:cNvSpPr/>
          <p:nvPr/>
        </p:nvSpPr>
        <p:spPr>
          <a:xfrm>
            <a:off x="952500" y="63246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4" name="Google Shape;2974;p183"/>
          <p:cNvSpPr/>
          <p:nvPr/>
        </p:nvSpPr>
        <p:spPr>
          <a:xfrm>
            <a:off x="2228850" y="6076950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5" name="Google Shape;2975;p183"/>
          <p:cNvSpPr/>
          <p:nvPr/>
        </p:nvSpPr>
        <p:spPr>
          <a:xfrm>
            <a:off x="2533650" y="6343650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orange has 3 vowels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980" name="Shape 2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1" name="Google Shape;2981;p18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QUICK 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2" name="Google Shape;2982;p18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How many passes does each make?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3" name="Google Shape;2983;p184"/>
          <p:cNvSpPr/>
          <p:nvPr/>
        </p:nvSpPr>
        <p:spPr>
          <a:xfrm>
            <a:off x="952500" y="2727960"/>
            <a:ext cx="8039100" cy="9906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4" name="Google Shape;2984;p184"/>
          <p:cNvSpPr/>
          <p:nvPr/>
        </p:nvSpPr>
        <p:spPr>
          <a:xfrm>
            <a:off x="1264920" y="3002280"/>
            <a:ext cx="76554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range(7)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5" name="Google Shape;2985;p184"/>
          <p:cNvSpPr/>
          <p:nvPr/>
        </p:nvSpPr>
        <p:spPr>
          <a:xfrm>
            <a:off x="9296400" y="2727960"/>
            <a:ext cx="8039100" cy="9906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6" name="Google Shape;2986;p184"/>
          <p:cNvSpPr/>
          <p:nvPr/>
        </p:nvSpPr>
        <p:spPr>
          <a:xfrm>
            <a:off x="9608820" y="3002280"/>
            <a:ext cx="76554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range(3, 8)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7" name="Google Shape;2987;p184"/>
          <p:cNvSpPr/>
          <p:nvPr/>
        </p:nvSpPr>
        <p:spPr>
          <a:xfrm>
            <a:off x="952500" y="4023360"/>
            <a:ext cx="8039100" cy="9906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8" name="Google Shape;2988;p184"/>
          <p:cNvSpPr/>
          <p:nvPr/>
        </p:nvSpPr>
        <p:spPr>
          <a:xfrm>
            <a:off x="1264920" y="4297680"/>
            <a:ext cx="76554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range(0, 10, 4)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9" name="Google Shape;2989;p184"/>
          <p:cNvSpPr/>
          <p:nvPr/>
        </p:nvSpPr>
        <p:spPr>
          <a:xfrm>
            <a:off x="9296400" y="4023360"/>
            <a:ext cx="8039100" cy="9906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0" name="Google Shape;2990;p184"/>
          <p:cNvSpPr/>
          <p:nvPr/>
        </p:nvSpPr>
        <p:spPr>
          <a:xfrm>
            <a:off x="9608820" y="4297680"/>
            <a:ext cx="76554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range(5, 5)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2995" name="Shape 2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6" name="Google Shape;2996;p18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7" name="Google Shape;2997;p18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8" name="Google Shape;2998;p185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9" name="Google Shape;2999;p185"/>
          <p:cNvSpPr/>
          <p:nvPr/>
        </p:nvSpPr>
        <p:spPr>
          <a:xfrm>
            <a:off x="1684139" y="2727960"/>
            <a:ext cx="1219030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 the multiplication table of a number the user types.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0" name="Google Shape;3000;p185"/>
          <p:cNvSpPr/>
          <p:nvPr/>
        </p:nvSpPr>
        <p:spPr>
          <a:xfrm>
            <a:off x="952500" y="363474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1" name="Google Shape;3001;p185"/>
          <p:cNvSpPr/>
          <p:nvPr/>
        </p:nvSpPr>
        <p:spPr>
          <a:xfrm>
            <a:off x="1684139" y="3573780"/>
            <a:ext cx="1280180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 the numbers from 100 down to 1 that are divisible by 7.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2" name="Google Shape;3002;p185"/>
          <p:cNvSpPr/>
          <p:nvPr/>
        </p:nvSpPr>
        <p:spPr>
          <a:xfrm>
            <a:off x="952500" y="448056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3" name="Google Shape;3003;p185"/>
          <p:cNvSpPr/>
          <p:nvPr/>
        </p:nvSpPr>
        <p:spPr>
          <a:xfrm>
            <a:off x="1684139" y="4419600"/>
            <a:ext cx="12457224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Add up the even numbers from 1 to 100 and print the total.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008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p18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0" name="Google Shape;3010;p18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1" name="Google Shape;3011;p186"/>
          <p:cNvSpPr/>
          <p:nvPr/>
        </p:nvSpPr>
        <p:spPr>
          <a:xfrm>
            <a:off x="952500" y="272796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2" name="Google Shape;3012;p186"/>
          <p:cNvSpPr/>
          <p:nvPr/>
        </p:nvSpPr>
        <p:spPr>
          <a:xfrm>
            <a:off x="1295400" y="307086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a for loop with range and count the passes.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3" name="Google Shape;3013;p186"/>
          <p:cNvSpPr/>
          <p:nvPr/>
        </p:nvSpPr>
        <p:spPr>
          <a:xfrm>
            <a:off x="9334500" y="272796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4" name="Google Shape;3014;p186"/>
          <p:cNvSpPr/>
          <p:nvPr/>
        </p:nvSpPr>
        <p:spPr>
          <a:xfrm>
            <a:off x="9677400" y="307086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Count up, count down, and skip by a step.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5" name="Google Shape;3015;p186"/>
          <p:cNvSpPr/>
          <p:nvPr/>
        </p:nvSpPr>
        <p:spPr>
          <a:xfrm>
            <a:off x="952500" y="470154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6" name="Google Shape;3016;p186"/>
          <p:cNvSpPr/>
          <p:nvPr/>
        </p:nvSpPr>
        <p:spPr>
          <a:xfrm>
            <a:off x="1295400" y="504444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Build a running total with an accumulator.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7" name="Google Shape;3017;p186"/>
          <p:cNvSpPr/>
          <p:nvPr/>
        </p:nvSpPr>
        <p:spPr>
          <a:xfrm>
            <a:off x="9334500" y="470154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8" name="Google Shape;3018;p186"/>
          <p:cNvSpPr/>
          <p:nvPr/>
        </p:nvSpPr>
        <p:spPr>
          <a:xfrm>
            <a:off x="9677400" y="504444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Walk a string by character or by position.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9" name="Google Shape;3019;p186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class: the while loop.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3024" name="Shape 3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5" name="Google Shape;3025;p187"/>
          <p:cNvSpPr/>
          <p:nvPr/>
        </p:nvSpPr>
        <p:spPr>
          <a:xfrm>
            <a:off x="952500" y="4085272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4 · REPETITION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6" name="Google Shape;3026;p187"/>
          <p:cNvSpPr/>
          <p:nvPr/>
        </p:nvSpPr>
        <p:spPr>
          <a:xfrm>
            <a:off x="952500" y="4854893"/>
            <a:ext cx="1636585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12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7" name="Google Shape;3027;p187"/>
          <p:cNvSpPr/>
          <p:nvPr/>
        </p:nvSpPr>
        <p:spPr>
          <a:xfrm>
            <a:off x="2973705" y="5632132"/>
            <a:ext cx="5535263" cy="79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while Loop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032" name="Shape 3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3" name="Google Shape;3033;p18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12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4" name="Google Shape;3034;p18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5" name="Google Shape;3035;p188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6" name="Google Shape;3036;p188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7" name="Google Shape;3037;p188"/>
          <p:cNvSpPr/>
          <p:nvPr/>
        </p:nvSpPr>
        <p:spPr>
          <a:xfrm>
            <a:off x="1646039" y="2727960"/>
            <a:ext cx="727989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Repeating while a condition holds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8" name="Google Shape;3038;p188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9" name="Google Shape;3039;p188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0" name="Google Shape;3040;p188"/>
          <p:cNvSpPr/>
          <p:nvPr/>
        </p:nvSpPr>
        <p:spPr>
          <a:xfrm>
            <a:off x="1646039" y="3771900"/>
            <a:ext cx="840334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three parts every while loop needs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1" name="Google Shape;3041;p188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2" name="Google Shape;3042;p188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3" name="Google Shape;3043;p188"/>
          <p:cNvSpPr/>
          <p:nvPr/>
        </p:nvSpPr>
        <p:spPr>
          <a:xfrm>
            <a:off x="1646039" y="4815840"/>
            <a:ext cx="742776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Infinite loops, and how to stop one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4" name="Google Shape;3044;p188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5" name="Google Shape;3045;p188"/>
          <p:cNvSpPr/>
          <p:nvPr/>
        </p:nvSpPr>
        <p:spPr>
          <a:xfrm>
            <a:off x="1646039" y="5859780"/>
            <a:ext cx="6972907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Choosing between for and while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050" name="Shape 3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" name="Google Shape;3051;p18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2" name="Google Shape;3052;p18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Three parts, and you write all three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3" name="Google Shape;3053;p189"/>
          <p:cNvSpPr/>
          <p:nvPr/>
        </p:nvSpPr>
        <p:spPr>
          <a:xfrm>
            <a:off x="952500" y="2727960"/>
            <a:ext cx="8282107" cy="2903220"/>
          </a:xfrm>
          <a:prstGeom prst="roundRect">
            <a:avLst>
              <a:gd fmla="val 262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4" name="Google Shape;3054;p189"/>
          <p:cNvSpPr/>
          <p:nvPr/>
        </p:nvSpPr>
        <p:spPr>
          <a:xfrm>
            <a:off x="1283970" y="3021330"/>
            <a:ext cx="7867630" cy="2354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581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JetBrains Mono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 = 0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581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JetBrains Mono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 i &lt; 5: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581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JetBrains Mono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print(i, "apple")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581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JetBrains Mono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 = i + 1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5" name="Google Shape;3055;p189"/>
          <p:cNvSpPr/>
          <p:nvPr/>
        </p:nvSpPr>
        <p:spPr>
          <a:xfrm>
            <a:off x="9806107" y="3348990"/>
            <a:ext cx="8282333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Start </a:t>
            </a: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— set the variable before the loop.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6" name="Google Shape;3056;p189"/>
          <p:cNvSpPr/>
          <p:nvPr/>
        </p:nvSpPr>
        <p:spPr>
          <a:xfrm>
            <a:off x="9806107" y="3985260"/>
            <a:ext cx="8282333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Test </a:t>
            </a: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— checked before every pass.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7" name="Google Shape;3057;p189"/>
          <p:cNvSpPr/>
          <p:nvPr/>
        </p:nvSpPr>
        <p:spPr>
          <a:xfrm>
            <a:off x="9806107" y="4621530"/>
            <a:ext cx="8282333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Update </a:t>
            </a: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— move towards making the test False.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8" name="Google Shape;3058;p189"/>
          <p:cNvSpPr/>
          <p:nvPr/>
        </p:nvSpPr>
        <p:spPr>
          <a:xfrm>
            <a:off x="952500" y="61264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for loop does all three for you. A while loop leaves them to you.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063" name="Shape 3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4" name="Google Shape;3064;p19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COMPARISON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5" name="Google Shape;3065;p19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same loop, written twice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6" name="Google Shape;3066;p190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7" name="Google Shape;3067;p190"/>
          <p:cNvSpPr/>
          <p:nvPr/>
        </p:nvSpPr>
        <p:spPr>
          <a:xfrm>
            <a:off x="952500" y="3276600"/>
            <a:ext cx="7943850" cy="1424940"/>
          </a:xfrm>
          <a:prstGeom prst="roundRect">
            <a:avLst>
              <a:gd fmla="val 534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8" name="Google Shape;3068;p190"/>
          <p:cNvSpPr/>
          <p:nvPr/>
        </p:nvSpPr>
        <p:spPr>
          <a:xfrm>
            <a:off x="1245870" y="3531870"/>
            <a:ext cx="75954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range(0, 10, 2):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print(i, "apple")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9" name="Google Shape;3069;p190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0" name="Google Shape;3070;p190"/>
          <p:cNvSpPr/>
          <p:nvPr/>
        </p:nvSpPr>
        <p:spPr>
          <a:xfrm>
            <a:off x="9391650" y="3276600"/>
            <a:ext cx="7943850" cy="2339340"/>
          </a:xfrm>
          <a:prstGeom prst="roundRect">
            <a:avLst>
              <a:gd fmla="val 325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1" name="Google Shape;3071;p190"/>
          <p:cNvSpPr/>
          <p:nvPr/>
        </p:nvSpPr>
        <p:spPr>
          <a:xfrm>
            <a:off x="9685020" y="3531870"/>
            <a:ext cx="7595425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 i &lt; 10: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print(i, "apple")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 = i + 2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2" name="Google Shape;3072;p190"/>
          <p:cNvSpPr/>
          <p:nvPr/>
        </p:nvSpPr>
        <p:spPr>
          <a:xfrm>
            <a:off x="952500" y="6111240"/>
            <a:ext cx="16874490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Use for when you know how many passes. Use while when the stopping point depends on what happens inside.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077" name="Shape 3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Google Shape;3078;p19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9" name="Google Shape;3079;p19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loop that never ends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0" name="Google Shape;3080;p191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1" name="Google Shape;3081;p191"/>
          <p:cNvSpPr/>
          <p:nvPr/>
        </p:nvSpPr>
        <p:spPr>
          <a:xfrm>
            <a:off x="2228850" y="2727960"/>
            <a:ext cx="15106650" cy="3120390"/>
          </a:xfrm>
          <a:prstGeom prst="roundRect">
            <a:avLst>
              <a:gd fmla="val 24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2" name="Google Shape;3082;p191"/>
          <p:cNvSpPr/>
          <p:nvPr/>
        </p:nvSpPr>
        <p:spPr>
          <a:xfrm>
            <a:off x="2541270" y="3002280"/>
            <a:ext cx="14935010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 i &lt; 10: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i == 6: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continue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print(i,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 = i + 1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3" name="Google Shape;3083;p191"/>
          <p:cNvSpPr/>
          <p:nvPr/>
        </p:nvSpPr>
        <p:spPr>
          <a:xfrm>
            <a:off x="952500" y="63246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4" name="Google Shape;3084;p191"/>
          <p:cNvSpPr/>
          <p:nvPr/>
        </p:nvSpPr>
        <p:spPr>
          <a:xfrm>
            <a:off x="2228850" y="6076950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5" name="Google Shape;3085;p191"/>
          <p:cNvSpPr/>
          <p:nvPr/>
        </p:nvSpPr>
        <p:spPr>
          <a:xfrm>
            <a:off x="2533650" y="6343650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1 2 3 4 5 …and it hangs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6" name="Google Shape;3086;p191"/>
          <p:cNvSpPr/>
          <p:nvPr/>
        </p:nvSpPr>
        <p:spPr>
          <a:xfrm>
            <a:off x="952500" y="736473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At i = 6 the update line is skipped, so i stays 6 forever. Press the stop button next to the cell.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091" name="Shape 3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" name="Google Shape;3092;p19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3" name="Google Shape;3093;p19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Resetting the counter inside the loop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4" name="Google Shape;3094;p192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5" name="Google Shape;3095;p192"/>
          <p:cNvSpPr/>
          <p:nvPr/>
        </p:nvSpPr>
        <p:spPr>
          <a:xfrm>
            <a:off x="2228850" y="2727960"/>
            <a:ext cx="15106650" cy="3549015"/>
          </a:xfrm>
          <a:prstGeom prst="roundRect">
            <a:avLst>
              <a:gd fmla="val 214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6" name="Google Shape;3096;p192"/>
          <p:cNvSpPr/>
          <p:nvPr/>
        </p:nvSpPr>
        <p:spPr>
          <a:xfrm>
            <a:off x="2541270" y="3002280"/>
            <a:ext cx="14935010" cy="3038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start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end = 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= 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 start &lt; end: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start = 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print(start, "apple")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start = start + step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7" name="Google Shape;3097;p192"/>
          <p:cNvSpPr/>
          <p:nvPr/>
        </p:nvSpPr>
        <p:spPr>
          <a:xfrm>
            <a:off x="952500" y="675322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8" name="Google Shape;3098;p192"/>
          <p:cNvSpPr/>
          <p:nvPr/>
        </p:nvSpPr>
        <p:spPr>
          <a:xfrm>
            <a:off x="2228850" y="6505575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9" name="Google Shape;3099;p192"/>
          <p:cNvSpPr/>
          <p:nvPr/>
        </p:nvSpPr>
        <p:spPr>
          <a:xfrm>
            <a:off x="2533650" y="6772275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 apple 5 apple 5 apple …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0" name="Google Shape;3100;p192"/>
          <p:cNvSpPr/>
          <p:nvPr/>
        </p:nvSpPr>
        <p:spPr>
          <a:xfrm>
            <a:off x="952500" y="779335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start climbs to 5, then is pushed back to 2 at the top of every pass.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105" name="Shape 3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6" name="Google Shape;3106;p19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7" name="Google Shape;3107;p19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 = 3, while i &lt; 12, step 2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8" name="Google Shape;3108;p193"/>
          <p:cNvSpPr/>
          <p:nvPr/>
        </p:nvSpPr>
        <p:spPr>
          <a:xfrm>
            <a:off x="952500" y="272796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9" name="Google Shape;3109;p193"/>
          <p:cNvSpPr/>
          <p:nvPr/>
        </p:nvSpPr>
        <p:spPr>
          <a:xfrm>
            <a:off x="952500" y="34442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0" name="Google Shape;3110;p193"/>
          <p:cNvSpPr/>
          <p:nvPr/>
        </p:nvSpPr>
        <p:spPr>
          <a:xfrm>
            <a:off x="1181100" y="2914650"/>
            <a:ext cx="376142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PASS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1" name="Google Shape;3111;p193"/>
          <p:cNvSpPr/>
          <p:nvPr/>
        </p:nvSpPr>
        <p:spPr>
          <a:xfrm>
            <a:off x="5048250" y="34442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2" name="Google Shape;3112;p193"/>
          <p:cNvSpPr/>
          <p:nvPr/>
        </p:nvSpPr>
        <p:spPr>
          <a:xfrm>
            <a:off x="5276850" y="2914650"/>
            <a:ext cx="376142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 AT TEST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3" name="Google Shape;3113;p193"/>
          <p:cNvSpPr/>
          <p:nvPr/>
        </p:nvSpPr>
        <p:spPr>
          <a:xfrm>
            <a:off x="9144000" y="34442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4" name="Google Shape;3114;p193"/>
          <p:cNvSpPr/>
          <p:nvPr/>
        </p:nvSpPr>
        <p:spPr>
          <a:xfrm>
            <a:off x="9372600" y="2914650"/>
            <a:ext cx="376142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 &lt; 12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5" name="Google Shape;3115;p193"/>
          <p:cNvSpPr/>
          <p:nvPr/>
        </p:nvSpPr>
        <p:spPr>
          <a:xfrm>
            <a:off x="13239750" y="34442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6" name="Google Shape;3116;p193"/>
          <p:cNvSpPr/>
          <p:nvPr/>
        </p:nvSpPr>
        <p:spPr>
          <a:xfrm>
            <a:off x="13468350" y="2914650"/>
            <a:ext cx="376142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7" name="Google Shape;3117;p193"/>
          <p:cNvSpPr/>
          <p:nvPr/>
        </p:nvSpPr>
        <p:spPr>
          <a:xfrm>
            <a:off x="952500" y="41833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8" name="Google Shape;3118;p193"/>
          <p:cNvSpPr/>
          <p:nvPr/>
        </p:nvSpPr>
        <p:spPr>
          <a:xfrm>
            <a:off x="1181100" y="360426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9" name="Google Shape;3119;p193"/>
          <p:cNvSpPr/>
          <p:nvPr/>
        </p:nvSpPr>
        <p:spPr>
          <a:xfrm>
            <a:off x="5048250" y="41833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0" name="Google Shape;3120;p193"/>
          <p:cNvSpPr/>
          <p:nvPr/>
        </p:nvSpPr>
        <p:spPr>
          <a:xfrm>
            <a:off x="5276850" y="360426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1" name="Google Shape;3121;p193"/>
          <p:cNvSpPr/>
          <p:nvPr/>
        </p:nvSpPr>
        <p:spPr>
          <a:xfrm>
            <a:off x="9144000" y="41833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2" name="Google Shape;3122;p193"/>
          <p:cNvSpPr/>
          <p:nvPr/>
        </p:nvSpPr>
        <p:spPr>
          <a:xfrm>
            <a:off x="9372600" y="360426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3" name="Google Shape;3123;p193"/>
          <p:cNvSpPr/>
          <p:nvPr/>
        </p:nvSpPr>
        <p:spPr>
          <a:xfrm>
            <a:off x="13239750" y="41833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4" name="Google Shape;3124;p193"/>
          <p:cNvSpPr/>
          <p:nvPr/>
        </p:nvSpPr>
        <p:spPr>
          <a:xfrm>
            <a:off x="13468350" y="360426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5" name="Google Shape;3125;p193"/>
          <p:cNvSpPr/>
          <p:nvPr/>
        </p:nvSpPr>
        <p:spPr>
          <a:xfrm>
            <a:off x="952500" y="492252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6" name="Google Shape;3126;p193"/>
          <p:cNvSpPr/>
          <p:nvPr/>
        </p:nvSpPr>
        <p:spPr>
          <a:xfrm>
            <a:off x="1181100" y="434340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7" name="Google Shape;3127;p193"/>
          <p:cNvSpPr/>
          <p:nvPr/>
        </p:nvSpPr>
        <p:spPr>
          <a:xfrm>
            <a:off x="5048250" y="492252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8" name="Google Shape;3128;p193"/>
          <p:cNvSpPr/>
          <p:nvPr/>
        </p:nvSpPr>
        <p:spPr>
          <a:xfrm>
            <a:off x="5276850" y="434340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9" name="Google Shape;3129;p193"/>
          <p:cNvSpPr/>
          <p:nvPr/>
        </p:nvSpPr>
        <p:spPr>
          <a:xfrm>
            <a:off x="9144000" y="492252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0" name="Google Shape;3130;p193"/>
          <p:cNvSpPr/>
          <p:nvPr/>
        </p:nvSpPr>
        <p:spPr>
          <a:xfrm>
            <a:off x="9372600" y="434340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1" name="Google Shape;3131;p193"/>
          <p:cNvSpPr/>
          <p:nvPr/>
        </p:nvSpPr>
        <p:spPr>
          <a:xfrm>
            <a:off x="13239750" y="492252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2" name="Google Shape;3132;p193"/>
          <p:cNvSpPr/>
          <p:nvPr/>
        </p:nvSpPr>
        <p:spPr>
          <a:xfrm>
            <a:off x="13468350" y="434340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3" name="Google Shape;3133;p193"/>
          <p:cNvSpPr/>
          <p:nvPr/>
        </p:nvSpPr>
        <p:spPr>
          <a:xfrm>
            <a:off x="952500" y="566166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4" name="Google Shape;3134;p193"/>
          <p:cNvSpPr/>
          <p:nvPr/>
        </p:nvSpPr>
        <p:spPr>
          <a:xfrm>
            <a:off x="1181100" y="508254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5" name="Google Shape;3135;p193"/>
          <p:cNvSpPr/>
          <p:nvPr/>
        </p:nvSpPr>
        <p:spPr>
          <a:xfrm>
            <a:off x="5048250" y="566166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6" name="Google Shape;3136;p193"/>
          <p:cNvSpPr/>
          <p:nvPr/>
        </p:nvSpPr>
        <p:spPr>
          <a:xfrm>
            <a:off x="5276850" y="508254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7" name="Google Shape;3137;p193"/>
          <p:cNvSpPr/>
          <p:nvPr/>
        </p:nvSpPr>
        <p:spPr>
          <a:xfrm>
            <a:off x="9144000" y="566166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8" name="Google Shape;3138;p193"/>
          <p:cNvSpPr/>
          <p:nvPr/>
        </p:nvSpPr>
        <p:spPr>
          <a:xfrm>
            <a:off x="9372600" y="508254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9" name="Google Shape;3139;p193"/>
          <p:cNvSpPr/>
          <p:nvPr/>
        </p:nvSpPr>
        <p:spPr>
          <a:xfrm>
            <a:off x="13239750" y="566166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0" name="Google Shape;3140;p193"/>
          <p:cNvSpPr/>
          <p:nvPr/>
        </p:nvSpPr>
        <p:spPr>
          <a:xfrm>
            <a:off x="13468350" y="508254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1" name="Google Shape;3141;p193"/>
          <p:cNvSpPr/>
          <p:nvPr/>
        </p:nvSpPr>
        <p:spPr>
          <a:xfrm>
            <a:off x="952500" y="640080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2" name="Google Shape;3142;p193"/>
          <p:cNvSpPr/>
          <p:nvPr/>
        </p:nvSpPr>
        <p:spPr>
          <a:xfrm>
            <a:off x="1181100" y="582168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3" name="Google Shape;3143;p193"/>
          <p:cNvSpPr/>
          <p:nvPr/>
        </p:nvSpPr>
        <p:spPr>
          <a:xfrm>
            <a:off x="5048250" y="640080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4" name="Google Shape;3144;p193"/>
          <p:cNvSpPr/>
          <p:nvPr/>
        </p:nvSpPr>
        <p:spPr>
          <a:xfrm>
            <a:off x="5276850" y="582168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5" name="Google Shape;3145;p193"/>
          <p:cNvSpPr/>
          <p:nvPr/>
        </p:nvSpPr>
        <p:spPr>
          <a:xfrm>
            <a:off x="9144000" y="640080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6" name="Google Shape;3146;p193"/>
          <p:cNvSpPr/>
          <p:nvPr/>
        </p:nvSpPr>
        <p:spPr>
          <a:xfrm>
            <a:off x="9372600" y="582168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7" name="Google Shape;3147;p193"/>
          <p:cNvSpPr/>
          <p:nvPr/>
        </p:nvSpPr>
        <p:spPr>
          <a:xfrm>
            <a:off x="13239750" y="640080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8" name="Google Shape;3148;p193"/>
          <p:cNvSpPr/>
          <p:nvPr/>
        </p:nvSpPr>
        <p:spPr>
          <a:xfrm>
            <a:off x="13468350" y="582168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9" name="Google Shape;3149;p193"/>
          <p:cNvSpPr/>
          <p:nvPr/>
        </p:nvSpPr>
        <p:spPr>
          <a:xfrm>
            <a:off x="952500" y="71399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0" name="Google Shape;3150;p193"/>
          <p:cNvSpPr/>
          <p:nvPr/>
        </p:nvSpPr>
        <p:spPr>
          <a:xfrm>
            <a:off x="1181100" y="656082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1" name="Google Shape;3151;p193"/>
          <p:cNvSpPr/>
          <p:nvPr/>
        </p:nvSpPr>
        <p:spPr>
          <a:xfrm>
            <a:off x="5048250" y="71399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2" name="Google Shape;3152;p193"/>
          <p:cNvSpPr/>
          <p:nvPr/>
        </p:nvSpPr>
        <p:spPr>
          <a:xfrm>
            <a:off x="5276850" y="656082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3" name="Google Shape;3153;p193"/>
          <p:cNvSpPr/>
          <p:nvPr/>
        </p:nvSpPr>
        <p:spPr>
          <a:xfrm>
            <a:off x="9144000" y="71399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4" name="Google Shape;3154;p193"/>
          <p:cNvSpPr/>
          <p:nvPr/>
        </p:nvSpPr>
        <p:spPr>
          <a:xfrm>
            <a:off x="9372600" y="656082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5" name="Google Shape;3155;p193"/>
          <p:cNvSpPr/>
          <p:nvPr/>
        </p:nvSpPr>
        <p:spPr>
          <a:xfrm>
            <a:off x="13239750" y="71399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6" name="Google Shape;3156;p193"/>
          <p:cNvSpPr/>
          <p:nvPr/>
        </p:nvSpPr>
        <p:spPr>
          <a:xfrm>
            <a:off x="13468350" y="656082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7" name="Google Shape;3157;p193"/>
          <p:cNvSpPr/>
          <p:nvPr/>
        </p:nvSpPr>
        <p:spPr>
          <a:xfrm>
            <a:off x="1181100" y="729996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8" name="Google Shape;3158;p193"/>
          <p:cNvSpPr/>
          <p:nvPr/>
        </p:nvSpPr>
        <p:spPr>
          <a:xfrm>
            <a:off x="5276850" y="729996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9" name="Google Shape;3159;p193"/>
          <p:cNvSpPr/>
          <p:nvPr/>
        </p:nvSpPr>
        <p:spPr>
          <a:xfrm>
            <a:off x="9372600" y="729996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0" name="Google Shape;3160;p193"/>
          <p:cNvSpPr/>
          <p:nvPr/>
        </p:nvSpPr>
        <p:spPr>
          <a:xfrm>
            <a:off x="13468350" y="729996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loop ends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165" name="Shape 3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6" name="Google Shape;3166;p19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WHEN ONLY while WILL DO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7" name="Google Shape;3167;p19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Reading until the user stops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8" name="Google Shape;3168;p194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[3]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9" name="Google Shape;3169;p194"/>
          <p:cNvSpPr/>
          <p:nvPr/>
        </p:nvSpPr>
        <p:spPr>
          <a:xfrm>
            <a:off x="2228850" y="2727960"/>
            <a:ext cx="15106650" cy="3120390"/>
          </a:xfrm>
          <a:prstGeom prst="roundRect">
            <a:avLst>
              <a:gd fmla="val 24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0" name="Google Shape;3170;p194"/>
          <p:cNvSpPr/>
          <p:nvPr/>
        </p:nvSpPr>
        <p:spPr>
          <a:xfrm>
            <a:off x="2541270" y="3002280"/>
            <a:ext cx="14935010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total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int(input("Num (0 to stop): 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 a !=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total = total + 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a = int(input("Num (0 to stop): 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print(total)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1" name="Google Shape;3171;p194"/>
          <p:cNvSpPr/>
          <p:nvPr/>
        </p:nvSpPr>
        <p:spPr>
          <a:xfrm>
            <a:off x="952500" y="63246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2" name="Google Shape;3172;p194"/>
          <p:cNvSpPr/>
          <p:nvPr/>
        </p:nvSpPr>
        <p:spPr>
          <a:xfrm>
            <a:off x="2228850" y="6076950"/>
            <a:ext cx="15106650" cy="2247900"/>
          </a:xfrm>
          <a:prstGeom prst="roundRect">
            <a:avLst>
              <a:gd fmla="val 339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3" name="Google Shape;3173;p194"/>
          <p:cNvSpPr/>
          <p:nvPr/>
        </p:nvSpPr>
        <p:spPr>
          <a:xfrm>
            <a:off x="2533650" y="6343650"/>
            <a:ext cx="1495024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 (0 to stop): 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 (0 to stop): 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 (0 to stop):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178" name="Shape 3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9" name="Google Shape;3179;p19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WORKED EXAMPLE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0" name="Google Shape;3180;p19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Adding the even digits of a number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1" name="Google Shape;3181;p195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[4]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2" name="Google Shape;3182;p195"/>
          <p:cNvSpPr/>
          <p:nvPr/>
        </p:nvSpPr>
        <p:spPr>
          <a:xfrm>
            <a:off x="2228850" y="2727960"/>
            <a:ext cx="15106650" cy="3549015"/>
          </a:xfrm>
          <a:prstGeom prst="roundRect">
            <a:avLst>
              <a:gd fmla="val 214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3" name="Google Shape;3183;p195"/>
          <p:cNvSpPr/>
          <p:nvPr/>
        </p:nvSpPr>
        <p:spPr>
          <a:xfrm>
            <a:off x="2541270" y="3002280"/>
            <a:ext cx="14935010" cy="3038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452287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total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 a !=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(a % 10) % 2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total = total + (a % 10)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a = a // 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print(total)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4" name="Google Shape;3184;p195"/>
          <p:cNvSpPr/>
          <p:nvPr/>
        </p:nvSpPr>
        <p:spPr>
          <a:xfrm>
            <a:off x="952500" y="675322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5" name="Google Shape;3185;p195"/>
          <p:cNvSpPr/>
          <p:nvPr/>
        </p:nvSpPr>
        <p:spPr>
          <a:xfrm>
            <a:off x="2228850" y="6505575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6" name="Google Shape;3186;p195"/>
          <p:cNvSpPr/>
          <p:nvPr/>
        </p:nvSpPr>
        <p:spPr>
          <a:xfrm>
            <a:off x="2533650" y="6772275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7" name="Google Shape;3187;p195"/>
          <p:cNvSpPr/>
          <p:nvPr/>
        </p:nvSpPr>
        <p:spPr>
          <a:xfrm>
            <a:off x="952500" y="779335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digits 4, 2, 2 and 8 are even. 4 + 2 + 2 + 8 is 16, minus the 2 already counted… trace it and check.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192" name="Shape 3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3" name="Google Shape;3193;p19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4" name="Google Shape;3194;p19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452287, digit by digit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5" name="Google Shape;3195;p196"/>
          <p:cNvSpPr/>
          <p:nvPr/>
        </p:nvSpPr>
        <p:spPr>
          <a:xfrm>
            <a:off x="952500" y="272796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6" name="Google Shape;3196;p196"/>
          <p:cNvSpPr/>
          <p:nvPr/>
        </p:nvSpPr>
        <p:spPr>
          <a:xfrm>
            <a:off x="952500" y="34061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7" name="Google Shape;3197;p196"/>
          <p:cNvSpPr/>
          <p:nvPr/>
        </p:nvSpPr>
        <p:spPr>
          <a:xfrm>
            <a:off x="1181100" y="2895600"/>
            <a:ext cx="376142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8" name="Google Shape;3198;p196"/>
          <p:cNvSpPr/>
          <p:nvPr/>
        </p:nvSpPr>
        <p:spPr>
          <a:xfrm>
            <a:off x="5048250" y="34061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9" name="Google Shape;3199;p196"/>
          <p:cNvSpPr/>
          <p:nvPr/>
        </p:nvSpPr>
        <p:spPr>
          <a:xfrm>
            <a:off x="5276850" y="2895600"/>
            <a:ext cx="376142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% 10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0" name="Google Shape;3200;p196"/>
          <p:cNvSpPr/>
          <p:nvPr/>
        </p:nvSpPr>
        <p:spPr>
          <a:xfrm>
            <a:off x="9144000" y="34061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1" name="Google Shape;3201;p196"/>
          <p:cNvSpPr/>
          <p:nvPr/>
        </p:nvSpPr>
        <p:spPr>
          <a:xfrm>
            <a:off x="9372600" y="2895600"/>
            <a:ext cx="376142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EVEN?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2" name="Google Shape;3202;p196"/>
          <p:cNvSpPr/>
          <p:nvPr/>
        </p:nvSpPr>
        <p:spPr>
          <a:xfrm>
            <a:off x="13239750" y="34061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3" name="Google Shape;3203;p196"/>
          <p:cNvSpPr/>
          <p:nvPr/>
        </p:nvSpPr>
        <p:spPr>
          <a:xfrm>
            <a:off x="13468350" y="2895600"/>
            <a:ext cx="376142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total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4" name="Google Shape;3204;p196"/>
          <p:cNvSpPr/>
          <p:nvPr/>
        </p:nvSpPr>
        <p:spPr>
          <a:xfrm>
            <a:off x="952500" y="41071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5" name="Google Shape;3205;p196"/>
          <p:cNvSpPr/>
          <p:nvPr/>
        </p:nvSpPr>
        <p:spPr>
          <a:xfrm>
            <a:off x="1181100" y="354711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452287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6" name="Google Shape;3206;p196"/>
          <p:cNvSpPr/>
          <p:nvPr/>
        </p:nvSpPr>
        <p:spPr>
          <a:xfrm>
            <a:off x="5048250" y="41071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7" name="Google Shape;3207;p196"/>
          <p:cNvSpPr/>
          <p:nvPr/>
        </p:nvSpPr>
        <p:spPr>
          <a:xfrm>
            <a:off x="5276850" y="354711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8" name="Google Shape;3208;p196"/>
          <p:cNvSpPr/>
          <p:nvPr/>
        </p:nvSpPr>
        <p:spPr>
          <a:xfrm>
            <a:off x="9144000" y="41071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9" name="Google Shape;3209;p196"/>
          <p:cNvSpPr/>
          <p:nvPr/>
        </p:nvSpPr>
        <p:spPr>
          <a:xfrm>
            <a:off x="9372600" y="354711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0" name="Google Shape;3210;p196"/>
          <p:cNvSpPr/>
          <p:nvPr/>
        </p:nvSpPr>
        <p:spPr>
          <a:xfrm>
            <a:off x="13239750" y="41071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1" name="Google Shape;3211;p196"/>
          <p:cNvSpPr/>
          <p:nvPr/>
        </p:nvSpPr>
        <p:spPr>
          <a:xfrm>
            <a:off x="13468350" y="354711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2" name="Google Shape;3212;p196"/>
          <p:cNvSpPr/>
          <p:nvPr/>
        </p:nvSpPr>
        <p:spPr>
          <a:xfrm>
            <a:off x="952500" y="480822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3" name="Google Shape;3213;p196"/>
          <p:cNvSpPr/>
          <p:nvPr/>
        </p:nvSpPr>
        <p:spPr>
          <a:xfrm>
            <a:off x="1181100" y="424815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45228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4" name="Google Shape;3214;p196"/>
          <p:cNvSpPr/>
          <p:nvPr/>
        </p:nvSpPr>
        <p:spPr>
          <a:xfrm>
            <a:off x="5048250" y="480822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5" name="Google Shape;3215;p196"/>
          <p:cNvSpPr/>
          <p:nvPr/>
        </p:nvSpPr>
        <p:spPr>
          <a:xfrm>
            <a:off x="5276850" y="424815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6" name="Google Shape;3216;p196"/>
          <p:cNvSpPr/>
          <p:nvPr/>
        </p:nvSpPr>
        <p:spPr>
          <a:xfrm>
            <a:off x="9144000" y="480822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7" name="Google Shape;3217;p196"/>
          <p:cNvSpPr/>
          <p:nvPr/>
        </p:nvSpPr>
        <p:spPr>
          <a:xfrm>
            <a:off x="9372600" y="424815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8" name="Google Shape;3218;p196"/>
          <p:cNvSpPr/>
          <p:nvPr/>
        </p:nvSpPr>
        <p:spPr>
          <a:xfrm>
            <a:off x="13239750" y="480822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9" name="Google Shape;3219;p196"/>
          <p:cNvSpPr/>
          <p:nvPr/>
        </p:nvSpPr>
        <p:spPr>
          <a:xfrm>
            <a:off x="13468350" y="424815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0" name="Google Shape;3220;p196"/>
          <p:cNvSpPr/>
          <p:nvPr/>
        </p:nvSpPr>
        <p:spPr>
          <a:xfrm>
            <a:off x="952500" y="550926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1" name="Google Shape;3221;p196"/>
          <p:cNvSpPr/>
          <p:nvPr/>
        </p:nvSpPr>
        <p:spPr>
          <a:xfrm>
            <a:off x="1181100" y="494919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4522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2" name="Google Shape;3222;p196"/>
          <p:cNvSpPr/>
          <p:nvPr/>
        </p:nvSpPr>
        <p:spPr>
          <a:xfrm>
            <a:off x="5048250" y="550926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3" name="Google Shape;3223;p196"/>
          <p:cNvSpPr/>
          <p:nvPr/>
        </p:nvSpPr>
        <p:spPr>
          <a:xfrm>
            <a:off x="5276850" y="494919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4" name="Google Shape;3224;p196"/>
          <p:cNvSpPr/>
          <p:nvPr/>
        </p:nvSpPr>
        <p:spPr>
          <a:xfrm>
            <a:off x="9144000" y="550926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5" name="Google Shape;3225;p196"/>
          <p:cNvSpPr/>
          <p:nvPr/>
        </p:nvSpPr>
        <p:spPr>
          <a:xfrm>
            <a:off x="9372600" y="494919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6" name="Google Shape;3226;p196"/>
          <p:cNvSpPr/>
          <p:nvPr/>
        </p:nvSpPr>
        <p:spPr>
          <a:xfrm>
            <a:off x="13239750" y="550926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7" name="Google Shape;3227;p196"/>
          <p:cNvSpPr/>
          <p:nvPr/>
        </p:nvSpPr>
        <p:spPr>
          <a:xfrm>
            <a:off x="13468350" y="494919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8" name="Google Shape;3228;p196"/>
          <p:cNvSpPr/>
          <p:nvPr/>
        </p:nvSpPr>
        <p:spPr>
          <a:xfrm>
            <a:off x="952500" y="621030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9" name="Google Shape;3229;p196"/>
          <p:cNvSpPr/>
          <p:nvPr/>
        </p:nvSpPr>
        <p:spPr>
          <a:xfrm>
            <a:off x="1181100" y="565023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452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0" name="Google Shape;3230;p196"/>
          <p:cNvSpPr/>
          <p:nvPr/>
        </p:nvSpPr>
        <p:spPr>
          <a:xfrm>
            <a:off x="5048250" y="621030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1" name="Google Shape;3231;p196"/>
          <p:cNvSpPr/>
          <p:nvPr/>
        </p:nvSpPr>
        <p:spPr>
          <a:xfrm>
            <a:off x="5276850" y="565023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2" name="Google Shape;3232;p196"/>
          <p:cNvSpPr/>
          <p:nvPr/>
        </p:nvSpPr>
        <p:spPr>
          <a:xfrm>
            <a:off x="9144000" y="621030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3" name="Google Shape;3233;p196"/>
          <p:cNvSpPr/>
          <p:nvPr/>
        </p:nvSpPr>
        <p:spPr>
          <a:xfrm>
            <a:off x="9372600" y="565023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4" name="Google Shape;3234;p196"/>
          <p:cNvSpPr/>
          <p:nvPr/>
        </p:nvSpPr>
        <p:spPr>
          <a:xfrm>
            <a:off x="13239750" y="621030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5" name="Google Shape;3235;p196"/>
          <p:cNvSpPr/>
          <p:nvPr/>
        </p:nvSpPr>
        <p:spPr>
          <a:xfrm>
            <a:off x="13468350" y="565023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6" name="Google Shape;3236;p196"/>
          <p:cNvSpPr/>
          <p:nvPr/>
        </p:nvSpPr>
        <p:spPr>
          <a:xfrm>
            <a:off x="952500" y="69113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7" name="Google Shape;3237;p196"/>
          <p:cNvSpPr/>
          <p:nvPr/>
        </p:nvSpPr>
        <p:spPr>
          <a:xfrm>
            <a:off x="1181100" y="635127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45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8" name="Google Shape;3238;p196"/>
          <p:cNvSpPr/>
          <p:nvPr/>
        </p:nvSpPr>
        <p:spPr>
          <a:xfrm>
            <a:off x="5048250" y="69113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9" name="Google Shape;3239;p196"/>
          <p:cNvSpPr/>
          <p:nvPr/>
        </p:nvSpPr>
        <p:spPr>
          <a:xfrm>
            <a:off x="5276850" y="635127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0" name="Google Shape;3240;p196"/>
          <p:cNvSpPr/>
          <p:nvPr/>
        </p:nvSpPr>
        <p:spPr>
          <a:xfrm>
            <a:off x="9144000" y="69113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1" name="Google Shape;3241;p196"/>
          <p:cNvSpPr/>
          <p:nvPr/>
        </p:nvSpPr>
        <p:spPr>
          <a:xfrm>
            <a:off x="9372600" y="635127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2" name="Google Shape;3242;p196"/>
          <p:cNvSpPr/>
          <p:nvPr/>
        </p:nvSpPr>
        <p:spPr>
          <a:xfrm>
            <a:off x="13239750" y="69113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3" name="Google Shape;3243;p196"/>
          <p:cNvSpPr/>
          <p:nvPr/>
        </p:nvSpPr>
        <p:spPr>
          <a:xfrm>
            <a:off x="13468350" y="635127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4" name="Google Shape;3244;p196"/>
          <p:cNvSpPr/>
          <p:nvPr/>
        </p:nvSpPr>
        <p:spPr>
          <a:xfrm>
            <a:off x="952500" y="76123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5" name="Google Shape;3245;p196"/>
          <p:cNvSpPr/>
          <p:nvPr/>
        </p:nvSpPr>
        <p:spPr>
          <a:xfrm>
            <a:off x="1181100" y="705231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6" name="Google Shape;3246;p196"/>
          <p:cNvSpPr/>
          <p:nvPr/>
        </p:nvSpPr>
        <p:spPr>
          <a:xfrm>
            <a:off x="5048250" y="76123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7" name="Google Shape;3247;p196"/>
          <p:cNvSpPr/>
          <p:nvPr/>
        </p:nvSpPr>
        <p:spPr>
          <a:xfrm>
            <a:off x="5276850" y="705231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8" name="Google Shape;3248;p196"/>
          <p:cNvSpPr/>
          <p:nvPr/>
        </p:nvSpPr>
        <p:spPr>
          <a:xfrm>
            <a:off x="9144000" y="76123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9" name="Google Shape;3249;p196"/>
          <p:cNvSpPr/>
          <p:nvPr/>
        </p:nvSpPr>
        <p:spPr>
          <a:xfrm>
            <a:off x="9372600" y="705231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0" name="Google Shape;3250;p196"/>
          <p:cNvSpPr/>
          <p:nvPr/>
        </p:nvSpPr>
        <p:spPr>
          <a:xfrm>
            <a:off x="13239750" y="76123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1" name="Google Shape;3251;p196"/>
          <p:cNvSpPr/>
          <p:nvPr/>
        </p:nvSpPr>
        <p:spPr>
          <a:xfrm>
            <a:off x="13468350" y="705231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2" name="Google Shape;3252;p196"/>
          <p:cNvSpPr/>
          <p:nvPr/>
        </p:nvSpPr>
        <p:spPr>
          <a:xfrm>
            <a:off x="1181100" y="775335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3" name="Google Shape;3253;p196"/>
          <p:cNvSpPr/>
          <p:nvPr/>
        </p:nvSpPr>
        <p:spPr>
          <a:xfrm>
            <a:off x="5276850" y="775335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—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4" name="Google Shape;3254;p196"/>
          <p:cNvSpPr/>
          <p:nvPr/>
        </p:nvSpPr>
        <p:spPr>
          <a:xfrm>
            <a:off x="9372600" y="775335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loop ends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5" name="Google Shape;3255;p196"/>
          <p:cNvSpPr/>
          <p:nvPr/>
        </p:nvSpPr>
        <p:spPr>
          <a:xfrm>
            <a:off x="13468350" y="775335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3260" name="Shape 3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1" name="Google Shape;3261;p197"/>
          <p:cNvSpPr/>
          <p:nvPr/>
        </p:nvSpPr>
        <p:spPr>
          <a:xfrm>
            <a:off x="952500" y="380238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CHOOSING A LOOP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2" name="Google Shape;3262;p197"/>
          <p:cNvSpPr/>
          <p:nvPr/>
        </p:nvSpPr>
        <p:spPr>
          <a:xfrm>
            <a:off x="952500" y="4655820"/>
            <a:ext cx="8591550" cy="739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200"/>
              <a:buFont typeface="JetBrains Mono"/>
              <a:buNone/>
            </a:pPr>
            <a:r>
              <a:rPr b="1" i="0" lang="en-US" sz="420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3" name="Google Shape;3263;p197"/>
          <p:cNvSpPr/>
          <p:nvPr/>
        </p:nvSpPr>
        <p:spPr>
          <a:xfrm>
            <a:off x="952500" y="5585460"/>
            <a:ext cx="8044815" cy="1127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When the number of passes is known before you start.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4" name="Google Shape;3264;p197"/>
          <p:cNvSpPr/>
          <p:nvPr/>
        </p:nvSpPr>
        <p:spPr>
          <a:xfrm>
            <a:off x="9525000" y="4655820"/>
            <a:ext cx="8591550" cy="739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4200"/>
              <a:buFont typeface="JetBrains Mono"/>
              <a:buNone/>
            </a:pPr>
            <a:r>
              <a:rPr b="1" i="0" lang="en-US" sz="42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5" name="Google Shape;3265;p197"/>
          <p:cNvSpPr/>
          <p:nvPr/>
        </p:nvSpPr>
        <p:spPr>
          <a:xfrm>
            <a:off x="9525000" y="5585460"/>
            <a:ext cx="8044815" cy="1127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When you stop on a condition that the loop itself changes.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270" name="Shape 3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1" name="Google Shape;3271;p19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HABIT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2" name="Google Shape;3272;p19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When a cell will not finish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3" name="Google Shape;3273;p198"/>
          <p:cNvSpPr/>
          <p:nvPr/>
        </p:nvSpPr>
        <p:spPr>
          <a:xfrm>
            <a:off x="952500" y="3497580"/>
            <a:ext cx="1428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4" name="Google Shape;3274;p198"/>
          <p:cNvSpPr/>
          <p:nvPr/>
        </p:nvSpPr>
        <p:spPr>
          <a:xfrm>
            <a:off x="952500" y="284226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5" name="Google Shape;3275;p198"/>
          <p:cNvSpPr/>
          <p:nvPr/>
        </p:nvSpPr>
        <p:spPr>
          <a:xfrm>
            <a:off x="1615559" y="2727960"/>
            <a:ext cx="8021836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Press the stop button beside the cell.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6" name="Google Shape;3276;p198"/>
          <p:cNvSpPr/>
          <p:nvPr/>
        </p:nvSpPr>
        <p:spPr>
          <a:xfrm>
            <a:off x="952500" y="4541520"/>
            <a:ext cx="1428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7" name="Google Shape;3277;p198"/>
          <p:cNvSpPr/>
          <p:nvPr/>
        </p:nvSpPr>
        <p:spPr>
          <a:xfrm>
            <a:off x="952500" y="388620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8" name="Google Shape;3278;p198"/>
          <p:cNvSpPr/>
          <p:nvPr/>
        </p:nvSpPr>
        <p:spPr>
          <a:xfrm>
            <a:off x="1615559" y="3771900"/>
            <a:ext cx="1071114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Find the line that should change the loop variable.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9" name="Google Shape;3279;p198"/>
          <p:cNvSpPr/>
          <p:nvPr/>
        </p:nvSpPr>
        <p:spPr>
          <a:xfrm>
            <a:off x="952500" y="5585460"/>
            <a:ext cx="1428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0" name="Google Shape;3280;p198"/>
          <p:cNvSpPr/>
          <p:nvPr/>
        </p:nvSpPr>
        <p:spPr>
          <a:xfrm>
            <a:off x="952500" y="493014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1" name="Google Shape;3281;p198"/>
          <p:cNvSpPr/>
          <p:nvPr/>
        </p:nvSpPr>
        <p:spPr>
          <a:xfrm>
            <a:off x="1615559" y="4815840"/>
            <a:ext cx="1089424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Check that it runs on every path through the body.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2" name="Google Shape;3282;p198"/>
          <p:cNvSpPr/>
          <p:nvPr/>
        </p:nvSpPr>
        <p:spPr>
          <a:xfrm>
            <a:off x="952500" y="597408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3" name="Google Shape;3283;p198"/>
          <p:cNvSpPr/>
          <p:nvPr/>
        </p:nvSpPr>
        <p:spPr>
          <a:xfrm>
            <a:off x="1615559" y="5859780"/>
            <a:ext cx="1225644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 the variable at the top of the body while you debug.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288" name="Shape 3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9" name="Google Shape;3289;p19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QUICK 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0" name="Google Shape;3290;p19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Which of these ever stops?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1" name="Google Shape;3291;p199"/>
          <p:cNvSpPr/>
          <p:nvPr/>
        </p:nvSpPr>
        <p:spPr>
          <a:xfrm>
            <a:off x="952500" y="2727960"/>
            <a:ext cx="8020050" cy="1920240"/>
          </a:xfrm>
          <a:prstGeom prst="roundRect">
            <a:avLst>
              <a:gd fmla="val 396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2" name="Google Shape;3292;p199"/>
          <p:cNvSpPr/>
          <p:nvPr/>
        </p:nvSpPr>
        <p:spPr>
          <a:xfrm>
            <a:off x="1264920" y="3002280"/>
            <a:ext cx="7635812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 = 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 i &lt; 5: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print(i)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3" name="Google Shape;3293;p199"/>
          <p:cNvSpPr/>
          <p:nvPr/>
        </p:nvSpPr>
        <p:spPr>
          <a:xfrm>
            <a:off x="9315450" y="2727960"/>
            <a:ext cx="8020050" cy="1920240"/>
          </a:xfrm>
          <a:prstGeom prst="roundRect">
            <a:avLst>
              <a:gd fmla="val 396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4" name="Google Shape;3294;p199"/>
          <p:cNvSpPr/>
          <p:nvPr/>
        </p:nvSpPr>
        <p:spPr>
          <a:xfrm>
            <a:off x="9627870" y="3002280"/>
            <a:ext cx="7635812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 = 10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 i &gt; 0: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 = i - 3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5" name="Google Shape;3295;p199"/>
          <p:cNvSpPr/>
          <p:nvPr/>
        </p:nvSpPr>
        <p:spPr>
          <a:xfrm>
            <a:off x="952500" y="4991100"/>
            <a:ext cx="8020050" cy="1920240"/>
          </a:xfrm>
          <a:prstGeom prst="roundRect">
            <a:avLst>
              <a:gd fmla="val 396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6" name="Google Shape;3296;p199"/>
          <p:cNvSpPr/>
          <p:nvPr/>
        </p:nvSpPr>
        <p:spPr>
          <a:xfrm>
            <a:off x="1264920" y="5265420"/>
            <a:ext cx="7635812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 = 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 i != 10: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 = i + 3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7" name="Google Shape;3297;p199"/>
          <p:cNvSpPr/>
          <p:nvPr/>
        </p:nvSpPr>
        <p:spPr>
          <a:xfrm>
            <a:off x="9315450" y="4991100"/>
            <a:ext cx="8020050" cy="1920240"/>
          </a:xfrm>
          <a:prstGeom prst="roundRect">
            <a:avLst>
              <a:gd fmla="val 396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8" name="Google Shape;3298;p199"/>
          <p:cNvSpPr/>
          <p:nvPr/>
        </p:nvSpPr>
        <p:spPr>
          <a:xfrm>
            <a:off x="9627870" y="5265420"/>
            <a:ext cx="7635812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 = 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 i &lt; 5: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 = i + 1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3303" name="Shape 3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4" name="Google Shape;3304;p20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5" name="Google Shape;3305;p20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6" name="Google Shape;3306;p200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7" name="Google Shape;3307;p200"/>
          <p:cNvSpPr/>
          <p:nvPr/>
        </p:nvSpPr>
        <p:spPr>
          <a:xfrm>
            <a:off x="1684139" y="272796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Ask how many integers, read that many, and print the sum and the maximum of the even ones.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8" name="Google Shape;3308;p200"/>
          <p:cNvSpPr/>
          <p:nvPr/>
        </p:nvSpPr>
        <p:spPr>
          <a:xfrm>
            <a:off x="952500" y="413766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9" name="Google Shape;3309;p200"/>
          <p:cNvSpPr/>
          <p:nvPr/>
        </p:nvSpPr>
        <p:spPr>
          <a:xfrm>
            <a:off x="1684139" y="4076700"/>
            <a:ext cx="9822001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 a number and print the sum of its digits.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0" name="Google Shape;3310;p200"/>
          <p:cNvSpPr/>
          <p:nvPr/>
        </p:nvSpPr>
        <p:spPr>
          <a:xfrm>
            <a:off x="952500" y="498348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1" name="Google Shape;3311;p200"/>
          <p:cNvSpPr/>
          <p:nvPr/>
        </p:nvSpPr>
        <p:spPr>
          <a:xfrm>
            <a:off x="1684139" y="4922520"/>
            <a:ext cx="1129985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Rewrite two of your Class 11 for loops as while loops.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316" name="Shape 3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" name="Google Shape;3317;p20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8" name="Google Shape;3318;p20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9" name="Google Shape;3319;p201"/>
          <p:cNvSpPr/>
          <p:nvPr/>
        </p:nvSpPr>
        <p:spPr>
          <a:xfrm>
            <a:off x="952500" y="272796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0" name="Google Shape;3320;p201"/>
          <p:cNvSpPr/>
          <p:nvPr/>
        </p:nvSpPr>
        <p:spPr>
          <a:xfrm>
            <a:off x="1295400" y="307086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a while loop with a start, a test and an update.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1" name="Google Shape;3321;p201"/>
          <p:cNvSpPr/>
          <p:nvPr/>
        </p:nvSpPr>
        <p:spPr>
          <a:xfrm>
            <a:off x="9334500" y="272796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2" name="Google Shape;3322;p201"/>
          <p:cNvSpPr/>
          <p:nvPr/>
        </p:nvSpPr>
        <p:spPr>
          <a:xfrm>
            <a:off x="9677400" y="307086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Convert between for and while.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3" name="Google Shape;3323;p201"/>
          <p:cNvSpPr/>
          <p:nvPr/>
        </p:nvSpPr>
        <p:spPr>
          <a:xfrm>
            <a:off x="952500" y="470154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4" name="Google Shape;3324;p201"/>
          <p:cNvSpPr/>
          <p:nvPr/>
        </p:nvSpPr>
        <p:spPr>
          <a:xfrm>
            <a:off x="1295400" y="504444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Spot an infinite loop and stop a runaway cell.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5" name="Google Shape;3325;p201"/>
          <p:cNvSpPr/>
          <p:nvPr/>
        </p:nvSpPr>
        <p:spPr>
          <a:xfrm>
            <a:off x="9334500" y="470154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6" name="Google Shape;3326;p201"/>
          <p:cNvSpPr/>
          <p:nvPr/>
        </p:nvSpPr>
        <p:spPr>
          <a:xfrm>
            <a:off x="9677400" y="504444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Loop until the user says stop.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7" name="Google Shape;3327;p201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class: break, continue and return.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3332" name="Shape 3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3" name="Google Shape;3333;p202"/>
          <p:cNvSpPr/>
          <p:nvPr/>
        </p:nvSpPr>
        <p:spPr>
          <a:xfrm>
            <a:off x="952500" y="4085272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4 · REPETITION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4" name="Google Shape;3334;p202"/>
          <p:cNvSpPr/>
          <p:nvPr/>
        </p:nvSpPr>
        <p:spPr>
          <a:xfrm>
            <a:off x="952500" y="4854893"/>
            <a:ext cx="1665923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13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5" name="Google Shape;3335;p202"/>
          <p:cNvSpPr/>
          <p:nvPr/>
        </p:nvSpPr>
        <p:spPr>
          <a:xfrm>
            <a:off x="3000375" y="5632132"/>
            <a:ext cx="10072414" cy="79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break, continue, and return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340" name="Shape 3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1" name="Google Shape;3341;p20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13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2" name="Google Shape;3342;p20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3" name="Google Shape;3343;p203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4" name="Google Shape;3344;p203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5" name="Google Shape;3345;p203"/>
          <p:cNvSpPr/>
          <p:nvPr/>
        </p:nvSpPr>
        <p:spPr>
          <a:xfrm>
            <a:off x="1646039" y="2727960"/>
            <a:ext cx="7432477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continue: skip the rest of this pass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6" name="Google Shape;3346;p203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7" name="Google Shape;3347;p203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8" name="Google Shape;3348;p203"/>
          <p:cNvSpPr/>
          <p:nvPr/>
        </p:nvSpPr>
        <p:spPr>
          <a:xfrm>
            <a:off x="1646039" y="3771900"/>
            <a:ext cx="6218004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break: leave the loop entirely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9" name="Google Shape;3349;p203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0" name="Google Shape;3350;p203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1" name="Google Shape;3351;p203"/>
          <p:cNvSpPr/>
          <p:nvPr/>
        </p:nvSpPr>
        <p:spPr>
          <a:xfrm>
            <a:off x="1646039" y="4815840"/>
            <a:ext cx="343504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flag pattern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2" name="Google Shape;3352;p203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3" name="Google Shape;3353;p203"/>
          <p:cNvSpPr/>
          <p:nvPr/>
        </p:nvSpPr>
        <p:spPr>
          <a:xfrm>
            <a:off x="1646039" y="5859780"/>
            <a:ext cx="748997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Testing whether a number is prime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3358" name="Shape 3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9" name="Google Shape;3359;p204"/>
          <p:cNvSpPr/>
          <p:nvPr/>
        </p:nvSpPr>
        <p:spPr>
          <a:xfrm>
            <a:off x="952500" y="3978593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THREE WAYS 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0" name="Google Shape;3360;p204"/>
          <p:cNvSpPr/>
          <p:nvPr/>
        </p:nvSpPr>
        <p:spPr>
          <a:xfrm>
            <a:off x="952500" y="4832033"/>
            <a:ext cx="558791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600"/>
              <a:buFont typeface="JetBrains Mono"/>
              <a:buNone/>
            </a:pPr>
            <a:r>
              <a:rPr b="1" i="0" lang="en-US" sz="360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continue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1" name="Google Shape;3361;p204"/>
          <p:cNvSpPr/>
          <p:nvPr/>
        </p:nvSpPr>
        <p:spPr>
          <a:xfrm>
            <a:off x="952500" y="5624513"/>
            <a:ext cx="5232318" cy="9124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Skip the rest of this pass. Go round again.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2" name="Google Shape;3362;p204"/>
          <p:cNvSpPr/>
          <p:nvPr/>
        </p:nvSpPr>
        <p:spPr>
          <a:xfrm>
            <a:off x="6603921" y="4832033"/>
            <a:ext cx="558804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3600"/>
              <a:buFont typeface="JetBrains Mono"/>
              <a:buNone/>
            </a:pPr>
            <a:r>
              <a:rPr b="1" i="0" lang="en-US" sz="36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break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3" name="Google Shape;3363;p204"/>
          <p:cNvSpPr/>
          <p:nvPr/>
        </p:nvSpPr>
        <p:spPr>
          <a:xfrm>
            <a:off x="6603921" y="5624513"/>
            <a:ext cx="5588044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Stop the loop. Carry on below it.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4" name="Google Shape;3364;p204"/>
          <p:cNvSpPr/>
          <p:nvPr/>
        </p:nvSpPr>
        <p:spPr>
          <a:xfrm>
            <a:off x="12255460" y="4832033"/>
            <a:ext cx="558804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600"/>
              <a:buFont typeface="JetBrains Mono"/>
              <a:buNone/>
            </a:pPr>
            <a:r>
              <a:rPr b="1" i="0" lang="en-US" sz="360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5" name="Google Shape;3365;p204"/>
          <p:cNvSpPr/>
          <p:nvPr/>
        </p:nvSpPr>
        <p:spPr>
          <a:xfrm>
            <a:off x="12255460" y="5624513"/>
            <a:ext cx="5232441" cy="9124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Leave the whole function, loop and all.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370" name="Shape 3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1" name="Google Shape;3371;p20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2" name="Google Shape;3372;p20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continue skips one pass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3" name="Google Shape;3373;p205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4" name="Google Shape;3374;p205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5" name="Google Shape;3375;p205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range(10):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i == 6: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continue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print(i,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6" name="Google Shape;3376;p205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7" name="Google Shape;3377;p205"/>
          <p:cNvSpPr/>
          <p:nvPr/>
        </p:nvSpPr>
        <p:spPr>
          <a:xfrm>
            <a:off x="2228850" y="5219700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8" name="Google Shape;3378;p205"/>
          <p:cNvSpPr/>
          <p:nvPr/>
        </p:nvSpPr>
        <p:spPr>
          <a:xfrm>
            <a:off x="2533650" y="5486400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0 1 2 3 4 5 7 8 9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383" name="Shape 3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4" name="Google Shape;3384;p20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5" name="Google Shape;3385;p20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break ends the loop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6" name="Google Shape;3386;p206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7" name="Google Shape;3387;p206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8" name="Google Shape;3388;p206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range(10):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i == 6: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break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print(i,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9" name="Google Shape;3389;p206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0" name="Google Shape;3390;p206"/>
          <p:cNvSpPr/>
          <p:nvPr/>
        </p:nvSpPr>
        <p:spPr>
          <a:xfrm>
            <a:off x="2228850" y="5219700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1" name="Google Shape;3391;p206"/>
          <p:cNvSpPr/>
          <p:nvPr/>
        </p:nvSpPr>
        <p:spPr>
          <a:xfrm>
            <a:off x="2533650" y="5486400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0 1 2 3 4 5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2" name="Google Shape;3392;p206"/>
          <p:cNvSpPr/>
          <p:nvPr/>
        </p:nvSpPr>
        <p:spPr>
          <a:xfrm>
            <a:off x="952500" y="65074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Same condition, one word different, four numbers fewer.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397" name="Shape 3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8" name="Google Shape;3398;p20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9" name="Google Shape;3399;p20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continue in a while loop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0" name="Google Shape;3400;p207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HANGS FOREVER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1" name="Google Shape;3401;p207"/>
          <p:cNvSpPr/>
          <p:nvPr/>
        </p:nvSpPr>
        <p:spPr>
          <a:xfrm>
            <a:off x="952500" y="3276600"/>
            <a:ext cx="7943850" cy="3082290"/>
          </a:xfrm>
          <a:prstGeom prst="roundRect">
            <a:avLst>
              <a:gd fmla="val 247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2" name="Google Shape;3402;p207"/>
          <p:cNvSpPr/>
          <p:nvPr/>
        </p:nvSpPr>
        <p:spPr>
          <a:xfrm>
            <a:off x="1245870" y="3531870"/>
            <a:ext cx="7595425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 i &lt; 10: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i == 6: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continue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print(i,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 = i + 1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3" name="Google Shape;3403;p207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UPDATE FIRST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4" name="Google Shape;3404;p207"/>
          <p:cNvSpPr/>
          <p:nvPr/>
        </p:nvSpPr>
        <p:spPr>
          <a:xfrm>
            <a:off x="9391650" y="3276600"/>
            <a:ext cx="7943850" cy="3082290"/>
          </a:xfrm>
          <a:prstGeom prst="roundRect">
            <a:avLst>
              <a:gd fmla="val 247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5" name="Google Shape;3405;p207"/>
          <p:cNvSpPr/>
          <p:nvPr/>
        </p:nvSpPr>
        <p:spPr>
          <a:xfrm>
            <a:off x="9685020" y="3531870"/>
            <a:ext cx="7595425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 = -1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 i &lt; 9: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 = i + 1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i == 6: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continue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print(i,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6" name="Google Shape;3406;p207"/>
          <p:cNvSpPr/>
          <p:nvPr/>
        </p:nvSpPr>
        <p:spPr>
          <a:xfrm>
            <a:off x="952500" y="677799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Move the update above the continue, and the loop can still finish.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411" name="Shape 3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2" name="Google Shape;3412;p20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PATTERN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3" name="Google Shape;3413;p20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while True, with a way out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4" name="Google Shape;3414;p208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[3]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5" name="Google Shape;3415;p208"/>
          <p:cNvSpPr/>
          <p:nvPr/>
        </p:nvSpPr>
        <p:spPr>
          <a:xfrm>
            <a:off x="2228850" y="2727960"/>
            <a:ext cx="15106650" cy="4834890"/>
          </a:xfrm>
          <a:prstGeom prst="roundRect">
            <a:avLst>
              <a:gd fmla="val 157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6" name="Google Shape;3416;p208"/>
          <p:cNvSpPr/>
          <p:nvPr/>
        </p:nvSpPr>
        <p:spPr>
          <a:xfrm>
            <a:off x="2541270" y="3002280"/>
            <a:ext cx="1493501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total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 True: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a = int(input("Num: 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a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break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i % 2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total = total + 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 = i + 1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print(total)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7" name="Google Shape;3417;p208"/>
          <p:cNvSpPr/>
          <p:nvPr/>
        </p:nvSpPr>
        <p:spPr>
          <a:xfrm>
            <a:off x="952500" y="779145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condition is always True, so the break is the only exit. Make sure it can be reached.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422" name="Shape 3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3" name="Google Shape;3423;p20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PATTERN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4" name="Google Shape;3424;p20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flag remembers what the loop found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5" name="Google Shape;3425;p209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[4]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6" name="Google Shape;3426;p209"/>
          <p:cNvSpPr/>
          <p:nvPr/>
        </p:nvSpPr>
        <p:spPr>
          <a:xfrm>
            <a:off x="2228850" y="2727960"/>
            <a:ext cx="15106650" cy="5263515"/>
          </a:xfrm>
          <a:prstGeom prst="roundRect">
            <a:avLst>
              <a:gd fmla="val 144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7" name="Google Shape;3427;p209"/>
          <p:cNvSpPr/>
          <p:nvPr/>
        </p:nvSpPr>
        <p:spPr>
          <a:xfrm>
            <a:off x="2541270" y="3002280"/>
            <a:ext cx="14935010" cy="4752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isPrime = True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 = 13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range(2, N):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N % i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sc-camel-is-prime = False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break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sc-camel-is-prime == True: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print("num is prime")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print("num is not prime")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8" name="Google Shape;3428;p209"/>
          <p:cNvSpPr/>
          <p:nvPr/>
        </p:nvSpPr>
        <p:spPr>
          <a:xfrm>
            <a:off x="952500" y="822007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Assume True, look for evidence against it, stop as soon as you find some.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433" name="Shape 3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4" name="Google Shape;3434;p21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COMPARISON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5" name="Google Shape;3435;p21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Same answer, different amount of work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6" name="Google Shape;3436;p210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WITHOUT break · 128 PASSES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7" name="Google Shape;3437;p210"/>
          <p:cNvSpPr/>
          <p:nvPr/>
        </p:nvSpPr>
        <p:spPr>
          <a:xfrm>
            <a:off x="952500" y="3276600"/>
            <a:ext cx="7943850" cy="2653665"/>
          </a:xfrm>
          <a:prstGeom prst="roundRect">
            <a:avLst>
              <a:gd fmla="val 287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8" name="Google Shape;3438;p210"/>
          <p:cNvSpPr/>
          <p:nvPr/>
        </p:nvSpPr>
        <p:spPr>
          <a:xfrm>
            <a:off x="1245870" y="3531870"/>
            <a:ext cx="7595425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isPrime = True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 = 130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range(2, N):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N % i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sc-camel-is-prime = False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9" name="Google Shape;3439;p210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break · 1 PASS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0" name="Google Shape;3440;p210"/>
          <p:cNvSpPr/>
          <p:nvPr/>
        </p:nvSpPr>
        <p:spPr>
          <a:xfrm>
            <a:off x="9391650" y="3276600"/>
            <a:ext cx="7943850" cy="3082290"/>
          </a:xfrm>
          <a:prstGeom prst="roundRect">
            <a:avLst>
              <a:gd fmla="val 247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1" name="Google Shape;3441;p210"/>
          <p:cNvSpPr/>
          <p:nvPr/>
        </p:nvSpPr>
        <p:spPr>
          <a:xfrm>
            <a:off x="9685020" y="3531870"/>
            <a:ext cx="7595425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isPrime = True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 = 130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range(2, N):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N % i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sc-camel-is-prime = False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break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2" name="Google Shape;3442;p210"/>
          <p:cNvSpPr/>
          <p:nvPr/>
        </p:nvSpPr>
        <p:spPr>
          <a:xfrm>
            <a:off x="952500" y="677799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130 is even, so the very first test settles it.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447" name="Shape 3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8" name="Google Shape;3448;p21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9" name="Google Shape;3449;p21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Testing whether 15 is prime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0" name="Google Shape;3450;p211"/>
          <p:cNvSpPr/>
          <p:nvPr/>
        </p:nvSpPr>
        <p:spPr>
          <a:xfrm>
            <a:off x="952500" y="272796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1" name="Google Shape;3451;p211"/>
          <p:cNvSpPr/>
          <p:nvPr/>
        </p:nvSpPr>
        <p:spPr>
          <a:xfrm>
            <a:off x="952500" y="34442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2" name="Google Shape;3452;p211"/>
          <p:cNvSpPr/>
          <p:nvPr/>
        </p:nvSpPr>
        <p:spPr>
          <a:xfrm>
            <a:off x="1181100" y="2914650"/>
            <a:ext cx="376142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3" name="Google Shape;3453;p211"/>
          <p:cNvSpPr/>
          <p:nvPr/>
        </p:nvSpPr>
        <p:spPr>
          <a:xfrm>
            <a:off x="5048250" y="34442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4" name="Google Shape;3454;p211"/>
          <p:cNvSpPr/>
          <p:nvPr/>
        </p:nvSpPr>
        <p:spPr>
          <a:xfrm>
            <a:off x="5276850" y="2914650"/>
            <a:ext cx="376142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15 % 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5" name="Google Shape;3455;p211"/>
          <p:cNvSpPr/>
          <p:nvPr/>
        </p:nvSpPr>
        <p:spPr>
          <a:xfrm>
            <a:off x="9144000" y="34442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6" name="Google Shape;3456;p211"/>
          <p:cNvSpPr/>
          <p:nvPr/>
        </p:nvSpPr>
        <p:spPr>
          <a:xfrm>
            <a:off x="9372600" y="2914650"/>
            <a:ext cx="376142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isPrime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7" name="Google Shape;3457;p211"/>
          <p:cNvSpPr/>
          <p:nvPr/>
        </p:nvSpPr>
        <p:spPr>
          <a:xfrm>
            <a:off x="13239750" y="34442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8" name="Google Shape;3458;p211"/>
          <p:cNvSpPr/>
          <p:nvPr/>
        </p:nvSpPr>
        <p:spPr>
          <a:xfrm>
            <a:off x="13468350" y="2914650"/>
            <a:ext cx="376142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9" name="Google Shape;3459;p211"/>
          <p:cNvSpPr/>
          <p:nvPr/>
        </p:nvSpPr>
        <p:spPr>
          <a:xfrm>
            <a:off x="952500" y="41833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0" name="Google Shape;3460;p211"/>
          <p:cNvSpPr/>
          <p:nvPr/>
        </p:nvSpPr>
        <p:spPr>
          <a:xfrm>
            <a:off x="1181100" y="360426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1" name="Google Shape;3461;p211"/>
          <p:cNvSpPr/>
          <p:nvPr/>
        </p:nvSpPr>
        <p:spPr>
          <a:xfrm>
            <a:off x="5048250" y="41833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2" name="Google Shape;3462;p211"/>
          <p:cNvSpPr/>
          <p:nvPr/>
        </p:nvSpPr>
        <p:spPr>
          <a:xfrm>
            <a:off x="5276850" y="360426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3" name="Google Shape;3463;p211"/>
          <p:cNvSpPr/>
          <p:nvPr/>
        </p:nvSpPr>
        <p:spPr>
          <a:xfrm>
            <a:off x="9144000" y="41833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4" name="Google Shape;3464;p211"/>
          <p:cNvSpPr/>
          <p:nvPr/>
        </p:nvSpPr>
        <p:spPr>
          <a:xfrm>
            <a:off x="9372600" y="360426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5" name="Google Shape;3465;p211"/>
          <p:cNvSpPr/>
          <p:nvPr/>
        </p:nvSpPr>
        <p:spPr>
          <a:xfrm>
            <a:off x="13239750" y="41833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6" name="Google Shape;3466;p211"/>
          <p:cNvSpPr/>
          <p:nvPr/>
        </p:nvSpPr>
        <p:spPr>
          <a:xfrm>
            <a:off x="13468350" y="360426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carry 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7" name="Google Shape;3467;p211"/>
          <p:cNvSpPr/>
          <p:nvPr/>
        </p:nvSpPr>
        <p:spPr>
          <a:xfrm>
            <a:off x="952500" y="492252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8" name="Google Shape;3468;p211"/>
          <p:cNvSpPr/>
          <p:nvPr/>
        </p:nvSpPr>
        <p:spPr>
          <a:xfrm>
            <a:off x="1181100" y="434340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9" name="Google Shape;3469;p211"/>
          <p:cNvSpPr/>
          <p:nvPr/>
        </p:nvSpPr>
        <p:spPr>
          <a:xfrm>
            <a:off x="5048250" y="492252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0" name="Google Shape;3470;p211"/>
          <p:cNvSpPr/>
          <p:nvPr/>
        </p:nvSpPr>
        <p:spPr>
          <a:xfrm>
            <a:off x="5276850" y="434340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1" name="Google Shape;3471;p211"/>
          <p:cNvSpPr/>
          <p:nvPr/>
        </p:nvSpPr>
        <p:spPr>
          <a:xfrm>
            <a:off x="9144000" y="492252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2" name="Google Shape;3472;p211"/>
          <p:cNvSpPr/>
          <p:nvPr/>
        </p:nvSpPr>
        <p:spPr>
          <a:xfrm>
            <a:off x="9372600" y="434340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3" name="Google Shape;3473;p211"/>
          <p:cNvSpPr/>
          <p:nvPr/>
        </p:nvSpPr>
        <p:spPr>
          <a:xfrm>
            <a:off x="13239750" y="492252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4" name="Google Shape;3474;p211"/>
          <p:cNvSpPr/>
          <p:nvPr/>
        </p:nvSpPr>
        <p:spPr>
          <a:xfrm>
            <a:off x="13468350" y="434340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break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5" name="Google Shape;3475;p211"/>
          <p:cNvSpPr/>
          <p:nvPr/>
        </p:nvSpPr>
        <p:spPr>
          <a:xfrm>
            <a:off x="1181100" y="508254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 … 14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6" name="Google Shape;3476;p211"/>
          <p:cNvSpPr/>
          <p:nvPr/>
        </p:nvSpPr>
        <p:spPr>
          <a:xfrm>
            <a:off x="5276850" y="508254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—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7" name="Google Shape;3477;p211"/>
          <p:cNvSpPr/>
          <p:nvPr/>
        </p:nvSpPr>
        <p:spPr>
          <a:xfrm>
            <a:off x="9372600" y="508254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—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8" name="Google Shape;3478;p211"/>
          <p:cNvSpPr/>
          <p:nvPr/>
        </p:nvSpPr>
        <p:spPr>
          <a:xfrm>
            <a:off x="13468350" y="508254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never reached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9" name="Google Shape;3479;p211"/>
          <p:cNvSpPr/>
          <p:nvPr/>
        </p:nvSpPr>
        <p:spPr>
          <a:xfrm>
            <a:off x="952500" y="608076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After the loop, isPrime is False, so the program prints that 15 is not prime.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484" name="Shape 3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5" name="Google Shape;3485;p21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IMPROVEMENT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6" name="Google Shape;3486;p21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You do not need to test every divisor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7" name="Google Shape;3487;p212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[5]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8" name="Google Shape;3488;p212"/>
          <p:cNvSpPr/>
          <p:nvPr/>
        </p:nvSpPr>
        <p:spPr>
          <a:xfrm>
            <a:off x="2228850" y="2727960"/>
            <a:ext cx="15106650" cy="4406265"/>
          </a:xfrm>
          <a:prstGeom prst="roundRect">
            <a:avLst>
              <a:gd fmla="val 1729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9" name="Google Shape;3489;p212"/>
          <p:cNvSpPr/>
          <p:nvPr/>
        </p:nvSpPr>
        <p:spPr>
          <a:xfrm>
            <a:off x="2541270" y="3002280"/>
            <a:ext cx="14935010" cy="3895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math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sc-camel-is-prime = True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 = 130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range(2, int(math.sqrt(N)) + 1):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N % i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sc-camel-is-prime = False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break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print(isPrime)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0" name="Google Shape;3490;p212"/>
          <p:cNvSpPr/>
          <p:nvPr/>
        </p:nvSpPr>
        <p:spPr>
          <a:xfrm>
            <a:off x="952500" y="736282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If N has a divisor above its square root, it also has one below. Checking the small half is enough.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495" name="Shape 3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6" name="Google Shape;3496;p21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7" name="Google Shape;3497;p21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break leaves the loop, return leaves the function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8" name="Google Shape;3498;p213"/>
          <p:cNvSpPr/>
          <p:nvPr/>
        </p:nvSpPr>
        <p:spPr>
          <a:xfrm>
            <a:off x="952500" y="2727960"/>
            <a:ext cx="7943850" cy="3510915"/>
          </a:xfrm>
          <a:prstGeom prst="roundRect">
            <a:avLst>
              <a:gd fmla="val 2170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9" name="Google Shape;3499;p213"/>
          <p:cNvSpPr/>
          <p:nvPr/>
        </p:nvSpPr>
        <p:spPr>
          <a:xfrm>
            <a:off x="1245870" y="2983230"/>
            <a:ext cx="7595425" cy="3038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hello():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i in range(10):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if i == 6: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break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print(i,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print("done")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hello()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0" name="Google Shape;3500;p213"/>
          <p:cNvSpPr/>
          <p:nvPr/>
        </p:nvSpPr>
        <p:spPr>
          <a:xfrm>
            <a:off x="952500" y="6429375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1" name="Google Shape;3501;p213"/>
          <p:cNvSpPr/>
          <p:nvPr/>
        </p:nvSpPr>
        <p:spPr>
          <a:xfrm>
            <a:off x="1238250" y="6677025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1 2 3 4 5 done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2" name="Google Shape;3502;p213"/>
          <p:cNvSpPr/>
          <p:nvPr/>
        </p:nvSpPr>
        <p:spPr>
          <a:xfrm>
            <a:off x="9391650" y="2727960"/>
            <a:ext cx="7943850" cy="3510915"/>
          </a:xfrm>
          <a:prstGeom prst="roundRect">
            <a:avLst>
              <a:gd fmla="val 2170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3" name="Google Shape;3503;p213"/>
          <p:cNvSpPr/>
          <p:nvPr/>
        </p:nvSpPr>
        <p:spPr>
          <a:xfrm>
            <a:off x="9685020" y="2983230"/>
            <a:ext cx="7595425" cy="3038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hello():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i in range(10):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if i == 6: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return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print(i,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print("done")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hello()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4" name="Google Shape;3504;p213"/>
          <p:cNvSpPr/>
          <p:nvPr/>
        </p:nvSpPr>
        <p:spPr>
          <a:xfrm>
            <a:off x="9391650" y="6429375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5" name="Google Shape;3505;p213"/>
          <p:cNvSpPr/>
          <p:nvPr/>
        </p:nvSpPr>
        <p:spPr>
          <a:xfrm>
            <a:off x="9677400" y="6677025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0 1 2 3 4 5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6" name="Google Shape;3506;p213"/>
          <p:cNvSpPr/>
          <p:nvPr/>
        </p:nvSpPr>
        <p:spPr>
          <a:xfrm>
            <a:off x="952500" y="771715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We meet functions properly in Class 15. Note the difference now.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511" name="Shape 3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" name="Google Shape;3512;p21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WORTH KNOWING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3" name="Google Shape;3513;p21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loop can have an else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4" name="Google Shape;3514;p214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[6]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5" name="Google Shape;3515;p214"/>
          <p:cNvSpPr/>
          <p:nvPr/>
        </p:nvSpPr>
        <p:spPr>
          <a:xfrm>
            <a:off x="2228850" y="2727960"/>
            <a:ext cx="15106650" cy="3549015"/>
          </a:xfrm>
          <a:prstGeom prst="roundRect">
            <a:avLst>
              <a:gd fmla="val 214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6" name="Google Shape;3516;p214"/>
          <p:cNvSpPr/>
          <p:nvPr/>
        </p:nvSpPr>
        <p:spPr>
          <a:xfrm>
            <a:off x="2541270" y="3002280"/>
            <a:ext cx="14935010" cy="3038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 = 13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range(2, N):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N % i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print("not prime")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break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print("prime")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7" name="Google Shape;3517;p214"/>
          <p:cNvSpPr/>
          <p:nvPr/>
        </p:nvSpPr>
        <p:spPr>
          <a:xfrm>
            <a:off x="952500" y="650557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else runs only if the loop finished without hitting a break. It replaces the flag variable.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522" name="Shape 3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3" name="Google Shape;3523;p21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QUICK 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4" name="Google Shape;3524;p21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does each one print?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5" name="Google Shape;3525;p215"/>
          <p:cNvSpPr/>
          <p:nvPr/>
        </p:nvSpPr>
        <p:spPr>
          <a:xfrm>
            <a:off x="952500" y="2727960"/>
            <a:ext cx="8020050" cy="2491740"/>
          </a:xfrm>
          <a:prstGeom prst="roundRect">
            <a:avLst>
              <a:gd fmla="val 305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6" name="Google Shape;3526;p215"/>
          <p:cNvSpPr/>
          <p:nvPr/>
        </p:nvSpPr>
        <p:spPr>
          <a:xfrm>
            <a:off x="1264920" y="3002280"/>
            <a:ext cx="7635812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83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range(6):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83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i % 2 == 0: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83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continue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83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print(i, end=" ")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7" name="Google Shape;3527;p215"/>
          <p:cNvSpPr/>
          <p:nvPr/>
        </p:nvSpPr>
        <p:spPr>
          <a:xfrm>
            <a:off x="9315450" y="2727960"/>
            <a:ext cx="8020050" cy="2491740"/>
          </a:xfrm>
          <a:prstGeom prst="roundRect">
            <a:avLst>
              <a:gd fmla="val 305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8" name="Google Shape;3528;p215"/>
          <p:cNvSpPr/>
          <p:nvPr/>
        </p:nvSpPr>
        <p:spPr>
          <a:xfrm>
            <a:off x="9627870" y="3002280"/>
            <a:ext cx="7635812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83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range(6):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83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i % 2 == 0: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83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break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83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print(i, end=" ")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3533" name="Shape 3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4" name="Google Shape;3534;p21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5" name="Google Shape;3535;p21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6" name="Google Shape;3536;p216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7" name="Google Shape;3537;p216"/>
          <p:cNvSpPr/>
          <p:nvPr/>
        </p:nvSpPr>
        <p:spPr>
          <a:xfrm>
            <a:off x="1684139" y="272796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 a number and print whether it is prime, using a flag and a break.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8" name="Google Shape;3538;p216"/>
          <p:cNvSpPr/>
          <p:nvPr/>
        </p:nvSpPr>
        <p:spPr>
          <a:xfrm>
            <a:off x="952500" y="413766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9" name="Google Shape;3539;p216"/>
          <p:cNvSpPr/>
          <p:nvPr/>
        </p:nvSpPr>
        <p:spPr>
          <a:xfrm>
            <a:off x="1684139" y="407670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 the first multiple of 7 that is greater than a number the user types.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0" name="Google Shape;3540;p216"/>
          <p:cNvSpPr/>
          <p:nvPr/>
        </p:nvSpPr>
        <p:spPr>
          <a:xfrm>
            <a:off x="952500" y="548640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1" name="Google Shape;3541;p216"/>
          <p:cNvSpPr/>
          <p:nvPr/>
        </p:nvSpPr>
        <p:spPr>
          <a:xfrm>
            <a:off x="1684139" y="5425440"/>
            <a:ext cx="7711964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 every prime number below 50.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546" name="Shape 3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7" name="Google Shape;3547;p21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8" name="Google Shape;3548;p21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9" name="Google Shape;3549;p217"/>
          <p:cNvSpPr/>
          <p:nvPr/>
        </p:nvSpPr>
        <p:spPr>
          <a:xfrm>
            <a:off x="952500" y="272796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0" name="Google Shape;3550;p217"/>
          <p:cNvSpPr/>
          <p:nvPr/>
        </p:nvSpPr>
        <p:spPr>
          <a:xfrm>
            <a:off x="1295400" y="307086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Skip a pass with continue and end a loop with break.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1" name="Google Shape;3551;p217"/>
          <p:cNvSpPr/>
          <p:nvPr/>
        </p:nvSpPr>
        <p:spPr>
          <a:xfrm>
            <a:off x="9334500" y="272796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2" name="Google Shape;3552;p217"/>
          <p:cNvSpPr/>
          <p:nvPr/>
        </p:nvSpPr>
        <p:spPr>
          <a:xfrm>
            <a:off x="9677400" y="307086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Avoid the continue trap in a while loop.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3" name="Google Shape;3553;p217"/>
          <p:cNvSpPr/>
          <p:nvPr/>
        </p:nvSpPr>
        <p:spPr>
          <a:xfrm>
            <a:off x="952500" y="470154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4" name="Google Shape;3554;p217"/>
          <p:cNvSpPr/>
          <p:nvPr/>
        </p:nvSpPr>
        <p:spPr>
          <a:xfrm>
            <a:off x="1295400" y="504444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Use a flag to record what a loop discovered.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5" name="Google Shape;3555;p217"/>
          <p:cNvSpPr/>
          <p:nvPr/>
        </p:nvSpPr>
        <p:spPr>
          <a:xfrm>
            <a:off x="9334500" y="470154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6" name="Google Shape;3556;p217"/>
          <p:cNvSpPr/>
          <p:nvPr/>
        </p:nvSpPr>
        <p:spPr>
          <a:xfrm>
            <a:off x="9677400" y="504444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a prime test that stops as soon as it can.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7" name="Google Shape;3557;p217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class: nested loops and printed patterns.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3562" name="Shape 3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" name="Google Shape;3563;p218"/>
          <p:cNvSpPr/>
          <p:nvPr/>
        </p:nvSpPr>
        <p:spPr>
          <a:xfrm>
            <a:off x="952500" y="3705225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4 · REPETITION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4" name="Google Shape;3564;p218"/>
          <p:cNvSpPr/>
          <p:nvPr/>
        </p:nvSpPr>
        <p:spPr>
          <a:xfrm>
            <a:off x="952500" y="4474845"/>
            <a:ext cx="1753934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14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5" name="Google Shape;3565;p218"/>
          <p:cNvSpPr/>
          <p:nvPr/>
        </p:nvSpPr>
        <p:spPr>
          <a:xfrm>
            <a:off x="3080385" y="5252085"/>
            <a:ext cx="10791825" cy="15582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Nested Loops and Pattern Printing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570" name="Shape 3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1" name="Google Shape;3571;p21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14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2" name="Google Shape;3572;p21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3" name="Google Shape;3573;p219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4" name="Google Shape;3574;p219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5" name="Google Shape;3575;p219"/>
          <p:cNvSpPr/>
          <p:nvPr/>
        </p:nvSpPr>
        <p:spPr>
          <a:xfrm>
            <a:off x="1646039" y="2727960"/>
            <a:ext cx="421536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loop inside a loop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6" name="Google Shape;3576;p219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7" name="Google Shape;3577;p219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8" name="Google Shape;3578;p219"/>
          <p:cNvSpPr/>
          <p:nvPr/>
        </p:nvSpPr>
        <p:spPr>
          <a:xfrm>
            <a:off x="1646039" y="3771900"/>
            <a:ext cx="888217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Rows, columns and where print() belongs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9" name="Google Shape;3579;p219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0" name="Google Shape;3580;p219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1" name="Google Shape;3581;p219"/>
          <p:cNvSpPr/>
          <p:nvPr/>
        </p:nvSpPr>
        <p:spPr>
          <a:xfrm>
            <a:off x="1646039" y="4815840"/>
            <a:ext cx="9513177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Making the inner count depend on the outer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2" name="Google Shape;3582;p219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3" name="Google Shape;3583;p219"/>
          <p:cNvSpPr/>
          <p:nvPr/>
        </p:nvSpPr>
        <p:spPr>
          <a:xfrm>
            <a:off x="1646039" y="5859780"/>
            <a:ext cx="524032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Triangles and staircases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588" name="Shape 3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9" name="Google Shape;3589;p22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0" name="Google Shape;3590;p22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loop inside a loop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1" name="Google Shape;3591;p220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2" name="Google Shape;3592;p220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3" name="Google Shape;3593;p220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range(5):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j in range(2):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print("apple",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4" name="Google Shape;3594;p220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5" name="Google Shape;3595;p220"/>
          <p:cNvSpPr/>
          <p:nvPr/>
        </p:nvSpPr>
        <p:spPr>
          <a:xfrm>
            <a:off x="2228850" y="5219700"/>
            <a:ext cx="15106650" cy="2676525"/>
          </a:xfrm>
          <a:prstGeom prst="roundRect">
            <a:avLst>
              <a:gd fmla="val 2847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6" name="Google Shape;3596;p220"/>
          <p:cNvSpPr/>
          <p:nvPr/>
        </p:nvSpPr>
        <p:spPr>
          <a:xfrm>
            <a:off x="2533650" y="5486400"/>
            <a:ext cx="14950249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apple apple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apple apple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apple apple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apple apple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apple apple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7" name="Google Shape;3597;p220"/>
          <p:cNvSpPr/>
          <p:nvPr/>
        </p:nvSpPr>
        <p:spPr>
          <a:xfrm>
            <a:off x="952500" y="827722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Five rows, two items each. The body runs ten times in all.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3602" name="Shape 3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3" name="Google Shape;3603;p221"/>
          <p:cNvSpPr/>
          <p:nvPr/>
        </p:nvSpPr>
        <p:spPr>
          <a:xfrm>
            <a:off x="952500" y="3338513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LINE THAT MAKES THE SHAPE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4" name="Google Shape;3604;p221"/>
          <p:cNvSpPr/>
          <p:nvPr/>
        </p:nvSpPr>
        <p:spPr>
          <a:xfrm>
            <a:off x="952500" y="4115753"/>
            <a:ext cx="1687449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400"/>
              <a:buFont typeface="JetBrains Mono"/>
              <a:buNone/>
            </a:pPr>
            <a:r>
              <a:rPr b="1" i="0" lang="en-US" sz="540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print()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5" name="Google Shape;3605;p221"/>
          <p:cNvSpPr/>
          <p:nvPr/>
        </p:nvSpPr>
        <p:spPr>
          <a:xfrm>
            <a:off x="952500" y="5441632"/>
            <a:ext cx="14716125" cy="17354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Indented with the inner loop, it ends a line after every item. Indented with the outer loop, it ends a line after every row. That single choice is the whole pattern.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610" name="Shape 3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1" name="Google Shape;3611;p22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2" name="Google Shape;3612;p22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pairs i and j take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3" name="Google Shape;3613;p222"/>
          <p:cNvSpPr/>
          <p:nvPr/>
        </p:nvSpPr>
        <p:spPr>
          <a:xfrm>
            <a:off x="952500" y="272796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4" name="Google Shape;3614;p222"/>
          <p:cNvSpPr/>
          <p:nvPr/>
        </p:nvSpPr>
        <p:spPr>
          <a:xfrm>
            <a:off x="952500" y="344424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5" name="Google Shape;3615;p222"/>
          <p:cNvSpPr/>
          <p:nvPr/>
        </p:nvSpPr>
        <p:spPr>
          <a:xfrm>
            <a:off x="1181100" y="2914650"/>
            <a:ext cx="5167548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OUTER 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6" name="Google Shape;3616;p222"/>
          <p:cNvSpPr/>
          <p:nvPr/>
        </p:nvSpPr>
        <p:spPr>
          <a:xfrm>
            <a:off x="6413421" y="344424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7" name="Google Shape;3617;p222"/>
          <p:cNvSpPr/>
          <p:nvPr/>
        </p:nvSpPr>
        <p:spPr>
          <a:xfrm>
            <a:off x="6642021" y="2914650"/>
            <a:ext cx="516767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INNER j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8" name="Google Shape;3618;p222"/>
          <p:cNvSpPr/>
          <p:nvPr/>
        </p:nvSpPr>
        <p:spPr>
          <a:xfrm>
            <a:off x="11874460" y="344424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9" name="Google Shape;3619;p222"/>
          <p:cNvSpPr/>
          <p:nvPr/>
        </p:nvSpPr>
        <p:spPr>
          <a:xfrm>
            <a:off x="12103060" y="2914650"/>
            <a:ext cx="516767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HAPPENS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0" name="Google Shape;3620;p222"/>
          <p:cNvSpPr/>
          <p:nvPr/>
        </p:nvSpPr>
        <p:spPr>
          <a:xfrm>
            <a:off x="952500" y="418338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1" name="Google Shape;3621;p222"/>
          <p:cNvSpPr/>
          <p:nvPr/>
        </p:nvSpPr>
        <p:spPr>
          <a:xfrm>
            <a:off x="1181100" y="360426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2" name="Google Shape;3622;p222"/>
          <p:cNvSpPr/>
          <p:nvPr/>
        </p:nvSpPr>
        <p:spPr>
          <a:xfrm>
            <a:off x="6413421" y="418338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3" name="Google Shape;3623;p222"/>
          <p:cNvSpPr/>
          <p:nvPr/>
        </p:nvSpPr>
        <p:spPr>
          <a:xfrm>
            <a:off x="6642021" y="360426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0, 1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4" name="Google Shape;3624;p222"/>
          <p:cNvSpPr/>
          <p:nvPr/>
        </p:nvSpPr>
        <p:spPr>
          <a:xfrm>
            <a:off x="11874460" y="418338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5" name="Google Shape;3625;p222"/>
          <p:cNvSpPr/>
          <p:nvPr/>
        </p:nvSpPr>
        <p:spPr>
          <a:xfrm>
            <a:off x="12103060" y="360426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two items, then a new line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6" name="Google Shape;3626;p222"/>
          <p:cNvSpPr/>
          <p:nvPr/>
        </p:nvSpPr>
        <p:spPr>
          <a:xfrm>
            <a:off x="952500" y="492252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7" name="Google Shape;3627;p222"/>
          <p:cNvSpPr/>
          <p:nvPr/>
        </p:nvSpPr>
        <p:spPr>
          <a:xfrm>
            <a:off x="1181100" y="434340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8" name="Google Shape;3628;p222"/>
          <p:cNvSpPr/>
          <p:nvPr/>
        </p:nvSpPr>
        <p:spPr>
          <a:xfrm>
            <a:off x="6413421" y="492252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9" name="Google Shape;3629;p222"/>
          <p:cNvSpPr/>
          <p:nvPr/>
        </p:nvSpPr>
        <p:spPr>
          <a:xfrm>
            <a:off x="6642021" y="434340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0, 1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0" name="Google Shape;3630;p222"/>
          <p:cNvSpPr/>
          <p:nvPr/>
        </p:nvSpPr>
        <p:spPr>
          <a:xfrm>
            <a:off x="11874460" y="492252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1" name="Google Shape;3631;p222"/>
          <p:cNvSpPr/>
          <p:nvPr/>
        </p:nvSpPr>
        <p:spPr>
          <a:xfrm>
            <a:off x="12103060" y="434340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two items, then a new line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2" name="Google Shape;3632;p222"/>
          <p:cNvSpPr/>
          <p:nvPr/>
        </p:nvSpPr>
        <p:spPr>
          <a:xfrm>
            <a:off x="952500" y="566166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3" name="Google Shape;3633;p222"/>
          <p:cNvSpPr/>
          <p:nvPr/>
        </p:nvSpPr>
        <p:spPr>
          <a:xfrm>
            <a:off x="1181100" y="508254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4" name="Google Shape;3634;p222"/>
          <p:cNvSpPr/>
          <p:nvPr/>
        </p:nvSpPr>
        <p:spPr>
          <a:xfrm>
            <a:off x="6413421" y="566166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5" name="Google Shape;3635;p222"/>
          <p:cNvSpPr/>
          <p:nvPr/>
        </p:nvSpPr>
        <p:spPr>
          <a:xfrm>
            <a:off x="6642021" y="508254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0, 1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6" name="Google Shape;3636;p222"/>
          <p:cNvSpPr/>
          <p:nvPr/>
        </p:nvSpPr>
        <p:spPr>
          <a:xfrm>
            <a:off x="11874460" y="566166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7" name="Google Shape;3637;p222"/>
          <p:cNvSpPr/>
          <p:nvPr/>
        </p:nvSpPr>
        <p:spPr>
          <a:xfrm>
            <a:off x="12103060" y="508254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two items, then a new line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8" name="Google Shape;3638;p222"/>
          <p:cNvSpPr/>
          <p:nvPr/>
        </p:nvSpPr>
        <p:spPr>
          <a:xfrm>
            <a:off x="952500" y="640080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9" name="Google Shape;3639;p222"/>
          <p:cNvSpPr/>
          <p:nvPr/>
        </p:nvSpPr>
        <p:spPr>
          <a:xfrm>
            <a:off x="1181100" y="582168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0" name="Google Shape;3640;p222"/>
          <p:cNvSpPr/>
          <p:nvPr/>
        </p:nvSpPr>
        <p:spPr>
          <a:xfrm>
            <a:off x="6413421" y="640080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1" name="Google Shape;3641;p222"/>
          <p:cNvSpPr/>
          <p:nvPr/>
        </p:nvSpPr>
        <p:spPr>
          <a:xfrm>
            <a:off x="6642021" y="582168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0, 1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2" name="Google Shape;3642;p222"/>
          <p:cNvSpPr/>
          <p:nvPr/>
        </p:nvSpPr>
        <p:spPr>
          <a:xfrm>
            <a:off x="11874460" y="640080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3" name="Google Shape;3643;p222"/>
          <p:cNvSpPr/>
          <p:nvPr/>
        </p:nvSpPr>
        <p:spPr>
          <a:xfrm>
            <a:off x="12103060" y="582168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two items, then a new line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4" name="Google Shape;3644;p222"/>
          <p:cNvSpPr/>
          <p:nvPr/>
        </p:nvSpPr>
        <p:spPr>
          <a:xfrm>
            <a:off x="1181100" y="656082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5" name="Google Shape;3645;p222"/>
          <p:cNvSpPr/>
          <p:nvPr/>
        </p:nvSpPr>
        <p:spPr>
          <a:xfrm>
            <a:off x="6642021" y="656082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0, 1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6" name="Google Shape;3646;p222"/>
          <p:cNvSpPr/>
          <p:nvPr/>
        </p:nvSpPr>
        <p:spPr>
          <a:xfrm>
            <a:off x="12103060" y="656082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two items, then a new line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7" name="Google Shape;3647;p222"/>
          <p:cNvSpPr/>
          <p:nvPr/>
        </p:nvSpPr>
        <p:spPr>
          <a:xfrm>
            <a:off x="952500" y="755904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j goes back to 0 at the start of each row. That reset is automatic in a for loop.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652" name="Shape 3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3" name="Google Shape;3653;p22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4" name="Google Shape;3654;p22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same nest with while loops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5" name="Google Shape;3655;p223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6" name="Google Shape;3656;p223"/>
          <p:cNvSpPr/>
          <p:nvPr/>
        </p:nvSpPr>
        <p:spPr>
          <a:xfrm>
            <a:off x="2228850" y="2727960"/>
            <a:ext cx="15106650" cy="3977640"/>
          </a:xfrm>
          <a:prstGeom prst="roundRect">
            <a:avLst>
              <a:gd fmla="val 191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7" name="Google Shape;3657;p223"/>
          <p:cNvSpPr/>
          <p:nvPr/>
        </p:nvSpPr>
        <p:spPr>
          <a:xfrm>
            <a:off x="2541270" y="3002280"/>
            <a:ext cx="14935010" cy="3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 i &lt; 5: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j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while j &lt; 2: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print("apple",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j = j + 1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 = i + 1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8" name="Google Shape;3658;p223"/>
          <p:cNvSpPr/>
          <p:nvPr/>
        </p:nvSpPr>
        <p:spPr>
          <a:xfrm>
            <a:off x="952500" y="69342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Forget the j = 0 line and the second row prints nothing at all.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663" name="Shape 3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4" name="Google Shape;3664;p22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PATTERN 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5" name="Google Shape;3665;p22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block of stars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6" name="Google Shape;3666;p224"/>
          <p:cNvSpPr/>
          <p:nvPr/>
        </p:nvSpPr>
        <p:spPr>
          <a:xfrm>
            <a:off x="952500" y="2727960"/>
            <a:ext cx="8624411" cy="2377440"/>
          </a:xfrm>
          <a:prstGeom prst="roundRect">
            <a:avLst>
              <a:gd fmla="val 320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7" name="Google Shape;3667;p224"/>
          <p:cNvSpPr/>
          <p:nvPr/>
        </p:nvSpPr>
        <p:spPr>
          <a:xfrm>
            <a:off x="1264920" y="3002280"/>
            <a:ext cx="8258304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range(4):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j in range(4):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print("*",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8" name="Google Shape;3668;p224"/>
          <p:cNvSpPr/>
          <p:nvPr/>
        </p:nvSpPr>
        <p:spPr>
          <a:xfrm>
            <a:off x="10148412" y="2727960"/>
            <a:ext cx="7187089" cy="2377440"/>
          </a:xfrm>
          <a:prstGeom prst="roundRect">
            <a:avLst>
              <a:gd fmla="val 320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9" name="Google Shape;3669;p224"/>
          <p:cNvSpPr/>
          <p:nvPr/>
        </p:nvSpPr>
        <p:spPr>
          <a:xfrm>
            <a:off x="10453212" y="2994660"/>
            <a:ext cx="6793101" cy="1882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* * *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* * *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* * *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* * *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674" name="Shape 3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5" name="Google Shape;3675;p22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PATTERN 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6" name="Google Shape;3676;p22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Rows that get shorter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7" name="Google Shape;3677;p225"/>
          <p:cNvSpPr/>
          <p:nvPr/>
        </p:nvSpPr>
        <p:spPr>
          <a:xfrm>
            <a:off x="952500" y="2727960"/>
            <a:ext cx="8624411" cy="2377440"/>
          </a:xfrm>
          <a:prstGeom prst="roundRect">
            <a:avLst>
              <a:gd fmla="val 320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8" name="Google Shape;3678;p225"/>
          <p:cNvSpPr/>
          <p:nvPr/>
        </p:nvSpPr>
        <p:spPr>
          <a:xfrm>
            <a:off x="1264920" y="3002280"/>
            <a:ext cx="8258304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range(4, 0, -1):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j in range(i):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print("*",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9" name="Google Shape;3679;p225"/>
          <p:cNvSpPr/>
          <p:nvPr/>
        </p:nvSpPr>
        <p:spPr>
          <a:xfrm>
            <a:off x="10148412" y="2727960"/>
            <a:ext cx="7187089" cy="2377440"/>
          </a:xfrm>
          <a:prstGeom prst="roundRect">
            <a:avLst>
              <a:gd fmla="val 320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0" name="Google Shape;3680;p225"/>
          <p:cNvSpPr/>
          <p:nvPr/>
        </p:nvSpPr>
        <p:spPr>
          <a:xfrm>
            <a:off x="10453212" y="2994660"/>
            <a:ext cx="6793101" cy="1882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* * *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* *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*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1" name="Google Shape;3681;p225"/>
          <p:cNvSpPr/>
          <p:nvPr/>
        </p:nvSpPr>
        <p:spPr>
          <a:xfrm>
            <a:off x="952500" y="55626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 takes 4, 3, 2, 1, and the inner loop runs that many times.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686" name="Shape 3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" name="Google Shape;3687;p22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PATTERN 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8" name="Google Shape;3688;p22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Pushing the row across with spaces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9" name="Google Shape;3689;p226"/>
          <p:cNvSpPr/>
          <p:nvPr/>
        </p:nvSpPr>
        <p:spPr>
          <a:xfrm>
            <a:off x="952500" y="2727960"/>
            <a:ext cx="8624411" cy="3291840"/>
          </a:xfrm>
          <a:prstGeom prst="roundRect">
            <a:avLst>
              <a:gd fmla="val 231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0" name="Google Shape;3690;p226"/>
          <p:cNvSpPr/>
          <p:nvPr/>
        </p:nvSpPr>
        <p:spPr>
          <a:xfrm>
            <a:off x="1264920" y="3002280"/>
            <a:ext cx="8258304" cy="27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range(4):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j in range(i):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print(" ",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j in range(4 - i):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print("*",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1" name="Google Shape;3691;p226"/>
          <p:cNvSpPr/>
          <p:nvPr/>
        </p:nvSpPr>
        <p:spPr>
          <a:xfrm>
            <a:off x="10148412" y="2727960"/>
            <a:ext cx="7187089" cy="3291840"/>
          </a:xfrm>
          <a:prstGeom prst="roundRect">
            <a:avLst>
              <a:gd fmla="val 231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2" name="Google Shape;3692;p226"/>
          <p:cNvSpPr/>
          <p:nvPr/>
        </p:nvSpPr>
        <p:spPr>
          <a:xfrm>
            <a:off x="10453212" y="2994660"/>
            <a:ext cx="6793101" cy="2796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* * *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* * *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* *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*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3" name="Google Shape;3693;p226"/>
          <p:cNvSpPr/>
          <p:nvPr/>
        </p:nvSpPr>
        <p:spPr>
          <a:xfrm>
            <a:off x="952500" y="64770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Row i has i spaces and 4 - i stars. Write that relationship down before you write the loops.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698" name="Shape 3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9" name="Google Shape;3699;p22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METHOD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0" name="Google Shape;3700;p22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Count the row before you write the loop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1" name="Google Shape;3701;p227"/>
          <p:cNvSpPr/>
          <p:nvPr/>
        </p:nvSpPr>
        <p:spPr>
          <a:xfrm>
            <a:off x="952500" y="272796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2" name="Google Shape;3702;p227"/>
          <p:cNvSpPr/>
          <p:nvPr/>
        </p:nvSpPr>
        <p:spPr>
          <a:xfrm>
            <a:off x="952500" y="344424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3" name="Google Shape;3703;p227"/>
          <p:cNvSpPr/>
          <p:nvPr/>
        </p:nvSpPr>
        <p:spPr>
          <a:xfrm>
            <a:off x="1181100" y="2914650"/>
            <a:ext cx="5167548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ROW 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4" name="Google Shape;3704;p227"/>
          <p:cNvSpPr/>
          <p:nvPr/>
        </p:nvSpPr>
        <p:spPr>
          <a:xfrm>
            <a:off x="6413421" y="344424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5" name="Google Shape;3705;p227"/>
          <p:cNvSpPr/>
          <p:nvPr/>
        </p:nvSpPr>
        <p:spPr>
          <a:xfrm>
            <a:off x="6642021" y="2914650"/>
            <a:ext cx="516767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SPACES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6" name="Google Shape;3706;p227"/>
          <p:cNvSpPr/>
          <p:nvPr/>
        </p:nvSpPr>
        <p:spPr>
          <a:xfrm>
            <a:off x="11874460" y="344424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7" name="Google Shape;3707;p227"/>
          <p:cNvSpPr/>
          <p:nvPr/>
        </p:nvSpPr>
        <p:spPr>
          <a:xfrm>
            <a:off x="12103060" y="2914650"/>
            <a:ext cx="516767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8" name="Google Shape;3708;p227"/>
          <p:cNvSpPr/>
          <p:nvPr/>
        </p:nvSpPr>
        <p:spPr>
          <a:xfrm>
            <a:off x="952500" y="418338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9" name="Google Shape;3709;p227"/>
          <p:cNvSpPr/>
          <p:nvPr/>
        </p:nvSpPr>
        <p:spPr>
          <a:xfrm>
            <a:off x="1181100" y="360426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0" name="Google Shape;3710;p227"/>
          <p:cNvSpPr/>
          <p:nvPr/>
        </p:nvSpPr>
        <p:spPr>
          <a:xfrm>
            <a:off x="6413421" y="418338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1" name="Google Shape;3711;p227"/>
          <p:cNvSpPr/>
          <p:nvPr/>
        </p:nvSpPr>
        <p:spPr>
          <a:xfrm>
            <a:off x="6642021" y="360426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2" name="Google Shape;3712;p227"/>
          <p:cNvSpPr/>
          <p:nvPr/>
        </p:nvSpPr>
        <p:spPr>
          <a:xfrm>
            <a:off x="11874460" y="418338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3" name="Google Shape;3713;p227"/>
          <p:cNvSpPr/>
          <p:nvPr/>
        </p:nvSpPr>
        <p:spPr>
          <a:xfrm>
            <a:off x="12103060" y="360426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4" name="Google Shape;3714;p227"/>
          <p:cNvSpPr/>
          <p:nvPr/>
        </p:nvSpPr>
        <p:spPr>
          <a:xfrm>
            <a:off x="952500" y="492252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5" name="Google Shape;3715;p227"/>
          <p:cNvSpPr/>
          <p:nvPr/>
        </p:nvSpPr>
        <p:spPr>
          <a:xfrm>
            <a:off x="1181100" y="434340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6" name="Google Shape;3716;p227"/>
          <p:cNvSpPr/>
          <p:nvPr/>
        </p:nvSpPr>
        <p:spPr>
          <a:xfrm>
            <a:off x="6413421" y="492252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7" name="Google Shape;3717;p227"/>
          <p:cNvSpPr/>
          <p:nvPr/>
        </p:nvSpPr>
        <p:spPr>
          <a:xfrm>
            <a:off x="6642021" y="434340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8" name="Google Shape;3718;p227"/>
          <p:cNvSpPr/>
          <p:nvPr/>
        </p:nvSpPr>
        <p:spPr>
          <a:xfrm>
            <a:off x="11874460" y="492252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9" name="Google Shape;3719;p227"/>
          <p:cNvSpPr/>
          <p:nvPr/>
        </p:nvSpPr>
        <p:spPr>
          <a:xfrm>
            <a:off x="12103060" y="434340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0" name="Google Shape;3720;p227"/>
          <p:cNvSpPr/>
          <p:nvPr/>
        </p:nvSpPr>
        <p:spPr>
          <a:xfrm>
            <a:off x="952500" y="566166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1" name="Google Shape;3721;p227"/>
          <p:cNvSpPr/>
          <p:nvPr/>
        </p:nvSpPr>
        <p:spPr>
          <a:xfrm>
            <a:off x="1181100" y="508254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2" name="Google Shape;3722;p227"/>
          <p:cNvSpPr/>
          <p:nvPr/>
        </p:nvSpPr>
        <p:spPr>
          <a:xfrm>
            <a:off x="6413421" y="566166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3" name="Google Shape;3723;p227"/>
          <p:cNvSpPr/>
          <p:nvPr/>
        </p:nvSpPr>
        <p:spPr>
          <a:xfrm>
            <a:off x="6642021" y="508254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4" name="Google Shape;3724;p227"/>
          <p:cNvSpPr/>
          <p:nvPr/>
        </p:nvSpPr>
        <p:spPr>
          <a:xfrm>
            <a:off x="11874460" y="566166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5" name="Google Shape;3725;p227"/>
          <p:cNvSpPr/>
          <p:nvPr/>
        </p:nvSpPr>
        <p:spPr>
          <a:xfrm>
            <a:off x="12103060" y="508254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6" name="Google Shape;3726;p227"/>
          <p:cNvSpPr/>
          <p:nvPr/>
        </p:nvSpPr>
        <p:spPr>
          <a:xfrm>
            <a:off x="952500" y="640080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7" name="Google Shape;3727;p227"/>
          <p:cNvSpPr/>
          <p:nvPr/>
        </p:nvSpPr>
        <p:spPr>
          <a:xfrm>
            <a:off x="1181100" y="582168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8" name="Google Shape;3728;p227"/>
          <p:cNvSpPr/>
          <p:nvPr/>
        </p:nvSpPr>
        <p:spPr>
          <a:xfrm>
            <a:off x="6413421" y="640080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9" name="Google Shape;3729;p227"/>
          <p:cNvSpPr/>
          <p:nvPr/>
        </p:nvSpPr>
        <p:spPr>
          <a:xfrm>
            <a:off x="6642021" y="582168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0" name="Google Shape;3730;p227"/>
          <p:cNvSpPr/>
          <p:nvPr/>
        </p:nvSpPr>
        <p:spPr>
          <a:xfrm>
            <a:off x="11874460" y="640080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1" name="Google Shape;3731;p227"/>
          <p:cNvSpPr/>
          <p:nvPr/>
        </p:nvSpPr>
        <p:spPr>
          <a:xfrm>
            <a:off x="12103060" y="582168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2" name="Google Shape;3732;p227"/>
          <p:cNvSpPr/>
          <p:nvPr/>
        </p:nvSpPr>
        <p:spPr>
          <a:xfrm>
            <a:off x="1181100" y="656082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rule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3" name="Google Shape;3733;p227"/>
          <p:cNvSpPr/>
          <p:nvPr/>
        </p:nvSpPr>
        <p:spPr>
          <a:xfrm>
            <a:off x="6642021" y="656082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4" name="Google Shape;3734;p227"/>
          <p:cNvSpPr/>
          <p:nvPr/>
        </p:nvSpPr>
        <p:spPr>
          <a:xfrm>
            <a:off x="12103060" y="656082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4 - 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739" name="Shape 3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0" name="Google Shape;3740;p22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1" name="Google Shape;3741;p22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Using the same name for both loops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2" name="Google Shape;3742;p228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[3]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3" name="Google Shape;3743;p228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4" name="Google Shape;3744;p228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range(5):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i in range(2):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print(i, "apple",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5" name="Google Shape;3745;p228"/>
          <p:cNvSpPr/>
          <p:nvPr/>
        </p:nvSpPr>
        <p:spPr>
          <a:xfrm>
            <a:off x="952500" y="5219700"/>
            <a:ext cx="16874490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It runs, and it even looks right, but the outer i is overwritten on every inner pass. Any code that needs the row number breaks. Name them i and j.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750" name="Shape 3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1" name="Google Shape;3751;p22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WORKED EXAMPLE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2" name="Google Shape;3752;p22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multiplication grid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3" name="Google Shape;3753;p229"/>
          <p:cNvSpPr/>
          <p:nvPr/>
        </p:nvSpPr>
        <p:spPr>
          <a:xfrm>
            <a:off x="952500" y="2727960"/>
            <a:ext cx="8624411" cy="2377440"/>
          </a:xfrm>
          <a:prstGeom prst="roundRect">
            <a:avLst>
              <a:gd fmla="val 320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4" name="Google Shape;3754;p229"/>
          <p:cNvSpPr/>
          <p:nvPr/>
        </p:nvSpPr>
        <p:spPr>
          <a:xfrm>
            <a:off x="1264920" y="3002280"/>
            <a:ext cx="8258304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range(1, 5):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j in range(1, 5):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print(i * j, end = "\t")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5" name="Google Shape;3755;p229"/>
          <p:cNvSpPr/>
          <p:nvPr/>
        </p:nvSpPr>
        <p:spPr>
          <a:xfrm>
            <a:off x="10148412" y="2727960"/>
            <a:ext cx="7187089" cy="2377440"/>
          </a:xfrm>
          <a:prstGeom prst="roundRect">
            <a:avLst>
              <a:gd fmla="val 320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6" name="Google Shape;3756;p229"/>
          <p:cNvSpPr/>
          <p:nvPr/>
        </p:nvSpPr>
        <p:spPr>
          <a:xfrm>
            <a:off x="10453212" y="2994660"/>
            <a:ext cx="6793101" cy="1882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1  2  3  4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2  4  6  8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3  6  9  12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4  8  12 16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7" name="Google Shape;3757;p229"/>
          <p:cNvSpPr/>
          <p:nvPr/>
        </p:nvSpPr>
        <p:spPr>
          <a:xfrm>
            <a:off x="952500" y="55626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tab character \t lines the columns up.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762" name="Shape 3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3" name="Google Shape;3763;p23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4" name="Google Shape;3764;p23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Nesting multiplies the work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5" name="Google Shape;3765;p230"/>
          <p:cNvSpPr/>
          <p:nvPr/>
        </p:nvSpPr>
        <p:spPr>
          <a:xfrm>
            <a:off x="952500" y="2727960"/>
            <a:ext cx="5181600" cy="1645920"/>
          </a:xfrm>
          <a:prstGeom prst="roundRect">
            <a:avLst>
              <a:gd fmla="val 463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6" name="Google Shape;3766;p230"/>
          <p:cNvSpPr/>
          <p:nvPr/>
        </p:nvSpPr>
        <p:spPr>
          <a:xfrm>
            <a:off x="1295400" y="3070860"/>
            <a:ext cx="494538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10 × 10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7" name="Google Shape;3767;p230"/>
          <p:cNvSpPr/>
          <p:nvPr/>
        </p:nvSpPr>
        <p:spPr>
          <a:xfrm>
            <a:off x="1295400" y="3680460"/>
            <a:ext cx="2515553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100 passes. Instant.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8" name="Google Shape;3768;p230"/>
          <p:cNvSpPr/>
          <p:nvPr/>
        </p:nvSpPr>
        <p:spPr>
          <a:xfrm>
            <a:off x="6553200" y="2727960"/>
            <a:ext cx="5181600" cy="1645920"/>
          </a:xfrm>
          <a:prstGeom prst="roundRect">
            <a:avLst>
              <a:gd fmla="val 463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9" name="Google Shape;3769;p230"/>
          <p:cNvSpPr/>
          <p:nvPr/>
        </p:nvSpPr>
        <p:spPr>
          <a:xfrm>
            <a:off x="6896100" y="3070860"/>
            <a:ext cx="494538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1000 × 1000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0" name="Google Shape;3770;p230"/>
          <p:cNvSpPr/>
          <p:nvPr/>
        </p:nvSpPr>
        <p:spPr>
          <a:xfrm>
            <a:off x="6896100" y="3680460"/>
            <a:ext cx="3643713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million passes. Noticeable.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1" name="Google Shape;3771;p230"/>
          <p:cNvSpPr/>
          <p:nvPr/>
        </p:nvSpPr>
        <p:spPr>
          <a:xfrm>
            <a:off x="12153900" y="2727960"/>
            <a:ext cx="5181600" cy="1645920"/>
          </a:xfrm>
          <a:prstGeom prst="roundRect">
            <a:avLst>
              <a:gd fmla="val 463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2" name="Google Shape;3772;p230"/>
          <p:cNvSpPr/>
          <p:nvPr/>
        </p:nvSpPr>
        <p:spPr>
          <a:xfrm>
            <a:off x="12496800" y="3070860"/>
            <a:ext cx="494538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Three levels deep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3" name="Google Shape;3773;p230"/>
          <p:cNvSpPr/>
          <p:nvPr/>
        </p:nvSpPr>
        <p:spPr>
          <a:xfrm>
            <a:off x="12496800" y="3680460"/>
            <a:ext cx="4119780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Think again about the approach.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4" name="Google Shape;3774;p230"/>
          <p:cNvSpPr/>
          <p:nvPr/>
        </p:nvSpPr>
        <p:spPr>
          <a:xfrm>
            <a:off x="952500" y="4907280"/>
            <a:ext cx="1571625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Two loops side by side add. Two loops nested multiply.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779" name="Shape 3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0" name="Google Shape;3780;p23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QUICK 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1" name="Google Shape;3781;p23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How many lines? How many stars?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2" name="Google Shape;3782;p231"/>
          <p:cNvSpPr/>
          <p:nvPr/>
        </p:nvSpPr>
        <p:spPr>
          <a:xfrm>
            <a:off x="952500" y="2727960"/>
            <a:ext cx="16383000" cy="3025140"/>
          </a:xfrm>
          <a:prstGeom prst="roundRect">
            <a:avLst>
              <a:gd fmla="val 2519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3" name="Google Shape;3783;p231"/>
          <p:cNvSpPr/>
          <p:nvPr/>
        </p:nvSpPr>
        <p:spPr>
          <a:xfrm>
            <a:off x="1303020" y="3040380"/>
            <a:ext cx="1617345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range(1, 4):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j in range(i):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print("*", end = " ")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print()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3788" name="Shape 3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" name="Google Shape;3789;p23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0" name="Google Shape;3790;p23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1" name="Google Shape;3791;p232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2" name="Google Shape;3792;p232"/>
          <p:cNvSpPr/>
          <p:nvPr/>
        </p:nvSpPr>
        <p:spPr>
          <a:xfrm>
            <a:off x="1684139" y="2727960"/>
            <a:ext cx="1461977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 a triangle that grows: one star on the first row, five on the fifth.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3" name="Google Shape;3793;p232"/>
          <p:cNvSpPr/>
          <p:nvPr/>
        </p:nvSpPr>
        <p:spPr>
          <a:xfrm>
            <a:off x="952500" y="363474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4" name="Google Shape;3794;p232"/>
          <p:cNvSpPr/>
          <p:nvPr/>
        </p:nvSpPr>
        <p:spPr>
          <a:xfrm>
            <a:off x="1684139" y="3573780"/>
            <a:ext cx="13862125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 the numbers 1 to 5 on row one, 1 to 4 on row two, and so on.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5" name="Google Shape;3795;p232"/>
          <p:cNvSpPr/>
          <p:nvPr/>
        </p:nvSpPr>
        <p:spPr>
          <a:xfrm>
            <a:off x="952500" y="448056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6" name="Google Shape;3796;p232"/>
          <p:cNvSpPr/>
          <p:nvPr/>
        </p:nvSpPr>
        <p:spPr>
          <a:xfrm>
            <a:off x="1684139" y="4419600"/>
            <a:ext cx="9843611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 a centred pyramid of stars five rows tall.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801" name="Shape 3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2" name="Google Shape;3802;p23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4 COMPLETE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3" name="Google Shape;3803;p23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4" name="Google Shape;3804;p233"/>
          <p:cNvSpPr/>
          <p:nvPr/>
        </p:nvSpPr>
        <p:spPr>
          <a:xfrm>
            <a:off x="952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5" name="Google Shape;3805;p233"/>
          <p:cNvSpPr/>
          <p:nvPr/>
        </p:nvSpPr>
        <p:spPr>
          <a:xfrm>
            <a:off x="1295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a nested loop and count its total passes.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6" name="Google Shape;3806;p233"/>
          <p:cNvSpPr/>
          <p:nvPr/>
        </p:nvSpPr>
        <p:spPr>
          <a:xfrm>
            <a:off x="9334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7" name="Google Shape;3807;p233"/>
          <p:cNvSpPr/>
          <p:nvPr/>
        </p:nvSpPr>
        <p:spPr>
          <a:xfrm>
            <a:off x="9677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Place print() to control where rows end.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8" name="Google Shape;3808;p233"/>
          <p:cNvSpPr/>
          <p:nvPr/>
        </p:nvSpPr>
        <p:spPr>
          <a:xfrm>
            <a:off x="952500" y="424815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9" name="Google Shape;3809;p233"/>
          <p:cNvSpPr/>
          <p:nvPr/>
        </p:nvSpPr>
        <p:spPr>
          <a:xfrm>
            <a:off x="1295400" y="459105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Make the inner range depend on the outer counter.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0" name="Google Shape;3810;p233"/>
          <p:cNvSpPr/>
          <p:nvPr/>
        </p:nvSpPr>
        <p:spPr>
          <a:xfrm>
            <a:off x="9334500" y="424815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1" name="Google Shape;3811;p233"/>
          <p:cNvSpPr/>
          <p:nvPr/>
        </p:nvSpPr>
        <p:spPr>
          <a:xfrm>
            <a:off x="9677400" y="459105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Plan a pattern with a row-by-row table.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2" name="Google Shape;3812;p233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class: functions.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3817" name="Shape 3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8" name="Google Shape;3818;p234"/>
          <p:cNvSpPr/>
          <p:nvPr/>
        </p:nvSpPr>
        <p:spPr>
          <a:xfrm>
            <a:off x="952500" y="3705225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5 · FUNCTIONS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9" name="Google Shape;3819;p234"/>
          <p:cNvSpPr/>
          <p:nvPr/>
        </p:nvSpPr>
        <p:spPr>
          <a:xfrm>
            <a:off x="952500" y="4474845"/>
            <a:ext cx="1665923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15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0" name="Google Shape;3820;p234"/>
          <p:cNvSpPr/>
          <p:nvPr/>
        </p:nvSpPr>
        <p:spPr>
          <a:xfrm>
            <a:off x="3000375" y="5252085"/>
            <a:ext cx="10791825" cy="15582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Functions: Definition, Parameters, Return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825" name="Shape 3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6" name="Google Shape;3826;p23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15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7" name="Google Shape;3827;p23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8" name="Google Shape;3828;p235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9" name="Google Shape;3829;p235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0" name="Google Shape;3830;p235"/>
          <p:cNvSpPr/>
          <p:nvPr/>
        </p:nvSpPr>
        <p:spPr>
          <a:xfrm>
            <a:off x="1646039" y="2727960"/>
            <a:ext cx="6546604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Defining and calling a function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1" name="Google Shape;3831;p235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2" name="Google Shape;3832;p235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3" name="Google Shape;3833;p235"/>
          <p:cNvSpPr/>
          <p:nvPr/>
        </p:nvSpPr>
        <p:spPr>
          <a:xfrm>
            <a:off x="1646039" y="3771900"/>
            <a:ext cx="589464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Parameters and arguments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4" name="Google Shape;3834;p235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5" name="Google Shape;3835;p235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6" name="Google Shape;3836;p235"/>
          <p:cNvSpPr/>
          <p:nvPr/>
        </p:nvSpPr>
        <p:spPr>
          <a:xfrm>
            <a:off x="1646039" y="4815840"/>
            <a:ext cx="404405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return versus print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7" name="Google Shape;3837;p235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8" name="Google Shape;3838;p235"/>
          <p:cNvSpPr/>
          <p:nvPr/>
        </p:nvSpPr>
        <p:spPr>
          <a:xfrm>
            <a:off x="1646039" y="5859780"/>
            <a:ext cx="845612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Default values and keyword arguments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843" name="Shape 3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4" name="Google Shape;3844;p23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5" name="Google Shape;3845;p23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Why put code in a function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6" name="Google Shape;3846;p236"/>
          <p:cNvSpPr/>
          <p:nvPr/>
        </p:nvSpPr>
        <p:spPr>
          <a:xfrm>
            <a:off x="952500" y="2727960"/>
            <a:ext cx="5181600" cy="2019300"/>
          </a:xfrm>
          <a:prstGeom prst="roundRect">
            <a:avLst>
              <a:gd fmla="val 377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7" name="Google Shape;3847;p236"/>
          <p:cNvSpPr/>
          <p:nvPr/>
        </p:nvSpPr>
        <p:spPr>
          <a:xfrm>
            <a:off x="1295400" y="3070860"/>
            <a:ext cx="494538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Name it once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8" name="Google Shape;3848;p236"/>
          <p:cNvSpPr/>
          <p:nvPr/>
        </p:nvSpPr>
        <p:spPr>
          <a:xfrm>
            <a:off x="1295400" y="3680460"/>
            <a:ext cx="420108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block of work gets a name you can read.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9" name="Google Shape;3849;p236"/>
          <p:cNvSpPr/>
          <p:nvPr/>
        </p:nvSpPr>
        <p:spPr>
          <a:xfrm>
            <a:off x="6553200" y="2727960"/>
            <a:ext cx="5181600" cy="2019300"/>
          </a:xfrm>
          <a:prstGeom prst="roundRect">
            <a:avLst>
              <a:gd fmla="val 377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0" name="Google Shape;3850;p236"/>
          <p:cNvSpPr/>
          <p:nvPr/>
        </p:nvSpPr>
        <p:spPr>
          <a:xfrm>
            <a:off x="6896100" y="3070860"/>
            <a:ext cx="494538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Use it many times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1" name="Google Shape;3851;p236"/>
          <p:cNvSpPr/>
          <p:nvPr/>
        </p:nvSpPr>
        <p:spPr>
          <a:xfrm>
            <a:off x="6896100" y="3680460"/>
            <a:ext cx="394747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Call it again instead of copying lines.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2" name="Google Shape;3852;p236"/>
          <p:cNvSpPr/>
          <p:nvPr/>
        </p:nvSpPr>
        <p:spPr>
          <a:xfrm>
            <a:off x="12153900" y="2727960"/>
            <a:ext cx="5181600" cy="2019300"/>
          </a:xfrm>
          <a:prstGeom prst="roundRect">
            <a:avLst>
              <a:gd fmla="val 377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3" name="Google Shape;3853;p236"/>
          <p:cNvSpPr/>
          <p:nvPr/>
        </p:nvSpPr>
        <p:spPr>
          <a:xfrm>
            <a:off x="12496800" y="3070860"/>
            <a:ext cx="494538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Fix it in one place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4" name="Google Shape;3854;p236"/>
          <p:cNvSpPr/>
          <p:nvPr/>
        </p:nvSpPr>
        <p:spPr>
          <a:xfrm>
            <a:off x="12496800" y="3680460"/>
            <a:ext cx="44212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correction applies everywhere it is used.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859" name="Shape 3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" name="Google Shape;3860;p23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1" name="Google Shape;3861;p23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Defining, then calling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2" name="Google Shape;3862;p237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3" name="Google Shape;3863;p237"/>
          <p:cNvSpPr/>
          <p:nvPr/>
        </p:nvSpPr>
        <p:spPr>
          <a:xfrm>
            <a:off x="2228850" y="2727960"/>
            <a:ext cx="15106650" cy="2691765"/>
          </a:xfrm>
          <a:prstGeom prst="roundRect">
            <a:avLst>
              <a:gd fmla="val 283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4" name="Google Shape;3864;p237"/>
          <p:cNvSpPr/>
          <p:nvPr/>
        </p:nvSpPr>
        <p:spPr>
          <a:xfrm>
            <a:off x="2541270" y="3002280"/>
            <a:ext cx="14935010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greet():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print("Hello, class")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greet()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greet()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5" name="Google Shape;3865;p237"/>
          <p:cNvSpPr/>
          <p:nvPr/>
        </p:nvSpPr>
        <p:spPr>
          <a:xfrm>
            <a:off x="952500" y="58959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6" name="Google Shape;3866;p237"/>
          <p:cNvSpPr/>
          <p:nvPr/>
        </p:nvSpPr>
        <p:spPr>
          <a:xfrm>
            <a:off x="2228850" y="5648325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7" name="Google Shape;3867;p237"/>
          <p:cNvSpPr/>
          <p:nvPr/>
        </p:nvSpPr>
        <p:spPr>
          <a:xfrm>
            <a:off x="2533650" y="5915025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Hello, class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Hello, class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8" name="Google Shape;3868;p237"/>
          <p:cNvSpPr/>
          <p:nvPr/>
        </p:nvSpPr>
        <p:spPr>
          <a:xfrm>
            <a:off x="952500" y="741997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Defining runs nothing. The brackets on greet() are what make it happen.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873" name="Shape 3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4" name="Google Shape;3874;p23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5" name="Google Shape;3875;p23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Naming a function without calling it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6" name="Google Shape;3876;p238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7" name="Google Shape;3877;p238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8" name="Google Shape;3878;p238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greet():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print("Hello, class")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greet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9" name="Google Shape;3879;p238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0" name="Google Shape;3880;p238"/>
          <p:cNvSpPr/>
          <p:nvPr/>
        </p:nvSpPr>
        <p:spPr>
          <a:xfrm>
            <a:off x="2228850" y="5219700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1" name="Google Shape;3881;p238"/>
          <p:cNvSpPr/>
          <p:nvPr/>
        </p:nvSpPr>
        <p:spPr>
          <a:xfrm>
            <a:off x="2533650" y="5486400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&lt;function greet at 0x7f3c1a2b40&gt;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2" name="Google Shape;3882;p238"/>
          <p:cNvSpPr/>
          <p:nvPr/>
        </p:nvSpPr>
        <p:spPr>
          <a:xfrm>
            <a:off x="952500" y="65074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 error. Nothing ran. If a function seems to do nothing, check for the brackets.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887" name="Shape 3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8" name="Google Shape;3888;p23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9" name="Google Shape;3889;p23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Passing values in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0" name="Google Shape;3890;p239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[3]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1" name="Google Shape;3891;p239"/>
          <p:cNvSpPr/>
          <p:nvPr/>
        </p:nvSpPr>
        <p:spPr>
          <a:xfrm>
            <a:off x="2228850" y="2727960"/>
            <a:ext cx="15106650" cy="2691765"/>
          </a:xfrm>
          <a:prstGeom prst="roundRect">
            <a:avLst>
              <a:gd fmla="val 283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2" name="Google Shape;3892;p239"/>
          <p:cNvSpPr/>
          <p:nvPr/>
        </p:nvSpPr>
        <p:spPr>
          <a:xfrm>
            <a:off x="2541270" y="3002280"/>
            <a:ext cx="14935010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area(length, width):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print(length * width)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area(4, 5)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area(10, 2)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3" name="Google Shape;3893;p239"/>
          <p:cNvSpPr/>
          <p:nvPr/>
        </p:nvSpPr>
        <p:spPr>
          <a:xfrm>
            <a:off x="952500" y="58959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4" name="Google Shape;3894;p239"/>
          <p:cNvSpPr/>
          <p:nvPr/>
        </p:nvSpPr>
        <p:spPr>
          <a:xfrm>
            <a:off x="2228850" y="5648325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5" name="Google Shape;3895;p239"/>
          <p:cNvSpPr/>
          <p:nvPr/>
        </p:nvSpPr>
        <p:spPr>
          <a:xfrm>
            <a:off x="2533650" y="5915025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6" name="Google Shape;3896;p239"/>
          <p:cNvSpPr/>
          <p:nvPr/>
        </p:nvSpPr>
        <p:spPr>
          <a:xfrm>
            <a:off x="952500" y="741997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length and width are parameters. The 4 and the 5 are arguments.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901" name="Shape 3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2" name="Google Shape;3902;p24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3" name="Google Shape;3903;p24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wrong number of arguments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4" name="Google Shape;3904;p240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[4]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5" name="Google Shape;3905;p240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6" name="Google Shape;3906;p240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area(length, width):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print(length * width)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area(4)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7" name="Google Shape;3907;p240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8" name="Google Shape;3908;p240"/>
          <p:cNvSpPr/>
          <p:nvPr/>
        </p:nvSpPr>
        <p:spPr>
          <a:xfrm>
            <a:off x="2228850" y="521970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9" name="Google Shape;3909;p240"/>
          <p:cNvSpPr/>
          <p:nvPr/>
        </p:nvSpPr>
        <p:spPr>
          <a:xfrm>
            <a:off x="2533650" y="548640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TypeError: area() missing 1 required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positional argument: 'width'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3914" name="Shape 3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5" name="Google Shape;3915;p241"/>
          <p:cNvSpPr/>
          <p:nvPr/>
        </p:nvSpPr>
        <p:spPr>
          <a:xfrm>
            <a:off x="952500" y="380238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DISTINCTION THAT MATTERS MOST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6" name="Google Shape;3916;p241"/>
          <p:cNvSpPr/>
          <p:nvPr/>
        </p:nvSpPr>
        <p:spPr>
          <a:xfrm>
            <a:off x="952500" y="4655820"/>
            <a:ext cx="8591550" cy="739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200"/>
              <a:buFont typeface="JetBrains Mono"/>
              <a:buNone/>
            </a:pPr>
            <a:r>
              <a:rPr b="1" i="0" lang="en-US" sz="420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7" name="Google Shape;3917;p241"/>
          <p:cNvSpPr/>
          <p:nvPr/>
        </p:nvSpPr>
        <p:spPr>
          <a:xfrm>
            <a:off x="952500" y="5585460"/>
            <a:ext cx="8044815" cy="1127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Shows something to a person. The program keeps nothing.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8" name="Google Shape;3918;p241"/>
          <p:cNvSpPr/>
          <p:nvPr/>
        </p:nvSpPr>
        <p:spPr>
          <a:xfrm>
            <a:off x="9525000" y="4655820"/>
            <a:ext cx="8591550" cy="739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4200"/>
              <a:buFont typeface="JetBrains Mono"/>
              <a:buNone/>
            </a:pPr>
            <a:r>
              <a:rPr b="1" i="0" lang="en-US" sz="42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9" name="Google Shape;3919;p241"/>
          <p:cNvSpPr/>
          <p:nvPr/>
        </p:nvSpPr>
        <p:spPr>
          <a:xfrm>
            <a:off x="9525000" y="5585460"/>
            <a:ext cx="8044815" cy="1127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Hands a value back, so the rest of the program can use it.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924" name="Shape 3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5" name="Google Shape;3925;p24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6" name="Google Shape;3926;p24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One prints, the other gives back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7" name="Google Shape;3927;p242"/>
          <p:cNvSpPr/>
          <p:nvPr/>
        </p:nvSpPr>
        <p:spPr>
          <a:xfrm>
            <a:off x="952500" y="2727960"/>
            <a:ext cx="7943850" cy="2653665"/>
          </a:xfrm>
          <a:prstGeom prst="roundRect">
            <a:avLst>
              <a:gd fmla="val 287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8" name="Google Shape;3928;p242"/>
          <p:cNvSpPr/>
          <p:nvPr/>
        </p:nvSpPr>
        <p:spPr>
          <a:xfrm>
            <a:off x="1245870" y="2983230"/>
            <a:ext cx="7595425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area(l, w):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print(l * w)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= area(4, 5)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print(x + 1)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9" name="Google Shape;3929;p242"/>
          <p:cNvSpPr/>
          <p:nvPr/>
        </p:nvSpPr>
        <p:spPr>
          <a:xfrm>
            <a:off x="952500" y="5572125"/>
            <a:ext cx="7943850" cy="1988820"/>
          </a:xfrm>
          <a:prstGeom prst="roundRect">
            <a:avLst>
              <a:gd fmla="val 3831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0" name="Google Shape;3930;p242"/>
          <p:cNvSpPr/>
          <p:nvPr/>
        </p:nvSpPr>
        <p:spPr>
          <a:xfrm>
            <a:off x="1238250" y="5819775"/>
            <a:ext cx="7610665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TypeError: unsupported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operand type(s) for +: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'NoneType' and 'int'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1" name="Google Shape;3931;p242"/>
          <p:cNvSpPr/>
          <p:nvPr/>
        </p:nvSpPr>
        <p:spPr>
          <a:xfrm>
            <a:off x="9391650" y="2727960"/>
            <a:ext cx="7943850" cy="2653665"/>
          </a:xfrm>
          <a:prstGeom prst="roundRect">
            <a:avLst>
              <a:gd fmla="val 287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2" name="Google Shape;3932;p242"/>
          <p:cNvSpPr/>
          <p:nvPr/>
        </p:nvSpPr>
        <p:spPr>
          <a:xfrm>
            <a:off x="9685020" y="2983230"/>
            <a:ext cx="7595425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area(l, w):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l * w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= area(4, 5)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print(x + 1)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3" name="Google Shape;3933;p242"/>
          <p:cNvSpPr/>
          <p:nvPr/>
        </p:nvSpPr>
        <p:spPr>
          <a:xfrm>
            <a:off x="9391650" y="5572125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4" name="Google Shape;3934;p242"/>
          <p:cNvSpPr/>
          <p:nvPr/>
        </p:nvSpPr>
        <p:spPr>
          <a:xfrm>
            <a:off x="9677400" y="5819775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5" name="Google Shape;3935;p242"/>
          <p:cNvSpPr/>
          <p:nvPr/>
        </p:nvSpPr>
        <p:spPr>
          <a:xfrm>
            <a:off x="952500" y="798004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function with no return gives back None, and None cannot be added to a number.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940" name="Shape 3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1" name="Google Shape;3941;p24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2" name="Google Shape;3942;p24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return ends the function immediately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3" name="Google Shape;3943;p243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[5]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4" name="Google Shape;3944;p243"/>
          <p:cNvSpPr/>
          <p:nvPr/>
        </p:nvSpPr>
        <p:spPr>
          <a:xfrm>
            <a:off x="2228850" y="2727960"/>
            <a:ext cx="15106650" cy="3549015"/>
          </a:xfrm>
          <a:prstGeom prst="roundRect">
            <a:avLst>
              <a:gd fmla="val 214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5" name="Google Shape;3945;p243"/>
          <p:cNvSpPr/>
          <p:nvPr/>
        </p:nvSpPr>
        <p:spPr>
          <a:xfrm>
            <a:off x="2541270" y="3002280"/>
            <a:ext cx="14935010" cy="3038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check(n):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n &lt;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return "negative"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print("this line is skipped for -5")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"zero or positive"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print(check(-5))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6" name="Google Shape;3946;p243"/>
          <p:cNvSpPr/>
          <p:nvPr/>
        </p:nvSpPr>
        <p:spPr>
          <a:xfrm>
            <a:off x="952500" y="675322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7" name="Google Shape;3947;p243"/>
          <p:cNvSpPr/>
          <p:nvPr/>
        </p:nvSpPr>
        <p:spPr>
          <a:xfrm>
            <a:off x="2228850" y="6505575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8" name="Google Shape;3948;p243"/>
          <p:cNvSpPr/>
          <p:nvPr/>
        </p:nvSpPr>
        <p:spPr>
          <a:xfrm>
            <a:off x="2533650" y="6772275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negative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953" name="Shape 3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4" name="Google Shape;3954;p24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5" name="Google Shape;3955;p24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Where the program is, line by line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6" name="Google Shape;3956;p244"/>
          <p:cNvSpPr/>
          <p:nvPr/>
        </p:nvSpPr>
        <p:spPr>
          <a:xfrm>
            <a:off x="952500" y="272796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7" name="Google Shape;3957;p244"/>
          <p:cNvSpPr/>
          <p:nvPr/>
        </p:nvSpPr>
        <p:spPr>
          <a:xfrm>
            <a:off x="952500" y="3444240"/>
            <a:ext cx="1143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8" name="Google Shape;3958;p244"/>
          <p:cNvSpPr/>
          <p:nvPr/>
        </p:nvSpPr>
        <p:spPr>
          <a:xfrm>
            <a:off x="1181100" y="2914650"/>
            <a:ext cx="7620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9" name="Google Shape;3959;p244"/>
          <p:cNvSpPr/>
          <p:nvPr/>
        </p:nvSpPr>
        <p:spPr>
          <a:xfrm>
            <a:off x="2095500" y="3444240"/>
            <a:ext cx="6626066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0" name="Google Shape;3960;p244"/>
          <p:cNvSpPr/>
          <p:nvPr/>
        </p:nvSpPr>
        <p:spPr>
          <a:xfrm>
            <a:off x="2324100" y="2914650"/>
            <a:ext cx="6367648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LINE RUNNING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1" name="Google Shape;3961;p244"/>
          <p:cNvSpPr/>
          <p:nvPr/>
        </p:nvSpPr>
        <p:spPr>
          <a:xfrm>
            <a:off x="8721566" y="3444240"/>
            <a:ext cx="8613934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2" name="Google Shape;3962;p244"/>
          <p:cNvSpPr/>
          <p:nvPr/>
        </p:nvSpPr>
        <p:spPr>
          <a:xfrm>
            <a:off x="8950166" y="2914650"/>
            <a:ext cx="8415152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IS KNOWN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3" name="Google Shape;3963;p244"/>
          <p:cNvSpPr/>
          <p:nvPr/>
        </p:nvSpPr>
        <p:spPr>
          <a:xfrm>
            <a:off x="952500" y="4183380"/>
            <a:ext cx="1143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4" name="Google Shape;3964;p244"/>
          <p:cNvSpPr/>
          <p:nvPr/>
        </p:nvSpPr>
        <p:spPr>
          <a:xfrm>
            <a:off x="1181100" y="3604260"/>
            <a:ext cx="7620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5" name="Google Shape;3965;p244"/>
          <p:cNvSpPr/>
          <p:nvPr/>
        </p:nvSpPr>
        <p:spPr>
          <a:xfrm>
            <a:off x="2095500" y="4183380"/>
            <a:ext cx="6626066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6" name="Google Shape;3966;p244"/>
          <p:cNvSpPr/>
          <p:nvPr/>
        </p:nvSpPr>
        <p:spPr>
          <a:xfrm>
            <a:off x="2324100" y="3604260"/>
            <a:ext cx="63676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area(...)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7" name="Google Shape;3967;p244"/>
          <p:cNvSpPr/>
          <p:nvPr/>
        </p:nvSpPr>
        <p:spPr>
          <a:xfrm>
            <a:off x="8721566" y="4183380"/>
            <a:ext cx="8613934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8" name="Google Shape;3968;p244"/>
          <p:cNvSpPr/>
          <p:nvPr/>
        </p:nvSpPr>
        <p:spPr>
          <a:xfrm>
            <a:off x="8950166" y="3604260"/>
            <a:ext cx="841515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name area now exists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9" name="Google Shape;3969;p244"/>
          <p:cNvSpPr/>
          <p:nvPr/>
        </p:nvSpPr>
        <p:spPr>
          <a:xfrm>
            <a:off x="952500" y="4922520"/>
            <a:ext cx="1143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0" name="Google Shape;3970;p244"/>
          <p:cNvSpPr/>
          <p:nvPr/>
        </p:nvSpPr>
        <p:spPr>
          <a:xfrm>
            <a:off x="1181100" y="4343400"/>
            <a:ext cx="7620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1" name="Google Shape;3971;p244"/>
          <p:cNvSpPr/>
          <p:nvPr/>
        </p:nvSpPr>
        <p:spPr>
          <a:xfrm>
            <a:off x="2095500" y="4922520"/>
            <a:ext cx="6626066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2" name="Google Shape;3972;p244"/>
          <p:cNvSpPr/>
          <p:nvPr/>
        </p:nvSpPr>
        <p:spPr>
          <a:xfrm>
            <a:off x="2324100" y="4343400"/>
            <a:ext cx="63676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= area(4, 5)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3" name="Google Shape;3973;p244"/>
          <p:cNvSpPr/>
          <p:nvPr/>
        </p:nvSpPr>
        <p:spPr>
          <a:xfrm>
            <a:off x="8721566" y="4922520"/>
            <a:ext cx="8613934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4" name="Google Shape;3974;p244"/>
          <p:cNvSpPr/>
          <p:nvPr/>
        </p:nvSpPr>
        <p:spPr>
          <a:xfrm>
            <a:off x="8950166" y="4343400"/>
            <a:ext cx="841515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jump in, l = 4 and w = 5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5" name="Google Shape;3975;p244"/>
          <p:cNvSpPr/>
          <p:nvPr/>
        </p:nvSpPr>
        <p:spPr>
          <a:xfrm>
            <a:off x="952500" y="5661660"/>
            <a:ext cx="1143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6" name="Google Shape;3976;p244"/>
          <p:cNvSpPr/>
          <p:nvPr/>
        </p:nvSpPr>
        <p:spPr>
          <a:xfrm>
            <a:off x="1181100" y="5082540"/>
            <a:ext cx="7620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7" name="Google Shape;3977;p244"/>
          <p:cNvSpPr/>
          <p:nvPr/>
        </p:nvSpPr>
        <p:spPr>
          <a:xfrm>
            <a:off x="2095500" y="5661660"/>
            <a:ext cx="6626066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8" name="Google Shape;3978;p244"/>
          <p:cNvSpPr/>
          <p:nvPr/>
        </p:nvSpPr>
        <p:spPr>
          <a:xfrm>
            <a:off x="2324100" y="5082540"/>
            <a:ext cx="63676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l * w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9" name="Google Shape;3979;p244"/>
          <p:cNvSpPr/>
          <p:nvPr/>
        </p:nvSpPr>
        <p:spPr>
          <a:xfrm>
            <a:off x="8721566" y="5661660"/>
            <a:ext cx="8613934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0" name="Google Shape;3980;p244"/>
          <p:cNvSpPr/>
          <p:nvPr/>
        </p:nvSpPr>
        <p:spPr>
          <a:xfrm>
            <a:off x="8950166" y="5082540"/>
            <a:ext cx="841515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hand 20 back, leave the function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1" name="Google Shape;3981;p244"/>
          <p:cNvSpPr/>
          <p:nvPr/>
        </p:nvSpPr>
        <p:spPr>
          <a:xfrm>
            <a:off x="952500" y="6400800"/>
            <a:ext cx="11430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2" name="Google Shape;3982;p244"/>
          <p:cNvSpPr/>
          <p:nvPr/>
        </p:nvSpPr>
        <p:spPr>
          <a:xfrm>
            <a:off x="1181100" y="5821680"/>
            <a:ext cx="7620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3" name="Google Shape;3983;p244"/>
          <p:cNvSpPr/>
          <p:nvPr/>
        </p:nvSpPr>
        <p:spPr>
          <a:xfrm>
            <a:off x="2095500" y="6400800"/>
            <a:ext cx="6626066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4" name="Google Shape;3984;p244"/>
          <p:cNvSpPr/>
          <p:nvPr/>
        </p:nvSpPr>
        <p:spPr>
          <a:xfrm>
            <a:off x="2324100" y="5821680"/>
            <a:ext cx="63676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= 20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5" name="Google Shape;3985;p244"/>
          <p:cNvSpPr/>
          <p:nvPr/>
        </p:nvSpPr>
        <p:spPr>
          <a:xfrm>
            <a:off x="8721566" y="6400800"/>
            <a:ext cx="8613934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6" name="Google Shape;3986;p244"/>
          <p:cNvSpPr/>
          <p:nvPr/>
        </p:nvSpPr>
        <p:spPr>
          <a:xfrm>
            <a:off x="8950166" y="5821680"/>
            <a:ext cx="841515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 and w no longer exist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7" name="Google Shape;3987;p244"/>
          <p:cNvSpPr/>
          <p:nvPr/>
        </p:nvSpPr>
        <p:spPr>
          <a:xfrm>
            <a:off x="1181100" y="6560820"/>
            <a:ext cx="7620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8" name="Google Shape;3988;p244"/>
          <p:cNvSpPr/>
          <p:nvPr/>
        </p:nvSpPr>
        <p:spPr>
          <a:xfrm>
            <a:off x="2324100" y="6560820"/>
            <a:ext cx="63676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print(x + 1)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9" name="Google Shape;3989;p244"/>
          <p:cNvSpPr/>
          <p:nvPr/>
        </p:nvSpPr>
        <p:spPr>
          <a:xfrm>
            <a:off x="8950166" y="6560820"/>
            <a:ext cx="841515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prints 21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994" name="Shape 3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5" name="Google Shape;3995;p24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6" name="Google Shape;3996;p24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Giving a parameter a default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7" name="Google Shape;3997;p245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[6]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8" name="Google Shape;3998;p245"/>
          <p:cNvSpPr/>
          <p:nvPr/>
        </p:nvSpPr>
        <p:spPr>
          <a:xfrm>
            <a:off x="2228850" y="2727960"/>
            <a:ext cx="15106650" cy="2691765"/>
          </a:xfrm>
          <a:prstGeom prst="roundRect">
            <a:avLst>
              <a:gd fmla="val 283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9" name="Google Shape;3999;p245"/>
          <p:cNvSpPr/>
          <p:nvPr/>
        </p:nvSpPr>
        <p:spPr>
          <a:xfrm>
            <a:off x="2541270" y="3002280"/>
            <a:ext cx="14935010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power(base, exp = 2):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base ** exp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print(power(5))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print(power(5, 3))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0" name="Google Shape;4000;p245"/>
          <p:cNvSpPr/>
          <p:nvPr/>
        </p:nvSpPr>
        <p:spPr>
          <a:xfrm>
            <a:off x="952500" y="58959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1" name="Google Shape;4001;p245"/>
          <p:cNvSpPr/>
          <p:nvPr/>
        </p:nvSpPr>
        <p:spPr>
          <a:xfrm>
            <a:off x="2228850" y="5648325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2" name="Google Shape;4002;p245"/>
          <p:cNvSpPr/>
          <p:nvPr/>
        </p:nvSpPr>
        <p:spPr>
          <a:xfrm>
            <a:off x="2533650" y="5915025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3" name="Google Shape;4003;p245"/>
          <p:cNvSpPr/>
          <p:nvPr/>
        </p:nvSpPr>
        <p:spPr>
          <a:xfrm>
            <a:off x="952500" y="741997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parameter with a default may be left out. Parameters without one may not.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008" name="Shape 4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9" name="Google Shape;4009;p24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0" name="Google Shape;4010;p24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Naming the arguments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1" name="Google Shape;4011;p246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BY POSITION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2" name="Google Shape;4012;p246"/>
          <p:cNvSpPr/>
          <p:nvPr/>
        </p:nvSpPr>
        <p:spPr>
          <a:xfrm>
            <a:off x="952500" y="3276600"/>
            <a:ext cx="7943850" cy="939165"/>
          </a:xfrm>
          <a:prstGeom prst="roundRect">
            <a:avLst>
              <a:gd fmla="val 811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3" name="Google Shape;4013;p246"/>
          <p:cNvSpPr/>
          <p:nvPr/>
        </p:nvSpPr>
        <p:spPr>
          <a:xfrm>
            <a:off x="1245870" y="3531870"/>
            <a:ext cx="7595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power(2, 10)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4" name="Google Shape;4014;p246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BY NAME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5" name="Google Shape;4015;p246"/>
          <p:cNvSpPr/>
          <p:nvPr/>
        </p:nvSpPr>
        <p:spPr>
          <a:xfrm>
            <a:off x="9391650" y="3276600"/>
            <a:ext cx="7943850" cy="939165"/>
          </a:xfrm>
          <a:prstGeom prst="roundRect">
            <a:avLst>
              <a:gd fmla="val 811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6" name="Google Shape;4016;p246"/>
          <p:cNvSpPr/>
          <p:nvPr/>
        </p:nvSpPr>
        <p:spPr>
          <a:xfrm>
            <a:off x="9685020" y="3531870"/>
            <a:ext cx="7595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power(exp = 10, base = 2)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7" name="Google Shape;4017;p246"/>
          <p:cNvSpPr/>
          <p:nvPr/>
        </p:nvSpPr>
        <p:spPr>
          <a:xfrm>
            <a:off x="952500" y="471106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Both give 1024. Named arguments may be written in any order, and they document themselves.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022" name="Shape 4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3" name="Google Shape;4023;p24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WORKED EXAMPLE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4" name="Google Shape;4024;p24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prime test, as a function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5" name="Google Shape;4025;p247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[7]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6" name="Google Shape;4026;p247"/>
          <p:cNvSpPr/>
          <p:nvPr/>
        </p:nvSpPr>
        <p:spPr>
          <a:xfrm>
            <a:off x="2228850" y="2727960"/>
            <a:ext cx="15106650" cy="5263515"/>
          </a:xfrm>
          <a:prstGeom prst="roundRect">
            <a:avLst>
              <a:gd fmla="val 144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7" name="Google Shape;4027;p247"/>
          <p:cNvSpPr/>
          <p:nvPr/>
        </p:nvSpPr>
        <p:spPr>
          <a:xfrm>
            <a:off x="2541270" y="3002280"/>
            <a:ext cx="14935010" cy="4752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is_prime(n):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n &lt; 2: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return False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i in range(2, n):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if n % i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return False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True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n in range(10, 20):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is_prime(n):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print(n,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8" name="Google Shape;4028;p247"/>
          <p:cNvSpPr/>
          <p:nvPr/>
        </p:nvSpPr>
        <p:spPr>
          <a:xfrm>
            <a:off x="952500" y="846772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9" name="Google Shape;4029;p247"/>
          <p:cNvSpPr/>
          <p:nvPr/>
        </p:nvSpPr>
        <p:spPr>
          <a:xfrm>
            <a:off x="2228850" y="8220075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0" name="Google Shape;4030;p247"/>
          <p:cNvSpPr/>
          <p:nvPr/>
        </p:nvSpPr>
        <p:spPr>
          <a:xfrm>
            <a:off x="2533650" y="8486775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11 13 17 19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035" name="Shape 4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6" name="Google Shape;4036;p24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COMPARISON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7" name="Google Shape;4037;p24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return replaces the flag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8" name="Google Shape;4038;p248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13 · FLAG AND BREAK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9" name="Google Shape;4039;p248"/>
          <p:cNvSpPr/>
          <p:nvPr/>
        </p:nvSpPr>
        <p:spPr>
          <a:xfrm>
            <a:off x="952500" y="3276600"/>
            <a:ext cx="7943850" cy="3067050"/>
          </a:xfrm>
          <a:prstGeom prst="roundRect">
            <a:avLst>
              <a:gd fmla="val 248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0" name="Google Shape;4040;p248"/>
          <p:cNvSpPr/>
          <p:nvPr/>
        </p:nvSpPr>
        <p:spPr>
          <a:xfrm>
            <a:off x="1238250" y="3524250"/>
            <a:ext cx="7610665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isPrime = True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range(2, N):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N % i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sc-camel-is-prime = False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break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print(isPrime)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1" name="Google Shape;4041;p248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A FUNCTION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2" name="Google Shape;4042;p248"/>
          <p:cNvSpPr/>
          <p:nvPr/>
        </p:nvSpPr>
        <p:spPr>
          <a:xfrm>
            <a:off x="9391650" y="3276600"/>
            <a:ext cx="7943850" cy="2225040"/>
          </a:xfrm>
          <a:prstGeom prst="roundRect">
            <a:avLst>
              <a:gd fmla="val 342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3" name="Google Shape;4043;p248"/>
          <p:cNvSpPr/>
          <p:nvPr/>
        </p:nvSpPr>
        <p:spPr>
          <a:xfrm>
            <a:off x="9685020" y="3531870"/>
            <a:ext cx="75954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range(2, N):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N % i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return False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True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4" name="Google Shape;4044;p248"/>
          <p:cNvSpPr/>
          <p:nvPr/>
        </p:nvSpPr>
        <p:spPr>
          <a:xfrm>
            <a:off x="952500" y="676275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Four lines shorter, and no variable to keep track of.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049" name="Shape 4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0" name="Google Shape;4050;p24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QUICK 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1" name="Google Shape;4051;p24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does each print?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2" name="Google Shape;4052;p249"/>
          <p:cNvSpPr/>
          <p:nvPr/>
        </p:nvSpPr>
        <p:spPr>
          <a:xfrm>
            <a:off x="952500" y="2727960"/>
            <a:ext cx="8020050" cy="2491740"/>
          </a:xfrm>
          <a:prstGeom prst="roundRect">
            <a:avLst>
              <a:gd fmla="val 305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3" name="Google Shape;4053;p249"/>
          <p:cNvSpPr/>
          <p:nvPr/>
        </p:nvSpPr>
        <p:spPr>
          <a:xfrm>
            <a:off x="1264920" y="3002280"/>
            <a:ext cx="7635812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83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f(a, b):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83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print(a * b)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83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Calibri"/>
              <a:buNone/>
            </a:pPr>
            <a:r>
              <a:t/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83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print(f(4, 5))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4" name="Google Shape;4054;p249"/>
          <p:cNvSpPr/>
          <p:nvPr/>
        </p:nvSpPr>
        <p:spPr>
          <a:xfrm>
            <a:off x="9315450" y="2727960"/>
            <a:ext cx="8020050" cy="2491740"/>
          </a:xfrm>
          <a:prstGeom prst="roundRect">
            <a:avLst>
              <a:gd fmla="val 305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5" name="Google Shape;4055;p249"/>
          <p:cNvSpPr/>
          <p:nvPr/>
        </p:nvSpPr>
        <p:spPr>
          <a:xfrm>
            <a:off x="9627870" y="3002280"/>
            <a:ext cx="7635812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83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f(a, b):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83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a * b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83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Calibri"/>
              <a:buNone/>
            </a:pPr>
            <a:r>
              <a:t/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83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print(f(4, 5))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4060" name="Shape 4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1" name="Google Shape;4061;p25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2" name="Google Shape;4062;p25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3" name="Google Shape;4063;p250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4" name="Google Shape;4064;p250"/>
          <p:cNvSpPr/>
          <p:nvPr/>
        </p:nvSpPr>
        <p:spPr>
          <a:xfrm>
            <a:off x="1684139" y="272796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a function that returns the area of a circle, with pi as a default parameter.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5" name="Google Shape;4065;p250"/>
          <p:cNvSpPr/>
          <p:nvPr/>
        </p:nvSpPr>
        <p:spPr>
          <a:xfrm>
            <a:off x="952500" y="413766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6" name="Google Shape;4066;p250"/>
          <p:cNvSpPr/>
          <p:nvPr/>
        </p:nvSpPr>
        <p:spPr>
          <a:xfrm>
            <a:off x="1684139" y="407670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count_vowels(word) that returns a number, and call it on three words.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7" name="Google Shape;4067;p250"/>
          <p:cNvSpPr/>
          <p:nvPr/>
        </p:nvSpPr>
        <p:spPr>
          <a:xfrm>
            <a:off x="952500" y="548640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8" name="Google Shape;4068;p250"/>
          <p:cNvSpPr/>
          <p:nvPr/>
        </p:nvSpPr>
        <p:spPr>
          <a:xfrm>
            <a:off x="1684139" y="5425440"/>
            <a:ext cx="1139729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is_palindrome(word) that returns True or False.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073" name="Shape 4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4" name="Google Shape;4074;p25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5" name="Google Shape;4075;p25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6" name="Google Shape;4076;p251"/>
          <p:cNvSpPr/>
          <p:nvPr/>
        </p:nvSpPr>
        <p:spPr>
          <a:xfrm>
            <a:off x="952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7" name="Google Shape;4077;p251"/>
          <p:cNvSpPr/>
          <p:nvPr/>
        </p:nvSpPr>
        <p:spPr>
          <a:xfrm>
            <a:off x="1295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Define a function and call it with arguments.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8" name="Google Shape;4078;p251"/>
          <p:cNvSpPr/>
          <p:nvPr/>
        </p:nvSpPr>
        <p:spPr>
          <a:xfrm>
            <a:off x="9334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9" name="Google Shape;4079;p251"/>
          <p:cNvSpPr/>
          <p:nvPr/>
        </p:nvSpPr>
        <p:spPr>
          <a:xfrm>
            <a:off x="9677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Explain the difference between return and print.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0" name="Google Shape;4080;p251"/>
          <p:cNvSpPr/>
          <p:nvPr/>
        </p:nvSpPr>
        <p:spPr>
          <a:xfrm>
            <a:off x="952500" y="424815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1" name="Google Shape;4081;p251"/>
          <p:cNvSpPr/>
          <p:nvPr/>
        </p:nvSpPr>
        <p:spPr>
          <a:xfrm>
            <a:off x="1295400" y="459105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Give a parameter a default and call by keyword.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2" name="Google Shape;4082;p251"/>
          <p:cNvSpPr/>
          <p:nvPr/>
        </p:nvSpPr>
        <p:spPr>
          <a:xfrm>
            <a:off x="9334500" y="424815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3" name="Google Shape;4083;p251"/>
          <p:cNvSpPr/>
          <p:nvPr/>
        </p:nvSpPr>
        <p:spPr>
          <a:xfrm>
            <a:off x="9677400" y="459105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Return early instead of using a flag.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4" name="Google Shape;4084;p251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class: scope, multiple returns and *args.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4089" name="Shape 4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0" name="Google Shape;4090;p252"/>
          <p:cNvSpPr/>
          <p:nvPr/>
        </p:nvSpPr>
        <p:spPr>
          <a:xfrm>
            <a:off x="952500" y="3705225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5 · FUNCTIONS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1" name="Google Shape;4091;p252"/>
          <p:cNvSpPr/>
          <p:nvPr/>
        </p:nvSpPr>
        <p:spPr>
          <a:xfrm>
            <a:off x="952500" y="4474845"/>
            <a:ext cx="1722501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16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2" name="Google Shape;4092;p252"/>
          <p:cNvSpPr/>
          <p:nvPr/>
        </p:nvSpPr>
        <p:spPr>
          <a:xfrm>
            <a:off x="3051810" y="5252085"/>
            <a:ext cx="10791825" cy="15582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Scope, Multiple Returns, and *args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097" name="Shape 4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Google Shape;4098;p25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16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9" name="Google Shape;4099;p25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0" name="Google Shape;4100;p253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1" name="Google Shape;4101;p253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2" name="Google Shape;4102;p253"/>
          <p:cNvSpPr/>
          <p:nvPr/>
        </p:nvSpPr>
        <p:spPr>
          <a:xfrm>
            <a:off x="1646039" y="2727960"/>
            <a:ext cx="499776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Where a variable exists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3" name="Google Shape;4103;p253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4" name="Google Shape;4104;p253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5" name="Google Shape;4105;p253"/>
          <p:cNvSpPr/>
          <p:nvPr/>
        </p:nvSpPr>
        <p:spPr>
          <a:xfrm>
            <a:off x="1646039" y="3771900"/>
            <a:ext cx="6650724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Returning more than one value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6" name="Google Shape;4106;p253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7" name="Google Shape;4107;p253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8" name="Google Shape;4108;p253"/>
          <p:cNvSpPr/>
          <p:nvPr/>
        </p:nvSpPr>
        <p:spPr>
          <a:xfrm>
            <a:off x="1646039" y="4815840"/>
            <a:ext cx="790881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Accepting any number of arguments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9" name="Google Shape;4109;p253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0" name="Google Shape;4110;p253"/>
          <p:cNvSpPr/>
          <p:nvPr/>
        </p:nvSpPr>
        <p:spPr>
          <a:xfrm>
            <a:off x="1646039" y="5859780"/>
            <a:ext cx="5097304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Midterm: what to revise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115" name="Shape 4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Google Shape;4116;p25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7" name="Google Shape;4117;p25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name that only exists inside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8" name="Google Shape;4118;p254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9" name="Google Shape;4119;p254"/>
          <p:cNvSpPr/>
          <p:nvPr/>
        </p:nvSpPr>
        <p:spPr>
          <a:xfrm>
            <a:off x="2228850" y="2727960"/>
            <a:ext cx="15106650" cy="3120390"/>
          </a:xfrm>
          <a:prstGeom prst="roundRect">
            <a:avLst>
              <a:gd fmla="val 24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0" name="Google Shape;4120;p254"/>
          <p:cNvSpPr/>
          <p:nvPr/>
        </p:nvSpPr>
        <p:spPr>
          <a:xfrm>
            <a:off x="2541270" y="3002280"/>
            <a:ext cx="14935010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area(length, width):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result = length * width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result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print(area(4, 5))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print(result)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1" name="Google Shape;4121;p254"/>
          <p:cNvSpPr/>
          <p:nvPr/>
        </p:nvSpPr>
        <p:spPr>
          <a:xfrm>
            <a:off x="952500" y="63246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2" name="Google Shape;4122;p254"/>
          <p:cNvSpPr/>
          <p:nvPr/>
        </p:nvSpPr>
        <p:spPr>
          <a:xfrm>
            <a:off x="2228850" y="607695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3" name="Google Shape;4123;p254"/>
          <p:cNvSpPr/>
          <p:nvPr/>
        </p:nvSpPr>
        <p:spPr>
          <a:xfrm>
            <a:off x="2533650" y="634365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NameError: name 'result' is not defined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4" name="Google Shape;4124;p254"/>
          <p:cNvSpPr/>
          <p:nvPr/>
        </p:nvSpPr>
        <p:spPr>
          <a:xfrm>
            <a:off x="952500" y="78486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result is created when the function starts and forgotten when it returns.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129" name="Shape 4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0" name="Google Shape;4130;p25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1" name="Google Shape;4131;p25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Reading out, but not writing out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2" name="Google Shape;4132;p255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READING WORKS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3" name="Google Shape;4133;p255"/>
          <p:cNvSpPr/>
          <p:nvPr/>
        </p:nvSpPr>
        <p:spPr>
          <a:xfrm>
            <a:off x="952500" y="3276600"/>
            <a:ext cx="7943850" cy="2653665"/>
          </a:xfrm>
          <a:prstGeom prst="roundRect">
            <a:avLst>
              <a:gd fmla="val 287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4" name="Google Shape;4134;p255"/>
          <p:cNvSpPr/>
          <p:nvPr/>
        </p:nvSpPr>
        <p:spPr>
          <a:xfrm>
            <a:off x="1245870" y="3531870"/>
            <a:ext cx="7595425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rate = 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total(n):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n * rate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print(total(3))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5" name="Google Shape;4135;p255"/>
          <p:cNvSpPr/>
          <p:nvPr/>
        </p:nvSpPr>
        <p:spPr>
          <a:xfrm>
            <a:off x="952500" y="6120765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6" name="Google Shape;4136;p255"/>
          <p:cNvSpPr/>
          <p:nvPr/>
        </p:nvSpPr>
        <p:spPr>
          <a:xfrm>
            <a:off x="1238250" y="6368415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7" name="Google Shape;4137;p255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WRITING STAYS INSIDE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8" name="Google Shape;4138;p255"/>
          <p:cNvSpPr/>
          <p:nvPr/>
        </p:nvSpPr>
        <p:spPr>
          <a:xfrm>
            <a:off x="9391650" y="3276600"/>
            <a:ext cx="7943850" cy="3082290"/>
          </a:xfrm>
          <a:prstGeom prst="roundRect">
            <a:avLst>
              <a:gd fmla="val 247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9" name="Google Shape;4139;p255"/>
          <p:cNvSpPr/>
          <p:nvPr/>
        </p:nvSpPr>
        <p:spPr>
          <a:xfrm>
            <a:off x="9685020" y="3531870"/>
            <a:ext cx="7595425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rate = 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bump():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rate = 100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bump()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print(rate)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0" name="Google Shape;4140;p255"/>
          <p:cNvSpPr/>
          <p:nvPr/>
        </p:nvSpPr>
        <p:spPr>
          <a:xfrm>
            <a:off x="9391650" y="6549390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1" name="Google Shape;4141;p255"/>
          <p:cNvSpPr/>
          <p:nvPr/>
        </p:nvSpPr>
        <p:spPr>
          <a:xfrm>
            <a:off x="9677400" y="6797040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2" name="Google Shape;4142;p255"/>
          <p:cNvSpPr/>
          <p:nvPr/>
        </p:nvSpPr>
        <p:spPr>
          <a:xfrm>
            <a:off x="952500" y="783717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Prefer parameters and returns over reaching outside the function.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4147" name="Shape 4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8" name="Google Shape;4148;p256"/>
          <p:cNvSpPr/>
          <p:nvPr/>
        </p:nvSpPr>
        <p:spPr>
          <a:xfrm>
            <a:off x="952500" y="3963353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TWO PLACES A NAME CAN LIVE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9" name="Google Shape;4149;p256"/>
          <p:cNvSpPr/>
          <p:nvPr/>
        </p:nvSpPr>
        <p:spPr>
          <a:xfrm>
            <a:off x="952500" y="4816793"/>
            <a:ext cx="8591550" cy="632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900"/>
              <a:buFont typeface="Bricolage Grotesque"/>
              <a:buNone/>
            </a:pPr>
            <a:r>
              <a:rPr b="1" i="0" lang="en-US" sz="39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Local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0" name="Google Shape;4150;p256"/>
          <p:cNvSpPr/>
          <p:nvPr/>
        </p:nvSpPr>
        <p:spPr>
          <a:xfrm>
            <a:off x="952500" y="5639753"/>
            <a:ext cx="8044815" cy="9124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Created inside a function. Gone when it returns. Parameters are local.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1" name="Google Shape;4151;p256"/>
          <p:cNvSpPr/>
          <p:nvPr/>
        </p:nvSpPr>
        <p:spPr>
          <a:xfrm>
            <a:off x="9525000" y="4816793"/>
            <a:ext cx="8591550" cy="632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3900"/>
              <a:buFont typeface="Bricolage Grotesque"/>
              <a:buNone/>
            </a:pPr>
            <a:r>
              <a:rPr b="1" i="0" lang="en-US" sz="3900" u="none" cap="none" strike="noStrike">
                <a:solidFill>
                  <a:srgbClr val="D9A08A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Global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2" name="Google Shape;4152;p256"/>
          <p:cNvSpPr/>
          <p:nvPr/>
        </p:nvSpPr>
        <p:spPr>
          <a:xfrm>
            <a:off x="9525000" y="5639753"/>
            <a:ext cx="8044815" cy="9124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Created at the margin of the notebook. Readable everywhere.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157" name="Shape 4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8" name="Google Shape;4158;p25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9" name="Google Shape;4159;p25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same name in two places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0" name="Google Shape;4160;p257"/>
          <p:cNvSpPr/>
          <p:nvPr/>
        </p:nvSpPr>
        <p:spPr>
          <a:xfrm>
            <a:off x="952500" y="2727960"/>
            <a:ext cx="7905750" cy="4206240"/>
          </a:xfrm>
          <a:prstGeom prst="roundRect">
            <a:avLst>
              <a:gd fmla="val 181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1" name="Google Shape;4161;p257"/>
          <p:cNvSpPr/>
          <p:nvPr/>
        </p:nvSpPr>
        <p:spPr>
          <a:xfrm>
            <a:off x="1264920" y="3002280"/>
            <a:ext cx="7518083" cy="36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= 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show():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x = 99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print(x)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show()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print(x)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2" name="Google Shape;4162;p257"/>
          <p:cNvSpPr/>
          <p:nvPr/>
        </p:nvSpPr>
        <p:spPr>
          <a:xfrm>
            <a:off x="9429750" y="2727960"/>
            <a:ext cx="790575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3" name="Google Shape;4163;p257"/>
          <p:cNvSpPr/>
          <p:nvPr/>
        </p:nvSpPr>
        <p:spPr>
          <a:xfrm>
            <a:off x="9429750" y="3444240"/>
            <a:ext cx="3952875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4" name="Google Shape;4164;p257"/>
          <p:cNvSpPr/>
          <p:nvPr/>
        </p:nvSpPr>
        <p:spPr>
          <a:xfrm>
            <a:off x="9639300" y="2914650"/>
            <a:ext cx="365236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5" name="Google Shape;4165;p257"/>
          <p:cNvSpPr/>
          <p:nvPr/>
        </p:nvSpPr>
        <p:spPr>
          <a:xfrm>
            <a:off x="13382625" y="3444240"/>
            <a:ext cx="3952875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6" name="Google Shape;4166;p257"/>
          <p:cNvSpPr/>
          <p:nvPr/>
        </p:nvSpPr>
        <p:spPr>
          <a:xfrm>
            <a:off x="13592175" y="2914650"/>
            <a:ext cx="365236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7" name="Google Shape;4167;p257"/>
          <p:cNvSpPr/>
          <p:nvPr/>
        </p:nvSpPr>
        <p:spPr>
          <a:xfrm>
            <a:off x="9429750" y="4221480"/>
            <a:ext cx="3952875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8" name="Google Shape;4168;p257"/>
          <p:cNvSpPr/>
          <p:nvPr/>
        </p:nvSpPr>
        <p:spPr>
          <a:xfrm>
            <a:off x="9639300" y="3623310"/>
            <a:ext cx="365236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print(x) inside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9" name="Google Shape;4169;p257"/>
          <p:cNvSpPr/>
          <p:nvPr/>
        </p:nvSpPr>
        <p:spPr>
          <a:xfrm>
            <a:off x="13382625" y="4221480"/>
            <a:ext cx="3952875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0" name="Google Shape;4170;p257"/>
          <p:cNvSpPr/>
          <p:nvPr/>
        </p:nvSpPr>
        <p:spPr>
          <a:xfrm>
            <a:off x="13592175" y="3623310"/>
            <a:ext cx="365236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99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1" name="Google Shape;4171;p257"/>
          <p:cNvSpPr/>
          <p:nvPr/>
        </p:nvSpPr>
        <p:spPr>
          <a:xfrm>
            <a:off x="9639300" y="4400550"/>
            <a:ext cx="365236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print(x) outside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2" name="Google Shape;4172;p257"/>
          <p:cNvSpPr/>
          <p:nvPr/>
        </p:nvSpPr>
        <p:spPr>
          <a:xfrm>
            <a:off x="13592175" y="4400550"/>
            <a:ext cx="365236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3" name="Google Shape;4173;p257"/>
          <p:cNvSpPr/>
          <p:nvPr/>
        </p:nvSpPr>
        <p:spPr>
          <a:xfrm>
            <a:off x="952500" y="73914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Two separate variables that happen to share a name. Avoid doing this on purpose.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178" name="Shape 4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9" name="Google Shape;4179;p25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0" name="Google Shape;4180;p25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Returning two values at once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1" name="Google Shape;4181;p258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2" name="Google Shape;4182;p258"/>
          <p:cNvSpPr/>
          <p:nvPr/>
        </p:nvSpPr>
        <p:spPr>
          <a:xfrm>
            <a:off x="2228850" y="2727960"/>
            <a:ext cx="15106650" cy="3120390"/>
          </a:xfrm>
          <a:prstGeom prst="roundRect">
            <a:avLst>
              <a:gd fmla="val 24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3" name="Google Shape;4183;p258"/>
          <p:cNvSpPr/>
          <p:nvPr/>
        </p:nvSpPr>
        <p:spPr>
          <a:xfrm>
            <a:off x="2541270" y="3002280"/>
            <a:ext cx="14935010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divide(a, b):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a // b, a % b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q, r = divide(17, 5)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print(q, r)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print(divide(17, 5))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4" name="Google Shape;4184;p258"/>
          <p:cNvSpPr/>
          <p:nvPr/>
        </p:nvSpPr>
        <p:spPr>
          <a:xfrm>
            <a:off x="952500" y="63246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5" name="Google Shape;4185;p258"/>
          <p:cNvSpPr/>
          <p:nvPr/>
        </p:nvSpPr>
        <p:spPr>
          <a:xfrm>
            <a:off x="2228850" y="607695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6" name="Google Shape;4186;p258"/>
          <p:cNvSpPr/>
          <p:nvPr/>
        </p:nvSpPr>
        <p:spPr>
          <a:xfrm>
            <a:off x="2533650" y="634365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3 2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(3, 2)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7" name="Google Shape;4187;p258"/>
          <p:cNvSpPr/>
          <p:nvPr/>
        </p:nvSpPr>
        <p:spPr>
          <a:xfrm>
            <a:off x="952500" y="78486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brackets in the output are a tuple. We cover those properly in Class 20.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192" name="Shape 4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3" name="Google Shape;4193;p25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4" name="Google Shape;4194;p25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Unpacking into the wrong number of names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5" name="Google Shape;4195;p259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[3]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6" name="Google Shape;4196;p259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7" name="Google Shape;4197;p259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divide(a, b):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a // b, a % b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q, r, extra = divide(17, 5)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8" name="Google Shape;4198;p259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9" name="Google Shape;4199;p259"/>
          <p:cNvSpPr/>
          <p:nvPr/>
        </p:nvSpPr>
        <p:spPr>
          <a:xfrm>
            <a:off x="2228850" y="521970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0" name="Google Shape;4200;p259"/>
          <p:cNvSpPr/>
          <p:nvPr/>
        </p:nvSpPr>
        <p:spPr>
          <a:xfrm>
            <a:off x="2533650" y="548640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ValueError: not enough values to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unpack (expected 3, got 2)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205" name="Shape 4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6" name="Google Shape;4206;p26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7" name="Google Shape;4207;p26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Any number of arguments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8" name="Google Shape;4208;p260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[4]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9" name="Google Shape;4209;p260"/>
          <p:cNvSpPr/>
          <p:nvPr/>
        </p:nvSpPr>
        <p:spPr>
          <a:xfrm>
            <a:off x="2228850" y="2727960"/>
            <a:ext cx="15106650" cy="4406265"/>
          </a:xfrm>
          <a:prstGeom prst="roundRect">
            <a:avLst>
              <a:gd fmla="val 1729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0" name="Google Shape;4210;p260"/>
          <p:cNvSpPr/>
          <p:nvPr/>
        </p:nvSpPr>
        <p:spPr>
          <a:xfrm>
            <a:off x="2541270" y="3002280"/>
            <a:ext cx="14935010" cy="3895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total(*nums):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n in nums: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 = s + 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print(total(1, 2, 3))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print(total(5))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print(total())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1" name="Google Shape;4211;p260"/>
          <p:cNvSpPr/>
          <p:nvPr/>
        </p:nvSpPr>
        <p:spPr>
          <a:xfrm>
            <a:off x="952500" y="76104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2" name="Google Shape;4212;p260"/>
          <p:cNvSpPr/>
          <p:nvPr/>
        </p:nvSpPr>
        <p:spPr>
          <a:xfrm>
            <a:off x="2228850" y="7362825"/>
            <a:ext cx="15106650" cy="1819275"/>
          </a:xfrm>
          <a:prstGeom prst="roundRect">
            <a:avLst>
              <a:gd fmla="val 418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3" name="Google Shape;4213;p260"/>
          <p:cNvSpPr/>
          <p:nvPr/>
        </p:nvSpPr>
        <p:spPr>
          <a:xfrm>
            <a:off x="2533650" y="7629525"/>
            <a:ext cx="14950249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218" name="Shape 4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9" name="Google Shape;4219;p26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0" name="Google Shape;4220;p26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Mixing fixed and flexible parameters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1" name="Google Shape;4221;p261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[5]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2" name="Google Shape;4222;p261"/>
          <p:cNvSpPr/>
          <p:nvPr/>
        </p:nvSpPr>
        <p:spPr>
          <a:xfrm>
            <a:off x="2228850" y="2727960"/>
            <a:ext cx="15106650" cy="3120390"/>
          </a:xfrm>
          <a:prstGeom prst="roundRect">
            <a:avLst>
              <a:gd fmla="val 24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3" name="Google Shape;4223;p261"/>
          <p:cNvSpPr/>
          <p:nvPr/>
        </p:nvSpPr>
        <p:spPr>
          <a:xfrm>
            <a:off x="2541270" y="3002280"/>
            <a:ext cx="14935010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report(title, *marks):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print(title, "→", len(marks), "subjects")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m in marks: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print(m,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report("Semester 1", 78, 65, 90)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4" name="Google Shape;4224;p261"/>
          <p:cNvSpPr/>
          <p:nvPr/>
        </p:nvSpPr>
        <p:spPr>
          <a:xfrm>
            <a:off x="952500" y="63246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5" name="Google Shape;4225;p261"/>
          <p:cNvSpPr/>
          <p:nvPr/>
        </p:nvSpPr>
        <p:spPr>
          <a:xfrm>
            <a:off x="2228850" y="607695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6" name="Google Shape;4226;p261"/>
          <p:cNvSpPr/>
          <p:nvPr/>
        </p:nvSpPr>
        <p:spPr>
          <a:xfrm>
            <a:off x="2533650" y="634365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Semester 1 → 3 subjects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78 65 90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7" name="Google Shape;4227;p261"/>
          <p:cNvSpPr/>
          <p:nvPr/>
        </p:nvSpPr>
        <p:spPr>
          <a:xfrm>
            <a:off x="952500" y="78486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first argument fills title. Everything after it goes into marks.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232" name="Shape 4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3" name="Google Shape;4233;p26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HABIT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4" name="Google Shape;4234;p26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Say what your function does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5" name="Google Shape;4235;p262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[6]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6" name="Google Shape;4236;p262"/>
          <p:cNvSpPr/>
          <p:nvPr/>
        </p:nvSpPr>
        <p:spPr>
          <a:xfrm>
            <a:off x="2228850" y="2727960"/>
            <a:ext cx="15106650" cy="4834890"/>
          </a:xfrm>
          <a:prstGeom prst="roundRect">
            <a:avLst>
              <a:gd fmla="val 157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7" name="Google Shape;4237;p262"/>
          <p:cNvSpPr/>
          <p:nvPr/>
        </p:nvSpPr>
        <p:spPr>
          <a:xfrm>
            <a:off x="2541270" y="3002280"/>
            <a:ext cx="1493501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is_prime(n):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'''Return True if n is a prime number.'''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n &lt; 2: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return False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i in range(2, n):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if n % i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return False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True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help(is_prime)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8" name="Google Shape;4238;p262"/>
          <p:cNvSpPr/>
          <p:nvPr/>
        </p:nvSpPr>
        <p:spPr>
          <a:xfrm>
            <a:off x="952500" y="779145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One sentence in triple quotes, on the first line of the body. help() prints it back.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243" name="Shape 4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4" name="Google Shape;4244;p26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METHOD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5" name="Google Shape;4245;p26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Four questions before you write the body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6" name="Google Shape;4246;p263"/>
          <p:cNvSpPr/>
          <p:nvPr/>
        </p:nvSpPr>
        <p:spPr>
          <a:xfrm>
            <a:off x="952500" y="3497580"/>
            <a:ext cx="1428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7" name="Google Shape;4247;p263"/>
          <p:cNvSpPr/>
          <p:nvPr/>
        </p:nvSpPr>
        <p:spPr>
          <a:xfrm>
            <a:off x="952500" y="284226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8" name="Google Shape;4248;p263"/>
          <p:cNvSpPr/>
          <p:nvPr/>
        </p:nvSpPr>
        <p:spPr>
          <a:xfrm>
            <a:off x="1615559" y="2727960"/>
            <a:ext cx="1211460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is it called? A verb phrase: count_vowels, is_prime.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9" name="Google Shape;4249;p263"/>
          <p:cNvSpPr/>
          <p:nvPr/>
        </p:nvSpPr>
        <p:spPr>
          <a:xfrm>
            <a:off x="952500" y="4541520"/>
            <a:ext cx="1428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0" name="Google Shape;4250;p263"/>
          <p:cNvSpPr/>
          <p:nvPr/>
        </p:nvSpPr>
        <p:spPr>
          <a:xfrm>
            <a:off x="952500" y="388620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1" name="Google Shape;4251;p263"/>
          <p:cNvSpPr/>
          <p:nvPr/>
        </p:nvSpPr>
        <p:spPr>
          <a:xfrm>
            <a:off x="1615559" y="3771900"/>
            <a:ext cx="10921354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does it need? Those become the parameters.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2" name="Google Shape;4252;p263"/>
          <p:cNvSpPr/>
          <p:nvPr/>
        </p:nvSpPr>
        <p:spPr>
          <a:xfrm>
            <a:off x="952500" y="5585460"/>
            <a:ext cx="1428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3" name="Google Shape;4253;p263"/>
          <p:cNvSpPr/>
          <p:nvPr/>
        </p:nvSpPr>
        <p:spPr>
          <a:xfrm>
            <a:off x="952500" y="493014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4" name="Google Shape;4254;p263"/>
          <p:cNvSpPr/>
          <p:nvPr/>
        </p:nvSpPr>
        <p:spPr>
          <a:xfrm>
            <a:off x="1615559" y="4815840"/>
            <a:ext cx="9186017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does it hand back? That is the return.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5" name="Google Shape;4255;p263"/>
          <p:cNvSpPr/>
          <p:nvPr/>
        </p:nvSpPr>
        <p:spPr>
          <a:xfrm>
            <a:off x="952500" y="597408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6" name="Google Shape;4256;p263"/>
          <p:cNvSpPr/>
          <p:nvPr/>
        </p:nvSpPr>
        <p:spPr>
          <a:xfrm>
            <a:off x="1615559" y="5859780"/>
            <a:ext cx="948921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Does it print anything? Usually it should not.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4261" name="Shape 4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2" name="Google Shape;4262;p26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MIDTERM · CLASSES 1 TO 16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3" name="Google Shape;4263;p26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to revise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4" name="Google Shape;4264;p264"/>
          <p:cNvSpPr/>
          <p:nvPr/>
        </p:nvSpPr>
        <p:spPr>
          <a:xfrm>
            <a:off x="952500" y="2727960"/>
            <a:ext cx="8020050" cy="15240"/>
          </a:xfrm>
          <a:prstGeom prst="rect">
            <a:avLst/>
          </a:prstGeom>
          <a:solidFill>
            <a:srgbClr val="D9A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5" name="Google Shape;4265;p264"/>
          <p:cNvSpPr/>
          <p:nvPr/>
        </p:nvSpPr>
        <p:spPr>
          <a:xfrm>
            <a:off x="952500" y="2971800"/>
            <a:ext cx="8260652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Types, casting, and the errors each mistake produces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6" name="Google Shape;4266;p264"/>
          <p:cNvSpPr/>
          <p:nvPr/>
        </p:nvSpPr>
        <p:spPr>
          <a:xfrm>
            <a:off x="9315450" y="2727960"/>
            <a:ext cx="8020050" cy="15240"/>
          </a:xfrm>
          <a:prstGeom prst="rect">
            <a:avLst/>
          </a:prstGeom>
          <a:solidFill>
            <a:srgbClr val="D9A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7" name="Google Shape;4267;p264"/>
          <p:cNvSpPr/>
          <p:nvPr/>
        </p:nvSpPr>
        <p:spPr>
          <a:xfrm>
            <a:off x="9315450" y="2971800"/>
            <a:ext cx="8260652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// and % for digits, divisibility and time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8" name="Google Shape;4268;p264"/>
          <p:cNvSpPr/>
          <p:nvPr/>
        </p:nvSpPr>
        <p:spPr>
          <a:xfrm>
            <a:off x="952500" y="4221480"/>
            <a:ext cx="8020050" cy="15240"/>
          </a:xfrm>
          <a:prstGeom prst="rect">
            <a:avLst/>
          </a:prstGeom>
          <a:solidFill>
            <a:srgbClr val="D9A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9" name="Google Shape;4269;p264"/>
          <p:cNvSpPr/>
          <p:nvPr/>
        </p:nvSpPr>
        <p:spPr>
          <a:xfrm>
            <a:off x="952500" y="4465320"/>
            <a:ext cx="8260652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String indexing and slicing, including a[::-1]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0" name="Google Shape;4270;p264"/>
          <p:cNvSpPr/>
          <p:nvPr/>
        </p:nvSpPr>
        <p:spPr>
          <a:xfrm>
            <a:off x="9315450" y="4221480"/>
            <a:ext cx="8020050" cy="15240"/>
          </a:xfrm>
          <a:prstGeom prst="rect">
            <a:avLst/>
          </a:prstGeom>
          <a:solidFill>
            <a:srgbClr val="D9A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1" name="Google Shape;4271;p264"/>
          <p:cNvSpPr/>
          <p:nvPr/>
        </p:nvSpPr>
        <p:spPr>
          <a:xfrm>
            <a:off x="9315450" y="4465320"/>
            <a:ext cx="8260652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if / elif / else, and the order of tests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2" name="Google Shape;4272;p264"/>
          <p:cNvSpPr/>
          <p:nvPr/>
        </p:nvSpPr>
        <p:spPr>
          <a:xfrm>
            <a:off x="952500" y="5261610"/>
            <a:ext cx="8020050" cy="15240"/>
          </a:xfrm>
          <a:prstGeom prst="rect">
            <a:avLst/>
          </a:prstGeom>
          <a:solidFill>
            <a:srgbClr val="D9A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3" name="Google Shape;4273;p264"/>
          <p:cNvSpPr/>
          <p:nvPr/>
        </p:nvSpPr>
        <p:spPr>
          <a:xfrm>
            <a:off x="952500" y="5505450"/>
            <a:ext cx="8260652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for and while, with a hand-written trace table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4" name="Google Shape;4274;p264"/>
          <p:cNvSpPr/>
          <p:nvPr/>
        </p:nvSpPr>
        <p:spPr>
          <a:xfrm>
            <a:off x="9315450" y="5261610"/>
            <a:ext cx="8020050" cy="15240"/>
          </a:xfrm>
          <a:prstGeom prst="rect">
            <a:avLst/>
          </a:prstGeom>
          <a:solidFill>
            <a:srgbClr val="D9A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5" name="Google Shape;4275;p264"/>
          <p:cNvSpPr/>
          <p:nvPr/>
        </p:nvSpPr>
        <p:spPr>
          <a:xfrm>
            <a:off x="9315450" y="5505450"/>
            <a:ext cx="8260652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Nested loops and pattern printing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6" name="Google Shape;4276;p264"/>
          <p:cNvSpPr/>
          <p:nvPr/>
        </p:nvSpPr>
        <p:spPr>
          <a:xfrm>
            <a:off x="952500" y="6301740"/>
            <a:ext cx="8020050" cy="15240"/>
          </a:xfrm>
          <a:prstGeom prst="rect">
            <a:avLst/>
          </a:prstGeom>
          <a:solidFill>
            <a:srgbClr val="D9A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7" name="Google Shape;4277;p264"/>
          <p:cNvSpPr/>
          <p:nvPr/>
        </p:nvSpPr>
        <p:spPr>
          <a:xfrm>
            <a:off x="952500" y="6545580"/>
            <a:ext cx="8260652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Functions: parameters, return, scope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8" name="Google Shape;4278;p264"/>
          <p:cNvSpPr/>
          <p:nvPr/>
        </p:nvSpPr>
        <p:spPr>
          <a:xfrm>
            <a:off x="9315450" y="6301740"/>
            <a:ext cx="8020050" cy="15240"/>
          </a:xfrm>
          <a:prstGeom prst="rect">
            <a:avLst/>
          </a:prstGeom>
          <a:solidFill>
            <a:srgbClr val="D9A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9" name="Google Shape;4279;p264"/>
          <p:cNvSpPr/>
          <p:nvPr/>
        </p:nvSpPr>
        <p:spPr>
          <a:xfrm>
            <a:off x="9315450" y="6545580"/>
            <a:ext cx="8260652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Reading a traceback and naming the error type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284" name="Shape 4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5" name="Google Shape;4285;p26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QUICK 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6" name="Google Shape;4286;p26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are the two outputs?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7" name="Google Shape;4287;p265"/>
          <p:cNvSpPr/>
          <p:nvPr/>
        </p:nvSpPr>
        <p:spPr>
          <a:xfrm>
            <a:off x="952500" y="2727960"/>
            <a:ext cx="16383000" cy="5425440"/>
          </a:xfrm>
          <a:prstGeom prst="roundRect">
            <a:avLst>
              <a:gd fmla="val 140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8" name="Google Shape;4288;p265"/>
          <p:cNvSpPr/>
          <p:nvPr/>
        </p:nvSpPr>
        <p:spPr>
          <a:xfrm>
            <a:off x="1303020" y="3040380"/>
            <a:ext cx="1617345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 = 10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bump(n):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n = n + 5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n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50"/>
              <a:buFont typeface="Calibri"/>
              <a:buNone/>
            </a:pPr>
            <a:r>
              <a:t/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bump(n)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print(n)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150"/>
              <a:buFont typeface="JetBrains Mono"/>
              <a:buNone/>
            </a:pPr>
            <a:r>
              <a:rPr b="0" i="0" lang="en-US" sz="31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print(total)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4293" name="Shape 4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4" name="Google Shape;4294;p26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5" name="Google Shape;4295;p26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6" name="Google Shape;4296;p266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7" name="Google Shape;4297;p266"/>
          <p:cNvSpPr/>
          <p:nvPr/>
        </p:nvSpPr>
        <p:spPr>
          <a:xfrm>
            <a:off x="1684139" y="272796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min_max(*nums) that returns both the smallest and the largest value.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8" name="Google Shape;4298;p266"/>
          <p:cNvSpPr/>
          <p:nvPr/>
        </p:nvSpPr>
        <p:spPr>
          <a:xfrm>
            <a:off x="952500" y="413766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9" name="Google Shape;4299;p266"/>
          <p:cNvSpPr/>
          <p:nvPr/>
        </p:nvSpPr>
        <p:spPr>
          <a:xfrm>
            <a:off x="1684139" y="407670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seconds_to_hms(total) that returns three values, and unpack them at the call.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0" name="Google Shape;4300;p266"/>
          <p:cNvSpPr/>
          <p:nvPr/>
        </p:nvSpPr>
        <p:spPr>
          <a:xfrm>
            <a:off x="952500" y="548640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1" name="Google Shape;4301;p266"/>
          <p:cNvSpPr/>
          <p:nvPr/>
        </p:nvSpPr>
        <p:spPr>
          <a:xfrm>
            <a:off x="1684139" y="5425440"/>
            <a:ext cx="1426406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Turn three of your earlier exercises into functions with docstrings.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306" name="Shape 4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7" name="Google Shape;4307;p26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5 COMPLETE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8" name="Google Shape;4308;p26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9" name="Google Shape;4309;p267"/>
          <p:cNvSpPr/>
          <p:nvPr/>
        </p:nvSpPr>
        <p:spPr>
          <a:xfrm>
            <a:off x="952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0" name="Google Shape;4310;p267"/>
          <p:cNvSpPr/>
          <p:nvPr/>
        </p:nvSpPr>
        <p:spPr>
          <a:xfrm>
            <a:off x="1295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Explain where each variable in a program exists.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1" name="Google Shape;4311;p267"/>
          <p:cNvSpPr/>
          <p:nvPr/>
        </p:nvSpPr>
        <p:spPr>
          <a:xfrm>
            <a:off x="9334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2" name="Google Shape;4312;p267"/>
          <p:cNvSpPr/>
          <p:nvPr/>
        </p:nvSpPr>
        <p:spPr>
          <a:xfrm>
            <a:off x="9677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Return several values and unpack them.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3" name="Google Shape;4313;p267"/>
          <p:cNvSpPr/>
          <p:nvPr/>
        </p:nvSpPr>
        <p:spPr>
          <a:xfrm>
            <a:off x="952500" y="424815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4" name="Google Shape;4314;p267"/>
          <p:cNvSpPr/>
          <p:nvPr/>
        </p:nvSpPr>
        <p:spPr>
          <a:xfrm>
            <a:off x="1295400" y="459105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Accept any number of arguments with *args.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5" name="Google Shape;4315;p267"/>
          <p:cNvSpPr/>
          <p:nvPr/>
        </p:nvSpPr>
        <p:spPr>
          <a:xfrm>
            <a:off x="9334500" y="424815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6" name="Google Shape;4316;p267"/>
          <p:cNvSpPr/>
          <p:nvPr/>
        </p:nvSpPr>
        <p:spPr>
          <a:xfrm>
            <a:off x="9677400" y="459105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a docstring that explains the function.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7" name="Google Shape;4317;p267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class: lists.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4322" name="Shape 4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3" name="Google Shape;4323;p268"/>
          <p:cNvSpPr/>
          <p:nvPr/>
        </p:nvSpPr>
        <p:spPr>
          <a:xfrm>
            <a:off x="952500" y="3705225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6 · LISTS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4" name="Google Shape;4324;p268"/>
          <p:cNvSpPr/>
          <p:nvPr/>
        </p:nvSpPr>
        <p:spPr>
          <a:xfrm>
            <a:off x="952500" y="4474845"/>
            <a:ext cx="1525524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17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5" name="Google Shape;4325;p268"/>
          <p:cNvSpPr/>
          <p:nvPr/>
        </p:nvSpPr>
        <p:spPr>
          <a:xfrm>
            <a:off x="2872740" y="5252085"/>
            <a:ext cx="10791825" cy="15582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Lists: Creating, Adding, Removing, Finding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330" name="Shape 4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" name="Google Shape;4331;p26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17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2" name="Google Shape;4332;p26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3" name="Google Shape;4333;p269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4" name="Google Shape;4334;p269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5" name="Google Shape;4335;p269"/>
          <p:cNvSpPr/>
          <p:nvPr/>
        </p:nvSpPr>
        <p:spPr>
          <a:xfrm>
            <a:off x="1646039" y="2727960"/>
            <a:ext cx="805601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Storing many values under one name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6" name="Google Shape;4336;p269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7" name="Google Shape;4337;p269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8" name="Google Shape;4338;p269"/>
          <p:cNvSpPr/>
          <p:nvPr/>
        </p:nvSpPr>
        <p:spPr>
          <a:xfrm>
            <a:off x="1646039" y="3771900"/>
            <a:ext cx="9316724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Indexing and slicing, exactly as with strings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9" name="Google Shape;4339;p269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0" name="Google Shape;4340;p269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1" name="Google Shape;4341;p269"/>
          <p:cNvSpPr/>
          <p:nvPr/>
        </p:nvSpPr>
        <p:spPr>
          <a:xfrm>
            <a:off x="1646039" y="4815840"/>
            <a:ext cx="591101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Adding and removing items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2" name="Google Shape;4342;p269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3" name="Google Shape;4343;p269"/>
          <p:cNvSpPr/>
          <p:nvPr/>
        </p:nvSpPr>
        <p:spPr>
          <a:xfrm>
            <a:off x="1646039" y="5859780"/>
            <a:ext cx="888478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Finding out whether something is in a list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348" name="Shape 4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9" name="Google Shape;4349;p27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0" name="Google Shape;4350;p27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One name, many values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1" name="Google Shape;4351;p270"/>
          <p:cNvSpPr/>
          <p:nvPr/>
        </p:nvSpPr>
        <p:spPr>
          <a:xfrm>
            <a:off x="952500" y="2727960"/>
            <a:ext cx="16383000" cy="1226820"/>
          </a:xfrm>
          <a:prstGeom prst="roundRect">
            <a:avLst>
              <a:gd fmla="val 621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2" name="Google Shape;4352;p270"/>
          <p:cNvSpPr/>
          <p:nvPr/>
        </p:nvSpPr>
        <p:spPr>
          <a:xfrm>
            <a:off x="1303020" y="3040380"/>
            <a:ext cx="1617345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600"/>
              <a:buFont typeface="JetBrains Mono"/>
              <a:buNone/>
            </a:pPr>
            <a:r>
              <a:rPr b="0" i="0" lang="en-US" sz="36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= [78, 65, 90, 42]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3" name="Google Shape;4353;p270"/>
          <p:cNvSpPr/>
          <p:nvPr/>
        </p:nvSpPr>
        <p:spPr>
          <a:xfrm>
            <a:off x="914400" y="4373880"/>
            <a:ext cx="1047750" cy="807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4" name="Google Shape;4354;p270"/>
          <p:cNvSpPr/>
          <p:nvPr/>
        </p:nvSpPr>
        <p:spPr>
          <a:xfrm>
            <a:off x="2000250" y="4373880"/>
            <a:ext cx="1047750" cy="807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5" name="Google Shape;4355;p270"/>
          <p:cNvSpPr/>
          <p:nvPr/>
        </p:nvSpPr>
        <p:spPr>
          <a:xfrm>
            <a:off x="3086100" y="4373880"/>
            <a:ext cx="1047750" cy="807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6" name="Google Shape;4356;p270"/>
          <p:cNvSpPr/>
          <p:nvPr/>
        </p:nvSpPr>
        <p:spPr>
          <a:xfrm>
            <a:off x="4171950" y="4373880"/>
            <a:ext cx="1047750" cy="807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7" name="Google Shape;4357;p270"/>
          <p:cNvSpPr/>
          <p:nvPr/>
        </p:nvSpPr>
        <p:spPr>
          <a:xfrm>
            <a:off x="5295900" y="4373880"/>
            <a:ext cx="971550" cy="883920"/>
          </a:xfrm>
          <a:prstGeom prst="roundRect">
            <a:avLst>
              <a:gd fmla="val 8621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8" name="Google Shape;4358;p270"/>
          <p:cNvSpPr/>
          <p:nvPr/>
        </p:nvSpPr>
        <p:spPr>
          <a:xfrm>
            <a:off x="5257800" y="4564380"/>
            <a:ext cx="104775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000"/>
              <a:buFont typeface="JetBrains Mono"/>
              <a:buNone/>
            </a:pPr>
            <a:r>
              <a:rPr b="0" i="0" lang="en-US" sz="30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9" name="Google Shape;4359;p270"/>
          <p:cNvSpPr/>
          <p:nvPr/>
        </p:nvSpPr>
        <p:spPr>
          <a:xfrm>
            <a:off x="6381750" y="4373880"/>
            <a:ext cx="971550" cy="883920"/>
          </a:xfrm>
          <a:prstGeom prst="roundRect">
            <a:avLst>
              <a:gd fmla="val 8621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0" name="Google Shape;4360;p270"/>
          <p:cNvSpPr/>
          <p:nvPr/>
        </p:nvSpPr>
        <p:spPr>
          <a:xfrm>
            <a:off x="6343650" y="4564380"/>
            <a:ext cx="104775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000"/>
              <a:buFont typeface="JetBrains Mono"/>
              <a:buNone/>
            </a:pPr>
            <a:r>
              <a:rPr b="0" i="0" lang="en-US" sz="30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1" name="Google Shape;4361;p270"/>
          <p:cNvSpPr/>
          <p:nvPr/>
        </p:nvSpPr>
        <p:spPr>
          <a:xfrm>
            <a:off x="7467600" y="4373880"/>
            <a:ext cx="971550" cy="883920"/>
          </a:xfrm>
          <a:prstGeom prst="roundRect">
            <a:avLst>
              <a:gd fmla="val 8621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2" name="Google Shape;4362;p270"/>
          <p:cNvSpPr/>
          <p:nvPr/>
        </p:nvSpPr>
        <p:spPr>
          <a:xfrm>
            <a:off x="7429500" y="4564380"/>
            <a:ext cx="104775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000"/>
              <a:buFont typeface="JetBrains Mono"/>
              <a:buNone/>
            </a:pPr>
            <a:r>
              <a:rPr b="0" i="0" lang="en-US" sz="30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3" name="Google Shape;4363;p270"/>
          <p:cNvSpPr/>
          <p:nvPr/>
        </p:nvSpPr>
        <p:spPr>
          <a:xfrm>
            <a:off x="8553450" y="4373880"/>
            <a:ext cx="971550" cy="883920"/>
          </a:xfrm>
          <a:prstGeom prst="roundRect">
            <a:avLst>
              <a:gd fmla="val 8621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4" name="Google Shape;4364;p270"/>
          <p:cNvSpPr/>
          <p:nvPr/>
        </p:nvSpPr>
        <p:spPr>
          <a:xfrm>
            <a:off x="8515350" y="4564380"/>
            <a:ext cx="104775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000"/>
              <a:buFont typeface="JetBrains Mono"/>
              <a:buNone/>
            </a:pPr>
            <a:r>
              <a:rPr b="0" i="0" lang="en-US" sz="30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5" name="Google Shape;4365;p270"/>
          <p:cNvSpPr/>
          <p:nvPr/>
        </p:nvSpPr>
        <p:spPr>
          <a:xfrm>
            <a:off x="952500" y="57150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Same positions as a string: first item at 0, last at -1.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370" name="Shape 4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1" name="Google Shape;4371;p27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2" name="Google Shape;4372;p27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Indexing and slicing a list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3" name="Google Shape;4373;p271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4" name="Google Shape;4374;p271"/>
          <p:cNvSpPr/>
          <p:nvPr/>
        </p:nvSpPr>
        <p:spPr>
          <a:xfrm>
            <a:off x="2228850" y="2727960"/>
            <a:ext cx="15106650" cy="2691765"/>
          </a:xfrm>
          <a:prstGeom prst="roundRect">
            <a:avLst>
              <a:gd fmla="val 283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5" name="Google Shape;4375;p271"/>
          <p:cNvSpPr/>
          <p:nvPr/>
        </p:nvSpPr>
        <p:spPr>
          <a:xfrm>
            <a:off x="2541270" y="3002280"/>
            <a:ext cx="14935010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= [78, 65, 90, 42]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print(marks[0])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print(marks[-1])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print(marks[1:3])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print(len(marks))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6" name="Google Shape;4376;p271"/>
          <p:cNvSpPr/>
          <p:nvPr/>
        </p:nvSpPr>
        <p:spPr>
          <a:xfrm>
            <a:off x="952500" y="58959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7" name="Google Shape;4377;p271"/>
          <p:cNvSpPr/>
          <p:nvPr/>
        </p:nvSpPr>
        <p:spPr>
          <a:xfrm>
            <a:off x="2228850" y="5648325"/>
            <a:ext cx="15106650" cy="2247900"/>
          </a:xfrm>
          <a:prstGeom prst="roundRect">
            <a:avLst>
              <a:gd fmla="val 339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8" name="Google Shape;4378;p271"/>
          <p:cNvSpPr/>
          <p:nvPr/>
        </p:nvSpPr>
        <p:spPr>
          <a:xfrm>
            <a:off x="2533650" y="5915025"/>
            <a:ext cx="1495024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[65, 90]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9" name="Google Shape;4379;p271"/>
          <p:cNvSpPr/>
          <p:nvPr/>
        </p:nvSpPr>
        <p:spPr>
          <a:xfrm>
            <a:off x="952500" y="827722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slice of a list gives a list, even when it holds one item.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4384" name="Shape 4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5" name="Google Shape;4385;p272"/>
          <p:cNvSpPr/>
          <p:nvPr/>
        </p:nvSpPr>
        <p:spPr>
          <a:xfrm>
            <a:off x="952500" y="394335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DIFFERENCE FROM STRINGS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6" name="Google Shape;4386;p272"/>
          <p:cNvSpPr/>
          <p:nvPr/>
        </p:nvSpPr>
        <p:spPr>
          <a:xfrm>
            <a:off x="952500" y="4720590"/>
            <a:ext cx="157162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6000"/>
              <a:buFont typeface="Bricolage Grotesque"/>
              <a:buNone/>
            </a:pPr>
            <a:r>
              <a:rPr b="1" i="0" lang="en-US" sz="6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string cannot be changed. A list can.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7" name="Google Shape;4387;p272"/>
          <p:cNvSpPr/>
          <p:nvPr/>
        </p:nvSpPr>
        <p:spPr>
          <a:xfrm>
            <a:off x="952500" y="5977890"/>
            <a:ext cx="1687449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marks[0] = 100   # works on a list, fails on a string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392" name="Shape 4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3" name="Google Shape;4393;p27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4" name="Google Shape;4394;p27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Changing an item in place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5" name="Google Shape;4395;p273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6" name="Google Shape;4396;p273"/>
          <p:cNvSpPr/>
          <p:nvPr/>
        </p:nvSpPr>
        <p:spPr>
          <a:xfrm>
            <a:off x="2228850" y="2727960"/>
            <a:ext cx="15106650" cy="1834515"/>
          </a:xfrm>
          <a:prstGeom prst="roundRect">
            <a:avLst>
              <a:gd fmla="val 415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7" name="Google Shape;4397;p273"/>
          <p:cNvSpPr/>
          <p:nvPr/>
        </p:nvSpPr>
        <p:spPr>
          <a:xfrm>
            <a:off x="2541270" y="3002280"/>
            <a:ext cx="1493501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= [78, 65, 90, 42]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marks[3] = 55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print(marks)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8" name="Google Shape;4398;p273"/>
          <p:cNvSpPr/>
          <p:nvPr/>
        </p:nvSpPr>
        <p:spPr>
          <a:xfrm>
            <a:off x="952500" y="503872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9" name="Google Shape;4399;p273"/>
          <p:cNvSpPr/>
          <p:nvPr/>
        </p:nvSpPr>
        <p:spPr>
          <a:xfrm>
            <a:off x="2228850" y="4791075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0" name="Google Shape;4400;p273"/>
          <p:cNvSpPr/>
          <p:nvPr/>
        </p:nvSpPr>
        <p:spPr>
          <a:xfrm>
            <a:off x="2533650" y="5057775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[78, 65, 90, 55]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1" name="Google Shape;4401;p273"/>
          <p:cNvSpPr/>
          <p:nvPr/>
        </p:nvSpPr>
        <p:spPr>
          <a:xfrm>
            <a:off x="952500" y="607885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list is not rebuilt. The same list now holds a different value at position 3.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406" name="Shape 4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7" name="Google Shape;4407;p27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8" name="Google Shape;4408;p27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Adding items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9" name="Google Shape;4409;p274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[3]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0" name="Google Shape;4410;p274"/>
          <p:cNvSpPr/>
          <p:nvPr/>
        </p:nvSpPr>
        <p:spPr>
          <a:xfrm>
            <a:off x="2228850" y="2727960"/>
            <a:ext cx="15106650" cy="3120390"/>
          </a:xfrm>
          <a:prstGeom prst="roundRect">
            <a:avLst>
              <a:gd fmla="val 24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1" name="Google Shape;4411;p274"/>
          <p:cNvSpPr/>
          <p:nvPr/>
        </p:nvSpPr>
        <p:spPr>
          <a:xfrm>
            <a:off x="2541270" y="3002280"/>
            <a:ext cx="14935010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= [78, 65]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marks.append(90)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print(marks)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marks.insert(1, 50)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print(marks)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2" name="Google Shape;4412;p274"/>
          <p:cNvSpPr/>
          <p:nvPr/>
        </p:nvSpPr>
        <p:spPr>
          <a:xfrm>
            <a:off x="952500" y="63246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3" name="Google Shape;4413;p274"/>
          <p:cNvSpPr/>
          <p:nvPr/>
        </p:nvSpPr>
        <p:spPr>
          <a:xfrm>
            <a:off x="2228850" y="607695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4" name="Google Shape;4414;p274"/>
          <p:cNvSpPr/>
          <p:nvPr/>
        </p:nvSpPr>
        <p:spPr>
          <a:xfrm>
            <a:off x="2533650" y="634365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[78, 65, 90]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[78, 50, 65, 90]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5" name="Google Shape;4415;p274"/>
          <p:cNvSpPr/>
          <p:nvPr/>
        </p:nvSpPr>
        <p:spPr>
          <a:xfrm>
            <a:off x="952500" y="78486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insert takes the position first, then the value.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420" name="Shape 4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1" name="Google Shape;4421;p27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PATTERN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2" name="Google Shape;4422;p27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Building a list from input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3" name="Google Shape;4423;p275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[4]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4" name="Google Shape;4424;p275"/>
          <p:cNvSpPr/>
          <p:nvPr/>
        </p:nvSpPr>
        <p:spPr>
          <a:xfrm>
            <a:off x="2228850" y="2727960"/>
            <a:ext cx="15106650" cy="3120390"/>
          </a:xfrm>
          <a:prstGeom prst="roundRect">
            <a:avLst>
              <a:gd fmla="val 24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5" name="Google Shape;4425;p275"/>
          <p:cNvSpPr/>
          <p:nvPr/>
        </p:nvSpPr>
        <p:spPr>
          <a:xfrm>
            <a:off x="2541270" y="3002280"/>
            <a:ext cx="14935010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= []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 = int(input("How many subjects? 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range(n):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m = int(input("Marks: 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marks.append(m)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print(marks)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6" name="Google Shape;4426;p275"/>
          <p:cNvSpPr/>
          <p:nvPr/>
        </p:nvSpPr>
        <p:spPr>
          <a:xfrm>
            <a:off x="952500" y="63246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7" name="Google Shape;4427;p275"/>
          <p:cNvSpPr/>
          <p:nvPr/>
        </p:nvSpPr>
        <p:spPr>
          <a:xfrm>
            <a:off x="2228850" y="6076950"/>
            <a:ext cx="15106650" cy="2676525"/>
          </a:xfrm>
          <a:prstGeom prst="roundRect">
            <a:avLst>
              <a:gd fmla="val 2847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8" name="Google Shape;4428;p275"/>
          <p:cNvSpPr/>
          <p:nvPr/>
        </p:nvSpPr>
        <p:spPr>
          <a:xfrm>
            <a:off x="2533650" y="6343650"/>
            <a:ext cx="14950249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How many subjects? 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Marks: 78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Marks: 65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Marks: 90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[78, 65, 90]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433" name="Shape 4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4" name="Google Shape;4434;p27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5" name="Google Shape;4435;p27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Removing items: by value or by position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6" name="Google Shape;4436;p276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BY VALUE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7" name="Google Shape;4437;p276"/>
          <p:cNvSpPr/>
          <p:nvPr/>
        </p:nvSpPr>
        <p:spPr>
          <a:xfrm>
            <a:off x="952500" y="3276600"/>
            <a:ext cx="7943850" cy="1796415"/>
          </a:xfrm>
          <a:prstGeom prst="roundRect">
            <a:avLst>
              <a:gd fmla="val 42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8" name="Google Shape;4438;p276"/>
          <p:cNvSpPr/>
          <p:nvPr/>
        </p:nvSpPr>
        <p:spPr>
          <a:xfrm>
            <a:off x="1245870" y="3531870"/>
            <a:ext cx="7595425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 = [78, 65, 90]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m.remove(65)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9" name="Google Shape;4439;p276"/>
          <p:cNvSpPr/>
          <p:nvPr/>
        </p:nvSpPr>
        <p:spPr>
          <a:xfrm>
            <a:off x="952500" y="5263515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0" name="Google Shape;4440;p276"/>
          <p:cNvSpPr/>
          <p:nvPr/>
        </p:nvSpPr>
        <p:spPr>
          <a:xfrm>
            <a:off x="1238250" y="5511165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[78, 90]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1" name="Google Shape;4441;p276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BY POSITION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2" name="Google Shape;4442;p276"/>
          <p:cNvSpPr/>
          <p:nvPr/>
        </p:nvSpPr>
        <p:spPr>
          <a:xfrm>
            <a:off x="9391650" y="3276600"/>
            <a:ext cx="7943850" cy="1796415"/>
          </a:xfrm>
          <a:prstGeom prst="roundRect">
            <a:avLst>
              <a:gd fmla="val 42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3" name="Google Shape;4443;p276"/>
          <p:cNvSpPr/>
          <p:nvPr/>
        </p:nvSpPr>
        <p:spPr>
          <a:xfrm>
            <a:off x="9685020" y="3531870"/>
            <a:ext cx="7595425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 = [78, 65, 90]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= m.pop(0)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print(x, m)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4" name="Google Shape;4444;p276"/>
          <p:cNvSpPr/>
          <p:nvPr/>
        </p:nvSpPr>
        <p:spPr>
          <a:xfrm>
            <a:off x="9391650" y="5263515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5" name="Google Shape;4445;p276"/>
          <p:cNvSpPr/>
          <p:nvPr/>
        </p:nvSpPr>
        <p:spPr>
          <a:xfrm>
            <a:off x="9677400" y="5511165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78 [65, 90]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6" name="Google Shape;4446;p276"/>
          <p:cNvSpPr/>
          <p:nvPr/>
        </p:nvSpPr>
        <p:spPr>
          <a:xfrm>
            <a:off x="952500" y="655129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remove deletes the first match only. pop with no argument takes the last item.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451" name="Shape 4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2" name="Google Shape;4452;p27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3" name="Google Shape;4453;p27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Removing something that is not there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4" name="Google Shape;4454;p277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[5]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5" name="Google Shape;4455;p277"/>
          <p:cNvSpPr/>
          <p:nvPr/>
        </p:nvSpPr>
        <p:spPr>
          <a:xfrm>
            <a:off x="2228850" y="2727960"/>
            <a:ext cx="15106650" cy="1405890"/>
          </a:xfrm>
          <a:prstGeom prst="roundRect">
            <a:avLst>
              <a:gd fmla="val 5420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6" name="Google Shape;4456;p277"/>
          <p:cNvSpPr/>
          <p:nvPr/>
        </p:nvSpPr>
        <p:spPr>
          <a:xfrm>
            <a:off x="2541270" y="3002280"/>
            <a:ext cx="1493501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= [78, 65, 90]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marks.remove(50)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7" name="Google Shape;4457;p277"/>
          <p:cNvSpPr/>
          <p:nvPr/>
        </p:nvSpPr>
        <p:spPr>
          <a:xfrm>
            <a:off x="952500" y="46101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8" name="Google Shape;4458;p277"/>
          <p:cNvSpPr/>
          <p:nvPr/>
        </p:nvSpPr>
        <p:spPr>
          <a:xfrm>
            <a:off x="2228850" y="4362450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9" name="Google Shape;4459;p277"/>
          <p:cNvSpPr/>
          <p:nvPr/>
        </p:nvSpPr>
        <p:spPr>
          <a:xfrm>
            <a:off x="2533650" y="4629150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ValueError: list.remove(x): x not in list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0" name="Google Shape;4460;p277"/>
          <p:cNvSpPr/>
          <p:nvPr/>
        </p:nvSpPr>
        <p:spPr>
          <a:xfrm>
            <a:off x="952500" y="5688330"/>
            <a:ext cx="16383000" cy="1352550"/>
          </a:xfrm>
          <a:prstGeom prst="roundRect">
            <a:avLst>
              <a:gd fmla="val 563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1" name="Google Shape;4461;p277"/>
          <p:cNvSpPr/>
          <p:nvPr/>
        </p:nvSpPr>
        <p:spPr>
          <a:xfrm>
            <a:off x="1238250" y="5935980"/>
            <a:ext cx="1630299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50 in marks: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marks.remove(50)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466" name="Shape 4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7" name="Google Shape;4467;p27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8" name="Google Shape;4468;p27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Finding things in a list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9" name="Google Shape;4469;p278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[6]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0" name="Google Shape;4470;p278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1" name="Google Shape;4471;p278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= [78, 65, 90, 65]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print(90 in marks)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print(marks.index(65))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print(marks.count(65))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2" name="Google Shape;4472;p278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3" name="Google Shape;4473;p278"/>
          <p:cNvSpPr/>
          <p:nvPr/>
        </p:nvSpPr>
        <p:spPr>
          <a:xfrm>
            <a:off x="2228850" y="5219700"/>
            <a:ext cx="15106650" cy="1819275"/>
          </a:xfrm>
          <a:prstGeom prst="roundRect">
            <a:avLst>
              <a:gd fmla="val 418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4" name="Google Shape;4474;p278"/>
          <p:cNvSpPr/>
          <p:nvPr/>
        </p:nvSpPr>
        <p:spPr>
          <a:xfrm>
            <a:off x="2533650" y="5486400"/>
            <a:ext cx="14950249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5" name="Google Shape;4475;p278"/>
          <p:cNvSpPr/>
          <p:nvPr/>
        </p:nvSpPr>
        <p:spPr>
          <a:xfrm>
            <a:off x="952500" y="741997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index gives the position of the first match, and raises ValueError if there is none.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480" name="Shape 4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1" name="Google Shape;4481;p27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REFERENCE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2" name="Google Shape;4482;p27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List methods worth knowing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3" name="Google Shape;4483;p279"/>
          <p:cNvSpPr/>
          <p:nvPr/>
        </p:nvSpPr>
        <p:spPr>
          <a:xfrm>
            <a:off x="952500" y="2727960"/>
            <a:ext cx="5257800" cy="1425892"/>
          </a:xfrm>
          <a:prstGeom prst="roundRect">
            <a:avLst>
              <a:gd fmla="val 534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4" name="Google Shape;4484;p279"/>
          <p:cNvSpPr/>
          <p:nvPr/>
        </p:nvSpPr>
        <p:spPr>
          <a:xfrm>
            <a:off x="1219200" y="2994660"/>
            <a:ext cx="519684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.append(x)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5" name="Google Shape;4485;p279"/>
          <p:cNvSpPr/>
          <p:nvPr/>
        </p:nvSpPr>
        <p:spPr>
          <a:xfrm>
            <a:off x="1219200" y="3542347"/>
            <a:ext cx="2107406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Add x at the end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6" name="Google Shape;4486;p279"/>
          <p:cNvSpPr/>
          <p:nvPr/>
        </p:nvSpPr>
        <p:spPr>
          <a:xfrm>
            <a:off x="6515100" y="2727960"/>
            <a:ext cx="5257800" cy="1425892"/>
          </a:xfrm>
          <a:prstGeom prst="roundRect">
            <a:avLst>
              <a:gd fmla="val 534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7" name="Google Shape;4487;p279"/>
          <p:cNvSpPr/>
          <p:nvPr/>
        </p:nvSpPr>
        <p:spPr>
          <a:xfrm>
            <a:off x="6781800" y="2994660"/>
            <a:ext cx="519684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.insert(i, x)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8" name="Google Shape;4488;p279"/>
          <p:cNvSpPr/>
          <p:nvPr/>
        </p:nvSpPr>
        <p:spPr>
          <a:xfrm>
            <a:off x="6781800" y="3542347"/>
            <a:ext cx="2311241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Add x at position 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9" name="Google Shape;4489;p279"/>
          <p:cNvSpPr/>
          <p:nvPr/>
        </p:nvSpPr>
        <p:spPr>
          <a:xfrm>
            <a:off x="12077700" y="2727960"/>
            <a:ext cx="5257800" cy="1425892"/>
          </a:xfrm>
          <a:prstGeom prst="roundRect">
            <a:avLst>
              <a:gd fmla="val 534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0" name="Google Shape;4490;p279"/>
          <p:cNvSpPr/>
          <p:nvPr/>
        </p:nvSpPr>
        <p:spPr>
          <a:xfrm>
            <a:off x="12344400" y="2994660"/>
            <a:ext cx="519684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.remove(x)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1" name="Google Shape;4491;p279"/>
          <p:cNvSpPr/>
          <p:nvPr/>
        </p:nvSpPr>
        <p:spPr>
          <a:xfrm>
            <a:off x="12344400" y="3542347"/>
            <a:ext cx="2135267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Delete the first x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2" name="Google Shape;4492;p279"/>
          <p:cNvSpPr/>
          <p:nvPr/>
        </p:nvSpPr>
        <p:spPr>
          <a:xfrm>
            <a:off x="952500" y="4458653"/>
            <a:ext cx="5257800" cy="1425892"/>
          </a:xfrm>
          <a:prstGeom prst="roundRect">
            <a:avLst>
              <a:gd fmla="val 534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3" name="Google Shape;4493;p279"/>
          <p:cNvSpPr/>
          <p:nvPr/>
        </p:nvSpPr>
        <p:spPr>
          <a:xfrm>
            <a:off x="1219200" y="4725353"/>
            <a:ext cx="519684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.pop(i)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4" name="Google Shape;4494;p279"/>
          <p:cNvSpPr/>
          <p:nvPr/>
        </p:nvSpPr>
        <p:spPr>
          <a:xfrm>
            <a:off x="1219200" y="5273040"/>
            <a:ext cx="3002580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Remove and hand back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5" name="Google Shape;4495;p279"/>
          <p:cNvSpPr/>
          <p:nvPr/>
        </p:nvSpPr>
        <p:spPr>
          <a:xfrm>
            <a:off x="6515100" y="4458653"/>
            <a:ext cx="5257800" cy="1425892"/>
          </a:xfrm>
          <a:prstGeom prst="roundRect">
            <a:avLst>
              <a:gd fmla="val 534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6" name="Google Shape;4496;p279"/>
          <p:cNvSpPr/>
          <p:nvPr/>
        </p:nvSpPr>
        <p:spPr>
          <a:xfrm>
            <a:off x="6781800" y="4725353"/>
            <a:ext cx="519684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.index(x)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7" name="Google Shape;4497;p279"/>
          <p:cNvSpPr/>
          <p:nvPr/>
        </p:nvSpPr>
        <p:spPr>
          <a:xfrm>
            <a:off x="6781800" y="5273040"/>
            <a:ext cx="2686183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Position of the first x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8" name="Google Shape;4498;p279"/>
          <p:cNvSpPr/>
          <p:nvPr/>
        </p:nvSpPr>
        <p:spPr>
          <a:xfrm>
            <a:off x="12077700" y="4458653"/>
            <a:ext cx="5257800" cy="1425892"/>
          </a:xfrm>
          <a:prstGeom prst="roundRect">
            <a:avLst>
              <a:gd fmla="val 534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9" name="Google Shape;4499;p279"/>
          <p:cNvSpPr/>
          <p:nvPr/>
        </p:nvSpPr>
        <p:spPr>
          <a:xfrm>
            <a:off x="12344400" y="4725353"/>
            <a:ext cx="519684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.count(x)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0" name="Google Shape;4500;p279"/>
          <p:cNvSpPr/>
          <p:nvPr/>
        </p:nvSpPr>
        <p:spPr>
          <a:xfrm>
            <a:off x="12344400" y="5273040"/>
            <a:ext cx="2819364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How many x there are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1" name="Google Shape;4501;p279"/>
          <p:cNvSpPr/>
          <p:nvPr/>
        </p:nvSpPr>
        <p:spPr>
          <a:xfrm>
            <a:off x="952500" y="6189345"/>
            <a:ext cx="5257800" cy="1425892"/>
          </a:xfrm>
          <a:prstGeom prst="roundRect">
            <a:avLst>
              <a:gd fmla="val 534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2" name="Google Shape;4502;p279"/>
          <p:cNvSpPr/>
          <p:nvPr/>
        </p:nvSpPr>
        <p:spPr>
          <a:xfrm>
            <a:off x="1219200" y="6456045"/>
            <a:ext cx="519684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.sort()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3" name="Google Shape;4503;p279"/>
          <p:cNvSpPr/>
          <p:nvPr/>
        </p:nvSpPr>
        <p:spPr>
          <a:xfrm>
            <a:off x="1219200" y="7003732"/>
            <a:ext cx="2599730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Put in order, in place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4" name="Google Shape;4504;p279"/>
          <p:cNvSpPr/>
          <p:nvPr/>
        </p:nvSpPr>
        <p:spPr>
          <a:xfrm>
            <a:off x="6515100" y="6189345"/>
            <a:ext cx="5257800" cy="1425892"/>
          </a:xfrm>
          <a:prstGeom prst="roundRect">
            <a:avLst>
              <a:gd fmla="val 534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5" name="Google Shape;4505;p279"/>
          <p:cNvSpPr/>
          <p:nvPr/>
        </p:nvSpPr>
        <p:spPr>
          <a:xfrm>
            <a:off x="6781800" y="6456045"/>
            <a:ext cx="519684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.reverse()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6" name="Google Shape;4506;p279"/>
          <p:cNvSpPr/>
          <p:nvPr/>
        </p:nvSpPr>
        <p:spPr>
          <a:xfrm>
            <a:off x="6781800" y="7003732"/>
            <a:ext cx="1595795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Flip, in place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7" name="Google Shape;4507;p279"/>
          <p:cNvSpPr/>
          <p:nvPr/>
        </p:nvSpPr>
        <p:spPr>
          <a:xfrm>
            <a:off x="12077700" y="6189345"/>
            <a:ext cx="5257800" cy="1425892"/>
          </a:xfrm>
          <a:prstGeom prst="roundRect">
            <a:avLst>
              <a:gd fmla="val 534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8" name="Google Shape;4508;p279"/>
          <p:cNvSpPr/>
          <p:nvPr/>
        </p:nvSpPr>
        <p:spPr>
          <a:xfrm>
            <a:off x="12344400" y="6456045"/>
            <a:ext cx="519684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.clear()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9" name="Google Shape;4509;p279"/>
          <p:cNvSpPr/>
          <p:nvPr/>
        </p:nvSpPr>
        <p:spPr>
          <a:xfrm>
            <a:off x="12344400" y="7003732"/>
            <a:ext cx="1120021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Empty 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514" name="Shape 4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" name="Google Shape;4515;p28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6" name="Google Shape;4516;p28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sort() changes the list and returns nothing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7" name="Google Shape;4517;p280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WRONG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8" name="Google Shape;4518;p280"/>
          <p:cNvSpPr/>
          <p:nvPr/>
        </p:nvSpPr>
        <p:spPr>
          <a:xfrm>
            <a:off x="952500" y="3276600"/>
            <a:ext cx="7943850" cy="1796415"/>
          </a:xfrm>
          <a:prstGeom prst="roundRect">
            <a:avLst>
              <a:gd fmla="val 42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9" name="Google Shape;4519;p280"/>
          <p:cNvSpPr/>
          <p:nvPr/>
        </p:nvSpPr>
        <p:spPr>
          <a:xfrm>
            <a:off x="1245870" y="3531870"/>
            <a:ext cx="7595425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 = [3, 1, 2]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 = m.sort()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0" name="Google Shape;4520;p280"/>
          <p:cNvSpPr/>
          <p:nvPr/>
        </p:nvSpPr>
        <p:spPr>
          <a:xfrm>
            <a:off x="952500" y="5263515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1" name="Google Shape;4521;p280"/>
          <p:cNvSpPr/>
          <p:nvPr/>
        </p:nvSpPr>
        <p:spPr>
          <a:xfrm>
            <a:off x="1238250" y="5511165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None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2" name="Google Shape;4522;p280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RIGHT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3" name="Google Shape;4523;p280"/>
          <p:cNvSpPr/>
          <p:nvPr/>
        </p:nvSpPr>
        <p:spPr>
          <a:xfrm>
            <a:off x="9391650" y="3276600"/>
            <a:ext cx="7943850" cy="1796415"/>
          </a:xfrm>
          <a:prstGeom prst="roundRect">
            <a:avLst>
              <a:gd fmla="val 42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4" name="Google Shape;4524;p280"/>
          <p:cNvSpPr/>
          <p:nvPr/>
        </p:nvSpPr>
        <p:spPr>
          <a:xfrm>
            <a:off x="9685020" y="3531870"/>
            <a:ext cx="7595425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 = [3, 1, 2]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m.sort()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5" name="Google Shape;4525;p280"/>
          <p:cNvSpPr/>
          <p:nvPr/>
        </p:nvSpPr>
        <p:spPr>
          <a:xfrm>
            <a:off x="9391650" y="5263515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6" name="Google Shape;4526;p280"/>
          <p:cNvSpPr/>
          <p:nvPr/>
        </p:nvSpPr>
        <p:spPr>
          <a:xfrm>
            <a:off x="9677400" y="5511165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[1, 2, 3]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7" name="Google Shape;4527;p280"/>
          <p:cNvSpPr/>
          <p:nvPr/>
        </p:nvSpPr>
        <p:spPr>
          <a:xfrm>
            <a:off x="952500" y="655129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Use sorted(m) when you want a new sorted list and need to keep the original.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532" name="Shape 4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3" name="Google Shape;4533;p28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TRAP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4" name="Google Shape;4534;p28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Two names for the same list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5" name="Google Shape;4535;p281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SAME LIST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6" name="Google Shape;4536;p281"/>
          <p:cNvSpPr/>
          <p:nvPr/>
        </p:nvSpPr>
        <p:spPr>
          <a:xfrm>
            <a:off x="952500" y="3276600"/>
            <a:ext cx="7943850" cy="2225040"/>
          </a:xfrm>
          <a:prstGeom prst="roundRect">
            <a:avLst>
              <a:gd fmla="val 342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7" name="Google Shape;4537;p281"/>
          <p:cNvSpPr/>
          <p:nvPr/>
        </p:nvSpPr>
        <p:spPr>
          <a:xfrm>
            <a:off x="1245870" y="3531870"/>
            <a:ext cx="75954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[1, 2, 3]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= 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b.append(4)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8" name="Google Shape;4538;p281"/>
          <p:cNvSpPr/>
          <p:nvPr/>
        </p:nvSpPr>
        <p:spPr>
          <a:xfrm>
            <a:off x="952500" y="5692140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9" name="Google Shape;4539;p281"/>
          <p:cNvSpPr/>
          <p:nvPr/>
        </p:nvSpPr>
        <p:spPr>
          <a:xfrm>
            <a:off x="1238250" y="5939790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[1, 2, 3, 4]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0" name="Google Shape;4540;p281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REAL COPY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1" name="Google Shape;4541;p281"/>
          <p:cNvSpPr/>
          <p:nvPr/>
        </p:nvSpPr>
        <p:spPr>
          <a:xfrm>
            <a:off x="9391650" y="3276600"/>
            <a:ext cx="7943850" cy="2225040"/>
          </a:xfrm>
          <a:prstGeom prst="roundRect">
            <a:avLst>
              <a:gd fmla="val 342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2" name="Google Shape;4542;p281"/>
          <p:cNvSpPr/>
          <p:nvPr/>
        </p:nvSpPr>
        <p:spPr>
          <a:xfrm>
            <a:off x="9685020" y="3531870"/>
            <a:ext cx="75954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[1, 2, 3]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= a[:]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b.append(4)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3" name="Google Shape;4543;p281"/>
          <p:cNvSpPr/>
          <p:nvPr/>
        </p:nvSpPr>
        <p:spPr>
          <a:xfrm>
            <a:off x="9391650" y="5692140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4" name="Google Shape;4544;p281"/>
          <p:cNvSpPr/>
          <p:nvPr/>
        </p:nvSpPr>
        <p:spPr>
          <a:xfrm>
            <a:off x="9677400" y="5939790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[1, 2, 3]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5" name="Google Shape;4545;p281"/>
          <p:cNvSpPr/>
          <p:nvPr/>
        </p:nvSpPr>
        <p:spPr>
          <a:xfrm>
            <a:off x="952500" y="697992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 = a gives the same list a second name. b = a[:] makes a new one.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550" name="Shape 4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1" name="Google Shape;4551;p28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QUICK 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2" name="Google Shape;4552;p28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Starting from m = [1, 2, 3] each time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3" name="Google Shape;4553;p282"/>
          <p:cNvSpPr/>
          <p:nvPr/>
        </p:nvSpPr>
        <p:spPr>
          <a:xfrm>
            <a:off x="952500" y="2727960"/>
            <a:ext cx="8039100" cy="9906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4" name="Google Shape;4554;p282"/>
          <p:cNvSpPr/>
          <p:nvPr/>
        </p:nvSpPr>
        <p:spPr>
          <a:xfrm>
            <a:off x="1264920" y="3002280"/>
            <a:ext cx="76554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m[1] = 9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5" name="Google Shape;4555;p282"/>
          <p:cNvSpPr/>
          <p:nvPr/>
        </p:nvSpPr>
        <p:spPr>
          <a:xfrm>
            <a:off x="9296400" y="2727960"/>
            <a:ext cx="8039100" cy="9906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6" name="Google Shape;4556;p282"/>
          <p:cNvSpPr/>
          <p:nvPr/>
        </p:nvSpPr>
        <p:spPr>
          <a:xfrm>
            <a:off x="9608820" y="3002280"/>
            <a:ext cx="76554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m.remove(2)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7" name="Google Shape;4557;p282"/>
          <p:cNvSpPr/>
          <p:nvPr/>
        </p:nvSpPr>
        <p:spPr>
          <a:xfrm>
            <a:off x="952500" y="4023360"/>
            <a:ext cx="8039100" cy="9906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8" name="Google Shape;4558;p282"/>
          <p:cNvSpPr/>
          <p:nvPr/>
        </p:nvSpPr>
        <p:spPr>
          <a:xfrm>
            <a:off x="1264920" y="4297680"/>
            <a:ext cx="76554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m.index(3)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9" name="Google Shape;4559;p282"/>
          <p:cNvSpPr/>
          <p:nvPr/>
        </p:nvSpPr>
        <p:spPr>
          <a:xfrm>
            <a:off x="9296400" y="4023360"/>
            <a:ext cx="8039100" cy="9906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0" name="Google Shape;4560;p282"/>
          <p:cNvSpPr/>
          <p:nvPr/>
        </p:nvSpPr>
        <p:spPr>
          <a:xfrm>
            <a:off x="9608820" y="4297680"/>
            <a:ext cx="76554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m.remove(7)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4565" name="Shape 4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6" name="Google Shape;4566;p28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7" name="Google Shape;4567;p28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8" name="Google Shape;4568;p283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9" name="Google Shape;4569;p283"/>
          <p:cNvSpPr/>
          <p:nvPr/>
        </p:nvSpPr>
        <p:spPr>
          <a:xfrm>
            <a:off x="1684139" y="272796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 five marks into a list and print the list, its length and its last item.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0" name="Google Shape;4570;p283"/>
          <p:cNvSpPr/>
          <p:nvPr/>
        </p:nvSpPr>
        <p:spPr>
          <a:xfrm>
            <a:off x="952500" y="413766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1" name="Google Shape;4571;p283"/>
          <p:cNvSpPr/>
          <p:nvPr/>
        </p:nvSpPr>
        <p:spPr>
          <a:xfrm>
            <a:off x="1684139" y="4076700"/>
            <a:ext cx="13523965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 a list of names, then remove one the user asks for, safely.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2" name="Google Shape;4572;p283"/>
          <p:cNvSpPr/>
          <p:nvPr/>
        </p:nvSpPr>
        <p:spPr>
          <a:xfrm>
            <a:off x="952500" y="498348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3" name="Google Shape;4573;p283"/>
          <p:cNvSpPr/>
          <p:nvPr/>
        </p:nvSpPr>
        <p:spPr>
          <a:xfrm>
            <a:off x="1684139" y="492252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Build a new list containing only the items that appear once in the original.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578" name="Shape 4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9" name="Google Shape;4579;p28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0" name="Google Shape;4580;p28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1" name="Google Shape;4581;p284"/>
          <p:cNvSpPr/>
          <p:nvPr/>
        </p:nvSpPr>
        <p:spPr>
          <a:xfrm>
            <a:off x="952500" y="272796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2" name="Google Shape;4582;p284"/>
          <p:cNvSpPr/>
          <p:nvPr/>
        </p:nvSpPr>
        <p:spPr>
          <a:xfrm>
            <a:off x="1295400" y="307086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Create a list and read any item by position.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3" name="Google Shape;4583;p284"/>
          <p:cNvSpPr/>
          <p:nvPr/>
        </p:nvSpPr>
        <p:spPr>
          <a:xfrm>
            <a:off x="9334500" y="272796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4" name="Google Shape;4584;p284"/>
          <p:cNvSpPr/>
          <p:nvPr/>
        </p:nvSpPr>
        <p:spPr>
          <a:xfrm>
            <a:off x="9677400" y="307086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Add with append and insert, remove with remove and pop.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5" name="Google Shape;4585;p284"/>
          <p:cNvSpPr/>
          <p:nvPr/>
        </p:nvSpPr>
        <p:spPr>
          <a:xfrm>
            <a:off x="952500" y="470154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6" name="Google Shape;4586;p284"/>
          <p:cNvSpPr/>
          <p:nvPr/>
        </p:nvSpPr>
        <p:spPr>
          <a:xfrm>
            <a:off x="1295400" y="504444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Search with in, index and count.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7" name="Google Shape;4587;p284"/>
          <p:cNvSpPr/>
          <p:nvPr/>
        </p:nvSpPr>
        <p:spPr>
          <a:xfrm>
            <a:off x="9334500" y="470154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8" name="Google Shape;4588;p284"/>
          <p:cNvSpPr/>
          <p:nvPr/>
        </p:nvSpPr>
        <p:spPr>
          <a:xfrm>
            <a:off x="9677400" y="504444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Explain why b = a is not a copy.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9" name="Google Shape;4589;p284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class: traversal patterns.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4594" name="Shape 4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5" name="Google Shape;4595;p285"/>
          <p:cNvSpPr/>
          <p:nvPr/>
        </p:nvSpPr>
        <p:spPr>
          <a:xfrm>
            <a:off x="952500" y="3705225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6 · LISTS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6" name="Google Shape;4596;p285"/>
          <p:cNvSpPr/>
          <p:nvPr/>
        </p:nvSpPr>
        <p:spPr>
          <a:xfrm>
            <a:off x="952500" y="4474845"/>
            <a:ext cx="1756029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18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7" name="Google Shape;4597;p285"/>
          <p:cNvSpPr/>
          <p:nvPr/>
        </p:nvSpPr>
        <p:spPr>
          <a:xfrm>
            <a:off x="3082290" y="5252085"/>
            <a:ext cx="10791825" cy="15582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List Traversal Patterns: Sum, Max, Min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602" name="Shape 4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3" name="Google Shape;4603;p28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18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4" name="Google Shape;4604;p28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5" name="Google Shape;4605;p286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6" name="Google Shape;4606;p286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7" name="Google Shape;4607;p286"/>
          <p:cNvSpPr/>
          <p:nvPr/>
        </p:nvSpPr>
        <p:spPr>
          <a:xfrm>
            <a:off x="1646039" y="2727960"/>
            <a:ext cx="7010496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Accumulate: totals and averages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8" name="Google Shape;4608;p286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9" name="Google Shape;4609;p286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0" name="Google Shape;4610;p286"/>
          <p:cNvSpPr/>
          <p:nvPr/>
        </p:nvSpPr>
        <p:spPr>
          <a:xfrm>
            <a:off x="1646039" y="3771900"/>
            <a:ext cx="5753981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Track: largest and smallest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1" name="Google Shape;4611;p286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2" name="Google Shape;4612;p286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3" name="Google Shape;4613;p286"/>
          <p:cNvSpPr/>
          <p:nvPr/>
        </p:nvSpPr>
        <p:spPr>
          <a:xfrm>
            <a:off x="1646039" y="4815840"/>
            <a:ext cx="336262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Count and filter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4" name="Google Shape;4614;p286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5" name="Google Shape;4615;p286"/>
          <p:cNvSpPr/>
          <p:nvPr/>
        </p:nvSpPr>
        <p:spPr>
          <a:xfrm>
            <a:off x="1646039" y="5859780"/>
            <a:ext cx="574271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Search, and stopping early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620" name="Shape 4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1" name="Google Shape;4621;p28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2" name="Google Shape;4622;p28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Two ways to walk a list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3" name="Google Shape;4623;p287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BY ITEM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4" name="Google Shape;4624;p287"/>
          <p:cNvSpPr/>
          <p:nvPr/>
        </p:nvSpPr>
        <p:spPr>
          <a:xfrm>
            <a:off x="952500" y="327660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5" name="Google Shape;4625;p287"/>
          <p:cNvSpPr/>
          <p:nvPr/>
        </p:nvSpPr>
        <p:spPr>
          <a:xfrm>
            <a:off x="1245870" y="353187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m in marks: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print(m,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6" name="Google Shape;4626;p287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BY POSITION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7" name="Google Shape;4627;p287"/>
          <p:cNvSpPr/>
          <p:nvPr/>
        </p:nvSpPr>
        <p:spPr>
          <a:xfrm>
            <a:off x="9391650" y="327660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8" name="Google Shape;4628;p287"/>
          <p:cNvSpPr/>
          <p:nvPr/>
        </p:nvSpPr>
        <p:spPr>
          <a:xfrm>
            <a:off x="9685020" y="353187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range(len(marks)):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print(i, marks[i])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9" name="Google Shape;4629;p287"/>
          <p:cNvSpPr/>
          <p:nvPr/>
        </p:nvSpPr>
        <p:spPr>
          <a:xfrm>
            <a:off x="952500" y="513969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Use the first unless you need the position. It is shorter and cannot go out of range.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634" name="Shape 4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5" name="Google Shape;4635;p28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PATTERN 1 · ACCUMULATE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6" name="Google Shape;4636;p28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Total and average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7" name="Google Shape;4637;p288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8" name="Google Shape;4638;p288"/>
          <p:cNvSpPr/>
          <p:nvPr/>
        </p:nvSpPr>
        <p:spPr>
          <a:xfrm>
            <a:off x="2228850" y="2727960"/>
            <a:ext cx="15106650" cy="3120390"/>
          </a:xfrm>
          <a:prstGeom prst="roundRect">
            <a:avLst>
              <a:gd fmla="val 24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9" name="Google Shape;4639;p288"/>
          <p:cNvSpPr/>
          <p:nvPr/>
        </p:nvSpPr>
        <p:spPr>
          <a:xfrm>
            <a:off x="2541270" y="3002280"/>
            <a:ext cx="14935010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= [78, 65, 90, 42]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total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m in marks: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total = total + 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print(total)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print(total / len(marks))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0" name="Google Shape;4640;p288"/>
          <p:cNvSpPr/>
          <p:nvPr/>
        </p:nvSpPr>
        <p:spPr>
          <a:xfrm>
            <a:off x="952500" y="63246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1" name="Google Shape;4641;p288"/>
          <p:cNvSpPr/>
          <p:nvPr/>
        </p:nvSpPr>
        <p:spPr>
          <a:xfrm>
            <a:off x="2228850" y="607695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2" name="Google Shape;4642;p288"/>
          <p:cNvSpPr/>
          <p:nvPr/>
        </p:nvSpPr>
        <p:spPr>
          <a:xfrm>
            <a:off x="2533650" y="634365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275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68.75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3" name="Google Shape;4643;p288"/>
          <p:cNvSpPr/>
          <p:nvPr/>
        </p:nvSpPr>
        <p:spPr>
          <a:xfrm>
            <a:off x="952500" y="78486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Start at 0 outside the loop. Divide after it, never inside.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648" name="Shape 4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9" name="Google Shape;4649;p28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PATTERN 2 · TRACK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0" name="Google Shape;4650;p28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largest value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1" name="Google Shape;4651;p289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2" name="Google Shape;4652;p289"/>
          <p:cNvSpPr/>
          <p:nvPr/>
        </p:nvSpPr>
        <p:spPr>
          <a:xfrm>
            <a:off x="2228850" y="2727960"/>
            <a:ext cx="15106650" cy="3120390"/>
          </a:xfrm>
          <a:prstGeom prst="roundRect">
            <a:avLst>
              <a:gd fmla="val 24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3" name="Google Shape;4653;p289"/>
          <p:cNvSpPr/>
          <p:nvPr/>
        </p:nvSpPr>
        <p:spPr>
          <a:xfrm>
            <a:off x="2541270" y="3002280"/>
            <a:ext cx="14935010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= [78, 65, 90, 42]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largest = marks[0]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m in marks: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m &gt; largest: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largest = 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print(largest)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4" name="Google Shape;4654;p289"/>
          <p:cNvSpPr/>
          <p:nvPr/>
        </p:nvSpPr>
        <p:spPr>
          <a:xfrm>
            <a:off x="952500" y="63246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5" name="Google Shape;4655;p289"/>
          <p:cNvSpPr/>
          <p:nvPr/>
        </p:nvSpPr>
        <p:spPr>
          <a:xfrm>
            <a:off x="2228850" y="6076950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6" name="Google Shape;4656;p289"/>
          <p:cNvSpPr/>
          <p:nvPr/>
        </p:nvSpPr>
        <p:spPr>
          <a:xfrm>
            <a:off x="2533650" y="6343650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661" name="Shape 4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2" name="Google Shape;4662;p29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3" name="Google Shape;4663;p29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Following largest through the list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4" name="Google Shape;4664;p290"/>
          <p:cNvSpPr/>
          <p:nvPr/>
        </p:nvSpPr>
        <p:spPr>
          <a:xfrm>
            <a:off x="952500" y="272796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5" name="Google Shape;4665;p290"/>
          <p:cNvSpPr/>
          <p:nvPr/>
        </p:nvSpPr>
        <p:spPr>
          <a:xfrm>
            <a:off x="952500" y="34442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6" name="Google Shape;4666;p290"/>
          <p:cNvSpPr/>
          <p:nvPr/>
        </p:nvSpPr>
        <p:spPr>
          <a:xfrm>
            <a:off x="1181100" y="2914650"/>
            <a:ext cx="376142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7" name="Google Shape;4667;p290"/>
          <p:cNvSpPr/>
          <p:nvPr/>
        </p:nvSpPr>
        <p:spPr>
          <a:xfrm>
            <a:off x="5048250" y="34442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8" name="Google Shape;4668;p290"/>
          <p:cNvSpPr/>
          <p:nvPr/>
        </p:nvSpPr>
        <p:spPr>
          <a:xfrm>
            <a:off x="5276850" y="2914650"/>
            <a:ext cx="376142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largest BEFORE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9" name="Google Shape;4669;p290"/>
          <p:cNvSpPr/>
          <p:nvPr/>
        </p:nvSpPr>
        <p:spPr>
          <a:xfrm>
            <a:off x="9144000" y="34442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0" name="Google Shape;4670;p290"/>
          <p:cNvSpPr/>
          <p:nvPr/>
        </p:nvSpPr>
        <p:spPr>
          <a:xfrm>
            <a:off x="9372600" y="2914650"/>
            <a:ext cx="376142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 &gt; largest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1" name="Google Shape;4671;p290"/>
          <p:cNvSpPr/>
          <p:nvPr/>
        </p:nvSpPr>
        <p:spPr>
          <a:xfrm>
            <a:off x="13239750" y="34442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2" name="Google Shape;4672;p290"/>
          <p:cNvSpPr/>
          <p:nvPr/>
        </p:nvSpPr>
        <p:spPr>
          <a:xfrm>
            <a:off x="13468350" y="2914650"/>
            <a:ext cx="376142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largest AFTER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3" name="Google Shape;4673;p290"/>
          <p:cNvSpPr/>
          <p:nvPr/>
        </p:nvSpPr>
        <p:spPr>
          <a:xfrm>
            <a:off x="952500" y="41833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4" name="Google Shape;4674;p290"/>
          <p:cNvSpPr/>
          <p:nvPr/>
        </p:nvSpPr>
        <p:spPr>
          <a:xfrm>
            <a:off x="1181100" y="360426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78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5" name="Google Shape;4675;p290"/>
          <p:cNvSpPr/>
          <p:nvPr/>
        </p:nvSpPr>
        <p:spPr>
          <a:xfrm>
            <a:off x="5048250" y="41833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6" name="Google Shape;4676;p290"/>
          <p:cNvSpPr/>
          <p:nvPr/>
        </p:nvSpPr>
        <p:spPr>
          <a:xfrm>
            <a:off x="5276850" y="360426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78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7" name="Google Shape;4677;p290"/>
          <p:cNvSpPr/>
          <p:nvPr/>
        </p:nvSpPr>
        <p:spPr>
          <a:xfrm>
            <a:off x="9144000" y="41833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8" name="Google Shape;4678;p290"/>
          <p:cNvSpPr/>
          <p:nvPr/>
        </p:nvSpPr>
        <p:spPr>
          <a:xfrm>
            <a:off x="9372600" y="360426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9" name="Google Shape;4679;p290"/>
          <p:cNvSpPr/>
          <p:nvPr/>
        </p:nvSpPr>
        <p:spPr>
          <a:xfrm>
            <a:off x="13239750" y="41833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0" name="Google Shape;4680;p290"/>
          <p:cNvSpPr/>
          <p:nvPr/>
        </p:nvSpPr>
        <p:spPr>
          <a:xfrm>
            <a:off x="13468350" y="360426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78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1" name="Google Shape;4681;p290"/>
          <p:cNvSpPr/>
          <p:nvPr/>
        </p:nvSpPr>
        <p:spPr>
          <a:xfrm>
            <a:off x="952500" y="492252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2" name="Google Shape;4682;p290"/>
          <p:cNvSpPr/>
          <p:nvPr/>
        </p:nvSpPr>
        <p:spPr>
          <a:xfrm>
            <a:off x="1181100" y="434340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65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3" name="Google Shape;4683;p290"/>
          <p:cNvSpPr/>
          <p:nvPr/>
        </p:nvSpPr>
        <p:spPr>
          <a:xfrm>
            <a:off x="5048250" y="492252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4" name="Google Shape;4684;p290"/>
          <p:cNvSpPr/>
          <p:nvPr/>
        </p:nvSpPr>
        <p:spPr>
          <a:xfrm>
            <a:off x="5276850" y="434340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78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5" name="Google Shape;4685;p290"/>
          <p:cNvSpPr/>
          <p:nvPr/>
        </p:nvSpPr>
        <p:spPr>
          <a:xfrm>
            <a:off x="9144000" y="492252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6" name="Google Shape;4686;p290"/>
          <p:cNvSpPr/>
          <p:nvPr/>
        </p:nvSpPr>
        <p:spPr>
          <a:xfrm>
            <a:off x="9372600" y="434340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7" name="Google Shape;4687;p290"/>
          <p:cNvSpPr/>
          <p:nvPr/>
        </p:nvSpPr>
        <p:spPr>
          <a:xfrm>
            <a:off x="13239750" y="492252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8" name="Google Shape;4688;p290"/>
          <p:cNvSpPr/>
          <p:nvPr/>
        </p:nvSpPr>
        <p:spPr>
          <a:xfrm>
            <a:off x="13468350" y="434340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78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9" name="Google Shape;4689;p290"/>
          <p:cNvSpPr/>
          <p:nvPr/>
        </p:nvSpPr>
        <p:spPr>
          <a:xfrm>
            <a:off x="952500" y="566166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0" name="Google Shape;4690;p290"/>
          <p:cNvSpPr/>
          <p:nvPr/>
        </p:nvSpPr>
        <p:spPr>
          <a:xfrm>
            <a:off x="1181100" y="508254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1" name="Google Shape;4691;p290"/>
          <p:cNvSpPr/>
          <p:nvPr/>
        </p:nvSpPr>
        <p:spPr>
          <a:xfrm>
            <a:off x="5048250" y="566166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2" name="Google Shape;4692;p290"/>
          <p:cNvSpPr/>
          <p:nvPr/>
        </p:nvSpPr>
        <p:spPr>
          <a:xfrm>
            <a:off x="5276850" y="508254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78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3" name="Google Shape;4693;p290"/>
          <p:cNvSpPr/>
          <p:nvPr/>
        </p:nvSpPr>
        <p:spPr>
          <a:xfrm>
            <a:off x="9144000" y="566166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4" name="Google Shape;4694;p290"/>
          <p:cNvSpPr/>
          <p:nvPr/>
        </p:nvSpPr>
        <p:spPr>
          <a:xfrm>
            <a:off x="9372600" y="508254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5" name="Google Shape;4695;p290"/>
          <p:cNvSpPr/>
          <p:nvPr/>
        </p:nvSpPr>
        <p:spPr>
          <a:xfrm>
            <a:off x="13239750" y="566166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6" name="Google Shape;4696;p290"/>
          <p:cNvSpPr/>
          <p:nvPr/>
        </p:nvSpPr>
        <p:spPr>
          <a:xfrm>
            <a:off x="13468350" y="508254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7" name="Google Shape;4697;p290"/>
          <p:cNvSpPr/>
          <p:nvPr/>
        </p:nvSpPr>
        <p:spPr>
          <a:xfrm>
            <a:off x="1181100" y="582168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8" name="Google Shape;4698;p290"/>
          <p:cNvSpPr/>
          <p:nvPr/>
        </p:nvSpPr>
        <p:spPr>
          <a:xfrm>
            <a:off x="5276850" y="582168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9" name="Google Shape;4699;p290"/>
          <p:cNvSpPr/>
          <p:nvPr/>
        </p:nvSpPr>
        <p:spPr>
          <a:xfrm>
            <a:off x="9372600" y="582168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0" name="Google Shape;4700;p290"/>
          <p:cNvSpPr/>
          <p:nvPr/>
        </p:nvSpPr>
        <p:spPr>
          <a:xfrm>
            <a:off x="13468350" y="582168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705" name="Shape 4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6" name="Google Shape;4706;p29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7" name="Google Shape;4707;p29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Starting the tracker at zero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8" name="Google Shape;4708;p291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WRONG FOR NEGATIVES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9" name="Google Shape;4709;p291"/>
          <p:cNvSpPr/>
          <p:nvPr/>
        </p:nvSpPr>
        <p:spPr>
          <a:xfrm>
            <a:off x="952500" y="3276600"/>
            <a:ext cx="7943850" cy="3082290"/>
          </a:xfrm>
          <a:prstGeom prst="roundRect">
            <a:avLst>
              <a:gd fmla="val 247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0" name="Google Shape;4710;p291"/>
          <p:cNvSpPr/>
          <p:nvPr/>
        </p:nvSpPr>
        <p:spPr>
          <a:xfrm>
            <a:off x="1245870" y="3531870"/>
            <a:ext cx="7595425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 = [-5, -2, -9]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largest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m in t: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m &gt; largest: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largest = 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print(largest)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1" name="Google Shape;4711;p291"/>
          <p:cNvSpPr/>
          <p:nvPr/>
        </p:nvSpPr>
        <p:spPr>
          <a:xfrm>
            <a:off x="952500" y="6549390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2" name="Google Shape;4712;p291"/>
          <p:cNvSpPr/>
          <p:nvPr/>
        </p:nvSpPr>
        <p:spPr>
          <a:xfrm>
            <a:off x="1238250" y="6797040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3" name="Google Shape;4713;p291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ALWAYS CORRECT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4" name="Google Shape;4714;p291"/>
          <p:cNvSpPr/>
          <p:nvPr/>
        </p:nvSpPr>
        <p:spPr>
          <a:xfrm>
            <a:off x="9391650" y="3276600"/>
            <a:ext cx="7943850" cy="3082290"/>
          </a:xfrm>
          <a:prstGeom prst="roundRect">
            <a:avLst>
              <a:gd fmla="val 247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5" name="Google Shape;4715;p291"/>
          <p:cNvSpPr/>
          <p:nvPr/>
        </p:nvSpPr>
        <p:spPr>
          <a:xfrm>
            <a:off x="9685020" y="3531870"/>
            <a:ext cx="7595425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 = [-5, -2, -9]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largest = t[0]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m in t: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m &gt; largest: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largest = 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print(largest)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6" name="Google Shape;4716;p291"/>
          <p:cNvSpPr/>
          <p:nvPr/>
        </p:nvSpPr>
        <p:spPr>
          <a:xfrm>
            <a:off x="9391650" y="6549390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7" name="Google Shape;4717;p291"/>
          <p:cNvSpPr/>
          <p:nvPr/>
        </p:nvSpPr>
        <p:spPr>
          <a:xfrm>
            <a:off x="9677400" y="6797040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8" name="Google Shape;4718;p291"/>
          <p:cNvSpPr/>
          <p:nvPr/>
        </p:nvSpPr>
        <p:spPr>
          <a:xfrm>
            <a:off x="952500" y="783717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 is not in the list, so it should never be the answer.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723" name="Shape 4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4" name="Google Shape;4724;p29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PATTERN 3 · COUNT AND FILTER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5" name="Google Shape;4725;p29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Counting some, collecting others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6" name="Google Shape;4726;p292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[3]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7" name="Google Shape;4727;p292"/>
          <p:cNvSpPr/>
          <p:nvPr/>
        </p:nvSpPr>
        <p:spPr>
          <a:xfrm>
            <a:off x="2228850" y="2727960"/>
            <a:ext cx="15106650" cy="4406265"/>
          </a:xfrm>
          <a:prstGeom prst="roundRect">
            <a:avLst>
              <a:gd fmla="val 1729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8" name="Google Shape;4728;p292"/>
          <p:cNvSpPr/>
          <p:nvPr/>
        </p:nvSpPr>
        <p:spPr>
          <a:xfrm>
            <a:off x="2541270" y="3002280"/>
            <a:ext cx="14935010" cy="3895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= [78, 65, 90, 42, 55]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passed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failed = []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m in marks: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m &gt;= 60: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passed = passed + 1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else: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failed.append(m)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print(passed, failed)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9" name="Google Shape;4729;p292"/>
          <p:cNvSpPr/>
          <p:nvPr/>
        </p:nvSpPr>
        <p:spPr>
          <a:xfrm>
            <a:off x="952500" y="76104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0" name="Google Shape;4730;p292"/>
          <p:cNvSpPr/>
          <p:nvPr/>
        </p:nvSpPr>
        <p:spPr>
          <a:xfrm>
            <a:off x="2228850" y="7362825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1" name="Google Shape;4731;p292"/>
          <p:cNvSpPr/>
          <p:nvPr/>
        </p:nvSpPr>
        <p:spPr>
          <a:xfrm>
            <a:off x="2533650" y="7629525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 [42, 55]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736" name="Shape 4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7" name="Google Shape;4737;p29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PATTERN 4 · SEARCH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8" name="Google Shape;4738;p29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Finding where something is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9" name="Google Shape;4739;p293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[4]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0" name="Google Shape;4740;p293"/>
          <p:cNvSpPr/>
          <p:nvPr/>
        </p:nvSpPr>
        <p:spPr>
          <a:xfrm>
            <a:off x="2228850" y="2727960"/>
            <a:ext cx="15106650" cy="3977640"/>
          </a:xfrm>
          <a:prstGeom prst="roundRect">
            <a:avLst>
              <a:gd fmla="val 191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1" name="Google Shape;4741;p293"/>
          <p:cNvSpPr/>
          <p:nvPr/>
        </p:nvSpPr>
        <p:spPr>
          <a:xfrm>
            <a:off x="2541270" y="3002280"/>
            <a:ext cx="14935010" cy="3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find(items, target):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i in range(len(items)):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if items[i] == target: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return i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-1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print(find([78, 65, 90], 90))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print(find([78, 65, 90], 50))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2" name="Google Shape;4742;p293"/>
          <p:cNvSpPr/>
          <p:nvPr/>
        </p:nvSpPr>
        <p:spPr>
          <a:xfrm>
            <a:off x="952500" y="71818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3" name="Google Shape;4743;p293"/>
          <p:cNvSpPr/>
          <p:nvPr/>
        </p:nvSpPr>
        <p:spPr>
          <a:xfrm>
            <a:off x="2228850" y="693420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4" name="Google Shape;4744;p293"/>
          <p:cNvSpPr/>
          <p:nvPr/>
        </p:nvSpPr>
        <p:spPr>
          <a:xfrm>
            <a:off x="2533650" y="720090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749" name="Shape 4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0" name="Google Shape;4750;p29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SHORTCUTS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1" name="Google Shape;4751;p29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Python already knows how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2" name="Google Shape;4752;p294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[5]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3" name="Google Shape;4753;p294"/>
          <p:cNvSpPr/>
          <p:nvPr/>
        </p:nvSpPr>
        <p:spPr>
          <a:xfrm>
            <a:off x="2228850" y="2727960"/>
            <a:ext cx="15106650" cy="2691765"/>
          </a:xfrm>
          <a:prstGeom prst="roundRect">
            <a:avLst>
              <a:gd fmla="val 283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4" name="Google Shape;4754;p294"/>
          <p:cNvSpPr/>
          <p:nvPr/>
        </p:nvSpPr>
        <p:spPr>
          <a:xfrm>
            <a:off x="2541270" y="3002280"/>
            <a:ext cx="14935010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= [78, 65, 90, 42]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print(sum(marks))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print(max(marks))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print(min(marks))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print(sorted(marks))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5" name="Google Shape;4755;p294"/>
          <p:cNvSpPr/>
          <p:nvPr/>
        </p:nvSpPr>
        <p:spPr>
          <a:xfrm>
            <a:off x="952500" y="58959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6" name="Google Shape;4756;p294"/>
          <p:cNvSpPr/>
          <p:nvPr/>
        </p:nvSpPr>
        <p:spPr>
          <a:xfrm>
            <a:off x="2228850" y="5648325"/>
            <a:ext cx="15106650" cy="2247900"/>
          </a:xfrm>
          <a:prstGeom prst="roundRect">
            <a:avLst>
              <a:gd fmla="val 339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7" name="Google Shape;4757;p294"/>
          <p:cNvSpPr/>
          <p:nvPr/>
        </p:nvSpPr>
        <p:spPr>
          <a:xfrm>
            <a:off x="2533650" y="5915025"/>
            <a:ext cx="1495024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275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[42, 65, 78, 90]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8" name="Google Shape;4758;p294"/>
          <p:cNvSpPr/>
          <p:nvPr/>
        </p:nvSpPr>
        <p:spPr>
          <a:xfrm>
            <a:off x="952500" y="827722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 the exam, write the loop. In real work, use these.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763" name="Shape 4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4" name="Google Shape;4764;p29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5" name="Google Shape;4765;p29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empty list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6" name="Google Shape;4766;p295"/>
          <p:cNvSpPr/>
          <p:nvPr/>
        </p:nvSpPr>
        <p:spPr>
          <a:xfrm>
            <a:off x="952500" y="272796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7" name="Google Shape;4767;p295"/>
          <p:cNvSpPr/>
          <p:nvPr/>
        </p:nvSpPr>
        <p:spPr>
          <a:xfrm>
            <a:off x="1245870" y="298323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= []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print(max(marks))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8" name="Google Shape;4768;p295"/>
          <p:cNvSpPr/>
          <p:nvPr/>
        </p:nvSpPr>
        <p:spPr>
          <a:xfrm>
            <a:off x="952500" y="4286250"/>
            <a:ext cx="7943850" cy="1242060"/>
          </a:xfrm>
          <a:prstGeom prst="roundRect">
            <a:avLst>
              <a:gd fmla="val 6135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9" name="Google Shape;4769;p295"/>
          <p:cNvSpPr/>
          <p:nvPr/>
        </p:nvSpPr>
        <p:spPr>
          <a:xfrm>
            <a:off x="1238250" y="4533900"/>
            <a:ext cx="7610665" cy="78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ValueError: max() arg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 an empty sequence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0" name="Google Shape;4770;p295"/>
          <p:cNvSpPr/>
          <p:nvPr/>
        </p:nvSpPr>
        <p:spPr>
          <a:xfrm>
            <a:off x="9391650" y="272796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1" name="Google Shape;4771;p295"/>
          <p:cNvSpPr/>
          <p:nvPr/>
        </p:nvSpPr>
        <p:spPr>
          <a:xfrm>
            <a:off x="9685020" y="298323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= []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print(sum(marks) / len(marks))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2" name="Google Shape;4772;p295"/>
          <p:cNvSpPr/>
          <p:nvPr/>
        </p:nvSpPr>
        <p:spPr>
          <a:xfrm>
            <a:off x="9391650" y="4286250"/>
            <a:ext cx="7943850" cy="1242060"/>
          </a:xfrm>
          <a:prstGeom prst="roundRect">
            <a:avLst>
              <a:gd fmla="val 6135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3" name="Google Shape;4773;p295"/>
          <p:cNvSpPr/>
          <p:nvPr/>
        </p:nvSpPr>
        <p:spPr>
          <a:xfrm>
            <a:off x="9677400" y="4533900"/>
            <a:ext cx="7610665" cy="78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ZeroDivisionError: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division by zero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4" name="Google Shape;4774;p295"/>
          <p:cNvSpPr/>
          <p:nvPr/>
        </p:nvSpPr>
        <p:spPr>
          <a:xfrm>
            <a:off x="952500" y="5985510"/>
            <a:ext cx="16383000" cy="1352550"/>
          </a:xfrm>
          <a:prstGeom prst="roundRect">
            <a:avLst>
              <a:gd fmla="val 563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5" name="Google Shape;4775;p295"/>
          <p:cNvSpPr/>
          <p:nvPr/>
        </p:nvSpPr>
        <p:spPr>
          <a:xfrm>
            <a:off x="1238250" y="6233160"/>
            <a:ext cx="1630299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len(marks) &gt;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print(sum(marks) / len(marks))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780" name="Shape 4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1" name="Google Shape;4781;p29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2" name="Google Shape;4782;p29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Removing items while walking the list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3" name="Google Shape;4783;p296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SKIPS ITEMS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4" name="Google Shape;4784;p296"/>
          <p:cNvSpPr/>
          <p:nvPr/>
        </p:nvSpPr>
        <p:spPr>
          <a:xfrm>
            <a:off x="952500" y="3276600"/>
            <a:ext cx="7943850" cy="2653665"/>
          </a:xfrm>
          <a:prstGeom prst="roundRect">
            <a:avLst>
              <a:gd fmla="val 287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5" name="Google Shape;4785;p296"/>
          <p:cNvSpPr/>
          <p:nvPr/>
        </p:nvSpPr>
        <p:spPr>
          <a:xfrm>
            <a:off x="1245870" y="3531870"/>
            <a:ext cx="7595425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 = [1, 2, 2, 3]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x in n: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x == 2: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n.remove(x)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print(n)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6" name="Google Shape;4786;p296"/>
          <p:cNvSpPr/>
          <p:nvPr/>
        </p:nvSpPr>
        <p:spPr>
          <a:xfrm>
            <a:off x="952500" y="6120765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7" name="Google Shape;4787;p296"/>
          <p:cNvSpPr/>
          <p:nvPr/>
        </p:nvSpPr>
        <p:spPr>
          <a:xfrm>
            <a:off x="1238250" y="6368415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[1, 2, 3]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8" name="Google Shape;4788;p296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BUILD A NEW LIST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9" name="Google Shape;4789;p296"/>
          <p:cNvSpPr/>
          <p:nvPr/>
        </p:nvSpPr>
        <p:spPr>
          <a:xfrm>
            <a:off x="9391650" y="3276600"/>
            <a:ext cx="7943850" cy="3082290"/>
          </a:xfrm>
          <a:prstGeom prst="roundRect">
            <a:avLst>
              <a:gd fmla="val 247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0" name="Google Shape;4790;p296"/>
          <p:cNvSpPr/>
          <p:nvPr/>
        </p:nvSpPr>
        <p:spPr>
          <a:xfrm>
            <a:off x="9685020" y="3531870"/>
            <a:ext cx="7595425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 = [1, 2, 2, 3]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kept = []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x in n: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x != 2: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kept.append(x)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print(kept)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1" name="Google Shape;4791;p296"/>
          <p:cNvSpPr/>
          <p:nvPr/>
        </p:nvSpPr>
        <p:spPr>
          <a:xfrm>
            <a:off x="9391650" y="6549390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2" name="Google Shape;4792;p296"/>
          <p:cNvSpPr/>
          <p:nvPr/>
        </p:nvSpPr>
        <p:spPr>
          <a:xfrm>
            <a:off x="9677400" y="6797040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[1, 3]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3" name="Google Shape;4793;p296"/>
          <p:cNvSpPr/>
          <p:nvPr/>
        </p:nvSpPr>
        <p:spPr>
          <a:xfrm>
            <a:off x="952500" y="783717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One 2 survives on the left: removing the first shifts the second into a position already passed.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798" name="Shape 4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9" name="Google Shape;4799;p29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WORKED EXAMPLE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0" name="Google Shape;4800;p29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marks report in one walk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1" name="Google Shape;4801;p297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[6]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2" name="Google Shape;4802;p297"/>
          <p:cNvSpPr/>
          <p:nvPr/>
        </p:nvSpPr>
        <p:spPr>
          <a:xfrm>
            <a:off x="2228850" y="2727960"/>
            <a:ext cx="15106650" cy="5263515"/>
          </a:xfrm>
          <a:prstGeom prst="roundRect">
            <a:avLst>
              <a:gd fmla="val 144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3" name="Google Shape;4803;p297"/>
          <p:cNvSpPr/>
          <p:nvPr/>
        </p:nvSpPr>
        <p:spPr>
          <a:xfrm>
            <a:off x="2541270" y="3002280"/>
            <a:ext cx="14935010" cy="4752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= [78, 65, 90, 42, 55]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total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best = marks[0]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worst = marks[0]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m in marks: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total = total + 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m &gt; best: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best = 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m &lt; worst: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worst = 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print(f"avg {total/len(marks):.1f}, best {best}, worst {worst}")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4" name="Google Shape;4804;p297"/>
          <p:cNvSpPr/>
          <p:nvPr/>
        </p:nvSpPr>
        <p:spPr>
          <a:xfrm>
            <a:off x="952500" y="846772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5" name="Google Shape;4805;p297"/>
          <p:cNvSpPr/>
          <p:nvPr/>
        </p:nvSpPr>
        <p:spPr>
          <a:xfrm>
            <a:off x="2228850" y="8220075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6" name="Google Shape;4806;p297"/>
          <p:cNvSpPr/>
          <p:nvPr/>
        </p:nvSpPr>
        <p:spPr>
          <a:xfrm>
            <a:off x="2533650" y="8486775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avg 66.0, best 90, worst 42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4811" name="Shape 4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" name="Google Shape;4812;p29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FOUR PATTERNS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3" name="Google Shape;4813;p29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One walk, four jobs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4" name="Google Shape;4814;p298"/>
          <p:cNvSpPr/>
          <p:nvPr/>
        </p:nvSpPr>
        <p:spPr>
          <a:xfrm>
            <a:off x="952500" y="2727960"/>
            <a:ext cx="8001000" cy="15240"/>
          </a:xfrm>
          <a:prstGeom prst="rect">
            <a:avLst/>
          </a:prstGeom>
          <a:solidFill>
            <a:srgbClr val="D9A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5" name="Google Shape;4815;p298"/>
          <p:cNvSpPr/>
          <p:nvPr/>
        </p:nvSpPr>
        <p:spPr>
          <a:xfrm>
            <a:off x="952500" y="2971800"/>
            <a:ext cx="880110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1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Accumulate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6" name="Google Shape;4816;p298"/>
          <p:cNvSpPr/>
          <p:nvPr/>
        </p:nvSpPr>
        <p:spPr>
          <a:xfrm>
            <a:off x="952500" y="3546158"/>
            <a:ext cx="4041661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Start at 0. Add every item.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7" name="Google Shape;4817;p298"/>
          <p:cNvSpPr/>
          <p:nvPr/>
        </p:nvSpPr>
        <p:spPr>
          <a:xfrm>
            <a:off x="9334500" y="2727960"/>
            <a:ext cx="8001000" cy="15240"/>
          </a:xfrm>
          <a:prstGeom prst="rect">
            <a:avLst/>
          </a:prstGeom>
          <a:solidFill>
            <a:srgbClr val="D9A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8" name="Google Shape;4818;p298"/>
          <p:cNvSpPr/>
          <p:nvPr/>
        </p:nvSpPr>
        <p:spPr>
          <a:xfrm>
            <a:off x="9334500" y="2971800"/>
            <a:ext cx="880110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1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Track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9" name="Google Shape;4819;p298"/>
          <p:cNvSpPr/>
          <p:nvPr/>
        </p:nvSpPr>
        <p:spPr>
          <a:xfrm>
            <a:off x="9334500" y="3546158"/>
            <a:ext cx="8069096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Start at the first item. Replace when you find better.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0" name="Google Shape;4820;p298"/>
          <p:cNvSpPr/>
          <p:nvPr/>
        </p:nvSpPr>
        <p:spPr>
          <a:xfrm>
            <a:off x="952500" y="4341495"/>
            <a:ext cx="8001000" cy="15240"/>
          </a:xfrm>
          <a:prstGeom prst="rect">
            <a:avLst/>
          </a:prstGeom>
          <a:solidFill>
            <a:srgbClr val="D9A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1" name="Google Shape;4821;p298"/>
          <p:cNvSpPr/>
          <p:nvPr/>
        </p:nvSpPr>
        <p:spPr>
          <a:xfrm>
            <a:off x="952500" y="4585335"/>
            <a:ext cx="880110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1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Count and filter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2" name="Google Shape;4822;p298"/>
          <p:cNvSpPr/>
          <p:nvPr/>
        </p:nvSpPr>
        <p:spPr>
          <a:xfrm>
            <a:off x="952500" y="5159693"/>
            <a:ext cx="7128613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Start at 0 or []. Act only when the test passes.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3" name="Google Shape;4823;p298"/>
          <p:cNvSpPr/>
          <p:nvPr/>
        </p:nvSpPr>
        <p:spPr>
          <a:xfrm>
            <a:off x="9334500" y="4341495"/>
            <a:ext cx="8001000" cy="15240"/>
          </a:xfrm>
          <a:prstGeom prst="rect">
            <a:avLst/>
          </a:prstGeom>
          <a:solidFill>
            <a:srgbClr val="D9A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4" name="Google Shape;4824;p298"/>
          <p:cNvSpPr/>
          <p:nvPr/>
        </p:nvSpPr>
        <p:spPr>
          <a:xfrm>
            <a:off x="9334500" y="4585335"/>
            <a:ext cx="880110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1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Search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5" name="Google Shape;4825;p298"/>
          <p:cNvSpPr/>
          <p:nvPr/>
        </p:nvSpPr>
        <p:spPr>
          <a:xfrm>
            <a:off x="9334500" y="5159693"/>
            <a:ext cx="7910285" cy="863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Return as soon as you find it. Return -1 if you never do.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830" name="Shape 4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1" name="Google Shape;4831;p29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QUICK 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2" name="Google Shape;4832;p29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Which pattern would you reach for?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3" name="Google Shape;4833;p299"/>
          <p:cNvSpPr/>
          <p:nvPr/>
        </p:nvSpPr>
        <p:spPr>
          <a:xfrm>
            <a:off x="952500" y="3497580"/>
            <a:ext cx="1428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4" name="Google Shape;4834;p299"/>
          <p:cNvSpPr/>
          <p:nvPr/>
        </p:nvSpPr>
        <p:spPr>
          <a:xfrm>
            <a:off x="952500" y="284226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5" name="Google Shape;4835;p299"/>
          <p:cNvSpPr/>
          <p:nvPr/>
        </p:nvSpPr>
        <p:spPr>
          <a:xfrm>
            <a:off x="1615559" y="2727960"/>
            <a:ext cx="899192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average temperature over thirty days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6" name="Google Shape;4836;p299"/>
          <p:cNvSpPr/>
          <p:nvPr/>
        </p:nvSpPr>
        <p:spPr>
          <a:xfrm>
            <a:off x="952500" y="4541520"/>
            <a:ext cx="1428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7" name="Google Shape;4837;p299"/>
          <p:cNvSpPr/>
          <p:nvPr/>
        </p:nvSpPr>
        <p:spPr>
          <a:xfrm>
            <a:off x="952500" y="388620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8" name="Google Shape;4838;p299"/>
          <p:cNvSpPr/>
          <p:nvPr/>
        </p:nvSpPr>
        <p:spPr>
          <a:xfrm>
            <a:off x="1615559" y="3771900"/>
            <a:ext cx="673506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name of the tallest student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9" name="Google Shape;4839;p299"/>
          <p:cNvSpPr/>
          <p:nvPr/>
        </p:nvSpPr>
        <p:spPr>
          <a:xfrm>
            <a:off x="952500" y="5585460"/>
            <a:ext cx="14287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0" name="Google Shape;4840;p299"/>
          <p:cNvSpPr/>
          <p:nvPr/>
        </p:nvSpPr>
        <p:spPr>
          <a:xfrm>
            <a:off x="952500" y="493014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1" name="Google Shape;4841;p299"/>
          <p:cNvSpPr/>
          <p:nvPr/>
        </p:nvSpPr>
        <p:spPr>
          <a:xfrm>
            <a:off x="1615559" y="4815840"/>
            <a:ext cx="6721316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How many marks are above 80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2" name="Google Shape;4842;p299"/>
          <p:cNvSpPr/>
          <p:nvPr/>
        </p:nvSpPr>
        <p:spPr>
          <a:xfrm>
            <a:off x="952500" y="5974080"/>
            <a:ext cx="3963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3" name="Google Shape;4843;p299"/>
          <p:cNvSpPr/>
          <p:nvPr/>
        </p:nvSpPr>
        <p:spPr>
          <a:xfrm>
            <a:off x="1615559" y="5859780"/>
            <a:ext cx="913755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Whether a student ID appears in a register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4848" name="Shape 4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9" name="Google Shape;4849;p30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0" name="Google Shape;4850;p30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1" name="Google Shape;4851;p300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2" name="Google Shape;4852;p300"/>
          <p:cNvSpPr/>
          <p:nvPr/>
        </p:nvSpPr>
        <p:spPr>
          <a:xfrm>
            <a:off x="1684139" y="272796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 n numbers into a list and print their sum, average, largest and smallest, without using the built-ins.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3" name="Google Shape;4853;p300"/>
          <p:cNvSpPr/>
          <p:nvPr/>
        </p:nvSpPr>
        <p:spPr>
          <a:xfrm>
            <a:off x="952500" y="413766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4" name="Google Shape;4854;p300"/>
          <p:cNvSpPr/>
          <p:nvPr/>
        </p:nvSpPr>
        <p:spPr>
          <a:xfrm>
            <a:off x="1684139" y="4076700"/>
            <a:ext cx="13860161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 all the even numbers from a list, and how many there were.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5" name="Google Shape;4855;p300"/>
          <p:cNvSpPr/>
          <p:nvPr/>
        </p:nvSpPr>
        <p:spPr>
          <a:xfrm>
            <a:off x="952500" y="498348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6" name="Google Shape;4856;p300"/>
          <p:cNvSpPr/>
          <p:nvPr/>
        </p:nvSpPr>
        <p:spPr>
          <a:xfrm>
            <a:off x="1684139" y="4922520"/>
            <a:ext cx="1074127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Find the second largest value in a list, in one pass.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861" name="Shape 4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2" name="Google Shape;4862;p30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3" name="Google Shape;4863;p30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4" name="Google Shape;4864;p301"/>
          <p:cNvSpPr/>
          <p:nvPr/>
        </p:nvSpPr>
        <p:spPr>
          <a:xfrm>
            <a:off x="952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5" name="Google Shape;4865;p301"/>
          <p:cNvSpPr/>
          <p:nvPr/>
        </p:nvSpPr>
        <p:spPr>
          <a:xfrm>
            <a:off x="1295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Total and average a list by hand.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6" name="Google Shape;4866;p301"/>
          <p:cNvSpPr/>
          <p:nvPr/>
        </p:nvSpPr>
        <p:spPr>
          <a:xfrm>
            <a:off x="9334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7" name="Google Shape;4867;p301"/>
          <p:cNvSpPr/>
          <p:nvPr/>
        </p:nvSpPr>
        <p:spPr>
          <a:xfrm>
            <a:off x="9677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Track a largest or smallest value correctly.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8" name="Google Shape;4868;p301"/>
          <p:cNvSpPr/>
          <p:nvPr/>
        </p:nvSpPr>
        <p:spPr>
          <a:xfrm>
            <a:off x="952500" y="424815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9" name="Google Shape;4869;p301"/>
          <p:cNvSpPr/>
          <p:nvPr/>
        </p:nvSpPr>
        <p:spPr>
          <a:xfrm>
            <a:off x="1295400" y="459105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Count matching items and collect them into a new list.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0" name="Google Shape;4870;p301"/>
          <p:cNvSpPr/>
          <p:nvPr/>
        </p:nvSpPr>
        <p:spPr>
          <a:xfrm>
            <a:off x="9334500" y="424815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1" name="Google Shape;4871;p301"/>
          <p:cNvSpPr/>
          <p:nvPr/>
        </p:nvSpPr>
        <p:spPr>
          <a:xfrm>
            <a:off x="9677400" y="459105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a search that returns a position or -1.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2" name="Google Shape;4872;p301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class: two-dimensional lists.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4877" name="Shape 4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8" name="Google Shape;4878;p302"/>
          <p:cNvSpPr/>
          <p:nvPr/>
        </p:nvSpPr>
        <p:spPr>
          <a:xfrm>
            <a:off x="952500" y="4085272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6 · LISTS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9" name="Google Shape;4879;p302"/>
          <p:cNvSpPr/>
          <p:nvPr/>
        </p:nvSpPr>
        <p:spPr>
          <a:xfrm>
            <a:off x="952500" y="4854893"/>
            <a:ext cx="1745552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19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0" name="Google Shape;4880;p302"/>
          <p:cNvSpPr/>
          <p:nvPr/>
        </p:nvSpPr>
        <p:spPr>
          <a:xfrm>
            <a:off x="3072765" y="5632132"/>
            <a:ext cx="8397585" cy="79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Two-Dimensional Lists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885" name="Shape 4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6" name="Google Shape;4886;p30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19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7" name="Google Shape;4887;p30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8" name="Google Shape;4888;p303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9" name="Google Shape;4889;p303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0" name="Google Shape;4890;p303"/>
          <p:cNvSpPr/>
          <p:nvPr/>
        </p:nvSpPr>
        <p:spPr>
          <a:xfrm>
            <a:off x="1646039" y="2727960"/>
            <a:ext cx="5752671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list whose items are lists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1" name="Google Shape;4891;p303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2" name="Google Shape;4892;p303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3" name="Google Shape;4893;p303"/>
          <p:cNvSpPr/>
          <p:nvPr/>
        </p:nvSpPr>
        <p:spPr>
          <a:xfrm>
            <a:off x="1646039" y="3771900"/>
            <a:ext cx="653285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Two indexes: row then column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4" name="Google Shape;4894;p303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5" name="Google Shape;4895;p303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6" name="Google Shape;4896;p303"/>
          <p:cNvSpPr/>
          <p:nvPr/>
        </p:nvSpPr>
        <p:spPr>
          <a:xfrm>
            <a:off x="1646039" y="4815840"/>
            <a:ext cx="7014294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Walking a grid with nested loops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7" name="Google Shape;4897;p303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8" name="Google Shape;4898;p303"/>
          <p:cNvSpPr/>
          <p:nvPr/>
        </p:nvSpPr>
        <p:spPr>
          <a:xfrm>
            <a:off x="1646039" y="5859780"/>
            <a:ext cx="9604724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Row totals, column totals, and building a grid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903" name="Shape 4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" name="Google Shape;4904;p30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5" name="Google Shape;4905;p30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list of lists is a table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6" name="Google Shape;4906;p304"/>
          <p:cNvSpPr/>
          <p:nvPr/>
        </p:nvSpPr>
        <p:spPr>
          <a:xfrm>
            <a:off x="952500" y="2727960"/>
            <a:ext cx="16383000" cy="1834515"/>
          </a:xfrm>
          <a:prstGeom prst="roundRect">
            <a:avLst>
              <a:gd fmla="val 415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7" name="Google Shape;4907;p304"/>
          <p:cNvSpPr/>
          <p:nvPr/>
        </p:nvSpPr>
        <p:spPr>
          <a:xfrm>
            <a:off x="1264920" y="3002280"/>
            <a:ext cx="1624965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grid = [[1, 2, 3],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[4, 5, 6],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[7, 8, 9]]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8" name="Google Shape;4908;p304"/>
          <p:cNvSpPr/>
          <p:nvPr/>
        </p:nvSpPr>
        <p:spPr>
          <a:xfrm>
            <a:off x="1962150" y="4981575"/>
            <a:ext cx="12192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 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9" name="Google Shape;4909;p304"/>
          <p:cNvSpPr/>
          <p:nvPr/>
        </p:nvSpPr>
        <p:spPr>
          <a:xfrm>
            <a:off x="3200400" y="4981575"/>
            <a:ext cx="12192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 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0" name="Google Shape;4910;p304"/>
          <p:cNvSpPr/>
          <p:nvPr/>
        </p:nvSpPr>
        <p:spPr>
          <a:xfrm>
            <a:off x="4438650" y="4981575"/>
            <a:ext cx="12192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 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1" name="Google Shape;4911;p304"/>
          <p:cNvSpPr/>
          <p:nvPr/>
        </p:nvSpPr>
        <p:spPr>
          <a:xfrm>
            <a:off x="914400" y="5663565"/>
            <a:ext cx="10287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row 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2" name="Google Shape;4912;p304"/>
          <p:cNvSpPr/>
          <p:nvPr/>
        </p:nvSpPr>
        <p:spPr>
          <a:xfrm>
            <a:off x="2000250" y="5434965"/>
            <a:ext cx="1143000" cy="815340"/>
          </a:xfrm>
          <a:prstGeom prst="roundRect">
            <a:avLst>
              <a:gd fmla="val 700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3" name="Google Shape;4913;p304"/>
          <p:cNvSpPr/>
          <p:nvPr/>
        </p:nvSpPr>
        <p:spPr>
          <a:xfrm>
            <a:off x="1962150" y="5606415"/>
            <a:ext cx="1219200" cy="510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JetBrains Mono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4" name="Google Shape;4914;p304"/>
          <p:cNvSpPr/>
          <p:nvPr/>
        </p:nvSpPr>
        <p:spPr>
          <a:xfrm>
            <a:off x="3238500" y="5434965"/>
            <a:ext cx="1143000" cy="815340"/>
          </a:xfrm>
          <a:prstGeom prst="roundRect">
            <a:avLst>
              <a:gd fmla="val 700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5" name="Google Shape;4915;p304"/>
          <p:cNvSpPr/>
          <p:nvPr/>
        </p:nvSpPr>
        <p:spPr>
          <a:xfrm>
            <a:off x="3200400" y="5606415"/>
            <a:ext cx="1219200" cy="510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JetBrains Mono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6" name="Google Shape;4916;p304"/>
          <p:cNvSpPr/>
          <p:nvPr/>
        </p:nvSpPr>
        <p:spPr>
          <a:xfrm>
            <a:off x="4476750" y="5434965"/>
            <a:ext cx="1143000" cy="815340"/>
          </a:xfrm>
          <a:prstGeom prst="roundRect">
            <a:avLst>
              <a:gd fmla="val 700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7" name="Google Shape;4917;p304"/>
          <p:cNvSpPr/>
          <p:nvPr/>
        </p:nvSpPr>
        <p:spPr>
          <a:xfrm>
            <a:off x="4438650" y="5606415"/>
            <a:ext cx="1219200" cy="510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JetBrains Mono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8" name="Google Shape;4918;p304"/>
          <p:cNvSpPr/>
          <p:nvPr/>
        </p:nvSpPr>
        <p:spPr>
          <a:xfrm>
            <a:off x="914400" y="6574155"/>
            <a:ext cx="10287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row 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9" name="Google Shape;4919;p304"/>
          <p:cNvSpPr/>
          <p:nvPr/>
        </p:nvSpPr>
        <p:spPr>
          <a:xfrm>
            <a:off x="2000250" y="6345555"/>
            <a:ext cx="1143000" cy="815340"/>
          </a:xfrm>
          <a:prstGeom prst="roundRect">
            <a:avLst>
              <a:gd fmla="val 700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0" name="Google Shape;4920;p304"/>
          <p:cNvSpPr/>
          <p:nvPr/>
        </p:nvSpPr>
        <p:spPr>
          <a:xfrm>
            <a:off x="1962150" y="6517005"/>
            <a:ext cx="1219200" cy="510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JetBrains Mono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1" name="Google Shape;4921;p304"/>
          <p:cNvSpPr/>
          <p:nvPr/>
        </p:nvSpPr>
        <p:spPr>
          <a:xfrm>
            <a:off x="3238500" y="6345555"/>
            <a:ext cx="1143000" cy="815340"/>
          </a:xfrm>
          <a:prstGeom prst="roundRect">
            <a:avLst>
              <a:gd fmla="val 700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2" name="Google Shape;4922;p304"/>
          <p:cNvSpPr/>
          <p:nvPr/>
        </p:nvSpPr>
        <p:spPr>
          <a:xfrm>
            <a:off x="3200400" y="6517005"/>
            <a:ext cx="1219200" cy="510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JetBrains Mono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3" name="Google Shape;4923;p304"/>
          <p:cNvSpPr/>
          <p:nvPr/>
        </p:nvSpPr>
        <p:spPr>
          <a:xfrm>
            <a:off x="4476750" y="6345555"/>
            <a:ext cx="1143000" cy="815340"/>
          </a:xfrm>
          <a:prstGeom prst="roundRect">
            <a:avLst>
              <a:gd fmla="val 700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4" name="Google Shape;4924;p304"/>
          <p:cNvSpPr/>
          <p:nvPr/>
        </p:nvSpPr>
        <p:spPr>
          <a:xfrm>
            <a:off x="4438650" y="6517005"/>
            <a:ext cx="1219200" cy="510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JetBrains Mono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5" name="Google Shape;4925;p304"/>
          <p:cNvSpPr/>
          <p:nvPr/>
        </p:nvSpPr>
        <p:spPr>
          <a:xfrm>
            <a:off x="914400" y="7484745"/>
            <a:ext cx="10287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row 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6" name="Google Shape;4926;p304"/>
          <p:cNvSpPr/>
          <p:nvPr/>
        </p:nvSpPr>
        <p:spPr>
          <a:xfrm>
            <a:off x="2000250" y="7256145"/>
            <a:ext cx="1143000" cy="815340"/>
          </a:xfrm>
          <a:prstGeom prst="roundRect">
            <a:avLst>
              <a:gd fmla="val 700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7" name="Google Shape;4927;p304"/>
          <p:cNvSpPr/>
          <p:nvPr/>
        </p:nvSpPr>
        <p:spPr>
          <a:xfrm>
            <a:off x="1962150" y="7427595"/>
            <a:ext cx="1219200" cy="510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JetBrains Mono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8" name="Google Shape;4928;p304"/>
          <p:cNvSpPr/>
          <p:nvPr/>
        </p:nvSpPr>
        <p:spPr>
          <a:xfrm>
            <a:off x="3238500" y="7256145"/>
            <a:ext cx="1143000" cy="815340"/>
          </a:xfrm>
          <a:prstGeom prst="roundRect">
            <a:avLst>
              <a:gd fmla="val 700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9" name="Google Shape;4929;p304"/>
          <p:cNvSpPr/>
          <p:nvPr/>
        </p:nvSpPr>
        <p:spPr>
          <a:xfrm>
            <a:off x="3200400" y="7427595"/>
            <a:ext cx="1219200" cy="510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JetBrains Mono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0" name="Google Shape;4930;p304"/>
          <p:cNvSpPr/>
          <p:nvPr/>
        </p:nvSpPr>
        <p:spPr>
          <a:xfrm>
            <a:off x="4476750" y="7256145"/>
            <a:ext cx="1143000" cy="815340"/>
          </a:xfrm>
          <a:prstGeom prst="roundRect">
            <a:avLst>
              <a:gd fmla="val 700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1" name="Google Shape;4931;p304"/>
          <p:cNvSpPr/>
          <p:nvPr/>
        </p:nvSpPr>
        <p:spPr>
          <a:xfrm>
            <a:off x="4438650" y="7427595"/>
            <a:ext cx="1219200" cy="510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JetBrains Mono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936" name="Shape 4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7" name="Google Shape;4937;p30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8" name="Google Shape;4938;p30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Row first, then column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9" name="Google Shape;4939;p305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0" name="Google Shape;4940;p305"/>
          <p:cNvSpPr/>
          <p:nvPr/>
        </p:nvSpPr>
        <p:spPr>
          <a:xfrm>
            <a:off x="2228850" y="2727960"/>
            <a:ext cx="15106650" cy="2691765"/>
          </a:xfrm>
          <a:prstGeom prst="roundRect">
            <a:avLst>
              <a:gd fmla="val 283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1" name="Google Shape;4941;p305"/>
          <p:cNvSpPr/>
          <p:nvPr/>
        </p:nvSpPr>
        <p:spPr>
          <a:xfrm>
            <a:off x="2541270" y="3002280"/>
            <a:ext cx="14935010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grid = [[1, 2, 3], [4, 5, 6], [7, 8, 9]]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print(grid[1])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print(grid[1][2])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print(len(grid))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print(len(grid[0]))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2" name="Google Shape;4942;p305"/>
          <p:cNvSpPr/>
          <p:nvPr/>
        </p:nvSpPr>
        <p:spPr>
          <a:xfrm>
            <a:off x="952500" y="58959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3" name="Google Shape;4943;p305"/>
          <p:cNvSpPr/>
          <p:nvPr/>
        </p:nvSpPr>
        <p:spPr>
          <a:xfrm>
            <a:off x="2228850" y="5648325"/>
            <a:ext cx="15106650" cy="2247900"/>
          </a:xfrm>
          <a:prstGeom prst="roundRect">
            <a:avLst>
              <a:gd fmla="val 339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4" name="Google Shape;4944;p305"/>
          <p:cNvSpPr/>
          <p:nvPr/>
        </p:nvSpPr>
        <p:spPr>
          <a:xfrm>
            <a:off x="2533650" y="5915025"/>
            <a:ext cx="1495024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[4, 5, 6]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5" name="Google Shape;4945;p305"/>
          <p:cNvSpPr/>
          <p:nvPr/>
        </p:nvSpPr>
        <p:spPr>
          <a:xfrm>
            <a:off x="952500" y="827722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len(grid) counts rows. len(grid[0]) counts the columns in the first row.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950" name="Shape 4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1" name="Google Shape;4951;p30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2" name="Google Shape;4952;p30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Printing the whole grid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3" name="Google Shape;4953;p306"/>
          <p:cNvSpPr/>
          <p:nvPr/>
        </p:nvSpPr>
        <p:spPr>
          <a:xfrm>
            <a:off x="952500" y="2727960"/>
            <a:ext cx="987792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BY ROW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4" name="Google Shape;4954;p306"/>
          <p:cNvSpPr/>
          <p:nvPr/>
        </p:nvSpPr>
        <p:spPr>
          <a:xfrm>
            <a:off x="952500" y="3276600"/>
            <a:ext cx="8979932" cy="2225040"/>
          </a:xfrm>
          <a:prstGeom prst="roundRect">
            <a:avLst>
              <a:gd fmla="val 342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5" name="Google Shape;4955;p306"/>
          <p:cNvSpPr/>
          <p:nvPr/>
        </p:nvSpPr>
        <p:spPr>
          <a:xfrm>
            <a:off x="1245870" y="3531870"/>
            <a:ext cx="866259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row in grid: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cell in row: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print(cell,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6" name="Google Shape;4956;p306"/>
          <p:cNvSpPr/>
          <p:nvPr/>
        </p:nvSpPr>
        <p:spPr>
          <a:xfrm>
            <a:off x="952500" y="5768340"/>
            <a:ext cx="987792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BY POSITION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7" name="Google Shape;4957;p306"/>
          <p:cNvSpPr/>
          <p:nvPr/>
        </p:nvSpPr>
        <p:spPr>
          <a:xfrm>
            <a:off x="952500" y="6316980"/>
            <a:ext cx="8979932" cy="2225040"/>
          </a:xfrm>
          <a:prstGeom prst="roundRect">
            <a:avLst>
              <a:gd fmla="val 342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8" name="Google Shape;4958;p306"/>
          <p:cNvSpPr/>
          <p:nvPr/>
        </p:nvSpPr>
        <p:spPr>
          <a:xfrm>
            <a:off x="1245870" y="6572250"/>
            <a:ext cx="866259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range(len(grid)):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j in range(len(grid[i])):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print(grid[i][j],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9" name="Google Shape;4959;p306"/>
          <p:cNvSpPr/>
          <p:nvPr/>
        </p:nvSpPr>
        <p:spPr>
          <a:xfrm>
            <a:off x="10427732" y="2727960"/>
            <a:ext cx="6907649" cy="5814060"/>
          </a:xfrm>
          <a:prstGeom prst="roundRect">
            <a:avLst>
              <a:gd fmla="val 1311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0" name="Google Shape;4960;p306"/>
          <p:cNvSpPr/>
          <p:nvPr/>
        </p:nvSpPr>
        <p:spPr>
          <a:xfrm>
            <a:off x="10713482" y="2975610"/>
            <a:ext cx="6543379" cy="5356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1 2 3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4 5 6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7 8 9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965" name="Shape 4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" name="Google Shape;4966;p30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7" name="Google Shape;4967;p30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order the cells are visited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8" name="Google Shape;4968;p307"/>
          <p:cNvSpPr/>
          <p:nvPr/>
        </p:nvSpPr>
        <p:spPr>
          <a:xfrm>
            <a:off x="952500" y="272796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9" name="Google Shape;4969;p307"/>
          <p:cNvSpPr/>
          <p:nvPr/>
        </p:nvSpPr>
        <p:spPr>
          <a:xfrm>
            <a:off x="952500" y="34061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0" name="Google Shape;4970;p307"/>
          <p:cNvSpPr/>
          <p:nvPr/>
        </p:nvSpPr>
        <p:spPr>
          <a:xfrm>
            <a:off x="1181100" y="2895600"/>
            <a:ext cx="376142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1" name="Google Shape;4971;p307"/>
          <p:cNvSpPr/>
          <p:nvPr/>
        </p:nvSpPr>
        <p:spPr>
          <a:xfrm>
            <a:off x="5048250" y="34061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2" name="Google Shape;4972;p307"/>
          <p:cNvSpPr/>
          <p:nvPr/>
        </p:nvSpPr>
        <p:spPr>
          <a:xfrm>
            <a:off x="5276850" y="2895600"/>
            <a:ext cx="376142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3" name="Google Shape;4973;p307"/>
          <p:cNvSpPr/>
          <p:nvPr/>
        </p:nvSpPr>
        <p:spPr>
          <a:xfrm>
            <a:off x="9144000" y="34061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4" name="Google Shape;4974;p307"/>
          <p:cNvSpPr/>
          <p:nvPr/>
        </p:nvSpPr>
        <p:spPr>
          <a:xfrm>
            <a:off x="9372600" y="2895600"/>
            <a:ext cx="376142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grid[i][j]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5" name="Google Shape;4975;p307"/>
          <p:cNvSpPr/>
          <p:nvPr/>
        </p:nvSpPr>
        <p:spPr>
          <a:xfrm>
            <a:off x="13239750" y="340614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6" name="Google Shape;4976;p307"/>
          <p:cNvSpPr/>
          <p:nvPr/>
        </p:nvSpPr>
        <p:spPr>
          <a:xfrm>
            <a:off x="13468350" y="2895600"/>
            <a:ext cx="376142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AFTER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7" name="Google Shape;4977;p307"/>
          <p:cNvSpPr/>
          <p:nvPr/>
        </p:nvSpPr>
        <p:spPr>
          <a:xfrm>
            <a:off x="952500" y="41071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8" name="Google Shape;4978;p307"/>
          <p:cNvSpPr/>
          <p:nvPr/>
        </p:nvSpPr>
        <p:spPr>
          <a:xfrm>
            <a:off x="1181100" y="354711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9" name="Google Shape;4979;p307"/>
          <p:cNvSpPr/>
          <p:nvPr/>
        </p:nvSpPr>
        <p:spPr>
          <a:xfrm>
            <a:off x="5048250" y="41071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0" name="Google Shape;4980;p307"/>
          <p:cNvSpPr/>
          <p:nvPr/>
        </p:nvSpPr>
        <p:spPr>
          <a:xfrm>
            <a:off x="5276850" y="354711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0, 1, 2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1" name="Google Shape;4981;p307"/>
          <p:cNvSpPr/>
          <p:nvPr/>
        </p:nvSpPr>
        <p:spPr>
          <a:xfrm>
            <a:off x="9144000" y="41071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2" name="Google Shape;4982;p307"/>
          <p:cNvSpPr/>
          <p:nvPr/>
        </p:nvSpPr>
        <p:spPr>
          <a:xfrm>
            <a:off x="9372600" y="354711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1, 2, 3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3" name="Google Shape;4983;p307"/>
          <p:cNvSpPr/>
          <p:nvPr/>
        </p:nvSpPr>
        <p:spPr>
          <a:xfrm>
            <a:off x="13239750" y="410718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4" name="Google Shape;4984;p307"/>
          <p:cNvSpPr/>
          <p:nvPr/>
        </p:nvSpPr>
        <p:spPr>
          <a:xfrm>
            <a:off x="13468350" y="354711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new line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5" name="Google Shape;4985;p307"/>
          <p:cNvSpPr/>
          <p:nvPr/>
        </p:nvSpPr>
        <p:spPr>
          <a:xfrm>
            <a:off x="952500" y="480822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6" name="Google Shape;4986;p307"/>
          <p:cNvSpPr/>
          <p:nvPr/>
        </p:nvSpPr>
        <p:spPr>
          <a:xfrm>
            <a:off x="1181100" y="424815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7" name="Google Shape;4987;p307"/>
          <p:cNvSpPr/>
          <p:nvPr/>
        </p:nvSpPr>
        <p:spPr>
          <a:xfrm>
            <a:off x="5048250" y="480822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8" name="Google Shape;4988;p307"/>
          <p:cNvSpPr/>
          <p:nvPr/>
        </p:nvSpPr>
        <p:spPr>
          <a:xfrm>
            <a:off x="5276850" y="424815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0, 1, 2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9" name="Google Shape;4989;p307"/>
          <p:cNvSpPr/>
          <p:nvPr/>
        </p:nvSpPr>
        <p:spPr>
          <a:xfrm>
            <a:off x="9144000" y="480822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0" name="Google Shape;4990;p307"/>
          <p:cNvSpPr/>
          <p:nvPr/>
        </p:nvSpPr>
        <p:spPr>
          <a:xfrm>
            <a:off x="9372600" y="424815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4, 5, 6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1" name="Google Shape;4991;p307"/>
          <p:cNvSpPr/>
          <p:nvPr/>
        </p:nvSpPr>
        <p:spPr>
          <a:xfrm>
            <a:off x="13239750" y="4808220"/>
            <a:ext cx="40957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2" name="Google Shape;4992;p307"/>
          <p:cNvSpPr/>
          <p:nvPr/>
        </p:nvSpPr>
        <p:spPr>
          <a:xfrm>
            <a:off x="13468350" y="424815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new line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3" name="Google Shape;4993;p307"/>
          <p:cNvSpPr/>
          <p:nvPr/>
        </p:nvSpPr>
        <p:spPr>
          <a:xfrm>
            <a:off x="1181100" y="494919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4" name="Google Shape;4994;p307"/>
          <p:cNvSpPr/>
          <p:nvPr/>
        </p:nvSpPr>
        <p:spPr>
          <a:xfrm>
            <a:off x="5276850" y="494919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0, 1, 2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5" name="Google Shape;4995;p307"/>
          <p:cNvSpPr/>
          <p:nvPr/>
        </p:nvSpPr>
        <p:spPr>
          <a:xfrm>
            <a:off x="9372600" y="494919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7, 8, 9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6" name="Google Shape;4996;p307"/>
          <p:cNvSpPr/>
          <p:nvPr/>
        </p:nvSpPr>
        <p:spPr>
          <a:xfrm>
            <a:off x="13468350" y="4949190"/>
            <a:ext cx="3761423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new line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7" name="Google Shape;4997;p307"/>
          <p:cNvSpPr/>
          <p:nvPr/>
        </p:nvSpPr>
        <p:spPr>
          <a:xfrm>
            <a:off x="952500" y="592836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Nine cells in nine passes of the inner body, three passes of the outer.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002" name="Shape 5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3" name="Google Shape;5003;p30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PATTERN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4" name="Google Shape;5004;p30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total for each row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5" name="Google Shape;5005;p308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6" name="Google Shape;5006;p308"/>
          <p:cNvSpPr/>
          <p:nvPr/>
        </p:nvSpPr>
        <p:spPr>
          <a:xfrm>
            <a:off x="2228850" y="2727960"/>
            <a:ext cx="15106650" cy="3120390"/>
          </a:xfrm>
          <a:prstGeom prst="roundRect">
            <a:avLst>
              <a:gd fmla="val 24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7" name="Google Shape;5007;p308"/>
          <p:cNvSpPr/>
          <p:nvPr/>
        </p:nvSpPr>
        <p:spPr>
          <a:xfrm>
            <a:off x="2541270" y="3002280"/>
            <a:ext cx="14935010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grid = [[1, 2, 3], [4, 5, 6], [7, 8, 9]]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row in grid: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total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cell in row: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total = total + cell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print(row, "→", total)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8" name="Google Shape;5008;p308"/>
          <p:cNvSpPr/>
          <p:nvPr/>
        </p:nvSpPr>
        <p:spPr>
          <a:xfrm>
            <a:off x="952500" y="63246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9" name="Google Shape;5009;p308"/>
          <p:cNvSpPr/>
          <p:nvPr/>
        </p:nvSpPr>
        <p:spPr>
          <a:xfrm>
            <a:off x="2228850" y="6076950"/>
            <a:ext cx="15106650" cy="1819275"/>
          </a:xfrm>
          <a:prstGeom prst="roundRect">
            <a:avLst>
              <a:gd fmla="val 418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0" name="Google Shape;5010;p308"/>
          <p:cNvSpPr/>
          <p:nvPr/>
        </p:nvSpPr>
        <p:spPr>
          <a:xfrm>
            <a:off x="2533650" y="6343650"/>
            <a:ext cx="14950249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[1, 2, 3] → 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[4, 5, 6] → 15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[7, 8, 9] → 24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1" name="Google Shape;5011;p308"/>
          <p:cNvSpPr/>
          <p:nvPr/>
        </p:nvSpPr>
        <p:spPr>
          <a:xfrm>
            <a:off x="952500" y="827722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Move total = 0 above the outer loop and you get one grand total instead.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016" name="Shape 5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" name="Google Shape;5017;p30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PATTERN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8" name="Google Shape;5018;p30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total for each column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9" name="Google Shape;5019;p309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[3]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0" name="Google Shape;5020;p309"/>
          <p:cNvSpPr/>
          <p:nvPr/>
        </p:nvSpPr>
        <p:spPr>
          <a:xfrm>
            <a:off x="2228850" y="2727960"/>
            <a:ext cx="15106650" cy="2691765"/>
          </a:xfrm>
          <a:prstGeom prst="roundRect">
            <a:avLst>
              <a:gd fmla="val 283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1" name="Google Shape;5021;p309"/>
          <p:cNvSpPr/>
          <p:nvPr/>
        </p:nvSpPr>
        <p:spPr>
          <a:xfrm>
            <a:off x="2541270" y="3002280"/>
            <a:ext cx="14935010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j in range(len(grid[0])):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total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i in range(len(grid)):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total = total + grid[i][j]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print("column", j, "→", total)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2" name="Google Shape;5022;p309"/>
          <p:cNvSpPr/>
          <p:nvPr/>
        </p:nvSpPr>
        <p:spPr>
          <a:xfrm>
            <a:off x="952500" y="58959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3" name="Google Shape;5023;p309"/>
          <p:cNvSpPr/>
          <p:nvPr/>
        </p:nvSpPr>
        <p:spPr>
          <a:xfrm>
            <a:off x="2228850" y="5648325"/>
            <a:ext cx="15106650" cy="1819275"/>
          </a:xfrm>
          <a:prstGeom prst="roundRect">
            <a:avLst>
              <a:gd fmla="val 418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4" name="Google Shape;5024;p309"/>
          <p:cNvSpPr/>
          <p:nvPr/>
        </p:nvSpPr>
        <p:spPr>
          <a:xfrm>
            <a:off x="2533650" y="5915025"/>
            <a:ext cx="14950249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column 0 → 12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column 1 → 15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column 2 → 18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5" name="Google Shape;5025;p309"/>
          <p:cNvSpPr/>
          <p:nvPr/>
        </p:nvSpPr>
        <p:spPr>
          <a:xfrm>
            <a:off x="952500" y="78486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grid[i][j] with j held still and i changing walks down a column.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030" name="Shape 5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1" name="Google Shape;5031;p31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2" name="Google Shape;5032;p31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Building a grid from input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3" name="Google Shape;5033;p310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[4]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4" name="Google Shape;5034;p310"/>
          <p:cNvSpPr/>
          <p:nvPr/>
        </p:nvSpPr>
        <p:spPr>
          <a:xfrm>
            <a:off x="2228850" y="2727960"/>
            <a:ext cx="15106650" cy="4406265"/>
          </a:xfrm>
          <a:prstGeom prst="roundRect">
            <a:avLst>
              <a:gd fmla="val 1729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5" name="Google Shape;5035;p310"/>
          <p:cNvSpPr/>
          <p:nvPr/>
        </p:nvSpPr>
        <p:spPr>
          <a:xfrm>
            <a:off x="2541270" y="3002280"/>
            <a:ext cx="14935010" cy="3895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rows = int(input("Rows: 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cols = int(input("Cols: 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grid = []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range(rows):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row = []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j in range(cols):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row.append(int(input(f"[{i}][{j}]: ")))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grid.append(row)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print(grid)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6" name="Google Shape;5036;p310"/>
          <p:cNvSpPr/>
          <p:nvPr/>
        </p:nvSpPr>
        <p:spPr>
          <a:xfrm>
            <a:off x="952500" y="736282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row = [] belongs inside the outer loop. Put it outside and every row is the same list.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041" name="Shape 5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2" name="Google Shape;5042;p31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3" name="Google Shape;5043;p31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Making a grid the wrong way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4" name="Google Shape;5044;p311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ONE ROW, THREE TIMES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5" name="Google Shape;5045;p311"/>
          <p:cNvSpPr/>
          <p:nvPr/>
        </p:nvSpPr>
        <p:spPr>
          <a:xfrm>
            <a:off x="952500" y="3276600"/>
            <a:ext cx="7943850" cy="1796415"/>
          </a:xfrm>
          <a:prstGeom prst="roundRect">
            <a:avLst>
              <a:gd fmla="val 42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6" name="Google Shape;5046;p311"/>
          <p:cNvSpPr/>
          <p:nvPr/>
        </p:nvSpPr>
        <p:spPr>
          <a:xfrm>
            <a:off x="1245870" y="3531870"/>
            <a:ext cx="7595425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 = [[0] * 3] * 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g[0][0] = 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print(g)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7" name="Google Shape;5047;p311"/>
          <p:cNvSpPr/>
          <p:nvPr/>
        </p:nvSpPr>
        <p:spPr>
          <a:xfrm>
            <a:off x="952500" y="5263515"/>
            <a:ext cx="7943850" cy="1615440"/>
          </a:xfrm>
          <a:prstGeom prst="roundRect">
            <a:avLst>
              <a:gd fmla="val 4717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8" name="Google Shape;5048;p311"/>
          <p:cNvSpPr/>
          <p:nvPr/>
        </p:nvSpPr>
        <p:spPr>
          <a:xfrm>
            <a:off x="1238250" y="5511165"/>
            <a:ext cx="7610665" cy="1158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[[9, 0, 0],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[9, 0, 0],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[9, 0, 0]]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9" name="Google Shape;5049;p311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THREE SEPARATE ROWS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0" name="Google Shape;5050;p311"/>
          <p:cNvSpPr/>
          <p:nvPr/>
        </p:nvSpPr>
        <p:spPr>
          <a:xfrm>
            <a:off x="9391650" y="3276600"/>
            <a:ext cx="7943850" cy="2653665"/>
          </a:xfrm>
          <a:prstGeom prst="roundRect">
            <a:avLst>
              <a:gd fmla="val 287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1" name="Google Shape;5051;p311"/>
          <p:cNvSpPr/>
          <p:nvPr/>
        </p:nvSpPr>
        <p:spPr>
          <a:xfrm>
            <a:off x="9685020" y="3531870"/>
            <a:ext cx="7595425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 = []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range(3):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g.append([0] * 3)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g[0][0] = 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print(g)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2" name="Google Shape;5052;p311"/>
          <p:cNvSpPr/>
          <p:nvPr/>
        </p:nvSpPr>
        <p:spPr>
          <a:xfrm>
            <a:off x="9391650" y="6120765"/>
            <a:ext cx="7943850" cy="1615440"/>
          </a:xfrm>
          <a:prstGeom prst="roundRect">
            <a:avLst>
              <a:gd fmla="val 4717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3" name="Google Shape;5053;p311"/>
          <p:cNvSpPr/>
          <p:nvPr/>
        </p:nvSpPr>
        <p:spPr>
          <a:xfrm>
            <a:off x="9677400" y="6368415"/>
            <a:ext cx="7610665" cy="1158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[[9, 0, 0],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[0, 0, 0],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[0, 0, 0]]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058" name="Shape 5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9" name="Google Shape;5059;p31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0" name="Google Shape;5060;p31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Rows of different lengths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1" name="Google Shape;5061;p312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[5]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2" name="Google Shape;5062;p312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3" name="Google Shape;5063;p312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grid = [[1, 2, 3], [4, 5], [6]]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range(len(grid)):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j in range(len(grid[0])):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print(grid[i][j],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4" name="Google Shape;5064;p312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5" name="Google Shape;5065;p312"/>
          <p:cNvSpPr/>
          <p:nvPr/>
        </p:nvSpPr>
        <p:spPr>
          <a:xfrm>
            <a:off x="2228850" y="521970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6" name="Google Shape;5066;p312"/>
          <p:cNvSpPr/>
          <p:nvPr/>
        </p:nvSpPr>
        <p:spPr>
          <a:xfrm>
            <a:off x="2533650" y="548640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1 2 3 4 5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IndexError: list index out of range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7" name="Google Shape;5067;p312"/>
          <p:cNvSpPr/>
          <p:nvPr/>
        </p:nvSpPr>
        <p:spPr>
          <a:xfrm>
            <a:off x="952500" y="702945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Use len(grid[i]) for the inner range, so each row is measured on its own.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072" name="Shape 5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3" name="Google Shape;5073;p31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WORKED EXAMPLE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4" name="Google Shape;5074;p31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Marks for three students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5" name="Google Shape;5075;p313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[6]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6" name="Google Shape;5076;p313"/>
          <p:cNvSpPr/>
          <p:nvPr/>
        </p:nvSpPr>
        <p:spPr>
          <a:xfrm>
            <a:off x="2228850" y="2727960"/>
            <a:ext cx="15106650" cy="3977640"/>
          </a:xfrm>
          <a:prstGeom prst="roundRect">
            <a:avLst>
              <a:gd fmla="val 191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7" name="Google Shape;5077;p313"/>
          <p:cNvSpPr/>
          <p:nvPr/>
        </p:nvSpPr>
        <p:spPr>
          <a:xfrm>
            <a:off x="2541270" y="3002280"/>
            <a:ext cx="14935010" cy="3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names = ["Ayesha", "Rahim", "Nabila"]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= [[78, 65, 90],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[55, 60, 71],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[88, 92, 79]]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range(len(names)):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total = sum(marks[i])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print(f"{names[i]}: {total}, avg {total/3:.1f}")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8" name="Google Shape;5078;p313"/>
          <p:cNvSpPr/>
          <p:nvPr/>
        </p:nvSpPr>
        <p:spPr>
          <a:xfrm>
            <a:off x="952500" y="71818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9" name="Google Shape;5079;p313"/>
          <p:cNvSpPr/>
          <p:nvPr/>
        </p:nvSpPr>
        <p:spPr>
          <a:xfrm>
            <a:off x="2228850" y="6934200"/>
            <a:ext cx="15106650" cy="1819275"/>
          </a:xfrm>
          <a:prstGeom prst="roundRect">
            <a:avLst>
              <a:gd fmla="val 418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0" name="Google Shape;5080;p313"/>
          <p:cNvSpPr/>
          <p:nvPr/>
        </p:nvSpPr>
        <p:spPr>
          <a:xfrm>
            <a:off x="2533650" y="7200900"/>
            <a:ext cx="14950249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Ayesha: 233, avg 77.7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Rahim: 186, avg 62.0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Nabila: 259, avg 86.3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085" name="Shape 5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6" name="Google Shape;5086;p31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QUICK 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7" name="Google Shape;5087;p31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 = [[1,2,3],[4,5,6],[7,8,9]]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8" name="Google Shape;5088;p314"/>
          <p:cNvSpPr/>
          <p:nvPr/>
        </p:nvSpPr>
        <p:spPr>
          <a:xfrm>
            <a:off x="952500" y="2727960"/>
            <a:ext cx="8039100" cy="9906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9" name="Google Shape;5089;p314"/>
          <p:cNvSpPr/>
          <p:nvPr/>
        </p:nvSpPr>
        <p:spPr>
          <a:xfrm>
            <a:off x="1264920" y="3002280"/>
            <a:ext cx="76554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g[1][2]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0" name="Google Shape;5090;p314"/>
          <p:cNvSpPr/>
          <p:nvPr/>
        </p:nvSpPr>
        <p:spPr>
          <a:xfrm>
            <a:off x="9296400" y="2727960"/>
            <a:ext cx="8039100" cy="9906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1" name="Google Shape;5091;p314"/>
          <p:cNvSpPr/>
          <p:nvPr/>
        </p:nvSpPr>
        <p:spPr>
          <a:xfrm>
            <a:off x="9608820" y="3002280"/>
            <a:ext cx="76554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g[2]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2" name="Google Shape;5092;p314"/>
          <p:cNvSpPr/>
          <p:nvPr/>
        </p:nvSpPr>
        <p:spPr>
          <a:xfrm>
            <a:off x="952500" y="4023360"/>
            <a:ext cx="8039100" cy="9906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3" name="Google Shape;5093;p314"/>
          <p:cNvSpPr/>
          <p:nvPr/>
        </p:nvSpPr>
        <p:spPr>
          <a:xfrm>
            <a:off x="1264920" y="4297680"/>
            <a:ext cx="76554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len(g[0])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4" name="Google Shape;5094;p314"/>
          <p:cNvSpPr/>
          <p:nvPr/>
        </p:nvSpPr>
        <p:spPr>
          <a:xfrm>
            <a:off x="9296400" y="4023360"/>
            <a:ext cx="8039100" cy="9906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5" name="Google Shape;5095;p314"/>
          <p:cNvSpPr/>
          <p:nvPr/>
        </p:nvSpPr>
        <p:spPr>
          <a:xfrm>
            <a:off x="9608820" y="4297680"/>
            <a:ext cx="76554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sum(g[1])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5100" name="Shape 5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1" name="Google Shape;5101;p31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2" name="Google Shape;5102;p31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3" name="Google Shape;5103;p315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4" name="Google Shape;5104;p315"/>
          <p:cNvSpPr/>
          <p:nvPr/>
        </p:nvSpPr>
        <p:spPr>
          <a:xfrm>
            <a:off x="1684139" y="272796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 a grid from the user and print the total of every row and every column.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5" name="Google Shape;5105;p315"/>
          <p:cNvSpPr/>
          <p:nvPr/>
        </p:nvSpPr>
        <p:spPr>
          <a:xfrm>
            <a:off x="952500" y="413766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6" name="Google Shape;5106;p315"/>
          <p:cNvSpPr/>
          <p:nvPr/>
        </p:nvSpPr>
        <p:spPr>
          <a:xfrm>
            <a:off x="1684139" y="407670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Find the largest value in a grid, and print which row and column it is in.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7" name="Google Shape;5107;p315"/>
          <p:cNvSpPr/>
          <p:nvPr/>
        </p:nvSpPr>
        <p:spPr>
          <a:xfrm>
            <a:off x="952500" y="548640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8" name="Google Shape;5108;p315"/>
          <p:cNvSpPr/>
          <p:nvPr/>
        </p:nvSpPr>
        <p:spPr>
          <a:xfrm>
            <a:off x="1684139" y="5425440"/>
            <a:ext cx="11254276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 the transpose of a grid: rows become columns.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113" name="Shape 5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4" name="Google Shape;5114;p31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6 COMPLETE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5" name="Google Shape;5115;p31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6" name="Google Shape;5116;p316"/>
          <p:cNvSpPr/>
          <p:nvPr/>
        </p:nvSpPr>
        <p:spPr>
          <a:xfrm>
            <a:off x="952500" y="272796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7" name="Google Shape;5117;p316"/>
          <p:cNvSpPr/>
          <p:nvPr/>
        </p:nvSpPr>
        <p:spPr>
          <a:xfrm>
            <a:off x="1295400" y="307086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 and write any cell with grid[row][col].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8" name="Google Shape;5118;p316"/>
          <p:cNvSpPr/>
          <p:nvPr/>
        </p:nvSpPr>
        <p:spPr>
          <a:xfrm>
            <a:off x="9334500" y="272796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9" name="Google Shape;5119;p316"/>
          <p:cNvSpPr/>
          <p:nvPr/>
        </p:nvSpPr>
        <p:spPr>
          <a:xfrm>
            <a:off x="9677400" y="307086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Walk a grid with nested loops, by row or by column.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0" name="Google Shape;5120;p316"/>
          <p:cNvSpPr/>
          <p:nvPr/>
        </p:nvSpPr>
        <p:spPr>
          <a:xfrm>
            <a:off x="952500" y="470154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1" name="Google Shape;5121;p316"/>
          <p:cNvSpPr/>
          <p:nvPr/>
        </p:nvSpPr>
        <p:spPr>
          <a:xfrm>
            <a:off x="1295400" y="504444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Build a grid from input, one row at a time.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2" name="Google Shape;5122;p316"/>
          <p:cNvSpPr/>
          <p:nvPr/>
        </p:nvSpPr>
        <p:spPr>
          <a:xfrm>
            <a:off x="9334500" y="470154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3" name="Google Shape;5123;p316"/>
          <p:cNvSpPr/>
          <p:nvPr/>
        </p:nvSpPr>
        <p:spPr>
          <a:xfrm>
            <a:off x="9677400" y="504444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Avoid the shared-row trap and handle ragged rows.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4" name="Google Shape;5124;p316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class: tuples and sets.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5129" name="Shape 5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" name="Google Shape;5130;p317"/>
          <p:cNvSpPr/>
          <p:nvPr/>
        </p:nvSpPr>
        <p:spPr>
          <a:xfrm>
            <a:off x="952500" y="4085272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7 · OTHER STRUCTURES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1" name="Google Shape;5131;p317"/>
          <p:cNvSpPr/>
          <p:nvPr/>
        </p:nvSpPr>
        <p:spPr>
          <a:xfrm>
            <a:off x="952500" y="4854893"/>
            <a:ext cx="2225421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20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2" name="Google Shape;5132;p317"/>
          <p:cNvSpPr/>
          <p:nvPr/>
        </p:nvSpPr>
        <p:spPr>
          <a:xfrm>
            <a:off x="3509010" y="5632132"/>
            <a:ext cx="5901452" cy="79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Tuples and Sets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137" name="Shape 5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8" name="Google Shape;5138;p31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20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9" name="Google Shape;5139;p31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0" name="Google Shape;5140;p318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1" name="Google Shape;5141;p318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2" name="Google Shape;5142;p318"/>
          <p:cNvSpPr/>
          <p:nvPr/>
        </p:nvSpPr>
        <p:spPr>
          <a:xfrm>
            <a:off x="1646039" y="2727960"/>
            <a:ext cx="696688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Tuples: a list that cannot change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3" name="Google Shape;5143;p318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4" name="Google Shape;5144;p318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5" name="Google Shape;5145;p318"/>
          <p:cNvSpPr/>
          <p:nvPr/>
        </p:nvSpPr>
        <p:spPr>
          <a:xfrm>
            <a:off x="1646039" y="3771900"/>
            <a:ext cx="8624031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Unpacking, and returning several values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6" name="Google Shape;5146;p318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7" name="Google Shape;5147;p318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8" name="Google Shape;5148;p318"/>
          <p:cNvSpPr/>
          <p:nvPr/>
        </p:nvSpPr>
        <p:spPr>
          <a:xfrm>
            <a:off x="1646039" y="4815840"/>
            <a:ext cx="6136541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Sets: no duplicates, no order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9" name="Google Shape;5149;p318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0" name="Google Shape;5150;p318"/>
          <p:cNvSpPr/>
          <p:nvPr/>
        </p:nvSpPr>
        <p:spPr>
          <a:xfrm>
            <a:off x="1646039" y="5859780"/>
            <a:ext cx="7333071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Union, intersection and difference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155" name="Shape 5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6" name="Google Shape;5156;p31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7" name="Google Shape;5157;p31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tuple uses round brackets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8" name="Google Shape;5158;p319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9" name="Google Shape;5159;p319"/>
          <p:cNvSpPr/>
          <p:nvPr/>
        </p:nvSpPr>
        <p:spPr>
          <a:xfrm>
            <a:off x="2228850" y="2727960"/>
            <a:ext cx="15106650" cy="2691765"/>
          </a:xfrm>
          <a:prstGeom prst="roundRect">
            <a:avLst>
              <a:gd fmla="val 283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0" name="Google Shape;5160;p319"/>
          <p:cNvSpPr/>
          <p:nvPr/>
        </p:nvSpPr>
        <p:spPr>
          <a:xfrm>
            <a:off x="2541270" y="3002280"/>
            <a:ext cx="14935010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point = (3, 7)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print(point[0])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print(point[-1])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print(len(point))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print(type(point))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1" name="Google Shape;5161;p319"/>
          <p:cNvSpPr/>
          <p:nvPr/>
        </p:nvSpPr>
        <p:spPr>
          <a:xfrm>
            <a:off x="952500" y="58959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2" name="Google Shape;5162;p319"/>
          <p:cNvSpPr/>
          <p:nvPr/>
        </p:nvSpPr>
        <p:spPr>
          <a:xfrm>
            <a:off x="2228850" y="5648325"/>
            <a:ext cx="15106650" cy="2247900"/>
          </a:xfrm>
          <a:prstGeom prst="roundRect">
            <a:avLst>
              <a:gd fmla="val 339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3" name="Google Shape;5163;p319"/>
          <p:cNvSpPr/>
          <p:nvPr/>
        </p:nvSpPr>
        <p:spPr>
          <a:xfrm>
            <a:off x="2533650" y="5915025"/>
            <a:ext cx="1495024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&lt;class 'tuple'&gt;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168" name="Shape 5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9" name="Google Shape;5169;p32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0" name="Google Shape;5170;p32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tuple cannot be edited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1" name="Google Shape;5171;p320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2" name="Google Shape;5172;p320"/>
          <p:cNvSpPr/>
          <p:nvPr/>
        </p:nvSpPr>
        <p:spPr>
          <a:xfrm>
            <a:off x="2228850" y="2727960"/>
            <a:ext cx="15106650" cy="1405890"/>
          </a:xfrm>
          <a:prstGeom prst="roundRect">
            <a:avLst>
              <a:gd fmla="val 5420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3" name="Google Shape;5173;p320"/>
          <p:cNvSpPr/>
          <p:nvPr/>
        </p:nvSpPr>
        <p:spPr>
          <a:xfrm>
            <a:off x="2541270" y="3002280"/>
            <a:ext cx="1493501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point = (3, 7)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point[0] = 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4" name="Google Shape;5174;p320"/>
          <p:cNvSpPr/>
          <p:nvPr/>
        </p:nvSpPr>
        <p:spPr>
          <a:xfrm>
            <a:off x="952500" y="46101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5" name="Google Shape;5175;p320"/>
          <p:cNvSpPr/>
          <p:nvPr/>
        </p:nvSpPr>
        <p:spPr>
          <a:xfrm>
            <a:off x="2228850" y="436245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6" name="Google Shape;5176;p320"/>
          <p:cNvSpPr/>
          <p:nvPr/>
        </p:nvSpPr>
        <p:spPr>
          <a:xfrm>
            <a:off x="2533650" y="462915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TypeError: 'tuple' object does not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support item assignment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7" name="Google Shape;5177;p320"/>
          <p:cNvSpPr/>
          <p:nvPr/>
        </p:nvSpPr>
        <p:spPr>
          <a:xfrm>
            <a:off x="952500" y="61722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There is no append, no remove, no sort. That is the point of a tuple.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182" name="Shape 5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3" name="Google Shape;5183;p32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4" name="Google Shape;5184;p32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When a tuple is the right choice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5" name="Google Shape;5185;p321"/>
          <p:cNvSpPr/>
          <p:nvPr/>
        </p:nvSpPr>
        <p:spPr>
          <a:xfrm>
            <a:off x="952500" y="2727960"/>
            <a:ext cx="5181600" cy="2049780"/>
          </a:xfrm>
          <a:prstGeom prst="roundRect">
            <a:avLst>
              <a:gd fmla="val 3717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6" name="Google Shape;5186;p321"/>
          <p:cNvSpPr/>
          <p:nvPr/>
        </p:nvSpPr>
        <p:spPr>
          <a:xfrm>
            <a:off x="1295400" y="3070860"/>
            <a:ext cx="494538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Fixed shape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7" name="Google Shape;5187;p321"/>
          <p:cNvSpPr/>
          <p:nvPr/>
        </p:nvSpPr>
        <p:spPr>
          <a:xfrm>
            <a:off x="1295400" y="3680460"/>
            <a:ext cx="4073424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point always has an x and a 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8" name="Google Shape;5188;p321"/>
          <p:cNvSpPr/>
          <p:nvPr/>
        </p:nvSpPr>
        <p:spPr>
          <a:xfrm>
            <a:off x="1295400" y="4038600"/>
            <a:ext cx="103643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(3, 7)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9" name="Google Shape;5189;p321"/>
          <p:cNvSpPr/>
          <p:nvPr/>
        </p:nvSpPr>
        <p:spPr>
          <a:xfrm>
            <a:off x="6553200" y="2727960"/>
            <a:ext cx="5181600" cy="2049780"/>
          </a:xfrm>
          <a:prstGeom prst="roundRect">
            <a:avLst>
              <a:gd fmla="val 3717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0" name="Google Shape;5190;p321"/>
          <p:cNvSpPr/>
          <p:nvPr/>
        </p:nvSpPr>
        <p:spPr>
          <a:xfrm>
            <a:off x="6896100" y="3070860"/>
            <a:ext cx="494538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Must not change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1" name="Google Shape;5191;p321"/>
          <p:cNvSpPr/>
          <p:nvPr/>
        </p:nvSpPr>
        <p:spPr>
          <a:xfrm>
            <a:off x="6896100" y="3695700"/>
            <a:ext cx="3229331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three parts of a date.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2" name="Google Shape;5192;p321"/>
          <p:cNvSpPr/>
          <p:nvPr/>
        </p:nvSpPr>
        <p:spPr>
          <a:xfrm>
            <a:off x="6896100" y="3665220"/>
            <a:ext cx="4288034" cy="78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(2026, 9, 8)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3" name="Google Shape;5193;p321"/>
          <p:cNvSpPr/>
          <p:nvPr/>
        </p:nvSpPr>
        <p:spPr>
          <a:xfrm>
            <a:off x="12153900" y="2727960"/>
            <a:ext cx="5181600" cy="2049780"/>
          </a:xfrm>
          <a:prstGeom prst="roundRect">
            <a:avLst>
              <a:gd fmla="val 3717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4" name="Google Shape;5194;p321"/>
          <p:cNvSpPr/>
          <p:nvPr/>
        </p:nvSpPr>
        <p:spPr>
          <a:xfrm>
            <a:off x="12496800" y="3070860"/>
            <a:ext cx="494538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Several return values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5" name="Google Shape;5195;p321"/>
          <p:cNvSpPr/>
          <p:nvPr/>
        </p:nvSpPr>
        <p:spPr>
          <a:xfrm>
            <a:off x="12496800" y="3680460"/>
            <a:ext cx="4493201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divide() handed back in Class 16.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6" name="Google Shape;5196;p321"/>
          <p:cNvSpPr/>
          <p:nvPr/>
        </p:nvSpPr>
        <p:spPr>
          <a:xfrm>
            <a:off x="952500" y="5311140"/>
            <a:ext cx="1571625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Use a list when items come and go. Use a tuple when the group is one fixed thing.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201" name="Shape 5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2" name="Google Shape;5202;p32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3" name="Google Shape;5203;p32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Unpacking a tuple into names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4" name="Google Shape;5204;p322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[3]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5" name="Google Shape;5205;p322"/>
          <p:cNvSpPr/>
          <p:nvPr/>
        </p:nvSpPr>
        <p:spPr>
          <a:xfrm>
            <a:off x="2228850" y="2727960"/>
            <a:ext cx="15106650" cy="3549015"/>
          </a:xfrm>
          <a:prstGeom prst="roundRect">
            <a:avLst>
              <a:gd fmla="val 214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6" name="Google Shape;5206;p322"/>
          <p:cNvSpPr/>
          <p:nvPr/>
        </p:nvSpPr>
        <p:spPr>
          <a:xfrm>
            <a:off x="2541270" y="3002280"/>
            <a:ext cx="14935010" cy="3038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point = (3, 7)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x, y = point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print(x, y)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a, b = 5, 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a, b = b, 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print(a,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7" name="Google Shape;5207;p322"/>
          <p:cNvSpPr/>
          <p:nvPr/>
        </p:nvSpPr>
        <p:spPr>
          <a:xfrm>
            <a:off x="952500" y="675322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8" name="Google Shape;5208;p322"/>
          <p:cNvSpPr/>
          <p:nvPr/>
        </p:nvSpPr>
        <p:spPr>
          <a:xfrm>
            <a:off x="2228850" y="6505575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9" name="Google Shape;5209;p322"/>
          <p:cNvSpPr/>
          <p:nvPr/>
        </p:nvSpPr>
        <p:spPr>
          <a:xfrm>
            <a:off x="2533650" y="6772275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3 7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9 5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0" name="Google Shape;5210;p322"/>
          <p:cNvSpPr/>
          <p:nvPr/>
        </p:nvSpPr>
        <p:spPr>
          <a:xfrm>
            <a:off x="952500" y="827722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swap from Class 2 was a tuple all along.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215" name="Shape 5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6" name="Google Shape;5216;p32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TRAP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7" name="Google Shape;5217;p32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tuple with one item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8" name="Google Shape;5218;p323"/>
          <p:cNvSpPr/>
          <p:nvPr/>
        </p:nvSpPr>
        <p:spPr>
          <a:xfrm>
            <a:off x="952500" y="272796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9" name="Google Shape;5219;p323"/>
          <p:cNvSpPr/>
          <p:nvPr/>
        </p:nvSpPr>
        <p:spPr>
          <a:xfrm>
            <a:off x="1245870" y="298323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(5)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print(type(a))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0" name="Google Shape;5220;p323"/>
          <p:cNvSpPr/>
          <p:nvPr/>
        </p:nvSpPr>
        <p:spPr>
          <a:xfrm>
            <a:off x="952500" y="4286250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1" name="Google Shape;5221;p323"/>
          <p:cNvSpPr/>
          <p:nvPr/>
        </p:nvSpPr>
        <p:spPr>
          <a:xfrm>
            <a:off x="1238250" y="4533900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&lt;class 'int'&gt;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2" name="Google Shape;5222;p323"/>
          <p:cNvSpPr/>
          <p:nvPr/>
        </p:nvSpPr>
        <p:spPr>
          <a:xfrm>
            <a:off x="9391650" y="272796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3" name="Google Shape;5223;p323"/>
          <p:cNvSpPr/>
          <p:nvPr/>
        </p:nvSpPr>
        <p:spPr>
          <a:xfrm>
            <a:off x="9685020" y="298323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(5,)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print(type(a))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4" name="Google Shape;5224;p323"/>
          <p:cNvSpPr/>
          <p:nvPr/>
        </p:nvSpPr>
        <p:spPr>
          <a:xfrm>
            <a:off x="9391650" y="4286250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5" name="Google Shape;5225;p323"/>
          <p:cNvSpPr/>
          <p:nvPr/>
        </p:nvSpPr>
        <p:spPr>
          <a:xfrm>
            <a:off x="9677400" y="4533900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&lt;class 'tuple'&gt;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6" name="Google Shape;5226;p323"/>
          <p:cNvSpPr/>
          <p:nvPr/>
        </p:nvSpPr>
        <p:spPr>
          <a:xfrm>
            <a:off x="952500" y="565023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comma makes the tuple, not the brackets.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231" name="Shape 5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" name="Google Shape;5232;p32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3" name="Google Shape;5233;p32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set keeps one of each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4" name="Google Shape;5234;p324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[4]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5" name="Google Shape;5235;p324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6" name="Google Shape;5236;p324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 = {3, 7, 3, 9, 7}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print(s)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print(len(s))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print(3 in s)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7" name="Google Shape;5237;p324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8" name="Google Shape;5238;p324"/>
          <p:cNvSpPr/>
          <p:nvPr/>
        </p:nvSpPr>
        <p:spPr>
          <a:xfrm>
            <a:off x="2228850" y="5219700"/>
            <a:ext cx="15106650" cy="1819275"/>
          </a:xfrm>
          <a:prstGeom prst="roundRect">
            <a:avLst>
              <a:gd fmla="val 418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9" name="Google Shape;5239;p324"/>
          <p:cNvSpPr/>
          <p:nvPr/>
        </p:nvSpPr>
        <p:spPr>
          <a:xfrm>
            <a:off x="2533650" y="5486400"/>
            <a:ext cx="14950249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{3, 9, 7}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0" name="Google Shape;5240;p324"/>
          <p:cNvSpPr/>
          <p:nvPr/>
        </p:nvSpPr>
        <p:spPr>
          <a:xfrm>
            <a:off x="952500" y="741997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Five values in, three come out. The duplicates were dropped silently.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245" name="Shape 5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6" name="Google Shape;5246;p32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7" name="Google Shape;5247;p32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set has no positions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8" name="Google Shape;5248;p325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[5]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9" name="Google Shape;5249;p325"/>
          <p:cNvSpPr/>
          <p:nvPr/>
        </p:nvSpPr>
        <p:spPr>
          <a:xfrm>
            <a:off x="2228850" y="2727960"/>
            <a:ext cx="15106650" cy="1405890"/>
          </a:xfrm>
          <a:prstGeom prst="roundRect">
            <a:avLst>
              <a:gd fmla="val 5420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0" name="Google Shape;5250;p325"/>
          <p:cNvSpPr/>
          <p:nvPr/>
        </p:nvSpPr>
        <p:spPr>
          <a:xfrm>
            <a:off x="2541270" y="3002280"/>
            <a:ext cx="1493501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 = {3, 7, 9}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print(s[0])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1" name="Google Shape;5251;p325"/>
          <p:cNvSpPr/>
          <p:nvPr/>
        </p:nvSpPr>
        <p:spPr>
          <a:xfrm>
            <a:off x="952500" y="46101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2" name="Google Shape;5252;p325"/>
          <p:cNvSpPr/>
          <p:nvPr/>
        </p:nvSpPr>
        <p:spPr>
          <a:xfrm>
            <a:off x="2228850" y="436245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3" name="Google Shape;5253;p325"/>
          <p:cNvSpPr/>
          <p:nvPr/>
        </p:nvSpPr>
        <p:spPr>
          <a:xfrm>
            <a:off x="2533650" y="462915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TypeError: 'set' object is not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subscriptable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4" name="Google Shape;5254;p325"/>
          <p:cNvSpPr/>
          <p:nvPr/>
        </p:nvSpPr>
        <p:spPr>
          <a:xfrm>
            <a:off x="952500" y="61722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You can loop over a set and you can ask whether something is in it. You cannot ask for the third item.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259" name="Shape 5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0" name="Google Shape;5260;p32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1" name="Google Shape;5261;p32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Comparing two sets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2" name="Google Shape;5262;p326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[6]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3" name="Google Shape;5263;p326"/>
          <p:cNvSpPr/>
          <p:nvPr/>
        </p:nvSpPr>
        <p:spPr>
          <a:xfrm>
            <a:off x="2228850" y="2727960"/>
            <a:ext cx="15106650" cy="3120390"/>
          </a:xfrm>
          <a:prstGeom prst="roundRect">
            <a:avLst>
              <a:gd fmla="val 24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4" name="Google Shape;5264;p326"/>
          <p:cNvSpPr/>
          <p:nvPr/>
        </p:nvSpPr>
        <p:spPr>
          <a:xfrm>
            <a:off x="2541270" y="3002280"/>
            <a:ext cx="14935010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maths = {"Ayesha", "Rahim", "Nabila"}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physics = {"Rahim", "Karim"}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print(maths | physics)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print(maths &amp; physics)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print(maths - physics)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5" name="Google Shape;5265;p326"/>
          <p:cNvSpPr/>
          <p:nvPr/>
        </p:nvSpPr>
        <p:spPr>
          <a:xfrm>
            <a:off x="952500" y="63246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6" name="Google Shape;5266;p326"/>
          <p:cNvSpPr/>
          <p:nvPr/>
        </p:nvSpPr>
        <p:spPr>
          <a:xfrm>
            <a:off x="2228850" y="6076950"/>
            <a:ext cx="15106650" cy="1819275"/>
          </a:xfrm>
          <a:prstGeom prst="roundRect">
            <a:avLst>
              <a:gd fmla="val 418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7" name="Google Shape;5267;p326"/>
          <p:cNvSpPr/>
          <p:nvPr/>
        </p:nvSpPr>
        <p:spPr>
          <a:xfrm>
            <a:off x="2533650" y="6343650"/>
            <a:ext cx="14950249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{'Ayesha', 'Karim', 'Rahim', 'Nabila'}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{'Rahim'}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{'Ayesha', 'Nabila'}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5272" name="Shape 5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" name="Google Shape;5273;p327"/>
          <p:cNvSpPr/>
          <p:nvPr/>
        </p:nvSpPr>
        <p:spPr>
          <a:xfrm>
            <a:off x="952500" y="380238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READING THE SYMBOLS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4" name="Google Shape;5274;p327"/>
          <p:cNvSpPr/>
          <p:nvPr/>
        </p:nvSpPr>
        <p:spPr>
          <a:xfrm>
            <a:off x="952500" y="4655820"/>
            <a:ext cx="5587913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6000"/>
              <a:buFont typeface="JetBrains Mono"/>
              <a:buNone/>
            </a:pPr>
            <a:r>
              <a:rPr b="1" i="0" lang="en-US" sz="600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|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5" name="Google Shape;5275;p327"/>
          <p:cNvSpPr/>
          <p:nvPr/>
        </p:nvSpPr>
        <p:spPr>
          <a:xfrm>
            <a:off x="952500" y="5852160"/>
            <a:ext cx="5587913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Union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6" name="Google Shape;5276;p327"/>
          <p:cNvSpPr/>
          <p:nvPr/>
        </p:nvSpPr>
        <p:spPr>
          <a:xfrm>
            <a:off x="952500" y="6355080"/>
            <a:ext cx="5587913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Everyone in either group.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7" name="Google Shape;5277;p327"/>
          <p:cNvSpPr/>
          <p:nvPr/>
        </p:nvSpPr>
        <p:spPr>
          <a:xfrm>
            <a:off x="6603921" y="4655820"/>
            <a:ext cx="5588044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6000"/>
              <a:buFont typeface="JetBrains Mono"/>
              <a:buNone/>
            </a:pPr>
            <a:r>
              <a:rPr b="1" i="0" lang="en-US" sz="60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&amp;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8" name="Google Shape;5278;p327"/>
          <p:cNvSpPr/>
          <p:nvPr/>
        </p:nvSpPr>
        <p:spPr>
          <a:xfrm>
            <a:off x="6603921" y="5852160"/>
            <a:ext cx="5588044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Intersection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9" name="Google Shape;5279;p327"/>
          <p:cNvSpPr/>
          <p:nvPr/>
        </p:nvSpPr>
        <p:spPr>
          <a:xfrm>
            <a:off x="6603921" y="6355080"/>
            <a:ext cx="5588044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Only those in both.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0" name="Google Shape;5280;p327"/>
          <p:cNvSpPr/>
          <p:nvPr/>
        </p:nvSpPr>
        <p:spPr>
          <a:xfrm>
            <a:off x="12255460" y="4655820"/>
            <a:ext cx="5588044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6000"/>
              <a:buFont typeface="JetBrains Mono"/>
              <a:buNone/>
            </a:pPr>
            <a:r>
              <a:rPr b="1" i="0" lang="en-US" sz="600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1" name="Google Shape;5281;p327"/>
          <p:cNvSpPr/>
          <p:nvPr/>
        </p:nvSpPr>
        <p:spPr>
          <a:xfrm>
            <a:off x="12255460" y="5852160"/>
            <a:ext cx="5588044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Difference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2" name="Google Shape;5282;p327"/>
          <p:cNvSpPr/>
          <p:nvPr/>
        </p:nvSpPr>
        <p:spPr>
          <a:xfrm>
            <a:off x="12255460" y="6355080"/>
            <a:ext cx="5588044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 the first, not the second.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287" name="Shape 5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8" name="Google Shape;5288;p32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APPLICATION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9" name="Google Shape;5289;p32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Removing duplicates from a list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0" name="Google Shape;5290;p328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[7]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1" name="Google Shape;5291;p328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2" name="Google Shape;5292;p328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= [78, 65, 78, 90, 65]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unique = list(set(marks))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print(unique)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print(len(set(marks)))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3" name="Google Shape;5293;p328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4" name="Google Shape;5294;p328"/>
          <p:cNvSpPr/>
          <p:nvPr/>
        </p:nvSpPr>
        <p:spPr>
          <a:xfrm>
            <a:off x="2228850" y="521970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5" name="Google Shape;5295;p328"/>
          <p:cNvSpPr/>
          <p:nvPr/>
        </p:nvSpPr>
        <p:spPr>
          <a:xfrm>
            <a:off x="2533650" y="548640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[65, 90, 78]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6" name="Google Shape;5296;p328"/>
          <p:cNvSpPr/>
          <p:nvPr/>
        </p:nvSpPr>
        <p:spPr>
          <a:xfrm>
            <a:off x="952500" y="699135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original order is lost. If you need it kept, use the loop from Class 18.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301" name="Shape 5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2" name="Google Shape;5302;p32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TRAP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3" name="Google Shape;5303;p32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Making an empty set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4" name="Google Shape;5304;p329"/>
          <p:cNvSpPr/>
          <p:nvPr/>
        </p:nvSpPr>
        <p:spPr>
          <a:xfrm>
            <a:off x="952500" y="272796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5" name="Google Shape;5305;p329"/>
          <p:cNvSpPr/>
          <p:nvPr/>
        </p:nvSpPr>
        <p:spPr>
          <a:xfrm>
            <a:off x="1245870" y="298323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{}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print(type(a))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6" name="Google Shape;5306;p329"/>
          <p:cNvSpPr/>
          <p:nvPr/>
        </p:nvSpPr>
        <p:spPr>
          <a:xfrm>
            <a:off x="952500" y="4286250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7" name="Google Shape;5307;p329"/>
          <p:cNvSpPr/>
          <p:nvPr/>
        </p:nvSpPr>
        <p:spPr>
          <a:xfrm>
            <a:off x="1238250" y="4533900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&lt;class 'dict'&gt;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8" name="Google Shape;5308;p329"/>
          <p:cNvSpPr/>
          <p:nvPr/>
        </p:nvSpPr>
        <p:spPr>
          <a:xfrm>
            <a:off x="9391650" y="272796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9" name="Google Shape;5309;p329"/>
          <p:cNvSpPr/>
          <p:nvPr/>
        </p:nvSpPr>
        <p:spPr>
          <a:xfrm>
            <a:off x="9685020" y="298323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set()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print(type(a))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0" name="Google Shape;5310;p329"/>
          <p:cNvSpPr/>
          <p:nvPr/>
        </p:nvSpPr>
        <p:spPr>
          <a:xfrm>
            <a:off x="9391650" y="4286250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1" name="Google Shape;5311;p329"/>
          <p:cNvSpPr/>
          <p:nvPr/>
        </p:nvSpPr>
        <p:spPr>
          <a:xfrm>
            <a:off x="9677400" y="4533900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&lt;class 'set'&gt;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2" name="Google Shape;5312;p329"/>
          <p:cNvSpPr/>
          <p:nvPr/>
        </p:nvSpPr>
        <p:spPr>
          <a:xfrm>
            <a:off x="952500" y="565023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Empty curly brackets were taken by dictionaries first.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317" name="Shape 5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8" name="Google Shape;5318;p33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REFERENCE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9" name="Google Shape;5319;p33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Choosing a container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0" name="Google Shape;5320;p330"/>
          <p:cNvSpPr/>
          <p:nvPr/>
        </p:nvSpPr>
        <p:spPr>
          <a:xfrm>
            <a:off x="952500" y="272796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1" name="Google Shape;5321;p330"/>
          <p:cNvSpPr/>
          <p:nvPr/>
        </p:nvSpPr>
        <p:spPr>
          <a:xfrm>
            <a:off x="952500" y="3444240"/>
            <a:ext cx="303383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2" name="Google Shape;5322;p330"/>
          <p:cNvSpPr/>
          <p:nvPr/>
        </p:nvSpPr>
        <p:spPr>
          <a:xfrm>
            <a:off x="1143000" y="2914650"/>
            <a:ext cx="274384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3" name="Google Shape;5323;p330"/>
          <p:cNvSpPr/>
          <p:nvPr/>
        </p:nvSpPr>
        <p:spPr>
          <a:xfrm>
            <a:off x="3986332" y="3444240"/>
            <a:ext cx="303383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4" name="Google Shape;5324;p330"/>
          <p:cNvSpPr/>
          <p:nvPr/>
        </p:nvSpPr>
        <p:spPr>
          <a:xfrm>
            <a:off x="4176832" y="2914650"/>
            <a:ext cx="274384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BRACKETS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5" name="Google Shape;5325;p330"/>
          <p:cNvSpPr/>
          <p:nvPr/>
        </p:nvSpPr>
        <p:spPr>
          <a:xfrm>
            <a:off x="7020163" y="3444240"/>
            <a:ext cx="303395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6" name="Google Shape;5326;p330"/>
          <p:cNvSpPr/>
          <p:nvPr/>
        </p:nvSpPr>
        <p:spPr>
          <a:xfrm>
            <a:off x="7210663" y="2914650"/>
            <a:ext cx="274396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ORDERED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7" name="Google Shape;5327;p330"/>
          <p:cNvSpPr/>
          <p:nvPr/>
        </p:nvSpPr>
        <p:spPr>
          <a:xfrm>
            <a:off x="10054114" y="3444240"/>
            <a:ext cx="303383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8" name="Google Shape;5328;p330"/>
          <p:cNvSpPr/>
          <p:nvPr/>
        </p:nvSpPr>
        <p:spPr>
          <a:xfrm>
            <a:off x="10244614" y="2914650"/>
            <a:ext cx="274384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EDITABLE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9" name="Google Shape;5329;p330"/>
          <p:cNvSpPr/>
          <p:nvPr/>
        </p:nvSpPr>
        <p:spPr>
          <a:xfrm>
            <a:off x="13087945" y="3444240"/>
            <a:ext cx="4247436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0" name="Google Shape;5330;p330"/>
          <p:cNvSpPr/>
          <p:nvPr/>
        </p:nvSpPr>
        <p:spPr>
          <a:xfrm>
            <a:off x="13278445" y="2914650"/>
            <a:ext cx="39938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 IT FOR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1" name="Google Shape;5331;p330"/>
          <p:cNvSpPr/>
          <p:nvPr/>
        </p:nvSpPr>
        <p:spPr>
          <a:xfrm>
            <a:off x="952500" y="4152900"/>
            <a:ext cx="303383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2" name="Google Shape;5332;p330"/>
          <p:cNvSpPr/>
          <p:nvPr/>
        </p:nvSpPr>
        <p:spPr>
          <a:xfrm>
            <a:off x="1143000" y="3623310"/>
            <a:ext cx="274384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3" name="Google Shape;5333;p330"/>
          <p:cNvSpPr/>
          <p:nvPr/>
        </p:nvSpPr>
        <p:spPr>
          <a:xfrm>
            <a:off x="3986332" y="4152900"/>
            <a:ext cx="303383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4" name="Google Shape;5334;p330"/>
          <p:cNvSpPr/>
          <p:nvPr/>
        </p:nvSpPr>
        <p:spPr>
          <a:xfrm>
            <a:off x="4176832" y="3623310"/>
            <a:ext cx="274384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 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5" name="Google Shape;5335;p330"/>
          <p:cNvSpPr/>
          <p:nvPr/>
        </p:nvSpPr>
        <p:spPr>
          <a:xfrm>
            <a:off x="7020163" y="4152900"/>
            <a:ext cx="303395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6" name="Google Shape;5336;p330"/>
          <p:cNvSpPr/>
          <p:nvPr/>
        </p:nvSpPr>
        <p:spPr>
          <a:xfrm>
            <a:off x="7210663" y="3623310"/>
            <a:ext cx="274396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7" name="Google Shape;5337;p330"/>
          <p:cNvSpPr/>
          <p:nvPr/>
        </p:nvSpPr>
        <p:spPr>
          <a:xfrm>
            <a:off x="10054114" y="4152900"/>
            <a:ext cx="303383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8" name="Google Shape;5338;p330"/>
          <p:cNvSpPr/>
          <p:nvPr/>
        </p:nvSpPr>
        <p:spPr>
          <a:xfrm>
            <a:off x="10244614" y="3623310"/>
            <a:ext cx="274384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9" name="Google Shape;5339;p330"/>
          <p:cNvSpPr/>
          <p:nvPr/>
        </p:nvSpPr>
        <p:spPr>
          <a:xfrm>
            <a:off x="13087945" y="4152900"/>
            <a:ext cx="4247436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0" name="Google Shape;5340;p330"/>
          <p:cNvSpPr/>
          <p:nvPr/>
        </p:nvSpPr>
        <p:spPr>
          <a:xfrm>
            <a:off x="13278445" y="3623310"/>
            <a:ext cx="39938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text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1" name="Google Shape;5341;p330"/>
          <p:cNvSpPr/>
          <p:nvPr/>
        </p:nvSpPr>
        <p:spPr>
          <a:xfrm>
            <a:off x="952500" y="4861560"/>
            <a:ext cx="303383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2" name="Google Shape;5342;p330"/>
          <p:cNvSpPr/>
          <p:nvPr/>
        </p:nvSpPr>
        <p:spPr>
          <a:xfrm>
            <a:off x="1143000" y="4331970"/>
            <a:ext cx="274384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3" name="Google Shape;5343;p330"/>
          <p:cNvSpPr/>
          <p:nvPr/>
        </p:nvSpPr>
        <p:spPr>
          <a:xfrm>
            <a:off x="3986332" y="4861560"/>
            <a:ext cx="303383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4" name="Google Shape;5344;p330"/>
          <p:cNvSpPr/>
          <p:nvPr/>
        </p:nvSpPr>
        <p:spPr>
          <a:xfrm>
            <a:off x="4176832" y="4331970"/>
            <a:ext cx="274384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 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5" name="Google Shape;5345;p330"/>
          <p:cNvSpPr/>
          <p:nvPr/>
        </p:nvSpPr>
        <p:spPr>
          <a:xfrm>
            <a:off x="7020163" y="4861560"/>
            <a:ext cx="303395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6" name="Google Shape;5346;p330"/>
          <p:cNvSpPr/>
          <p:nvPr/>
        </p:nvSpPr>
        <p:spPr>
          <a:xfrm>
            <a:off x="7210663" y="4331970"/>
            <a:ext cx="274396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7" name="Google Shape;5347;p330"/>
          <p:cNvSpPr/>
          <p:nvPr/>
        </p:nvSpPr>
        <p:spPr>
          <a:xfrm>
            <a:off x="10054114" y="4861560"/>
            <a:ext cx="303383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8" name="Google Shape;5348;p330"/>
          <p:cNvSpPr/>
          <p:nvPr/>
        </p:nvSpPr>
        <p:spPr>
          <a:xfrm>
            <a:off x="10244614" y="4331970"/>
            <a:ext cx="274384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9" name="Google Shape;5349;p330"/>
          <p:cNvSpPr/>
          <p:nvPr/>
        </p:nvSpPr>
        <p:spPr>
          <a:xfrm>
            <a:off x="13087945" y="4861560"/>
            <a:ext cx="4247436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0" name="Google Shape;5350;p330"/>
          <p:cNvSpPr/>
          <p:nvPr/>
        </p:nvSpPr>
        <p:spPr>
          <a:xfrm>
            <a:off x="13278445" y="4331970"/>
            <a:ext cx="39938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collection that changes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1" name="Google Shape;5351;p330"/>
          <p:cNvSpPr/>
          <p:nvPr/>
        </p:nvSpPr>
        <p:spPr>
          <a:xfrm>
            <a:off x="952500" y="5570220"/>
            <a:ext cx="303383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2" name="Google Shape;5352;p330"/>
          <p:cNvSpPr/>
          <p:nvPr/>
        </p:nvSpPr>
        <p:spPr>
          <a:xfrm>
            <a:off x="1143000" y="5040630"/>
            <a:ext cx="274384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tuple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3" name="Google Shape;5353;p330"/>
          <p:cNvSpPr/>
          <p:nvPr/>
        </p:nvSpPr>
        <p:spPr>
          <a:xfrm>
            <a:off x="3986332" y="5570220"/>
            <a:ext cx="303383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4" name="Google Shape;5354;p330"/>
          <p:cNvSpPr/>
          <p:nvPr/>
        </p:nvSpPr>
        <p:spPr>
          <a:xfrm>
            <a:off x="4176832" y="5040630"/>
            <a:ext cx="274384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 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5" name="Google Shape;5355;p330"/>
          <p:cNvSpPr/>
          <p:nvPr/>
        </p:nvSpPr>
        <p:spPr>
          <a:xfrm>
            <a:off x="7020163" y="5570220"/>
            <a:ext cx="303395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6" name="Google Shape;5356;p330"/>
          <p:cNvSpPr/>
          <p:nvPr/>
        </p:nvSpPr>
        <p:spPr>
          <a:xfrm>
            <a:off x="7210663" y="5040630"/>
            <a:ext cx="274396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7" name="Google Shape;5357;p330"/>
          <p:cNvSpPr/>
          <p:nvPr/>
        </p:nvSpPr>
        <p:spPr>
          <a:xfrm>
            <a:off x="10054114" y="5570220"/>
            <a:ext cx="303383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8" name="Google Shape;5358;p330"/>
          <p:cNvSpPr/>
          <p:nvPr/>
        </p:nvSpPr>
        <p:spPr>
          <a:xfrm>
            <a:off x="10244614" y="5040630"/>
            <a:ext cx="274384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9" name="Google Shape;5359;p330"/>
          <p:cNvSpPr/>
          <p:nvPr/>
        </p:nvSpPr>
        <p:spPr>
          <a:xfrm>
            <a:off x="13087945" y="5570220"/>
            <a:ext cx="4247436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0" name="Google Shape;5360;p330"/>
          <p:cNvSpPr/>
          <p:nvPr/>
        </p:nvSpPr>
        <p:spPr>
          <a:xfrm>
            <a:off x="13278445" y="5040630"/>
            <a:ext cx="39938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fixed group of values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1" name="Google Shape;5361;p330"/>
          <p:cNvSpPr/>
          <p:nvPr/>
        </p:nvSpPr>
        <p:spPr>
          <a:xfrm>
            <a:off x="1143000" y="5749290"/>
            <a:ext cx="274384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2" name="Google Shape;5362;p330"/>
          <p:cNvSpPr/>
          <p:nvPr/>
        </p:nvSpPr>
        <p:spPr>
          <a:xfrm>
            <a:off x="4176832" y="5749290"/>
            <a:ext cx="274384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 }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3" name="Google Shape;5363;p330"/>
          <p:cNvSpPr/>
          <p:nvPr/>
        </p:nvSpPr>
        <p:spPr>
          <a:xfrm>
            <a:off x="7210663" y="5749290"/>
            <a:ext cx="274396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4" name="Google Shape;5364;p330"/>
          <p:cNvSpPr/>
          <p:nvPr/>
        </p:nvSpPr>
        <p:spPr>
          <a:xfrm>
            <a:off x="10244614" y="5749290"/>
            <a:ext cx="274384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5" name="Google Shape;5365;p330"/>
          <p:cNvSpPr/>
          <p:nvPr/>
        </p:nvSpPr>
        <p:spPr>
          <a:xfrm>
            <a:off x="13278445" y="5749290"/>
            <a:ext cx="399385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uniqueness and membership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370" name="Shape 5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1" name="Google Shape;5371;p33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QUICK 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2" name="Google Shape;5372;p33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is the result?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3" name="Google Shape;5373;p331"/>
          <p:cNvSpPr/>
          <p:nvPr/>
        </p:nvSpPr>
        <p:spPr>
          <a:xfrm>
            <a:off x="952500" y="2727960"/>
            <a:ext cx="8039100" cy="967740"/>
          </a:xfrm>
          <a:prstGeom prst="roundRect">
            <a:avLst>
              <a:gd fmla="val 787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4" name="Google Shape;5374;p331"/>
          <p:cNvSpPr/>
          <p:nvPr/>
        </p:nvSpPr>
        <p:spPr>
          <a:xfrm>
            <a:off x="1264920" y="3002280"/>
            <a:ext cx="765543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len({1, 2, 2, 3})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5" name="Google Shape;5375;p331"/>
          <p:cNvSpPr/>
          <p:nvPr/>
        </p:nvSpPr>
        <p:spPr>
          <a:xfrm>
            <a:off x="9296400" y="2727960"/>
            <a:ext cx="8039100" cy="967740"/>
          </a:xfrm>
          <a:prstGeom prst="roundRect">
            <a:avLst>
              <a:gd fmla="val 787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6" name="Google Shape;5376;p331"/>
          <p:cNvSpPr/>
          <p:nvPr/>
        </p:nvSpPr>
        <p:spPr>
          <a:xfrm>
            <a:off x="9608820" y="3002280"/>
            <a:ext cx="765543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(1, 2)[0] = 9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7" name="Google Shape;5377;p331"/>
          <p:cNvSpPr/>
          <p:nvPr/>
        </p:nvSpPr>
        <p:spPr>
          <a:xfrm>
            <a:off x="952500" y="4000500"/>
            <a:ext cx="8039100" cy="967740"/>
          </a:xfrm>
          <a:prstGeom prst="roundRect">
            <a:avLst>
              <a:gd fmla="val 787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8" name="Google Shape;5378;p331"/>
          <p:cNvSpPr/>
          <p:nvPr/>
        </p:nvSpPr>
        <p:spPr>
          <a:xfrm>
            <a:off x="1264920" y="4274820"/>
            <a:ext cx="765543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{1,2} | {2,3}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9" name="Google Shape;5379;p331"/>
          <p:cNvSpPr/>
          <p:nvPr/>
        </p:nvSpPr>
        <p:spPr>
          <a:xfrm>
            <a:off x="9296400" y="4000500"/>
            <a:ext cx="8039100" cy="967740"/>
          </a:xfrm>
          <a:prstGeom prst="roundRect">
            <a:avLst>
              <a:gd fmla="val 787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0" name="Google Shape;5380;p331"/>
          <p:cNvSpPr/>
          <p:nvPr/>
        </p:nvSpPr>
        <p:spPr>
          <a:xfrm>
            <a:off x="9608820" y="4274820"/>
            <a:ext cx="765543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type((7,))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5385" name="Shape 5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" name="Google Shape;5386;p33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7" name="Google Shape;5387;p33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8" name="Google Shape;5388;p332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9" name="Google Shape;5389;p332"/>
          <p:cNvSpPr/>
          <p:nvPr/>
        </p:nvSpPr>
        <p:spPr>
          <a:xfrm>
            <a:off x="1684139" y="272796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a function that returns the minimum and maximum of a list as a tuple.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0" name="Google Shape;5390;p332"/>
          <p:cNvSpPr/>
          <p:nvPr/>
        </p:nvSpPr>
        <p:spPr>
          <a:xfrm>
            <a:off x="952500" y="413766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1" name="Google Shape;5391;p332"/>
          <p:cNvSpPr/>
          <p:nvPr/>
        </p:nvSpPr>
        <p:spPr>
          <a:xfrm>
            <a:off x="1684139" y="407670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Given two lists of student names, print who is in both, and who is in only one.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2" name="Google Shape;5392;p332"/>
          <p:cNvSpPr/>
          <p:nvPr/>
        </p:nvSpPr>
        <p:spPr>
          <a:xfrm>
            <a:off x="952500" y="548640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3" name="Google Shape;5393;p332"/>
          <p:cNvSpPr/>
          <p:nvPr/>
        </p:nvSpPr>
        <p:spPr>
          <a:xfrm>
            <a:off x="1684139" y="5425440"/>
            <a:ext cx="10872895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Count how many different letters a word contains.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398" name="Shape 5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9" name="Google Shape;5399;p33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0" name="Google Shape;5400;p33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1" name="Google Shape;5401;p333"/>
          <p:cNvSpPr/>
          <p:nvPr/>
        </p:nvSpPr>
        <p:spPr>
          <a:xfrm>
            <a:off x="952500" y="272796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2" name="Google Shape;5402;p333"/>
          <p:cNvSpPr/>
          <p:nvPr/>
        </p:nvSpPr>
        <p:spPr>
          <a:xfrm>
            <a:off x="1295400" y="307086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Create a tuple and explain why it cannot be edited.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3" name="Google Shape;5403;p333"/>
          <p:cNvSpPr/>
          <p:nvPr/>
        </p:nvSpPr>
        <p:spPr>
          <a:xfrm>
            <a:off x="9334500" y="272796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4" name="Google Shape;5404;p333"/>
          <p:cNvSpPr/>
          <p:nvPr/>
        </p:nvSpPr>
        <p:spPr>
          <a:xfrm>
            <a:off x="9677400" y="307086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Unpack a tuple into separate names.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5" name="Google Shape;5405;p333"/>
          <p:cNvSpPr/>
          <p:nvPr/>
        </p:nvSpPr>
        <p:spPr>
          <a:xfrm>
            <a:off x="952500" y="470154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6" name="Google Shape;5406;p333"/>
          <p:cNvSpPr/>
          <p:nvPr/>
        </p:nvSpPr>
        <p:spPr>
          <a:xfrm>
            <a:off x="1295400" y="504444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Use a set to remove duplicates and test membership.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7" name="Google Shape;5407;p333"/>
          <p:cNvSpPr/>
          <p:nvPr/>
        </p:nvSpPr>
        <p:spPr>
          <a:xfrm>
            <a:off x="9334500" y="470154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8" name="Google Shape;5408;p333"/>
          <p:cNvSpPr/>
          <p:nvPr/>
        </p:nvSpPr>
        <p:spPr>
          <a:xfrm>
            <a:off x="9677400" y="504444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Choose between str, list, tuple and set.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9" name="Google Shape;5409;p333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class: dictionaries.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5414" name="Shape 5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5" name="Google Shape;5415;p334"/>
          <p:cNvSpPr/>
          <p:nvPr/>
        </p:nvSpPr>
        <p:spPr>
          <a:xfrm>
            <a:off x="952500" y="4085272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7 · OTHER STRUCTURES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6" name="Google Shape;5416;p334"/>
          <p:cNvSpPr/>
          <p:nvPr/>
        </p:nvSpPr>
        <p:spPr>
          <a:xfrm>
            <a:off x="952500" y="4854893"/>
            <a:ext cx="1636585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21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7" name="Google Shape;5417;p334"/>
          <p:cNvSpPr/>
          <p:nvPr/>
        </p:nvSpPr>
        <p:spPr>
          <a:xfrm>
            <a:off x="2973705" y="5632132"/>
            <a:ext cx="4494062" cy="79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Dictionaries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422" name="Shape 5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3" name="Google Shape;5423;p33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21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4" name="Google Shape;5424;p33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5" name="Google Shape;5425;p335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6" name="Google Shape;5426;p335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7" name="Google Shape;5427;p335"/>
          <p:cNvSpPr/>
          <p:nvPr/>
        </p:nvSpPr>
        <p:spPr>
          <a:xfrm>
            <a:off x="1646039" y="2727960"/>
            <a:ext cx="5423547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Looking values up by key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8" name="Google Shape;5428;p335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9" name="Google Shape;5429;p335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0" name="Google Shape;5430;p335"/>
          <p:cNvSpPr/>
          <p:nvPr/>
        </p:nvSpPr>
        <p:spPr>
          <a:xfrm>
            <a:off x="1646039" y="3771900"/>
            <a:ext cx="8419326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Adding, changing and removing entries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1" name="Google Shape;5431;p335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2" name="Google Shape;5432;p335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3" name="Google Shape;5433;p335"/>
          <p:cNvSpPr/>
          <p:nvPr/>
        </p:nvSpPr>
        <p:spPr>
          <a:xfrm>
            <a:off x="1646039" y="4815840"/>
            <a:ext cx="616928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KeyError, and how to avoid it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4" name="Google Shape;5434;p335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5" name="Google Shape;5435;p335"/>
          <p:cNvSpPr/>
          <p:nvPr/>
        </p:nvSpPr>
        <p:spPr>
          <a:xfrm>
            <a:off x="1646039" y="5859780"/>
            <a:ext cx="716556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Counting things with a dictionary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440" name="Shape 5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1" name="Google Shape;5441;p33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2" name="Google Shape;5442;p33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Pairs of key and value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3" name="Google Shape;5443;p336"/>
          <p:cNvSpPr/>
          <p:nvPr/>
        </p:nvSpPr>
        <p:spPr>
          <a:xfrm>
            <a:off x="952500" y="2727960"/>
            <a:ext cx="16383000" cy="2177415"/>
          </a:xfrm>
          <a:prstGeom prst="roundRect">
            <a:avLst>
              <a:gd fmla="val 3500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4" name="Google Shape;5444;p336"/>
          <p:cNvSpPr/>
          <p:nvPr/>
        </p:nvSpPr>
        <p:spPr>
          <a:xfrm>
            <a:off x="1264920" y="3002280"/>
            <a:ext cx="16249650" cy="1666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91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JetBrains Mono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student = {"name": "Ayesha",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91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JetBrains Mono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"id": 2201045,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91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JetBrains Mono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"marks": 78}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5" name="Google Shape;5445;p336"/>
          <p:cNvSpPr/>
          <p:nvPr/>
        </p:nvSpPr>
        <p:spPr>
          <a:xfrm>
            <a:off x="952500" y="5324475"/>
            <a:ext cx="569976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1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key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6" name="Google Shape;5446;p336"/>
          <p:cNvSpPr/>
          <p:nvPr/>
        </p:nvSpPr>
        <p:spPr>
          <a:xfrm>
            <a:off x="952500" y="5934075"/>
            <a:ext cx="5156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look something up by. Usually text.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7" name="Google Shape;5447;p336"/>
          <p:cNvSpPr/>
          <p:nvPr/>
        </p:nvSpPr>
        <p:spPr>
          <a:xfrm>
            <a:off x="6553200" y="5324475"/>
            <a:ext cx="569976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1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colon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8" name="Google Shape;5448;p336"/>
          <p:cNvSpPr/>
          <p:nvPr/>
        </p:nvSpPr>
        <p:spPr>
          <a:xfrm>
            <a:off x="6553200" y="5934075"/>
            <a:ext cx="2913793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Joins a key to its value.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9" name="Google Shape;5449;p336"/>
          <p:cNvSpPr/>
          <p:nvPr/>
        </p:nvSpPr>
        <p:spPr>
          <a:xfrm>
            <a:off x="12153900" y="5324475"/>
            <a:ext cx="569976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1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value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0" name="Google Shape;5450;p336"/>
          <p:cNvSpPr/>
          <p:nvPr/>
        </p:nvSpPr>
        <p:spPr>
          <a:xfrm>
            <a:off x="12153900" y="5934075"/>
            <a:ext cx="4573895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Anything at all: a number, text, a list.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455" name="Shape 5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6" name="Google Shape;5456;p33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7" name="Google Shape;5457;p33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Looking a value up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8" name="Google Shape;5458;p337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9" name="Google Shape;5459;p337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0" name="Google Shape;5460;p337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student = {"name": "Ayesha", "marks": 78}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print(student["name"])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print(student["marks"] + 5)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print(len(student))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1" name="Google Shape;5461;p337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2" name="Google Shape;5462;p337"/>
          <p:cNvSpPr/>
          <p:nvPr/>
        </p:nvSpPr>
        <p:spPr>
          <a:xfrm>
            <a:off x="2228850" y="5219700"/>
            <a:ext cx="15106650" cy="1819275"/>
          </a:xfrm>
          <a:prstGeom prst="roundRect">
            <a:avLst>
              <a:gd fmla="val 418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3" name="Google Shape;5463;p337"/>
          <p:cNvSpPr/>
          <p:nvPr/>
        </p:nvSpPr>
        <p:spPr>
          <a:xfrm>
            <a:off x="2533650" y="5486400"/>
            <a:ext cx="14950249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Ayesha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4" name="Google Shape;5464;p337"/>
          <p:cNvSpPr/>
          <p:nvPr/>
        </p:nvSpPr>
        <p:spPr>
          <a:xfrm>
            <a:off x="952500" y="741997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len() counts the pairs, not the characters.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469" name="Shape 5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0" name="Google Shape;5470;p33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COMPARISON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1" name="Google Shape;5471;p33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Why not just use a list?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2" name="Google Shape;5472;p338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 · WHAT IS AT POSITION 2?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3" name="Google Shape;5473;p338"/>
          <p:cNvSpPr/>
          <p:nvPr/>
        </p:nvSpPr>
        <p:spPr>
          <a:xfrm>
            <a:off x="952500" y="3276600"/>
            <a:ext cx="7943850" cy="1352550"/>
          </a:xfrm>
          <a:prstGeom prst="roundRect">
            <a:avLst>
              <a:gd fmla="val 563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4" name="Google Shape;5474;p338"/>
          <p:cNvSpPr/>
          <p:nvPr/>
        </p:nvSpPr>
        <p:spPr>
          <a:xfrm>
            <a:off x="1238250" y="3524250"/>
            <a:ext cx="761066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 = ["Ayesha", 2201045, 78]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print(s[2])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5" name="Google Shape;5475;p338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DICTIONARY · NO DOUBT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6" name="Google Shape;5476;p338"/>
          <p:cNvSpPr/>
          <p:nvPr/>
        </p:nvSpPr>
        <p:spPr>
          <a:xfrm>
            <a:off x="9391650" y="3276600"/>
            <a:ext cx="7943850" cy="2225040"/>
          </a:xfrm>
          <a:prstGeom prst="roundRect">
            <a:avLst>
              <a:gd fmla="val 342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7" name="Google Shape;5477;p338"/>
          <p:cNvSpPr/>
          <p:nvPr/>
        </p:nvSpPr>
        <p:spPr>
          <a:xfrm>
            <a:off x="9685020" y="3531870"/>
            <a:ext cx="75954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 = {"name": "Ayesha",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"id": 2201045,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"marks": 78}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print(s["marks"])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8" name="Google Shape;5478;p338"/>
          <p:cNvSpPr/>
          <p:nvPr/>
        </p:nvSpPr>
        <p:spPr>
          <a:xfrm>
            <a:off x="952500" y="599694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Position 2 means nothing on its own. The key "marks" says what the value is.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483" name="Shape 5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4" name="Google Shape;5484;p33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5" name="Google Shape;5485;p33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Adding and changing entries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6" name="Google Shape;5486;p339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7" name="Google Shape;5487;p339"/>
          <p:cNvSpPr/>
          <p:nvPr/>
        </p:nvSpPr>
        <p:spPr>
          <a:xfrm>
            <a:off x="2228850" y="2727960"/>
            <a:ext cx="15106650" cy="2691765"/>
          </a:xfrm>
          <a:prstGeom prst="roundRect">
            <a:avLst>
              <a:gd fmla="val 283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8" name="Google Shape;5488;p339"/>
          <p:cNvSpPr/>
          <p:nvPr/>
        </p:nvSpPr>
        <p:spPr>
          <a:xfrm>
            <a:off x="2541270" y="3002280"/>
            <a:ext cx="14935010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 = {"name": "Ayesha"}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s["marks"] = 78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s["marks"] = 82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del s["name"]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print(s)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9" name="Google Shape;5489;p339"/>
          <p:cNvSpPr/>
          <p:nvPr/>
        </p:nvSpPr>
        <p:spPr>
          <a:xfrm>
            <a:off x="952500" y="58959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0" name="Google Shape;5490;p339"/>
          <p:cNvSpPr/>
          <p:nvPr/>
        </p:nvSpPr>
        <p:spPr>
          <a:xfrm>
            <a:off x="2228850" y="5648325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1" name="Google Shape;5491;p339"/>
          <p:cNvSpPr/>
          <p:nvPr/>
        </p:nvSpPr>
        <p:spPr>
          <a:xfrm>
            <a:off x="2533650" y="5915025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{'marks': 82}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2" name="Google Shape;5492;p339"/>
          <p:cNvSpPr/>
          <p:nvPr/>
        </p:nvSpPr>
        <p:spPr>
          <a:xfrm>
            <a:off x="952500" y="693610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key can appear only once. Assigning to it again replaces the value.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497" name="Shape 5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" name="Google Shape;5498;p34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9" name="Google Shape;5499;p34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Asking for a key that is not there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0" name="Google Shape;5500;p340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[3]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1" name="Google Shape;5501;p340"/>
          <p:cNvSpPr/>
          <p:nvPr/>
        </p:nvSpPr>
        <p:spPr>
          <a:xfrm>
            <a:off x="2228850" y="2727960"/>
            <a:ext cx="15106650" cy="1405890"/>
          </a:xfrm>
          <a:prstGeom prst="roundRect">
            <a:avLst>
              <a:gd fmla="val 5420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2" name="Google Shape;5502;p340"/>
          <p:cNvSpPr/>
          <p:nvPr/>
        </p:nvSpPr>
        <p:spPr>
          <a:xfrm>
            <a:off x="2541270" y="3002280"/>
            <a:ext cx="1493501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 = {"name": "Alice"}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= d["age"]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3" name="Google Shape;5503;p340"/>
          <p:cNvSpPr/>
          <p:nvPr/>
        </p:nvSpPr>
        <p:spPr>
          <a:xfrm>
            <a:off x="952500" y="46101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4" name="Google Shape;5504;p340"/>
          <p:cNvSpPr/>
          <p:nvPr/>
        </p:nvSpPr>
        <p:spPr>
          <a:xfrm>
            <a:off x="2228850" y="4362450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5" name="Google Shape;5505;p340"/>
          <p:cNvSpPr/>
          <p:nvPr/>
        </p:nvSpPr>
        <p:spPr>
          <a:xfrm>
            <a:off x="2533650" y="4629150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KeyError: 'age'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6" name="Google Shape;5506;p340"/>
          <p:cNvSpPr/>
          <p:nvPr/>
        </p:nvSpPr>
        <p:spPr>
          <a:xfrm>
            <a:off x="952500" y="568833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message is just the key you asked for. That is usually enough to spot the typo.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511" name="Shape 5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2" name="Google Shape;5512;p34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3" name="Google Shape;5513;p34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Looking up safely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4" name="Google Shape;5514;p341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CHECK FIRST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5" name="Google Shape;5515;p341"/>
          <p:cNvSpPr/>
          <p:nvPr/>
        </p:nvSpPr>
        <p:spPr>
          <a:xfrm>
            <a:off x="952500" y="3276600"/>
            <a:ext cx="7943850" cy="2225040"/>
          </a:xfrm>
          <a:prstGeom prst="roundRect">
            <a:avLst>
              <a:gd fmla="val 342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6" name="Google Shape;5516;p341"/>
          <p:cNvSpPr/>
          <p:nvPr/>
        </p:nvSpPr>
        <p:spPr>
          <a:xfrm>
            <a:off x="1245870" y="3531870"/>
            <a:ext cx="75954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"age" in d: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print(d["age"])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print("not recorded")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7" name="Google Shape;5517;p341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 get WITH A FALLBACK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8" name="Google Shape;5518;p341"/>
          <p:cNvSpPr/>
          <p:nvPr/>
        </p:nvSpPr>
        <p:spPr>
          <a:xfrm>
            <a:off x="9391650" y="3276600"/>
            <a:ext cx="7943850" cy="939165"/>
          </a:xfrm>
          <a:prstGeom prst="roundRect">
            <a:avLst>
              <a:gd fmla="val 811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9" name="Google Shape;5519;p341"/>
          <p:cNvSpPr/>
          <p:nvPr/>
        </p:nvSpPr>
        <p:spPr>
          <a:xfrm>
            <a:off x="9685020" y="3531870"/>
            <a:ext cx="7595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print(d.get("age", "not recorded"))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0" name="Google Shape;5520;p341"/>
          <p:cNvSpPr/>
          <p:nvPr/>
        </p:nvSpPr>
        <p:spPr>
          <a:xfrm>
            <a:off x="952500" y="599694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 checks the keys, never the values. d.get() with no fallback returns None.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525" name="Shape 5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6" name="Google Shape;5526;p34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7" name="Google Shape;5527;p34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Walking through a dictionary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8" name="Google Shape;5528;p342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[4]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9" name="Google Shape;5529;p342"/>
          <p:cNvSpPr/>
          <p:nvPr/>
        </p:nvSpPr>
        <p:spPr>
          <a:xfrm>
            <a:off x="2228850" y="2727960"/>
            <a:ext cx="15106650" cy="3549015"/>
          </a:xfrm>
          <a:prstGeom prst="roundRect">
            <a:avLst>
              <a:gd fmla="val 214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0" name="Google Shape;5530;p342"/>
          <p:cNvSpPr/>
          <p:nvPr/>
        </p:nvSpPr>
        <p:spPr>
          <a:xfrm>
            <a:off x="2541270" y="3002280"/>
            <a:ext cx="14935010" cy="3038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= {"maths": 78, "physics": 65, "english": 90}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subject in marks: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print(subject, marks[subject])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subject, m in marks.items():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print(subject, m)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1" name="Google Shape;5531;p342"/>
          <p:cNvSpPr/>
          <p:nvPr/>
        </p:nvSpPr>
        <p:spPr>
          <a:xfrm>
            <a:off x="952500" y="675322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2" name="Google Shape;5532;p342"/>
          <p:cNvSpPr/>
          <p:nvPr/>
        </p:nvSpPr>
        <p:spPr>
          <a:xfrm>
            <a:off x="2228850" y="6505575"/>
            <a:ext cx="15106650" cy="2247900"/>
          </a:xfrm>
          <a:prstGeom prst="roundRect">
            <a:avLst>
              <a:gd fmla="val 339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3" name="Google Shape;5533;p342"/>
          <p:cNvSpPr/>
          <p:nvPr/>
        </p:nvSpPr>
        <p:spPr>
          <a:xfrm>
            <a:off x="2533650" y="6772275"/>
            <a:ext cx="1495024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maths 78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physics 65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english 90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…the same three lines again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4" name="Google Shape;5534;p342"/>
          <p:cNvSpPr/>
          <p:nvPr/>
        </p:nvSpPr>
        <p:spPr>
          <a:xfrm>
            <a:off x="952500" y="913447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Looping over a dictionary gives you the keys. Use .items() when you want both.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539" name="Shape 5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0" name="Google Shape;5540;p34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REFERENCE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1" name="Google Shape;5541;p34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Dictionary methods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2" name="Google Shape;5542;p343"/>
          <p:cNvSpPr/>
          <p:nvPr/>
        </p:nvSpPr>
        <p:spPr>
          <a:xfrm>
            <a:off x="952500" y="2727960"/>
            <a:ext cx="5257800" cy="1425892"/>
          </a:xfrm>
          <a:prstGeom prst="roundRect">
            <a:avLst>
              <a:gd fmla="val 534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3" name="Google Shape;5543;p343"/>
          <p:cNvSpPr/>
          <p:nvPr/>
        </p:nvSpPr>
        <p:spPr>
          <a:xfrm>
            <a:off x="1219200" y="2994660"/>
            <a:ext cx="519684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.keys()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4" name="Google Shape;5544;p343"/>
          <p:cNvSpPr/>
          <p:nvPr/>
        </p:nvSpPr>
        <p:spPr>
          <a:xfrm>
            <a:off x="1219200" y="3542347"/>
            <a:ext cx="1515666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All the keys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5" name="Google Shape;5545;p343"/>
          <p:cNvSpPr/>
          <p:nvPr/>
        </p:nvSpPr>
        <p:spPr>
          <a:xfrm>
            <a:off x="6515100" y="2727960"/>
            <a:ext cx="5257800" cy="1425892"/>
          </a:xfrm>
          <a:prstGeom prst="roundRect">
            <a:avLst>
              <a:gd fmla="val 534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6" name="Google Shape;5546;p343"/>
          <p:cNvSpPr/>
          <p:nvPr/>
        </p:nvSpPr>
        <p:spPr>
          <a:xfrm>
            <a:off x="6781800" y="2994660"/>
            <a:ext cx="519684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.values()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7" name="Google Shape;5547;p343"/>
          <p:cNvSpPr/>
          <p:nvPr/>
        </p:nvSpPr>
        <p:spPr>
          <a:xfrm>
            <a:off x="6781800" y="3542347"/>
            <a:ext cx="1732598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All the values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8" name="Google Shape;5548;p343"/>
          <p:cNvSpPr/>
          <p:nvPr/>
        </p:nvSpPr>
        <p:spPr>
          <a:xfrm>
            <a:off x="12077700" y="2727960"/>
            <a:ext cx="5257800" cy="1425892"/>
          </a:xfrm>
          <a:prstGeom prst="roundRect">
            <a:avLst>
              <a:gd fmla="val 534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9" name="Google Shape;5549;p343"/>
          <p:cNvSpPr/>
          <p:nvPr/>
        </p:nvSpPr>
        <p:spPr>
          <a:xfrm>
            <a:off x="12344400" y="2994660"/>
            <a:ext cx="519684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.items()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0" name="Google Shape;5550;p343"/>
          <p:cNvSpPr/>
          <p:nvPr/>
        </p:nvSpPr>
        <p:spPr>
          <a:xfrm>
            <a:off x="12344400" y="3542347"/>
            <a:ext cx="2479120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Every pair together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1" name="Google Shape;5551;p343"/>
          <p:cNvSpPr/>
          <p:nvPr/>
        </p:nvSpPr>
        <p:spPr>
          <a:xfrm>
            <a:off x="952500" y="4458653"/>
            <a:ext cx="5257800" cy="1425892"/>
          </a:xfrm>
          <a:prstGeom prst="roundRect">
            <a:avLst>
              <a:gd fmla="val 534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2" name="Google Shape;5552;p343"/>
          <p:cNvSpPr/>
          <p:nvPr/>
        </p:nvSpPr>
        <p:spPr>
          <a:xfrm>
            <a:off x="1219200" y="4725353"/>
            <a:ext cx="519684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.get(k, d)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3" name="Google Shape;5553;p343"/>
          <p:cNvSpPr/>
          <p:nvPr/>
        </p:nvSpPr>
        <p:spPr>
          <a:xfrm>
            <a:off x="1219200" y="5273040"/>
            <a:ext cx="3310515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Value for k, or d if missing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4" name="Google Shape;5554;p343"/>
          <p:cNvSpPr/>
          <p:nvPr/>
        </p:nvSpPr>
        <p:spPr>
          <a:xfrm>
            <a:off x="6515100" y="4458653"/>
            <a:ext cx="5257800" cy="1425892"/>
          </a:xfrm>
          <a:prstGeom prst="roundRect">
            <a:avLst>
              <a:gd fmla="val 534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5" name="Google Shape;5555;p343"/>
          <p:cNvSpPr/>
          <p:nvPr/>
        </p:nvSpPr>
        <p:spPr>
          <a:xfrm>
            <a:off x="6781800" y="4725353"/>
            <a:ext cx="519684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.pop(k)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6" name="Google Shape;5556;p343"/>
          <p:cNvSpPr/>
          <p:nvPr/>
        </p:nvSpPr>
        <p:spPr>
          <a:xfrm>
            <a:off x="6781800" y="5273040"/>
            <a:ext cx="4360389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Remove k and hand its value back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7" name="Google Shape;5557;p343"/>
          <p:cNvSpPr/>
          <p:nvPr/>
        </p:nvSpPr>
        <p:spPr>
          <a:xfrm>
            <a:off x="12077700" y="4458653"/>
            <a:ext cx="5257800" cy="1425892"/>
          </a:xfrm>
          <a:prstGeom prst="roundRect">
            <a:avLst>
              <a:gd fmla="val 534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8" name="Google Shape;5558;p343"/>
          <p:cNvSpPr/>
          <p:nvPr/>
        </p:nvSpPr>
        <p:spPr>
          <a:xfrm>
            <a:off x="12344400" y="4725353"/>
            <a:ext cx="519684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.update(d2)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9" name="Google Shape;5559;p343"/>
          <p:cNvSpPr/>
          <p:nvPr/>
        </p:nvSpPr>
        <p:spPr>
          <a:xfrm>
            <a:off x="12344400" y="5273040"/>
            <a:ext cx="3584603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Merge another dictionary 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564" name="Shape 5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5" name="Google Shape;5565;p34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PATTERN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6" name="Google Shape;5566;p34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Counting how often each thing appears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7" name="Google Shape;5567;p344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[5]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8" name="Google Shape;5568;p344"/>
          <p:cNvSpPr/>
          <p:nvPr/>
        </p:nvSpPr>
        <p:spPr>
          <a:xfrm>
            <a:off x="2228850" y="2727960"/>
            <a:ext cx="15106650" cy="2691765"/>
          </a:xfrm>
          <a:prstGeom prst="roundRect">
            <a:avLst>
              <a:gd fmla="val 283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9" name="Google Shape;5569;p344"/>
          <p:cNvSpPr/>
          <p:nvPr/>
        </p:nvSpPr>
        <p:spPr>
          <a:xfrm>
            <a:off x="2541270" y="3002280"/>
            <a:ext cx="14935010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word = "programming"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counts = {}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ch in word: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counts[ch] = counts.get(ch, 0) + 1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print(counts)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0" name="Google Shape;5570;p344"/>
          <p:cNvSpPr/>
          <p:nvPr/>
        </p:nvSpPr>
        <p:spPr>
          <a:xfrm>
            <a:off x="952500" y="58959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1" name="Google Shape;5571;p344"/>
          <p:cNvSpPr/>
          <p:nvPr/>
        </p:nvSpPr>
        <p:spPr>
          <a:xfrm>
            <a:off x="2228850" y="5648325"/>
            <a:ext cx="15106650" cy="1333500"/>
          </a:xfrm>
          <a:prstGeom prst="roundRect">
            <a:avLst>
              <a:gd fmla="val 571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2" name="Google Shape;5572;p344"/>
          <p:cNvSpPr/>
          <p:nvPr/>
        </p:nvSpPr>
        <p:spPr>
          <a:xfrm>
            <a:off x="2533650" y="5915025"/>
            <a:ext cx="14950249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143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{'p': 1, 'r': 2, 'o': 1, 'g': 2, 'a': 1,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143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'm': 2, 'i': 1, 'n': 1}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3" name="Google Shape;5573;p344"/>
          <p:cNvSpPr/>
          <p:nvPr/>
        </p:nvSpPr>
        <p:spPr>
          <a:xfrm>
            <a:off x="952500" y="736282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counts.get(ch, 0) gives the count so far, or 0 the first time the letter is seen.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578" name="Shape 5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9" name="Google Shape;5579;p34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0" name="Google Shape;5580;p34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Counting the first letters of "programming"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1" name="Google Shape;5581;p345"/>
          <p:cNvSpPr/>
          <p:nvPr/>
        </p:nvSpPr>
        <p:spPr>
          <a:xfrm>
            <a:off x="952500" y="272796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2" name="Google Shape;5582;p345"/>
          <p:cNvSpPr/>
          <p:nvPr/>
        </p:nvSpPr>
        <p:spPr>
          <a:xfrm>
            <a:off x="952500" y="3406140"/>
            <a:ext cx="3561517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3" name="Google Shape;5583;p345"/>
          <p:cNvSpPr/>
          <p:nvPr/>
        </p:nvSpPr>
        <p:spPr>
          <a:xfrm>
            <a:off x="1181100" y="2895600"/>
            <a:ext cx="3211162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4" name="Google Shape;5584;p345"/>
          <p:cNvSpPr/>
          <p:nvPr/>
        </p:nvSpPr>
        <p:spPr>
          <a:xfrm>
            <a:off x="4514017" y="3406140"/>
            <a:ext cx="3561517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5" name="Google Shape;5585;p345"/>
          <p:cNvSpPr/>
          <p:nvPr/>
        </p:nvSpPr>
        <p:spPr>
          <a:xfrm>
            <a:off x="4742617" y="2895600"/>
            <a:ext cx="3211162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SEEN BEFORE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6" name="Google Shape;5586;p345"/>
          <p:cNvSpPr/>
          <p:nvPr/>
        </p:nvSpPr>
        <p:spPr>
          <a:xfrm>
            <a:off x="8075533" y="3406140"/>
            <a:ext cx="3561517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7" name="Google Shape;5587;p345"/>
          <p:cNvSpPr/>
          <p:nvPr/>
        </p:nvSpPr>
        <p:spPr>
          <a:xfrm>
            <a:off x="8304133" y="2895600"/>
            <a:ext cx="3211162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 GIVES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8" name="Google Shape;5588;p345"/>
          <p:cNvSpPr/>
          <p:nvPr/>
        </p:nvSpPr>
        <p:spPr>
          <a:xfrm>
            <a:off x="11637050" y="3406140"/>
            <a:ext cx="56984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9" name="Google Shape;5589;p345"/>
          <p:cNvSpPr/>
          <p:nvPr/>
        </p:nvSpPr>
        <p:spPr>
          <a:xfrm>
            <a:off x="11865650" y="2895600"/>
            <a:ext cx="5412204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counts AFTER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0" name="Google Shape;5590;p345"/>
          <p:cNvSpPr/>
          <p:nvPr/>
        </p:nvSpPr>
        <p:spPr>
          <a:xfrm>
            <a:off x="952500" y="4107180"/>
            <a:ext cx="3561517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1" name="Google Shape;5591;p345"/>
          <p:cNvSpPr/>
          <p:nvPr/>
        </p:nvSpPr>
        <p:spPr>
          <a:xfrm>
            <a:off x="1181100" y="3547110"/>
            <a:ext cx="321116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2" name="Google Shape;5592;p345"/>
          <p:cNvSpPr/>
          <p:nvPr/>
        </p:nvSpPr>
        <p:spPr>
          <a:xfrm>
            <a:off x="4514017" y="4107180"/>
            <a:ext cx="3561517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3" name="Google Shape;5593;p345"/>
          <p:cNvSpPr/>
          <p:nvPr/>
        </p:nvSpPr>
        <p:spPr>
          <a:xfrm>
            <a:off x="4742617" y="3547110"/>
            <a:ext cx="321116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4" name="Google Shape;5594;p345"/>
          <p:cNvSpPr/>
          <p:nvPr/>
        </p:nvSpPr>
        <p:spPr>
          <a:xfrm>
            <a:off x="8075533" y="4107180"/>
            <a:ext cx="3561517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5" name="Google Shape;5595;p345"/>
          <p:cNvSpPr/>
          <p:nvPr/>
        </p:nvSpPr>
        <p:spPr>
          <a:xfrm>
            <a:off x="8304133" y="3547110"/>
            <a:ext cx="321116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6" name="Google Shape;5596;p345"/>
          <p:cNvSpPr/>
          <p:nvPr/>
        </p:nvSpPr>
        <p:spPr>
          <a:xfrm>
            <a:off x="11637050" y="4107180"/>
            <a:ext cx="56984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7" name="Google Shape;5597;p345"/>
          <p:cNvSpPr/>
          <p:nvPr/>
        </p:nvSpPr>
        <p:spPr>
          <a:xfrm>
            <a:off x="11865650" y="3547110"/>
            <a:ext cx="5412204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{p:1}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8" name="Google Shape;5598;p345"/>
          <p:cNvSpPr/>
          <p:nvPr/>
        </p:nvSpPr>
        <p:spPr>
          <a:xfrm>
            <a:off x="952500" y="4808220"/>
            <a:ext cx="3561517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9" name="Google Shape;5599;p345"/>
          <p:cNvSpPr/>
          <p:nvPr/>
        </p:nvSpPr>
        <p:spPr>
          <a:xfrm>
            <a:off x="1181100" y="4248150"/>
            <a:ext cx="321116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0" name="Google Shape;5600;p345"/>
          <p:cNvSpPr/>
          <p:nvPr/>
        </p:nvSpPr>
        <p:spPr>
          <a:xfrm>
            <a:off x="4514017" y="4808220"/>
            <a:ext cx="3561517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1" name="Google Shape;5601;p345"/>
          <p:cNvSpPr/>
          <p:nvPr/>
        </p:nvSpPr>
        <p:spPr>
          <a:xfrm>
            <a:off x="4742617" y="4248150"/>
            <a:ext cx="321116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2" name="Google Shape;5602;p345"/>
          <p:cNvSpPr/>
          <p:nvPr/>
        </p:nvSpPr>
        <p:spPr>
          <a:xfrm>
            <a:off x="8075533" y="4808220"/>
            <a:ext cx="3561517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3" name="Google Shape;5603;p345"/>
          <p:cNvSpPr/>
          <p:nvPr/>
        </p:nvSpPr>
        <p:spPr>
          <a:xfrm>
            <a:off x="8304133" y="4248150"/>
            <a:ext cx="321116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4" name="Google Shape;5604;p345"/>
          <p:cNvSpPr/>
          <p:nvPr/>
        </p:nvSpPr>
        <p:spPr>
          <a:xfrm>
            <a:off x="11637050" y="4808220"/>
            <a:ext cx="56984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5" name="Google Shape;5605;p345"/>
          <p:cNvSpPr/>
          <p:nvPr/>
        </p:nvSpPr>
        <p:spPr>
          <a:xfrm>
            <a:off x="11865650" y="4248150"/>
            <a:ext cx="5412204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{p:1, r:1}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6" name="Google Shape;5606;p345"/>
          <p:cNvSpPr/>
          <p:nvPr/>
        </p:nvSpPr>
        <p:spPr>
          <a:xfrm>
            <a:off x="952500" y="5509260"/>
            <a:ext cx="3561517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7" name="Google Shape;5607;p345"/>
          <p:cNvSpPr/>
          <p:nvPr/>
        </p:nvSpPr>
        <p:spPr>
          <a:xfrm>
            <a:off x="1181100" y="4949190"/>
            <a:ext cx="321116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8" name="Google Shape;5608;p345"/>
          <p:cNvSpPr/>
          <p:nvPr/>
        </p:nvSpPr>
        <p:spPr>
          <a:xfrm>
            <a:off x="4514017" y="5509260"/>
            <a:ext cx="3561517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9" name="Google Shape;5609;p345"/>
          <p:cNvSpPr/>
          <p:nvPr/>
        </p:nvSpPr>
        <p:spPr>
          <a:xfrm>
            <a:off x="4742617" y="4949190"/>
            <a:ext cx="321116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0" name="Google Shape;5610;p345"/>
          <p:cNvSpPr/>
          <p:nvPr/>
        </p:nvSpPr>
        <p:spPr>
          <a:xfrm>
            <a:off x="8075533" y="5509260"/>
            <a:ext cx="3561517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1" name="Google Shape;5611;p345"/>
          <p:cNvSpPr/>
          <p:nvPr/>
        </p:nvSpPr>
        <p:spPr>
          <a:xfrm>
            <a:off x="8304133" y="4949190"/>
            <a:ext cx="321116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2" name="Google Shape;5612;p345"/>
          <p:cNvSpPr/>
          <p:nvPr/>
        </p:nvSpPr>
        <p:spPr>
          <a:xfrm>
            <a:off x="11637050" y="5509260"/>
            <a:ext cx="56984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3" name="Google Shape;5613;p345"/>
          <p:cNvSpPr/>
          <p:nvPr/>
        </p:nvSpPr>
        <p:spPr>
          <a:xfrm>
            <a:off x="11865650" y="4949190"/>
            <a:ext cx="5412204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{p:1, r:1, o:1}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4" name="Google Shape;5614;p345"/>
          <p:cNvSpPr/>
          <p:nvPr/>
        </p:nvSpPr>
        <p:spPr>
          <a:xfrm>
            <a:off x="952500" y="6210300"/>
            <a:ext cx="3561517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5" name="Google Shape;5615;p345"/>
          <p:cNvSpPr/>
          <p:nvPr/>
        </p:nvSpPr>
        <p:spPr>
          <a:xfrm>
            <a:off x="1181100" y="5650230"/>
            <a:ext cx="321116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6" name="Google Shape;5616;p345"/>
          <p:cNvSpPr/>
          <p:nvPr/>
        </p:nvSpPr>
        <p:spPr>
          <a:xfrm>
            <a:off x="4514017" y="6210300"/>
            <a:ext cx="3561517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7" name="Google Shape;5617;p345"/>
          <p:cNvSpPr/>
          <p:nvPr/>
        </p:nvSpPr>
        <p:spPr>
          <a:xfrm>
            <a:off x="4742617" y="5650230"/>
            <a:ext cx="321116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8" name="Google Shape;5618;p345"/>
          <p:cNvSpPr/>
          <p:nvPr/>
        </p:nvSpPr>
        <p:spPr>
          <a:xfrm>
            <a:off x="8075533" y="6210300"/>
            <a:ext cx="3561517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9" name="Google Shape;5619;p345"/>
          <p:cNvSpPr/>
          <p:nvPr/>
        </p:nvSpPr>
        <p:spPr>
          <a:xfrm>
            <a:off x="8304133" y="5650230"/>
            <a:ext cx="321116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0" name="Google Shape;5620;p345"/>
          <p:cNvSpPr/>
          <p:nvPr/>
        </p:nvSpPr>
        <p:spPr>
          <a:xfrm>
            <a:off x="11637050" y="6210300"/>
            <a:ext cx="56984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1" name="Google Shape;5621;p345"/>
          <p:cNvSpPr/>
          <p:nvPr/>
        </p:nvSpPr>
        <p:spPr>
          <a:xfrm>
            <a:off x="11865650" y="5650230"/>
            <a:ext cx="5412204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…g:1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2" name="Google Shape;5622;p345"/>
          <p:cNvSpPr/>
          <p:nvPr/>
        </p:nvSpPr>
        <p:spPr>
          <a:xfrm>
            <a:off x="1181100" y="6351270"/>
            <a:ext cx="321116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3" name="Google Shape;5623;p345"/>
          <p:cNvSpPr/>
          <p:nvPr/>
        </p:nvSpPr>
        <p:spPr>
          <a:xfrm>
            <a:off x="4742617" y="6351270"/>
            <a:ext cx="321116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4" name="Google Shape;5624;p345"/>
          <p:cNvSpPr/>
          <p:nvPr/>
        </p:nvSpPr>
        <p:spPr>
          <a:xfrm>
            <a:off x="8304133" y="6351270"/>
            <a:ext cx="321116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5" name="Google Shape;5625;p345"/>
          <p:cNvSpPr/>
          <p:nvPr/>
        </p:nvSpPr>
        <p:spPr>
          <a:xfrm>
            <a:off x="11865650" y="6351270"/>
            <a:ext cx="5412204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 becomes 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630" name="Shape 5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1" name="Google Shape;5631;p34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2" name="Google Shape;5632;p34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value can be anything, including another dictionary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3" name="Google Shape;5633;p346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[6]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4" name="Google Shape;5634;p346"/>
          <p:cNvSpPr/>
          <p:nvPr/>
        </p:nvSpPr>
        <p:spPr>
          <a:xfrm>
            <a:off x="2228850" y="2727960"/>
            <a:ext cx="15106650" cy="3549015"/>
          </a:xfrm>
          <a:prstGeom prst="roundRect">
            <a:avLst>
              <a:gd fmla="val 214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5" name="Google Shape;5635;p346"/>
          <p:cNvSpPr/>
          <p:nvPr/>
        </p:nvSpPr>
        <p:spPr>
          <a:xfrm>
            <a:off x="2541270" y="3002280"/>
            <a:ext cx="14935010" cy="3038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students = {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"Ayesha": {"id": 2201045, "marks": [78, 65, 90]},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"Rahim":  {"id": 2201046, "marks": [55, 60, 71]}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name, info in students.items():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print(name, sum(info["marks"]))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6" name="Google Shape;5636;p346"/>
          <p:cNvSpPr/>
          <p:nvPr/>
        </p:nvSpPr>
        <p:spPr>
          <a:xfrm>
            <a:off x="952500" y="675322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7" name="Google Shape;5637;p346"/>
          <p:cNvSpPr/>
          <p:nvPr/>
        </p:nvSpPr>
        <p:spPr>
          <a:xfrm>
            <a:off x="2228850" y="6505575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8" name="Google Shape;5638;p346"/>
          <p:cNvSpPr/>
          <p:nvPr/>
        </p:nvSpPr>
        <p:spPr>
          <a:xfrm>
            <a:off x="2533650" y="6772275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Ayesha 233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Rahim 186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643" name="Shape 5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4" name="Google Shape;5644;p34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5" name="Google Shape;5645;p34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may be a key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6" name="Google Shape;5646;p347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LIST CANNOT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7" name="Google Shape;5647;p347"/>
          <p:cNvSpPr/>
          <p:nvPr/>
        </p:nvSpPr>
        <p:spPr>
          <a:xfrm>
            <a:off x="952500" y="327660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8" name="Google Shape;5648;p347"/>
          <p:cNvSpPr/>
          <p:nvPr/>
        </p:nvSpPr>
        <p:spPr>
          <a:xfrm>
            <a:off x="1245870" y="353187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 = {}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d[[1, 2]] = "x"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9" name="Google Shape;5649;p347"/>
          <p:cNvSpPr/>
          <p:nvPr/>
        </p:nvSpPr>
        <p:spPr>
          <a:xfrm>
            <a:off x="952500" y="4834890"/>
            <a:ext cx="7943850" cy="1242060"/>
          </a:xfrm>
          <a:prstGeom prst="roundRect">
            <a:avLst>
              <a:gd fmla="val 6135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0" name="Google Shape;5650;p347"/>
          <p:cNvSpPr/>
          <p:nvPr/>
        </p:nvSpPr>
        <p:spPr>
          <a:xfrm>
            <a:off x="1238250" y="5082540"/>
            <a:ext cx="7610665" cy="78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TypeError: unhashable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type: 'list'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1" name="Google Shape;5651;p347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TUPLE CAN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2" name="Google Shape;5652;p347"/>
          <p:cNvSpPr/>
          <p:nvPr/>
        </p:nvSpPr>
        <p:spPr>
          <a:xfrm>
            <a:off x="9391650" y="3276600"/>
            <a:ext cx="7943850" cy="1796415"/>
          </a:xfrm>
          <a:prstGeom prst="roundRect">
            <a:avLst>
              <a:gd fmla="val 42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3" name="Google Shape;5653;p347"/>
          <p:cNvSpPr/>
          <p:nvPr/>
        </p:nvSpPr>
        <p:spPr>
          <a:xfrm>
            <a:off x="9685020" y="3531870"/>
            <a:ext cx="7595425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 = {}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d[(1, 2)] = "x"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print(d)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4" name="Google Shape;5654;p347"/>
          <p:cNvSpPr/>
          <p:nvPr/>
        </p:nvSpPr>
        <p:spPr>
          <a:xfrm>
            <a:off x="9391650" y="5263515"/>
            <a:ext cx="7943850" cy="868680"/>
          </a:xfrm>
          <a:prstGeom prst="roundRect">
            <a:avLst>
              <a:gd fmla="val 877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5" name="Google Shape;5655;p347"/>
          <p:cNvSpPr/>
          <p:nvPr/>
        </p:nvSpPr>
        <p:spPr>
          <a:xfrm>
            <a:off x="9677400" y="5511165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{(1, 2): 'x'}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6" name="Google Shape;5656;p347"/>
          <p:cNvSpPr/>
          <p:nvPr/>
        </p:nvSpPr>
        <p:spPr>
          <a:xfrm>
            <a:off x="952500" y="655129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Text, numbers and tuples work as keys. Lists and other editable things do not.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661" name="Shape 5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" name="Google Shape;5662;p34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QUICK 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3" name="Google Shape;5663;p34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 = {"maths": 78, "physics": 65}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4" name="Google Shape;5664;p348"/>
          <p:cNvSpPr/>
          <p:nvPr/>
        </p:nvSpPr>
        <p:spPr>
          <a:xfrm>
            <a:off x="952500" y="2727960"/>
            <a:ext cx="80391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5" name="Google Shape;5665;p348"/>
          <p:cNvSpPr/>
          <p:nvPr/>
        </p:nvSpPr>
        <p:spPr>
          <a:xfrm>
            <a:off x="1264920" y="3002280"/>
            <a:ext cx="7655433" cy="441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700"/>
              <a:buFont typeface="Courier New"/>
              <a:buNone/>
            </a:pPr>
            <a:r>
              <a:rPr b="0" i="0" lang="en-US" sz="270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d["maths"]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6" name="Google Shape;5666;p348"/>
          <p:cNvSpPr/>
          <p:nvPr/>
        </p:nvSpPr>
        <p:spPr>
          <a:xfrm>
            <a:off x="9296400" y="2727960"/>
            <a:ext cx="80391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7" name="Google Shape;5667;p348"/>
          <p:cNvSpPr/>
          <p:nvPr/>
        </p:nvSpPr>
        <p:spPr>
          <a:xfrm>
            <a:off x="9608820" y="3002280"/>
            <a:ext cx="7655433" cy="441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700"/>
              <a:buFont typeface="Courier New"/>
              <a:buNone/>
            </a:pPr>
            <a:r>
              <a:rPr b="0" i="0" lang="en-US" sz="270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d["english"]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8" name="Google Shape;5668;p348"/>
          <p:cNvSpPr/>
          <p:nvPr/>
        </p:nvSpPr>
        <p:spPr>
          <a:xfrm>
            <a:off x="952500" y="3985260"/>
            <a:ext cx="80391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9" name="Google Shape;5669;p348"/>
          <p:cNvSpPr/>
          <p:nvPr/>
        </p:nvSpPr>
        <p:spPr>
          <a:xfrm>
            <a:off x="1264920" y="4259580"/>
            <a:ext cx="7655433" cy="441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700"/>
              <a:buFont typeface="Courier New"/>
              <a:buNone/>
            </a:pPr>
            <a:r>
              <a:rPr b="0" i="0" lang="en-US" sz="270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d.get("english", 0)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0" name="Google Shape;5670;p348"/>
          <p:cNvSpPr/>
          <p:nvPr/>
        </p:nvSpPr>
        <p:spPr>
          <a:xfrm>
            <a:off x="9296400" y="3985260"/>
            <a:ext cx="80391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1" name="Google Shape;5671;p348"/>
          <p:cNvSpPr/>
          <p:nvPr/>
        </p:nvSpPr>
        <p:spPr>
          <a:xfrm>
            <a:off x="9608820" y="4259580"/>
            <a:ext cx="7655433" cy="441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700"/>
              <a:buFont typeface="Courier New"/>
              <a:buNone/>
            </a:pPr>
            <a:r>
              <a:rPr b="0" i="0" lang="en-US" sz="270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len(d)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5676" name="Shape 5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7" name="Google Shape;5677;p34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8" name="Google Shape;5678;p34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9" name="Google Shape;5679;p349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0" name="Google Shape;5680;p349"/>
          <p:cNvSpPr/>
          <p:nvPr/>
        </p:nvSpPr>
        <p:spPr>
          <a:xfrm>
            <a:off x="1684139" y="272796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Build a dictionary of subject to marks from user input, then print the highest-scoring subject.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1" name="Google Shape;5681;p349"/>
          <p:cNvSpPr/>
          <p:nvPr/>
        </p:nvSpPr>
        <p:spPr>
          <a:xfrm>
            <a:off x="952500" y="413766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2" name="Google Shape;5682;p349"/>
          <p:cNvSpPr/>
          <p:nvPr/>
        </p:nvSpPr>
        <p:spPr>
          <a:xfrm>
            <a:off x="1684139" y="407670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Count how many times each letter appears in a sentence the user types.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3" name="Google Shape;5683;p349"/>
          <p:cNvSpPr/>
          <p:nvPr/>
        </p:nvSpPr>
        <p:spPr>
          <a:xfrm>
            <a:off x="952500" y="548640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4" name="Google Shape;5684;p349"/>
          <p:cNvSpPr/>
          <p:nvPr/>
        </p:nvSpPr>
        <p:spPr>
          <a:xfrm>
            <a:off x="1684139" y="542544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Store three students with their id and marks, then print each one's average.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689" name="Shape 5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0" name="Google Shape;5690;p35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7 COMPLETE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1" name="Google Shape;5691;p35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2" name="Google Shape;5692;p350"/>
          <p:cNvSpPr/>
          <p:nvPr/>
        </p:nvSpPr>
        <p:spPr>
          <a:xfrm>
            <a:off x="952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3" name="Google Shape;5693;p350"/>
          <p:cNvSpPr/>
          <p:nvPr/>
        </p:nvSpPr>
        <p:spPr>
          <a:xfrm>
            <a:off x="1295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Store and look up data by key.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4" name="Google Shape;5694;p350"/>
          <p:cNvSpPr/>
          <p:nvPr/>
        </p:nvSpPr>
        <p:spPr>
          <a:xfrm>
            <a:off x="9334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5" name="Google Shape;5695;p350"/>
          <p:cNvSpPr/>
          <p:nvPr/>
        </p:nvSpPr>
        <p:spPr>
          <a:xfrm>
            <a:off x="9677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Add, change and delete entries.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6" name="Google Shape;5696;p350"/>
          <p:cNvSpPr/>
          <p:nvPr/>
        </p:nvSpPr>
        <p:spPr>
          <a:xfrm>
            <a:off x="952500" y="424815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7" name="Google Shape;5697;p350"/>
          <p:cNvSpPr/>
          <p:nvPr/>
        </p:nvSpPr>
        <p:spPr>
          <a:xfrm>
            <a:off x="1295400" y="459105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Avoid KeyError with in or .get().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8" name="Google Shape;5698;p350"/>
          <p:cNvSpPr/>
          <p:nvPr/>
        </p:nvSpPr>
        <p:spPr>
          <a:xfrm>
            <a:off x="9334500" y="424815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9" name="Google Shape;5699;p350"/>
          <p:cNvSpPr/>
          <p:nvPr/>
        </p:nvSpPr>
        <p:spPr>
          <a:xfrm>
            <a:off x="9677400" y="459105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Count occurrences with the get pattern.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0" name="Google Shape;5700;p350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class: recursion.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5705" name="Shape 5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6" name="Google Shape;5706;p351"/>
          <p:cNvSpPr/>
          <p:nvPr/>
        </p:nvSpPr>
        <p:spPr>
          <a:xfrm>
            <a:off x="952500" y="4085272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8 · BEYOND THE BASICS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7" name="Google Shape;5707;p351"/>
          <p:cNvSpPr/>
          <p:nvPr/>
        </p:nvSpPr>
        <p:spPr>
          <a:xfrm>
            <a:off x="952500" y="4854893"/>
            <a:ext cx="2154174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22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8" name="Google Shape;5708;p351"/>
          <p:cNvSpPr/>
          <p:nvPr/>
        </p:nvSpPr>
        <p:spPr>
          <a:xfrm>
            <a:off x="3444240" y="5632132"/>
            <a:ext cx="3794951" cy="79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Recursion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713" name="Shape 5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4" name="Google Shape;5714;p35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22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5" name="Google Shape;5715;p35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6" name="Google Shape;5716;p352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7" name="Google Shape;5717;p352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8" name="Google Shape;5718;p352"/>
          <p:cNvSpPr/>
          <p:nvPr/>
        </p:nvSpPr>
        <p:spPr>
          <a:xfrm>
            <a:off x="1646039" y="2727960"/>
            <a:ext cx="551876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function that calls itself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9" name="Google Shape;5719;p352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0" name="Google Shape;5720;p352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1" name="Google Shape;5721;p352"/>
          <p:cNvSpPr/>
          <p:nvPr/>
        </p:nvSpPr>
        <p:spPr>
          <a:xfrm>
            <a:off x="1646039" y="3771900"/>
            <a:ext cx="787069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base case, and why it must exist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2" name="Google Shape;5722;p352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3" name="Google Shape;5723;p352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4" name="Google Shape;5724;p352"/>
          <p:cNvSpPr/>
          <p:nvPr/>
        </p:nvSpPr>
        <p:spPr>
          <a:xfrm>
            <a:off x="1646039" y="4815840"/>
            <a:ext cx="8074355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Following the calls down and back up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5" name="Google Shape;5725;p352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6" name="Google Shape;5726;p352"/>
          <p:cNvSpPr/>
          <p:nvPr/>
        </p:nvSpPr>
        <p:spPr>
          <a:xfrm>
            <a:off x="1646039" y="5859780"/>
            <a:ext cx="437239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Recursion or a loop?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5731" name="Shape 5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2" name="Google Shape;5732;p353"/>
          <p:cNvSpPr/>
          <p:nvPr/>
        </p:nvSpPr>
        <p:spPr>
          <a:xfrm>
            <a:off x="952500" y="318135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IDEA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3" name="Google Shape;5733;p353"/>
          <p:cNvSpPr/>
          <p:nvPr/>
        </p:nvSpPr>
        <p:spPr>
          <a:xfrm>
            <a:off x="952500" y="4034790"/>
            <a:ext cx="14716125" cy="1546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400"/>
              <a:buFont typeface="Bricolage Grotesque"/>
              <a:buNone/>
            </a:pPr>
            <a:r>
              <a:rPr b="1" i="0" lang="en-US" sz="54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problem solved by a smaller version of itself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4" name="Google Shape;5734;p353"/>
          <p:cNvSpPr/>
          <p:nvPr/>
        </p:nvSpPr>
        <p:spPr>
          <a:xfrm>
            <a:off x="952500" y="6038850"/>
            <a:ext cx="1687449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014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5! = 5 × 4!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014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1! = 1        ← the smallest case, answered outright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739" name="Shape 5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0" name="Google Shape;5740;p35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1" name="Google Shape;5741;p35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Factorial, recursively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2" name="Google Shape;5742;p354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3" name="Google Shape;5743;p354"/>
          <p:cNvSpPr/>
          <p:nvPr/>
        </p:nvSpPr>
        <p:spPr>
          <a:xfrm>
            <a:off x="2228850" y="2727960"/>
            <a:ext cx="15106650" cy="3120390"/>
          </a:xfrm>
          <a:prstGeom prst="roundRect">
            <a:avLst>
              <a:gd fmla="val 24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4" name="Google Shape;5744;p354"/>
          <p:cNvSpPr/>
          <p:nvPr/>
        </p:nvSpPr>
        <p:spPr>
          <a:xfrm>
            <a:off x="2541270" y="3002280"/>
            <a:ext cx="14935010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fact(n):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n == 1: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return 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n * fact(n - 1)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print(fact(5))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5" name="Google Shape;5745;p354"/>
          <p:cNvSpPr/>
          <p:nvPr/>
        </p:nvSpPr>
        <p:spPr>
          <a:xfrm>
            <a:off x="952500" y="63246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6" name="Google Shape;5746;p354"/>
          <p:cNvSpPr/>
          <p:nvPr/>
        </p:nvSpPr>
        <p:spPr>
          <a:xfrm>
            <a:off x="2228850" y="6076950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7" name="Google Shape;5747;p354"/>
          <p:cNvSpPr/>
          <p:nvPr/>
        </p:nvSpPr>
        <p:spPr>
          <a:xfrm>
            <a:off x="2533650" y="6343650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8" name="Google Shape;5748;p354"/>
          <p:cNvSpPr/>
          <p:nvPr/>
        </p:nvSpPr>
        <p:spPr>
          <a:xfrm>
            <a:off x="952500" y="736473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if is the base case. The return below it is the recursive case.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753" name="Shape 5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" name="Google Shape;5754;p35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5" name="Google Shape;5755;p35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Two parts, always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6" name="Google Shape;5756;p355"/>
          <p:cNvSpPr/>
          <p:nvPr/>
        </p:nvSpPr>
        <p:spPr>
          <a:xfrm>
            <a:off x="952500" y="2727960"/>
            <a:ext cx="7905750" cy="2899410"/>
          </a:xfrm>
          <a:prstGeom prst="roundRect">
            <a:avLst>
              <a:gd fmla="val 262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7" name="Google Shape;5757;p355"/>
          <p:cNvSpPr/>
          <p:nvPr/>
        </p:nvSpPr>
        <p:spPr>
          <a:xfrm>
            <a:off x="1333500" y="3108960"/>
            <a:ext cx="7858125" cy="624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479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3300"/>
              <a:buFont typeface="JetBrains Mono"/>
              <a:buNone/>
            </a:pPr>
            <a:r>
              <a:rPr b="1" i="0" lang="en-US" sz="33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Base case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8" name="Google Shape;5758;p355"/>
          <p:cNvSpPr/>
          <p:nvPr/>
        </p:nvSpPr>
        <p:spPr>
          <a:xfrm>
            <a:off x="1333500" y="3916680"/>
            <a:ext cx="6317142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smallest problem, answered without calling itself again. It is what stops the recursion.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9" name="Google Shape;5759;p355"/>
          <p:cNvSpPr/>
          <p:nvPr/>
        </p:nvSpPr>
        <p:spPr>
          <a:xfrm>
            <a:off x="9429750" y="2727960"/>
            <a:ext cx="7905750" cy="2899410"/>
          </a:xfrm>
          <a:prstGeom prst="roundRect">
            <a:avLst>
              <a:gd fmla="val 262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0" name="Google Shape;5760;p355"/>
          <p:cNvSpPr/>
          <p:nvPr/>
        </p:nvSpPr>
        <p:spPr>
          <a:xfrm>
            <a:off x="9810750" y="3108960"/>
            <a:ext cx="7858125" cy="624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479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3300"/>
              <a:buFont typeface="JetBrains Mono"/>
              <a:buNone/>
            </a:pPr>
            <a:r>
              <a:rPr b="1" i="0" lang="en-US" sz="33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Recursive case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1" name="Google Shape;5761;p355"/>
          <p:cNvSpPr/>
          <p:nvPr/>
        </p:nvSpPr>
        <p:spPr>
          <a:xfrm>
            <a:off x="9810750" y="3916680"/>
            <a:ext cx="7128369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Calls itself with a smaller input, and builds the answer from what comes back.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2" name="Google Shape;5762;p355"/>
          <p:cNvSpPr/>
          <p:nvPr/>
        </p:nvSpPr>
        <p:spPr>
          <a:xfrm>
            <a:off x="952500" y="6160770"/>
            <a:ext cx="1571625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Each call must move closer to the base case. If it does not, the recursion never ends.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767" name="Shape 5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8" name="Google Shape;5768;p35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9" name="Google Shape;5769;p35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fact(5), down and back up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0" name="Google Shape;5770;p356"/>
          <p:cNvSpPr/>
          <p:nvPr/>
        </p:nvSpPr>
        <p:spPr>
          <a:xfrm>
            <a:off x="952500" y="2727960"/>
            <a:ext cx="8044815" cy="544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GOING DOWN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1" name="Google Shape;5771;p356"/>
          <p:cNvSpPr/>
          <p:nvPr/>
        </p:nvSpPr>
        <p:spPr>
          <a:xfrm>
            <a:off x="952500" y="3425190"/>
            <a:ext cx="8044815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3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fact(5) = 5 * fact(4)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2" name="Google Shape;5772;p356"/>
          <p:cNvSpPr/>
          <p:nvPr/>
        </p:nvSpPr>
        <p:spPr>
          <a:xfrm>
            <a:off x="1257300" y="4004310"/>
            <a:ext cx="7740015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3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fact(4) = 4 * fact(3)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3" name="Google Shape;5773;p356"/>
          <p:cNvSpPr/>
          <p:nvPr/>
        </p:nvSpPr>
        <p:spPr>
          <a:xfrm>
            <a:off x="1562100" y="4583430"/>
            <a:ext cx="7435215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3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fact(3) = 3 * fact(2)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4" name="Google Shape;5774;p356"/>
          <p:cNvSpPr/>
          <p:nvPr/>
        </p:nvSpPr>
        <p:spPr>
          <a:xfrm>
            <a:off x="1866900" y="5162550"/>
            <a:ext cx="7130415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3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fact(2) = 2 * fact(1)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5" name="Google Shape;5775;p356"/>
          <p:cNvSpPr/>
          <p:nvPr/>
        </p:nvSpPr>
        <p:spPr>
          <a:xfrm>
            <a:off x="2171700" y="5741670"/>
            <a:ext cx="6825615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396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fact(1) = 1 ← base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6" name="Google Shape;5776;p356"/>
          <p:cNvSpPr/>
          <p:nvPr/>
        </p:nvSpPr>
        <p:spPr>
          <a:xfrm>
            <a:off x="9525000" y="2727960"/>
            <a:ext cx="8044815" cy="544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COMING BACK UP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7" name="Google Shape;5777;p356"/>
          <p:cNvSpPr/>
          <p:nvPr/>
        </p:nvSpPr>
        <p:spPr>
          <a:xfrm>
            <a:off x="10744200" y="3425190"/>
            <a:ext cx="6825615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396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8" name="Google Shape;5778;p356"/>
          <p:cNvSpPr/>
          <p:nvPr/>
        </p:nvSpPr>
        <p:spPr>
          <a:xfrm>
            <a:off x="10439400" y="4004310"/>
            <a:ext cx="7130415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3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 * 1 = 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9" name="Google Shape;5779;p356"/>
          <p:cNvSpPr/>
          <p:nvPr/>
        </p:nvSpPr>
        <p:spPr>
          <a:xfrm>
            <a:off x="10134600" y="4583430"/>
            <a:ext cx="7435215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3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 * 2 = 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0" name="Google Shape;5780;p356"/>
          <p:cNvSpPr/>
          <p:nvPr/>
        </p:nvSpPr>
        <p:spPr>
          <a:xfrm>
            <a:off x="9829800" y="5162550"/>
            <a:ext cx="7740015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3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 * 6 = 24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1" name="Google Shape;5781;p356"/>
          <p:cNvSpPr/>
          <p:nvPr/>
        </p:nvSpPr>
        <p:spPr>
          <a:xfrm>
            <a:off x="9525000" y="5741670"/>
            <a:ext cx="8044815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396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 * 24 = 120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2" name="Google Shape;5782;p356"/>
          <p:cNvSpPr/>
          <p:nvPr/>
        </p:nvSpPr>
        <p:spPr>
          <a:xfrm>
            <a:off x="952500" y="677799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Five calls are open at once. Only when the base case answers does any multiplying happen.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787" name="Shape 5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8" name="Google Shape;5788;p35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9" name="Google Shape;5789;p35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recursion with no way to stop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0" name="Google Shape;5790;p357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1" name="Google Shape;5791;p357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2" name="Google Shape;5792;p357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fact(n):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n * fact(n - 1)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print(fact(5))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3" name="Google Shape;5793;p357"/>
          <p:cNvSpPr/>
          <p:nvPr/>
        </p:nvSpPr>
        <p:spPr>
          <a:xfrm>
            <a:off x="952500" y="54673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4" name="Google Shape;5794;p357"/>
          <p:cNvSpPr/>
          <p:nvPr/>
        </p:nvSpPr>
        <p:spPr>
          <a:xfrm>
            <a:off x="2228850" y="521970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5" name="Google Shape;5795;p357"/>
          <p:cNvSpPr/>
          <p:nvPr/>
        </p:nvSpPr>
        <p:spPr>
          <a:xfrm>
            <a:off x="2533650" y="548640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RecursionError: maximum recursion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depth exceeded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6" name="Google Shape;5796;p357"/>
          <p:cNvSpPr/>
          <p:nvPr/>
        </p:nvSpPr>
        <p:spPr>
          <a:xfrm>
            <a:off x="952500" y="702945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This is recursion's version of the infinite loop. Python stops it rather than hanging.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801" name="Shape 5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2" name="Google Shape;5802;p35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COMPARISON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3" name="Google Shape;5803;p35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same job, two ways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4" name="Google Shape;5804;p358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A LOOP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5" name="Google Shape;5805;p358"/>
          <p:cNvSpPr/>
          <p:nvPr/>
        </p:nvSpPr>
        <p:spPr>
          <a:xfrm>
            <a:off x="952500" y="3276600"/>
            <a:ext cx="7943850" cy="2653665"/>
          </a:xfrm>
          <a:prstGeom prst="roundRect">
            <a:avLst>
              <a:gd fmla="val 287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6" name="Google Shape;5806;p358"/>
          <p:cNvSpPr/>
          <p:nvPr/>
        </p:nvSpPr>
        <p:spPr>
          <a:xfrm>
            <a:off x="1245870" y="3531870"/>
            <a:ext cx="7595425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fact(n):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result = 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i in range(2, n + 1):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result = result * i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result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7" name="Google Shape;5807;p358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RECURSIVELY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8" name="Google Shape;5808;p358"/>
          <p:cNvSpPr/>
          <p:nvPr/>
        </p:nvSpPr>
        <p:spPr>
          <a:xfrm>
            <a:off x="9391650" y="3276600"/>
            <a:ext cx="7943850" cy="2225040"/>
          </a:xfrm>
          <a:prstGeom prst="roundRect">
            <a:avLst>
              <a:gd fmla="val 342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9" name="Google Shape;5809;p358"/>
          <p:cNvSpPr/>
          <p:nvPr/>
        </p:nvSpPr>
        <p:spPr>
          <a:xfrm>
            <a:off x="9685020" y="3531870"/>
            <a:ext cx="75954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fact(n):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n == 1: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return 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n * fact(n - 1)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0" name="Google Shape;5810;p358"/>
          <p:cNvSpPr/>
          <p:nvPr/>
        </p:nvSpPr>
        <p:spPr>
          <a:xfrm>
            <a:off x="952500" y="6425565"/>
            <a:ext cx="16874490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Anything you can write recursively can be written with a loop. The loop uses less memory; the recursion often reads closer to the definition.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815" name="Shape 5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6" name="Google Shape;5816;p35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WORKED EXAMPLE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7" name="Google Shape;5817;p35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Adding up the digits of a number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8" name="Google Shape;5818;p359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[3]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9" name="Google Shape;5819;p359"/>
          <p:cNvSpPr/>
          <p:nvPr/>
        </p:nvSpPr>
        <p:spPr>
          <a:xfrm>
            <a:off x="2228850" y="2727960"/>
            <a:ext cx="15106650" cy="3120390"/>
          </a:xfrm>
          <a:prstGeom prst="roundRect">
            <a:avLst>
              <a:gd fmla="val 24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0" name="Google Shape;5820;p359"/>
          <p:cNvSpPr/>
          <p:nvPr/>
        </p:nvSpPr>
        <p:spPr>
          <a:xfrm>
            <a:off x="2541270" y="3002280"/>
            <a:ext cx="14935010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digit_sum(n):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n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return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(n % 10) + digit_sum(n // 10)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print(digit_sum(452))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1" name="Google Shape;5821;p359"/>
          <p:cNvSpPr/>
          <p:nvPr/>
        </p:nvSpPr>
        <p:spPr>
          <a:xfrm>
            <a:off x="952500" y="63246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2" name="Google Shape;5822;p359"/>
          <p:cNvSpPr/>
          <p:nvPr/>
        </p:nvSpPr>
        <p:spPr>
          <a:xfrm>
            <a:off x="2228850" y="6076950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3" name="Google Shape;5823;p359"/>
          <p:cNvSpPr/>
          <p:nvPr/>
        </p:nvSpPr>
        <p:spPr>
          <a:xfrm>
            <a:off x="2533650" y="6343650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4" name="Google Shape;5824;p359"/>
          <p:cNvSpPr/>
          <p:nvPr/>
        </p:nvSpPr>
        <p:spPr>
          <a:xfrm>
            <a:off x="952500" y="736473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 + 5 + 4. The base case is 0, because a number with no digits left sums to nothing.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829" name="Shape 5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0" name="Google Shape;5830;p36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1" name="Google Shape;5831;p36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digit_sum(452)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2" name="Google Shape;5832;p360"/>
          <p:cNvSpPr/>
          <p:nvPr/>
        </p:nvSpPr>
        <p:spPr>
          <a:xfrm>
            <a:off x="952500" y="272796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3" name="Google Shape;5833;p360"/>
          <p:cNvSpPr/>
          <p:nvPr/>
        </p:nvSpPr>
        <p:spPr>
          <a:xfrm>
            <a:off x="952500" y="3444240"/>
            <a:ext cx="372332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4" name="Google Shape;5834;p360"/>
          <p:cNvSpPr/>
          <p:nvPr/>
        </p:nvSpPr>
        <p:spPr>
          <a:xfrm>
            <a:off x="1181100" y="2914650"/>
            <a:ext cx="3377822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5" name="Google Shape;5835;p360"/>
          <p:cNvSpPr/>
          <p:nvPr/>
        </p:nvSpPr>
        <p:spPr>
          <a:xfrm>
            <a:off x="4675822" y="3444240"/>
            <a:ext cx="372344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6" name="Google Shape;5836;p360"/>
          <p:cNvSpPr/>
          <p:nvPr/>
        </p:nvSpPr>
        <p:spPr>
          <a:xfrm>
            <a:off x="4904422" y="2914650"/>
            <a:ext cx="337794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 % 10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7" name="Google Shape;5837;p360"/>
          <p:cNvSpPr/>
          <p:nvPr/>
        </p:nvSpPr>
        <p:spPr>
          <a:xfrm>
            <a:off x="8399264" y="3444240"/>
            <a:ext cx="5212795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8" name="Google Shape;5838;p360"/>
          <p:cNvSpPr/>
          <p:nvPr/>
        </p:nvSpPr>
        <p:spPr>
          <a:xfrm>
            <a:off x="8627864" y="2914650"/>
            <a:ext cx="4911978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WAITS FOR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9" name="Google Shape;5839;p360"/>
          <p:cNvSpPr/>
          <p:nvPr/>
        </p:nvSpPr>
        <p:spPr>
          <a:xfrm>
            <a:off x="13612059" y="3444240"/>
            <a:ext cx="372332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0" name="Google Shape;5840;p360"/>
          <p:cNvSpPr/>
          <p:nvPr/>
        </p:nvSpPr>
        <p:spPr>
          <a:xfrm>
            <a:off x="13840659" y="2914650"/>
            <a:ext cx="3377822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1" name="Google Shape;5841;p360"/>
          <p:cNvSpPr/>
          <p:nvPr/>
        </p:nvSpPr>
        <p:spPr>
          <a:xfrm>
            <a:off x="952500" y="4183380"/>
            <a:ext cx="372332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2" name="Google Shape;5842;p360"/>
          <p:cNvSpPr/>
          <p:nvPr/>
        </p:nvSpPr>
        <p:spPr>
          <a:xfrm>
            <a:off x="1181100" y="3604260"/>
            <a:ext cx="337782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digit_sum(452)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3" name="Google Shape;5843;p360"/>
          <p:cNvSpPr/>
          <p:nvPr/>
        </p:nvSpPr>
        <p:spPr>
          <a:xfrm>
            <a:off x="4675822" y="4183380"/>
            <a:ext cx="372344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4" name="Google Shape;5844;p360"/>
          <p:cNvSpPr/>
          <p:nvPr/>
        </p:nvSpPr>
        <p:spPr>
          <a:xfrm>
            <a:off x="4904422" y="3604260"/>
            <a:ext cx="337794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5" name="Google Shape;5845;p360"/>
          <p:cNvSpPr/>
          <p:nvPr/>
        </p:nvSpPr>
        <p:spPr>
          <a:xfrm>
            <a:off x="8399264" y="4183380"/>
            <a:ext cx="5212795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6" name="Google Shape;5846;p360"/>
          <p:cNvSpPr/>
          <p:nvPr/>
        </p:nvSpPr>
        <p:spPr>
          <a:xfrm>
            <a:off x="8627864" y="3604260"/>
            <a:ext cx="491197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digit_sum(45)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7" name="Google Shape;5847;p360"/>
          <p:cNvSpPr/>
          <p:nvPr/>
        </p:nvSpPr>
        <p:spPr>
          <a:xfrm>
            <a:off x="13612059" y="4183380"/>
            <a:ext cx="372332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8" name="Google Shape;5848;p360"/>
          <p:cNvSpPr/>
          <p:nvPr/>
        </p:nvSpPr>
        <p:spPr>
          <a:xfrm>
            <a:off x="13840659" y="3604260"/>
            <a:ext cx="337782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9" name="Google Shape;5849;p360"/>
          <p:cNvSpPr/>
          <p:nvPr/>
        </p:nvSpPr>
        <p:spPr>
          <a:xfrm>
            <a:off x="952500" y="4922520"/>
            <a:ext cx="372332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0" name="Google Shape;5850;p360"/>
          <p:cNvSpPr/>
          <p:nvPr/>
        </p:nvSpPr>
        <p:spPr>
          <a:xfrm>
            <a:off x="1181100" y="4343400"/>
            <a:ext cx="337782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digit_sum(45)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1" name="Google Shape;5851;p360"/>
          <p:cNvSpPr/>
          <p:nvPr/>
        </p:nvSpPr>
        <p:spPr>
          <a:xfrm>
            <a:off x="4675822" y="4922520"/>
            <a:ext cx="372344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2" name="Google Shape;5852;p360"/>
          <p:cNvSpPr/>
          <p:nvPr/>
        </p:nvSpPr>
        <p:spPr>
          <a:xfrm>
            <a:off x="4904422" y="4343400"/>
            <a:ext cx="337794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3" name="Google Shape;5853;p360"/>
          <p:cNvSpPr/>
          <p:nvPr/>
        </p:nvSpPr>
        <p:spPr>
          <a:xfrm>
            <a:off x="8399264" y="4922520"/>
            <a:ext cx="5212795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4" name="Google Shape;5854;p360"/>
          <p:cNvSpPr/>
          <p:nvPr/>
        </p:nvSpPr>
        <p:spPr>
          <a:xfrm>
            <a:off x="8627864" y="4343400"/>
            <a:ext cx="491197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digit_sum(4)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5" name="Google Shape;5855;p360"/>
          <p:cNvSpPr/>
          <p:nvPr/>
        </p:nvSpPr>
        <p:spPr>
          <a:xfrm>
            <a:off x="13612059" y="4922520"/>
            <a:ext cx="372332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6" name="Google Shape;5856;p360"/>
          <p:cNvSpPr/>
          <p:nvPr/>
        </p:nvSpPr>
        <p:spPr>
          <a:xfrm>
            <a:off x="13840659" y="4343400"/>
            <a:ext cx="337782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7" name="Google Shape;5857;p360"/>
          <p:cNvSpPr/>
          <p:nvPr/>
        </p:nvSpPr>
        <p:spPr>
          <a:xfrm>
            <a:off x="952500" y="5661660"/>
            <a:ext cx="372332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8" name="Google Shape;5858;p360"/>
          <p:cNvSpPr/>
          <p:nvPr/>
        </p:nvSpPr>
        <p:spPr>
          <a:xfrm>
            <a:off x="1181100" y="5082540"/>
            <a:ext cx="337782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digit_sum(4)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9" name="Google Shape;5859;p360"/>
          <p:cNvSpPr/>
          <p:nvPr/>
        </p:nvSpPr>
        <p:spPr>
          <a:xfrm>
            <a:off x="4675822" y="5661660"/>
            <a:ext cx="372344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0" name="Google Shape;5860;p360"/>
          <p:cNvSpPr/>
          <p:nvPr/>
        </p:nvSpPr>
        <p:spPr>
          <a:xfrm>
            <a:off x="4904422" y="5082540"/>
            <a:ext cx="337794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1" name="Google Shape;5861;p360"/>
          <p:cNvSpPr/>
          <p:nvPr/>
        </p:nvSpPr>
        <p:spPr>
          <a:xfrm>
            <a:off x="8399264" y="5661660"/>
            <a:ext cx="5212795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2" name="Google Shape;5862;p360"/>
          <p:cNvSpPr/>
          <p:nvPr/>
        </p:nvSpPr>
        <p:spPr>
          <a:xfrm>
            <a:off x="8627864" y="5082540"/>
            <a:ext cx="491197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digit_sum(0)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3" name="Google Shape;5863;p360"/>
          <p:cNvSpPr/>
          <p:nvPr/>
        </p:nvSpPr>
        <p:spPr>
          <a:xfrm>
            <a:off x="13612059" y="5661660"/>
            <a:ext cx="3723322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4" name="Google Shape;5864;p360"/>
          <p:cNvSpPr/>
          <p:nvPr/>
        </p:nvSpPr>
        <p:spPr>
          <a:xfrm>
            <a:off x="13840659" y="5082540"/>
            <a:ext cx="337782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5" name="Google Shape;5865;p360"/>
          <p:cNvSpPr/>
          <p:nvPr/>
        </p:nvSpPr>
        <p:spPr>
          <a:xfrm>
            <a:off x="1181100" y="5821680"/>
            <a:ext cx="337782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digit_sum(0)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6" name="Google Shape;5866;p360"/>
          <p:cNvSpPr/>
          <p:nvPr/>
        </p:nvSpPr>
        <p:spPr>
          <a:xfrm>
            <a:off x="4904422" y="5821680"/>
            <a:ext cx="337794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—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7" name="Google Shape;5867;p360"/>
          <p:cNvSpPr/>
          <p:nvPr/>
        </p:nvSpPr>
        <p:spPr>
          <a:xfrm>
            <a:off x="8627864" y="5821680"/>
            <a:ext cx="491197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nothing, base case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8" name="Google Shape;5868;p360"/>
          <p:cNvSpPr/>
          <p:nvPr/>
        </p:nvSpPr>
        <p:spPr>
          <a:xfrm>
            <a:off x="13840659" y="5821680"/>
            <a:ext cx="337782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873" name="Shape 5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4" name="Google Shape;5874;p36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WORKED EXAMPLE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5" name="Google Shape;5875;p36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Reversing a string recursively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6" name="Google Shape;5876;p361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[4]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7" name="Google Shape;5877;p361"/>
          <p:cNvSpPr/>
          <p:nvPr/>
        </p:nvSpPr>
        <p:spPr>
          <a:xfrm>
            <a:off x="2228850" y="2727960"/>
            <a:ext cx="15106650" cy="3120390"/>
          </a:xfrm>
          <a:prstGeom prst="roundRect">
            <a:avLst>
              <a:gd fmla="val 24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8" name="Google Shape;5878;p361"/>
          <p:cNvSpPr/>
          <p:nvPr/>
        </p:nvSpPr>
        <p:spPr>
          <a:xfrm>
            <a:off x="2541270" y="3002280"/>
            <a:ext cx="14935010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reverse(s):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len(s)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return ""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s[-1] + reverse(s[:-1])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print(reverse("elephant"))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9" name="Google Shape;5879;p361"/>
          <p:cNvSpPr/>
          <p:nvPr/>
        </p:nvSpPr>
        <p:spPr>
          <a:xfrm>
            <a:off x="952500" y="63246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0" name="Google Shape;5880;p361"/>
          <p:cNvSpPr/>
          <p:nvPr/>
        </p:nvSpPr>
        <p:spPr>
          <a:xfrm>
            <a:off x="2228850" y="6076950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1" name="Google Shape;5881;p361"/>
          <p:cNvSpPr/>
          <p:nvPr/>
        </p:nvSpPr>
        <p:spPr>
          <a:xfrm>
            <a:off x="2533650" y="6343650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tnahpele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2" name="Google Shape;5882;p361"/>
          <p:cNvSpPr/>
          <p:nvPr/>
        </p:nvSpPr>
        <p:spPr>
          <a:xfrm>
            <a:off x="952500" y="736473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empty string is the base case. Every call removes one character.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887" name="Shape 5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8" name="Google Shape;5888;p36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9" name="Google Shape;5889;p36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Two base cases, two calls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0" name="Google Shape;5890;p362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[5]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1" name="Google Shape;5891;p362"/>
          <p:cNvSpPr/>
          <p:nvPr/>
        </p:nvSpPr>
        <p:spPr>
          <a:xfrm>
            <a:off x="2228850" y="2727960"/>
            <a:ext cx="15106650" cy="4406265"/>
          </a:xfrm>
          <a:prstGeom prst="roundRect">
            <a:avLst>
              <a:gd fmla="val 1729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2" name="Google Shape;5892;p362"/>
          <p:cNvSpPr/>
          <p:nvPr/>
        </p:nvSpPr>
        <p:spPr>
          <a:xfrm>
            <a:off x="2541270" y="3002280"/>
            <a:ext cx="14935010" cy="3895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fib(n):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n == 0: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return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n == 1: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return 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fib(n - 1) + fib(n - 2)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range(8):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print(fib(i),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3" name="Google Shape;5893;p362"/>
          <p:cNvSpPr/>
          <p:nvPr/>
        </p:nvSpPr>
        <p:spPr>
          <a:xfrm>
            <a:off x="952500" y="76104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4" name="Google Shape;5894;p362"/>
          <p:cNvSpPr/>
          <p:nvPr/>
        </p:nvSpPr>
        <p:spPr>
          <a:xfrm>
            <a:off x="2228850" y="7362825"/>
            <a:ext cx="15106650" cy="906780"/>
          </a:xfrm>
          <a:prstGeom prst="roundRect">
            <a:avLst>
              <a:gd fmla="val 840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5" name="Google Shape;5895;p362"/>
          <p:cNvSpPr/>
          <p:nvPr/>
        </p:nvSpPr>
        <p:spPr>
          <a:xfrm>
            <a:off x="2533650" y="7629525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0 1 1 2 3 5 8 13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6" name="Google Shape;5896;p362"/>
          <p:cNvSpPr/>
          <p:nvPr/>
        </p:nvSpPr>
        <p:spPr>
          <a:xfrm>
            <a:off x="952500" y="865060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fib(35) takes several seconds, because the same values are recalculated thousands of times.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901" name="Shape 5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2" name="Google Shape;5902;p36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JUDGEMENT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3" name="Google Shape;5903;p36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When recursion is worth it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4" name="Google Shape;5904;p363"/>
          <p:cNvSpPr/>
          <p:nvPr/>
        </p:nvSpPr>
        <p:spPr>
          <a:xfrm>
            <a:off x="952500" y="2727960"/>
            <a:ext cx="869632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GOOD FIT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5" name="Google Shape;5905;p363"/>
          <p:cNvSpPr/>
          <p:nvPr/>
        </p:nvSpPr>
        <p:spPr>
          <a:xfrm>
            <a:off x="952500" y="3291840"/>
            <a:ext cx="8696325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definition is already recursive, as with factorial.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6" name="Google Shape;5906;p363"/>
          <p:cNvSpPr/>
          <p:nvPr/>
        </p:nvSpPr>
        <p:spPr>
          <a:xfrm>
            <a:off x="952500" y="3935730"/>
            <a:ext cx="8696325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data is nested: folders inside folders, trees.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7" name="Google Shape;5907;p363"/>
          <p:cNvSpPr/>
          <p:nvPr/>
        </p:nvSpPr>
        <p:spPr>
          <a:xfrm>
            <a:off x="952500" y="4579620"/>
            <a:ext cx="8696325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loop version would need its own stack.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8" name="Google Shape;5908;p363"/>
          <p:cNvSpPr/>
          <p:nvPr/>
        </p:nvSpPr>
        <p:spPr>
          <a:xfrm>
            <a:off x="9429750" y="2727960"/>
            <a:ext cx="869632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 A LOOP INSTEAD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9" name="Google Shape;5909;p363"/>
          <p:cNvSpPr/>
          <p:nvPr/>
        </p:nvSpPr>
        <p:spPr>
          <a:xfrm>
            <a:off x="9429750" y="3291840"/>
            <a:ext cx="8696325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Simple counting or totalling.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0" name="Google Shape;5910;p363"/>
          <p:cNvSpPr/>
          <p:nvPr/>
        </p:nvSpPr>
        <p:spPr>
          <a:xfrm>
            <a:off x="9429750" y="3935730"/>
            <a:ext cx="8696325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Very deep problems, where you would hit the limit.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1" name="Google Shape;5911;p363"/>
          <p:cNvSpPr/>
          <p:nvPr/>
        </p:nvSpPr>
        <p:spPr>
          <a:xfrm>
            <a:off x="9429750" y="4579620"/>
            <a:ext cx="8696325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Anywhere speed matters.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916" name="Shape 5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7" name="Google Shape;5917;p36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QUICK 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8" name="Google Shape;5918;p36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does each do?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9" name="Google Shape;5919;p364"/>
          <p:cNvSpPr/>
          <p:nvPr/>
        </p:nvSpPr>
        <p:spPr>
          <a:xfrm>
            <a:off x="952500" y="2727960"/>
            <a:ext cx="8020050" cy="3291840"/>
          </a:xfrm>
          <a:prstGeom prst="roundRect">
            <a:avLst>
              <a:gd fmla="val 231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0" name="Google Shape;5920;p364"/>
          <p:cNvSpPr/>
          <p:nvPr/>
        </p:nvSpPr>
        <p:spPr>
          <a:xfrm>
            <a:off x="1264920" y="3002280"/>
            <a:ext cx="7635812" cy="27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f(n):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n == 0: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return 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n + f(n - 1)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print(f(3))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1" name="Google Shape;5921;p364"/>
          <p:cNvSpPr/>
          <p:nvPr/>
        </p:nvSpPr>
        <p:spPr>
          <a:xfrm>
            <a:off x="9315450" y="2727960"/>
            <a:ext cx="8020050" cy="3291840"/>
          </a:xfrm>
          <a:prstGeom prst="roundRect">
            <a:avLst>
              <a:gd fmla="val 231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2" name="Google Shape;5922;p364"/>
          <p:cNvSpPr/>
          <p:nvPr/>
        </p:nvSpPr>
        <p:spPr>
          <a:xfrm>
            <a:off x="9627870" y="3002280"/>
            <a:ext cx="7635812" cy="27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g(n):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n == 0: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return 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n + g(n + 1)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print(g(3))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5927" name="Shape 5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8" name="Google Shape;5928;p36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9" name="Google Shape;5929;p36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0" name="Google Shape;5930;p365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1" name="Google Shape;5931;p365"/>
          <p:cNvSpPr/>
          <p:nvPr/>
        </p:nvSpPr>
        <p:spPr>
          <a:xfrm>
            <a:off x="1684139" y="2727960"/>
            <a:ext cx="1306806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a recursive function that adds the numbers from 1 to n.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2" name="Google Shape;5932;p365"/>
          <p:cNvSpPr/>
          <p:nvPr/>
        </p:nvSpPr>
        <p:spPr>
          <a:xfrm>
            <a:off x="952500" y="363474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3" name="Google Shape;5933;p365"/>
          <p:cNvSpPr/>
          <p:nvPr/>
        </p:nvSpPr>
        <p:spPr>
          <a:xfrm>
            <a:off x="1684139" y="357378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a recursive is_palindrome(word). Compare the ends, then recurse on the middle.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4" name="Google Shape;5934;p365"/>
          <p:cNvSpPr/>
          <p:nvPr/>
        </p:nvSpPr>
        <p:spPr>
          <a:xfrm>
            <a:off x="952500" y="498348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5" name="Google Shape;5935;p365"/>
          <p:cNvSpPr/>
          <p:nvPr/>
        </p:nvSpPr>
        <p:spPr>
          <a:xfrm>
            <a:off x="1684139" y="4922520"/>
            <a:ext cx="14455545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a recursive power(base, exp), and say what your base case is.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940" name="Shape 5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1" name="Google Shape;5941;p36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2" name="Google Shape;5942;p36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3" name="Google Shape;5943;p366"/>
          <p:cNvSpPr/>
          <p:nvPr/>
        </p:nvSpPr>
        <p:spPr>
          <a:xfrm>
            <a:off x="952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4" name="Google Shape;5944;p366"/>
          <p:cNvSpPr/>
          <p:nvPr/>
        </p:nvSpPr>
        <p:spPr>
          <a:xfrm>
            <a:off x="1295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a function that calls itself.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5" name="Google Shape;5945;p366"/>
          <p:cNvSpPr/>
          <p:nvPr/>
        </p:nvSpPr>
        <p:spPr>
          <a:xfrm>
            <a:off x="9334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6" name="Google Shape;5946;p366"/>
          <p:cNvSpPr/>
          <p:nvPr/>
        </p:nvSpPr>
        <p:spPr>
          <a:xfrm>
            <a:off x="9677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Identify the base case and the recursive case.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7" name="Google Shape;5947;p366"/>
          <p:cNvSpPr/>
          <p:nvPr/>
        </p:nvSpPr>
        <p:spPr>
          <a:xfrm>
            <a:off x="952500" y="424815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8" name="Google Shape;5948;p366"/>
          <p:cNvSpPr/>
          <p:nvPr/>
        </p:nvSpPr>
        <p:spPr>
          <a:xfrm>
            <a:off x="1295400" y="459105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Trace the calls down to the base and back up.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9" name="Google Shape;5949;p366"/>
          <p:cNvSpPr/>
          <p:nvPr/>
        </p:nvSpPr>
        <p:spPr>
          <a:xfrm>
            <a:off x="9334500" y="424815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0" name="Google Shape;5950;p366"/>
          <p:cNvSpPr/>
          <p:nvPr/>
        </p:nvSpPr>
        <p:spPr>
          <a:xfrm>
            <a:off x="9677400" y="459105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Recognise a RecursionError and its cause.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1" name="Google Shape;5951;p366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class: classes and objects.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5956" name="Shape 5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7" name="Google Shape;5957;p367"/>
          <p:cNvSpPr/>
          <p:nvPr/>
        </p:nvSpPr>
        <p:spPr>
          <a:xfrm>
            <a:off x="952500" y="4085272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8 · BEYOND THE BASICS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8" name="Google Shape;5958;p367"/>
          <p:cNvSpPr/>
          <p:nvPr/>
        </p:nvSpPr>
        <p:spPr>
          <a:xfrm>
            <a:off x="952500" y="4854893"/>
            <a:ext cx="217932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23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9" name="Google Shape;5959;p367"/>
          <p:cNvSpPr/>
          <p:nvPr/>
        </p:nvSpPr>
        <p:spPr>
          <a:xfrm>
            <a:off x="3467100" y="5632132"/>
            <a:ext cx="7518392" cy="79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Classes and Objects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964" name="Shape 5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5" name="Google Shape;5965;p36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23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6" name="Google Shape;5966;p36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7" name="Google Shape;5967;p368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8" name="Google Shape;5968;p368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9" name="Google Shape;5969;p368"/>
          <p:cNvSpPr/>
          <p:nvPr/>
        </p:nvSpPr>
        <p:spPr>
          <a:xfrm>
            <a:off x="1646039" y="2727960"/>
            <a:ext cx="901994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class as a blueprint, an object as a thing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0" name="Google Shape;5970;p368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1" name="Google Shape;5971;p368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2" name="Google Shape;5972;p368"/>
          <p:cNvSpPr/>
          <p:nvPr/>
        </p:nvSpPr>
        <p:spPr>
          <a:xfrm>
            <a:off x="1646039" y="3771900"/>
            <a:ext cx="494773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__init__ and attributes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3" name="Google Shape;5973;p368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4" name="Google Shape;5974;p368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5" name="Google Shape;5975;p368"/>
          <p:cNvSpPr/>
          <p:nvPr/>
        </p:nvSpPr>
        <p:spPr>
          <a:xfrm>
            <a:off x="1646039" y="4815840"/>
            <a:ext cx="5434025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self actually means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6" name="Google Shape;5976;p368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7" name="Google Shape;5977;p368"/>
          <p:cNvSpPr/>
          <p:nvPr/>
        </p:nvSpPr>
        <p:spPr>
          <a:xfrm>
            <a:off x="1646039" y="5859780"/>
            <a:ext cx="9284375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Methods, and many objects from one class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5982" name="Shape 5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3" name="Google Shape;5983;p369"/>
          <p:cNvSpPr/>
          <p:nvPr/>
        </p:nvSpPr>
        <p:spPr>
          <a:xfrm>
            <a:off x="952500" y="3940493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IDEA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4" name="Google Shape;5984;p369"/>
          <p:cNvSpPr/>
          <p:nvPr/>
        </p:nvSpPr>
        <p:spPr>
          <a:xfrm>
            <a:off x="952500" y="4793933"/>
            <a:ext cx="8591550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200"/>
              <a:buFont typeface="Bricolage Grotesque"/>
              <a:buNone/>
            </a:pPr>
            <a:r>
              <a:rPr b="1" i="0" lang="en-US" sz="42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Class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5" name="Google Shape;5985;p369"/>
          <p:cNvSpPr/>
          <p:nvPr/>
        </p:nvSpPr>
        <p:spPr>
          <a:xfrm>
            <a:off x="952500" y="5662613"/>
            <a:ext cx="8044815" cy="9124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blueprint. Describes what every student has and can do. Written once.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6" name="Google Shape;5986;p369"/>
          <p:cNvSpPr/>
          <p:nvPr/>
        </p:nvSpPr>
        <p:spPr>
          <a:xfrm>
            <a:off x="9525000" y="4793933"/>
            <a:ext cx="8591550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4200"/>
              <a:buFont typeface="Bricolage Grotesque"/>
              <a:buNone/>
            </a:pPr>
            <a:r>
              <a:rPr b="1" i="0" lang="en-US" sz="4200" u="none" cap="none" strike="noStrike">
                <a:solidFill>
                  <a:srgbClr val="D9A08A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Object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7" name="Google Shape;5987;p369"/>
          <p:cNvSpPr/>
          <p:nvPr/>
        </p:nvSpPr>
        <p:spPr>
          <a:xfrm>
            <a:off x="9525000" y="5662613"/>
            <a:ext cx="8044815" cy="9124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One actual student, with their own name and marks. Made as often as you like.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992" name="Shape 5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3" name="Google Shape;5993;p37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4" name="Google Shape;5994;p37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Your first class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5" name="Google Shape;5995;p370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6" name="Google Shape;5996;p370"/>
          <p:cNvSpPr/>
          <p:nvPr/>
        </p:nvSpPr>
        <p:spPr>
          <a:xfrm>
            <a:off x="2228850" y="2727960"/>
            <a:ext cx="15106650" cy="3977640"/>
          </a:xfrm>
          <a:prstGeom prst="roundRect">
            <a:avLst>
              <a:gd fmla="val 191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7" name="Google Shape;5997;p370"/>
          <p:cNvSpPr/>
          <p:nvPr/>
        </p:nvSpPr>
        <p:spPr>
          <a:xfrm>
            <a:off x="2541270" y="3002280"/>
            <a:ext cx="14935010" cy="3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Student: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def __init__(self, name, marks):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self.name = name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self.marks = marks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Student("Ayesha", 78)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print(a.name)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print(a.marks)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8" name="Google Shape;5998;p370"/>
          <p:cNvSpPr/>
          <p:nvPr/>
        </p:nvSpPr>
        <p:spPr>
          <a:xfrm>
            <a:off x="952500" y="71818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9" name="Google Shape;5999;p370"/>
          <p:cNvSpPr/>
          <p:nvPr/>
        </p:nvSpPr>
        <p:spPr>
          <a:xfrm>
            <a:off x="2228850" y="693420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0" name="Google Shape;6000;p370"/>
          <p:cNvSpPr/>
          <p:nvPr/>
        </p:nvSpPr>
        <p:spPr>
          <a:xfrm>
            <a:off x="2533650" y="720090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Ayesha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005" name="Shape 6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6" name="Google Shape;6006;p37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VOCABULARY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7" name="Google Shape;6007;p37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Four words to learn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8" name="Google Shape;6008;p371"/>
          <p:cNvSpPr/>
          <p:nvPr/>
        </p:nvSpPr>
        <p:spPr>
          <a:xfrm>
            <a:off x="952500" y="2727960"/>
            <a:ext cx="8001000" cy="2019300"/>
          </a:xfrm>
          <a:prstGeom prst="roundRect">
            <a:avLst>
              <a:gd fmla="val 377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9" name="Google Shape;6009;p371"/>
          <p:cNvSpPr/>
          <p:nvPr/>
        </p:nvSpPr>
        <p:spPr>
          <a:xfrm>
            <a:off x="1295400" y="3070860"/>
            <a:ext cx="804672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0" name="Google Shape;6010;p371"/>
          <p:cNvSpPr/>
          <p:nvPr/>
        </p:nvSpPr>
        <p:spPr>
          <a:xfrm>
            <a:off x="1295400" y="3680460"/>
            <a:ext cx="6461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blueprint. Names begin with a capital letter by convention.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1" name="Google Shape;6011;p371"/>
          <p:cNvSpPr/>
          <p:nvPr/>
        </p:nvSpPr>
        <p:spPr>
          <a:xfrm>
            <a:off x="9334500" y="2727960"/>
            <a:ext cx="8001000" cy="2019300"/>
          </a:xfrm>
          <a:prstGeom prst="roundRect">
            <a:avLst>
              <a:gd fmla="val 377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2" name="Google Shape;6012;p371"/>
          <p:cNvSpPr/>
          <p:nvPr/>
        </p:nvSpPr>
        <p:spPr>
          <a:xfrm>
            <a:off x="9677400" y="3070860"/>
            <a:ext cx="804672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__init__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3" name="Google Shape;6013;p371"/>
          <p:cNvSpPr/>
          <p:nvPr/>
        </p:nvSpPr>
        <p:spPr>
          <a:xfrm>
            <a:off x="9677400" y="3680460"/>
            <a:ext cx="7351072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Runs automatically when you create an object. Sets it up.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4" name="Google Shape;6014;p371"/>
          <p:cNvSpPr/>
          <p:nvPr/>
        </p:nvSpPr>
        <p:spPr>
          <a:xfrm>
            <a:off x="952500" y="5128260"/>
            <a:ext cx="8001000" cy="1645920"/>
          </a:xfrm>
          <a:prstGeom prst="roundRect">
            <a:avLst>
              <a:gd fmla="val 463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5" name="Google Shape;6015;p371"/>
          <p:cNvSpPr/>
          <p:nvPr/>
        </p:nvSpPr>
        <p:spPr>
          <a:xfrm>
            <a:off x="1295400" y="5471160"/>
            <a:ext cx="804672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attribute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6" name="Google Shape;6016;p371"/>
          <p:cNvSpPr/>
          <p:nvPr/>
        </p:nvSpPr>
        <p:spPr>
          <a:xfrm>
            <a:off x="1295400" y="6080760"/>
            <a:ext cx="6871327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value belonging to one object: self.name, self.marks.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7" name="Google Shape;6017;p371"/>
          <p:cNvSpPr/>
          <p:nvPr/>
        </p:nvSpPr>
        <p:spPr>
          <a:xfrm>
            <a:off x="9334500" y="5128260"/>
            <a:ext cx="8001000" cy="1645920"/>
          </a:xfrm>
          <a:prstGeom prst="roundRect">
            <a:avLst>
              <a:gd fmla="val 463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8" name="Google Shape;6018;p371"/>
          <p:cNvSpPr/>
          <p:nvPr/>
        </p:nvSpPr>
        <p:spPr>
          <a:xfrm>
            <a:off x="9677400" y="5471160"/>
            <a:ext cx="804672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method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9" name="Google Shape;6019;p371"/>
          <p:cNvSpPr/>
          <p:nvPr/>
        </p:nvSpPr>
        <p:spPr>
          <a:xfrm>
            <a:off x="9677400" y="6080760"/>
            <a:ext cx="6756909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function inside a class. Called with a dot: a.report().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024" name="Shape 6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5" name="Google Shape;6025;p37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6" name="Google Shape;6026;p37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self means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7" name="Google Shape;6027;p372"/>
          <p:cNvSpPr/>
          <p:nvPr/>
        </p:nvSpPr>
        <p:spPr>
          <a:xfrm>
            <a:off x="952500" y="2727960"/>
            <a:ext cx="14716125" cy="11696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self is whichever object the method was called on. Python fills it in for you, which is why you write it in the definition but never at the call.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8" name="Google Shape;6028;p372"/>
          <p:cNvSpPr/>
          <p:nvPr/>
        </p:nvSpPr>
        <p:spPr>
          <a:xfrm>
            <a:off x="952500" y="427863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YOU WRITE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9" name="Google Shape;6029;p372"/>
          <p:cNvSpPr/>
          <p:nvPr/>
        </p:nvSpPr>
        <p:spPr>
          <a:xfrm>
            <a:off x="952500" y="4827270"/>
            <a:ext cx="7943850" cy="883920"/>
          </a:xfrm>
          <a:prstGeom prst="roundRect">
            <a:avLst>
              <a:gd fmla="val 862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0" name="Google Shape;6030;p372"/>
          <p:cNvSpPr/>
          <p:nvPr/>
        </p:nvSpPr>
        <p:spPr>
          <a:xfrm>
            <a:off x="1245870" y="5082540"/>
            <a:ext cx="759542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a.report()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1" name="Google Shape;6031;p372"/>
          <p:cNvSpPr/>
          <p:nvPr/>
        </p:nvSpPr>
        <p:spPr>
          <a:xfrm>
            <a:off x="9391650" y="427863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PYTHON RUNS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2" name="Google Shape;6032;p372"/>
          <p:cNvSpPr/>
          <p:nvPr/>
        </p:nvSpPr>
        <p:spPr>
          <a:xfrm>
            <a:off x="9391650" y="4827270"/>
            <a:ext cx="7943850" cy="883920"/>
          </a:xfrm>
          <a:prstGeom prst="roundRect">
            <a:avLst>
              <a:gd fmla="val 862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3" name="Google Shape;6033;p372"/>
          <p:cNvSpPr/>
          <p:nvPr/>
        </p:nvSpPr>
        <p:spPr>
          <a:xfrm>
            <a:off x="9685020" y="5082540"/>
            <a:ext cx="759542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Student.report(a)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038" name="Shape 6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9" name="Google Shape;6039;p37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0" name="Google Shape;6040;p37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Forgetting self in the definition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1" name="Google Shape;6041;p373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2" name="Google Shape;6042;p373"/>
          <p:cNvSpPr/>
          <p:nvPr/>
        </p:nvSpPr>
        <p:spPr>
          <a:xfrm>
            <a:off x="2228850" y="2727960"/>
            <a:ext cx="15106650" cy="3120390"/>
          </a:xfrm>
          <a:prstGeom prst="roundRect">
            <a:avLst>
              <a:gd fmla="val 244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3" name="Google Shape;6043;p373"/>
          <p:cNvSpPr/>
          <p:nvPr/>
        </p:nvSpPr>
        <p:spPr>
          <a:xfrm>
            <a:off x="2541270" y="3002280"/>
            <a:ext cx="14935010" cy="2609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Student: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def report():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print("hello")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Student()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a.report()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4" name="Google Shape;6044;p373"/>
          <p:cNvSpPr/>
          <p:nvPr/>
        </p:nvSpPr>
        <p:spPr>
          <a:xfrm>
            <a:off x="952500" y="63246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5" name="Google Shape;6045;p373"/>
          <p:cNvSpPr/>
          <p:nvPr/>
        </p:nvSpPr>
        <p:spPr>
          <a:xfrm>
            <a:off x="2228850" y="6076950"/>
            <a:ext cx="15106650" cy="1390650"/>
          </a:xfrm>
          <a:prstGeom prst="roundRect">
            <a:avLst>
              <a:gd fmla="val 5479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6" name="Google Shape;6046;p373"/>
          <p:cNvSpPr/>
          <p:nvPr/>
        </p:nvSpPr>
        <p:spPr>
          <a:xfrm>
            <a:off x="2533650" y="6343650"/>
            <a:ext cx="149502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TypeError: Student.report() takes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positional arguments but 1 was given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7" name="Google Shape;6047;p373"/>
          <p:cNvSpPr/>
          <p:nvPr/>
        </p:nvSpPr>
        <p:spPr>
          <a:xfrm>
            <a:off x="952500" y="78867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one argument given is the object itself. Every method needs self first.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052" name="Shape 6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3" name="Google Shape;6053;p37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4" name="Google Shape;6054;p37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Adding behaviour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5" name="Google Shape;6055;p374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[3]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6" name="Google Shape;6056;p374"/>
          <p:cNvSpPr/>
          <p:nvPr/>
        </p:nvSpPr>
        <p:spPr>
          <a:xfrm>
            <a:off x="2228850" y="2727960"/>
            <a:ext cx="15106650" cy="6120765"/>
          </a:xfrm>
          <a:prstGeom prst="roundRect">
            <a:avLst>
              <a:gd fmla="val 124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7" name="Google Shape;6057;p374"/>
          <p:cNvSpPr/>
          <p:nvPr/>
        </p:nvSpPr>
        <p:spPr>
          <a:xfrm>
            <a:off x="2541270" y="3002280"/>
            <a:ext cx="14935010" cy="561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Student: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def __init__(self, name, marks):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self.name = name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self.marks = marks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def average(self):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return sum(self.marks) / len(self.marks)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def passed(self):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return self.average() &gt;= 40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Student("Ayesha", [78, 65, 90])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print(a.average())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8" name="Google Shape;6058;p374"/>
          <p:cNvSpPr/>
          <p:nvPr/>
        </p:nvSpPr>
        <p:spPr>
          <a:xfrm>
            <a:off x="952500" y="926782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9" name="Google Shape;6059;p374"/>
          <p:cNvSpPr/>
          <p:nvPr/>
        </p:nvSpPr>
        <p:spPr>
          <a:xfrm>
            <a:off x="2228850" y="9077325"/>
            <a:ext cx="15106650" cy="792480"/>
          </a:xfrm>
          <a:prstGeom prst="roundRect">
            <a:avLst>
              <a:gd fmla="val 961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0" name="Google Shape;6060;p374"/>
          <p:cNvSpPr/>
          <p:nvPr/>
        </p:nvSpPr>
        <p:spPr>
          <a:xfrm>
            <a:off x="2533650" y="9286875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77.66666666666667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065" name="Shape 6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6" name="Google Shape;6066;p37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7" name="Google Shape;6067;p37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One class, many objects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8" name="Google Shape;6068;p375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[4]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9" name="Google Shape;6069;p375"/>
          <p:cNvSpPr/>
          <p:nvPr/>
        </p:nvSpPr>
        <p:spPr>
          <a:xfrm>
            <a:off x="2228850" y="2727960"/>
            <a:ext cx="15106650" cy="3977640"/>
          </a:xfrm>
          <a:prstGeom prst="roundRect">
            <a:avLst>
              <a:gd fmla="val 191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0" name="Google Shape;6070;p375"/>
          <p:cNvSpPr/>
          <p:nvPr/>
        </p:nvSpPr>
        <p:spPr>
          <a:xfrm>
            <a:off x="2541270" y="3002280"/>
            <a:ext cx="14935010" cy="3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students = [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Student("Ayesha", [78, 65, 90]),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Student("Rahim", [55, 60, 71]),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Student("Nabila", [88, 92, 79])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s in students: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print(f"{s.name}: {s.average():.1f}")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1" name="Google Shape;6071;p375"/>
          <p:cNvSpPr/>
          <p:nvPr/>
        </p:nvSpPr>
        <p:spPr>
          <a:xfrm>
            <a:off x="952500" y="718185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2" name="Google Shape;6072;p375"/>
          <p:cNvSpPr/>
          <p:nvPr/>
        </p:nvSpPr>
        <p:spPr>
          <a:xfrm>
            <a:off x="2228850" y="6934200"/>
            <a:ext cx="15106650" cy="1819275"/>
          </a:xfrm>
          <a:prstGeom prst="roundRect">
            <a:avLst>
              <a:gd fmla="val 418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3" name="Google Shape;6073;p375"/>
          <p:cNvSpPr/>
          <p:nvPr/>
        </p:nvSpPr>
        <p:spPr>
          <a:xfrm>
            <a:off x="2533650" y="7200900"/>
            <a:ext cx="14950249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Ayesha: 77.7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Rahim: 62.0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Nabila: 86.3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4" name="Google Shape;6074;p375"/>
          <p:cNvSpPr/>
          <p:nvPr/>
        </p:nvSpPr>
        <p:spPr>
          <a:xfrm>
            <a:off x="952500" y="913447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Each object keeps its own name and marks. self.name means this student's name.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079" name="Shape 6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0" name="Google Shape;6080;p37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COMPARISON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1" name="Google Shape;6081;p37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dictionary would also hold this data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2" name="Google Shape;6082;p376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DICTIONARY · DATA ONLY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3" name="Google Shape;6083;p376"/>
          <p:cNvSpPr/>
          <p:nvPr/>
        </p:nvSpPr>
        <p:spPr>
          <a:xfrm>
            <a:off x="952500" y="3276600"/>
            <a:ext cx="7943850" cy="1781175"/>
          </a:xfrm>
          <a:prstGeom prst="roundRect">
            <a:avLst>
              <a:gd fmla="val 4278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4" name="Google Shape;6084;p376"/>
          <p:cNvSpPr/>
          <p:nvPr/>
        </p:nvSpPr>
        <p:spPr>
          <a:xfrm>
            <a:off x="1238250" y="3524250"/>
            <a:ext cx="7610665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 = {"name": "Ayesha",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"marks": [78, 65, 90]}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avg = sum(s["marks"]) / 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5" name="Google Shape;6085;p376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· DATA AND BEHAVIOUR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6" name="Google Shape;6086;p376"/>
          <p:cNvSpPr/>
          <p:nvPr/>
        </p:nvSpPr>
        <p:spPr>
          <a:xfrm>
            <a:off x="9391650" y="327660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7" name="Google Shape;6087;p376"/>
          <p:cNvSpPr/>
          <p:nvPr/>
        </p:nvSpPr>
        <p:spPr>
          <a:xfrm>
            <a:off x="9685020" y="353187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 = Student("Ayesha", [78, 65, 90])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avg = s.average()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8" name="Google Shape;6088;p376"/>
          <p:cNvSpPr/>
          <p:nvPr/>
        </p:nvSpPr>
        <p:spPr>
          <a:xfrm>
            <a:off x="952500" y="555307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With a dictionary, the averaging code lives somewhere else. With a class, it lives with the data it works on.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093" name="Shape 6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4" name="Google Shape;6094;p37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5" name="Google Shape;6095;p37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Making an object print nicely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6" name="Google Shape;6096;p377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WITHOUT __str__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7" name="Google Shape;6097;p377"/>
          <p:cNvSpPr/>
          <p:nvPr/>
        </p:nvSpPr>
        <p:spPr>
          <a:xfrm>
            <a:off x="952500" y="3276600"/>
            <a:ext cx="7943850" cy="883920"/>
          </a:xfrm>
          <a:prstGeom prst="roundRect">
            <a:avLst>
              <a:gd fmla="val 862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8" name="Google Shape;6098;p377"/>
          <p:cNvSpPr/>
          <p:nvPr/>
        </p:nvSpPr>
        <p:spPr>
          <a:xfrm>
            <a:off x="1245870" y="3531870"/>
            <a:ext cx="759542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9" name="Google Shape;6099;p377"/>
          <p:cNvSpPr/>
          <p:nvPr/>
        </p:nvSpPr>
        <p:spPr>
          <a:xfrm>
            <a:off x="952500" y="4351020"/>
            <a:ext cx="7943850" cy="1150620"/>
          </a:xfrm>
          <a:prstGeom prst="roundRect">
            <a:avLst>
              <a:gd fmla="val 662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0" name="Google Shape;6100;p377"/>
          <p:cNvSpPr/>
          <p:nvPr/>
        </p:nvSpPr>
        <p:spPr>
          <a:xfrm>
            <a:off x="1238250" y="4598670"/>
            <a:ext cx="7610665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&lt;__main__.Student object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at 0x7f2c1a3b40&gt;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1" name="Google Shape;6101;p377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__str__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2" name="Google Shape;6102;p377"/>
          <p:cNvSpPr/>
          <p:nvPr/>
        </p:nvSpPr>
        <p:spPr>
          <a:xfrm>
            <a:off x="9391650" y="327660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3" name="Google Shape;6103;p377"/>
          <p:cNvSpPr/>
          <p:nvPr/>
        </p:nvSpPr>
        <p:spPr>
          <a:xfrm>
            <a:off x="9685020" y="353187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__str__(self):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f"{self.name} ({self.marks})"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4" name="Google Shape;6104;p377"/>
          <p:cNvSpPr/>
          <p:nvPr/>
        </p:nvSpPr>
        <p:spPr>
          <a:xfrm>
            <a:off x="9391650" y="4834890"/>
            <a:ext cx="7943850" cy="822960"/>
          </a:xfrm>
          <a:prstGeom prst="roundRect">
            <a:avLst>
              <a:gd fmla="val 925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5" name="Google Shape;6105;p377"/>
          <p:cNvSpPr/>
          <p:nvPr/>
        </p:nvSpPr>
        <p:spPr>
          <a:xfrm>
            <a:off x="9677400" y="5082540"/>
            <a:ext cx="761066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Ayesha ([78, 65, 90])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110" name="Shape 6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1" name="Google Shape;6111;p37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2" name="Google Shape;6112;p37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method that changes the object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3" name="Google Shape;6113;p378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[5]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4" name="Google Shape;6114;p378"/>
          <p:cNvSpPr/>
          <p:nvPr/>
        </p:nvSpPr>
        <p:spPr>
          <a:xfrm>
            <a:off x="2228850" y="2727960"/>
            <a:ext cx="15106650" cy="6120765"/>
          </a:xfrm>
          <a:prstGeom prst="roundRect">
            <a:avLst>
              <a:gd fmla="val 124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5" name="Google Shape;6115;p378"/>
          <p:cNvSpPr/>
          <p:nvPr/>
        </p:nvSpPr>
        <p:spPr>
          <a:xfrm>
            <a:off x="2541270" y="3002280"/>
            <a:ext cx="14935010" cy="561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Account: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def __init__(self, balance):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self.balance = balance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def withdraw(self, amount):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if amount &gt; self.balance: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print("Insufficient funds")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return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self.balance = self.balance - amount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Account(500)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a.withdraw(200)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a.withdraw(1000)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6" name="Google Shape;6116;p378"/>
          <p:cNvSpPr/>
          <p:nvPr/>
        </p:nvSpPr>
        <p:spPr>
          <a:xfrm>
            <a:off x="952500" y="926782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7" name="Google Shape;6117;p378"/>
          <p:cNvSpPr/>
          <p:nvPr/>
        </p:nvSpPr>
        <p:spPr>
          <a:xfrm>
            <a:off x="2228850" y="9077325"/>
            <a:ext cx="15106650" cy="792480"/>
          </a:xfrm>
          <a:prstGeom prst="roundRect">
            <a:avLst>
              <a:gd fmla="val 961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8" name="Google Shape;6118;p378"/>
          <p:cNvSpPr/>
          <p:nvPr/>
        </p:nvSpPr>
        <p:spPr>
          <a:xfrm>
            <a:off x="2533650" y="9286875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Insufficient funds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123" name="Shape 6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4" name="Google Shape;6124;p37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5" name="Google Shape;6125;p37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 attribute that does not exist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6" name="Google Shape;6126;p379"/>
          <p:cNvSpPr/>
          <p:nvPr/>
        </p:nvSpPr>
        <p:spPr>
          <a:xfrm>
            <a:off x="952500" y="272796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7" name="Google Shape;6127;p379"/>
          <p:cNvSpPr/>
          <p:nvPr/>
        </p:nvSpPr>
        <p:spPr>
          <a:xfrm>
            <a:off x="1245870" y="298323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Student("Ayesha", [78])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print(a.age)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8" name="Google Shape;6128;p379"/>
          <p:cNvSpPr/>
          <p:nvPr/>
        </p:nvSpPr>
        <p:spPr>
          <a:xfrm>
            <a:off x="952500" y="4286250"/>
            <a:ext cx="7943850" cy="1188720"/>
          </a:xfrm>
          <a:prstGeom prst="roundRect">
            <a:avLst>
              <a:gd fmla="val 6410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9" name="Google Shape;6129;p379"/>
          <p:cNvSpPr/>
          <p:nvPr/>
        </p:nvSpPr>
        <p:spPr>
          <a:xfrm>
            <a:off x="1238250" y="4533900"/>
            <a:ext cx="761066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4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AttributeError: 'Student'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814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object has no attribute 'age'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0" name="Google Shape;6130;p379"/>
          <p:cNvSpPr/>
          <p:nvPr/>
        </p:nvSpPr>
        <p:spPr>
          <a:xfrm>
            <a:off x="9391650" y="272796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1" name="Google Shape;6131;p379"/>
          <p:cNvSpPr/>
          <p:nvPr/>
        </p:nvSpPr>
        <p:spPr>
          <a:xfrm>
            <a:off x="9685020" y="298323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= 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x.append(5)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2" name="Google Shape;6132;p379"/>
          <p:cNvSpPr/>
          <p:nvPr/>
        </p:nvSpPr>
        <p:spPr>
          <a:xfrm>
            <a:off x="9391650" y="4286250"/>
            <a:ext cx="7943850" cy="1188720"/>
          </a:xfrm>
          <a:prstGeom prst="roundRect">
            <a:avLst>
              <a:gd fmla="val 6410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3" name="Google Shape;6133;p379"/>
          <p:cNvSpPr/>
          <p:nvPr/>
        </p:nvSpPr>
        <p:spPr>
          <a:xfrm>
            <a:off x="9677400" y="4533900"/>
            <a:ext cx="761066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4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AttributeError: 'int'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814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object has no attribute 'append'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4" name="Google Shape;6134;p379"/>
          <p:cNvSpPr/>
          <p:nvPr/>
        </p:nvSpPr>
        <p:spPr>
          <a:xfrm>
            <a:off x="952500" y="5932170"/>
            <a:ext cx="16874490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same error appears when you call a list method on a number. It always means: this kind of thing does not have that.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6139" name="Shape 6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0" name="Google Shape;6140;p380"/>
          <p:cNvSpPr/>
          <p:nvPr/>
        </p:nvSpPr>
        <p:spPr>
          <a:xfrm>
            <a:off x="952500" y="359283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YOU HAVE BEEN DOING THIS ALL TERM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1" name="Google Shape;6141;p380"/>
          <p:cNvSpPr/>
          <p:nvPr/>
        </p:nvSpPr>
        <p:spPr>
          <a:xfrm>
            <a:off x="952500" y="4370070"/>
            <a:ext cx="14716125" cy="1615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400"/>
              <a:buFont typeface="Bricolage Grotesque"/>
              <a:buNone/>
            </a:pPr>
            <a:r>
              <a:rPr b="1" i="0" lang="en-US" sz="54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Every value in Python is an object, and every dot you have typed was a method call.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2" name="Google Shape;6142;p380"/>
          <p:cNvSpPr/>
          <p:nvPr/>
        </p:nvSpPr>
        <p:spPr>
          <a:xfrm>
            <a:off x="952500" y="6366510"/>
            <a:ext cx="16874490" cy="556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29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"apple".upper()      marks.append(90)      counts.get("a", 0)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147" name="Shape 6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Google Shape;6148;p38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QUICK 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9" name="Google Shape;6149;p38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prints, and what is self each time?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0" name="Google Shape;6150;p381"/>
          <p:cNvSpPr/>
          <p:nvPr/>
        </p:nvSpPr>
        <p:spPr>
          <a:xfrm>
            <a:off x="952500" y="2727960"/>
            <a:ext cx="16383000" cy="5768340"/>
          </a:xfrm>
          <a:prstGeom prst="roundRect">
            <a:avLst>
              <a:gd fmla="val 132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1" name="Google Shape;6151;p381"/>
          <p:cNvSpPr/>
          <p:nvPr/>
        </p:nvSpPr>
        <p:spPr>
          <a:xfrm>
            <a:off x="1303020" y="3040380"/>
            <a:ext cx="1617345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700"/>
              <a:buFont typeface="JetBrains Mono"/>
              <a:buNone/>
            </a:pPr>
            <a:r>
              <a:rPr b="0" i="0" lang="en-US" sz="27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Dog: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700"/>
              <a:buFont typeface="JetBrains Mono"/>
              <a:buNone/>
            </a:pPr>
            <a:r>
              <a:rPr b="0" i="0" lang="en-US" sz="27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def __init__(self, name):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700"/>
              <a:buFont typeface="JetBrains Mono"/>
              <a:buNone/>
            </a:pPr>
            <a:r>
              <a:rPr b="0" i="0" lang="en-US" sz="27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self.name = name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700"/>
              <a:buFont typeface="JetBrains Mono"/>
              <a:buNone/>
            </a:pPr>
            <a:r>
              <a:rPr b="0" i="0" lang="en-US" sz="27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def speak(self):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700"/>
              <a:buFont typeface="JetBrains Mono"/>
              <a:buNone/>
            </a:pPr>
            <a:r>
              <a:rPr b="0" i="0" lang="en-US" sz="27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print(self.name, "says woof")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700"/>
              <a:buFont typeface="JetBrains Mono"/>
              <a:buNone/>
            </a:pPr>
            <a:r>
              <a:rPr b="0" i="0" lang="en-US" sz="27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Dog("Rex")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700"/>
              <a:buFont typeface="JetBrains Mono"/>
              <a:buNone/>
            </a:pPr>
            <a:r>
              <a:rPr b="0" i="0" lang="en-US" sz="27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= Dog("Bella")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700"/>
              <a:buFont typeface="JetBrains Mono"/>
              <a:buNone/>
            </a:pPr>
            <a:r>
              <a:rPr b="0" i="0" lang="en-US" sz="27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a.speak()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700"/>
              <a:buFont typeface="JetBrains Mono"/>
              <a:buNone/>
            </a:pPr>
            <a:r>
              <a:rPr b="0" i="0" lang="en-US" sz="27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b.speak()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6156" name="Shape 6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7" name="Google Shape;6157;p38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8" name="Google Shape;6158;p38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9" name="Google Shape;6159;p382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0" name="Google Shape;6160;p382"/>
          <p:cNvSpPr/>
          <p:nvPr/>
        </p:nvSpPr>
        <p:spPr>
          <a:xfrm>
            <a:off x="1684139" y="272796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a Rectangle class with length and width, and methods for area and perimeter.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1" name="Google Shape;6161;p382"/>
          <p:cNvSpPr/>
          <p:nvPr/>
        </p:nvSpPr>
        <p:spPr>
          <a:xfrm>
            <a:off x="952500" y="413766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2" name="Google Shape;6162;p382"/>
          <p:cNvSpPr/>
          <p:nvPr/>
        </p:nvSpPr>
        <p:spPr>
          <a:xfrm>
            <a:off x="1684139" y="407670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a Student class with a grade() method that returns A to F, and make three students.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3" name="Google Shape;6163;p382"/>
          <p:cNvSpPr/>
          <p:nvPr/>
        </p:nvSpPr>
        <p:spPr>
          <a:xfrm>
            <a:off x="952500" y="548640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4" name="Google Shape;6164;p382"/>
          <p:cNvSpPr/>
          <p:nvPr/>
        </p:nvSpPr>
        <p:spPr>
          <a:xfrm>
            <a:off x="1684139" y="542544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an Account class with deposit and withdraw, refusing a withdrawal larger than the balance.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169" name="Shape 6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0" name="Google Shape;6170;p38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1" name="Google Shape;6171;p38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2" name="Google Shape;6172;p383"/>
          <p:cNvSpPr/>
          <p:nvPr/>
        </p:nvSpPr>
        <p:spPr>
          <a:xfrm>
            <a:off x="952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3" name="Google Shape;6173;p383"/>
          <p:cNvSpPr/>
          <p:nvPr/>
        </p:nvSpPr>
        <p:spPr>
          <a:xfrm>
            <a:off x="1295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a class with __init__ and attributes.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4" name="Google Shape;6174;p383"/>
          <p:cNvSpPr/>
          <p:nvPr/>
        </p:nvSpPr>
        <p:spPr>
          <a:xfrm>
            <a:off x="9334500" y="272796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5" name="Google Shape;6175;p383"/>
          <p:cNvSpPr/>
          <p:nvPr/>
        </p:nvSpPr>
        <p:spPr>
          <a:xfrm>
            <a:off x="9677400" y="307086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Explain what self refers to.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6" name="Google Shape;6176;p383"/>
          <p:cNvSpPr/>
          <p:nvPr/>
        </p:nvSpPr>
        <p:spPr>
          <a:xfrm>
            <a:off x="952500" y="424815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7" name="Google Shape;6177;p383"/>
          <p:cNvSpPr/>
          <p:nvPr/>
        </p:nvSpPr>
        <p:spPr>
          <a:xfrm>
            <a:off x="1295400" y="459105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Add methods that read and change the object.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8" name="Google Shape;6178;p383"/>
          <p:cNvSpPr/>
          <p:nvPr/>
        </p:nvSpPr>
        <p:spPr>
          <a:xfrm>
            <a:off x="9334500" y="4248150"/>
            <a:ext cx="8001000" cy="1139190"/>
          </a:xfrm>
          <a:prstGeom prst="roundRect">
            <a:avLst>
              <a:gd fmla="val 668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9" name="Google Shape;6179;p383"/>
          <p:cNvSpPr/>
          <p:nvPr/>
        </p:nvSpPr>
        <p:spPr>
          <a:xfrm>
            <a:off x="9677400" y="4591050"/>
            <a:ext cx="755523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Create many objects from one class.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0" name="Google Shape;6180;p383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class: handling errors, and reading and writing files.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6185" name="Shape 6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6" name="Google Shape;6186;p384"/>
          <p:cNvSpPr/>
          <p:nvPr/>
        </p:nvSpPr>
        <p:spPr>
          <a:xfrm>
            <a:off x="952500" y="4085272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8 · BEYOND THE BASICS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7" name="Google Shape;6187;p384"/>
          <p:cNvSpPr/>
          <p:nvPr/>
        </p:nvSpPr>
        <p:spPr>
          <a:xfrm>
            <a:off x="952500" y="4854893"/>
            <a:ext cx="2258949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24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8" name="Google Shape;6188;p384"/>
          <p:cNvSpPr/>
          <p:nvPr/>
        </p:nvSpPr>
        <p:spPr>
          <a:xfrm>
            <a:off x="3539490" y="5632132"/>
            <a:ext cx="10736818" cy="79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Exceptions and File Handling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193" name="Shape 6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4" name="Google Shape;6194;p38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24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5" name="Google Shape;6195;p38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6" name="Google Shape;6196;p385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7" name="Google Shape;6197;p385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8" name="Google Shape;6198;p385"/>
          <p:cNvSpPr/>
          <p:nvPr/>
        </p:nvSpPr>
        <p:spPr>
          <a:xfrm>
            <a:off x="1646039" y="2727960"/>
            <a:ext cx="3119021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and except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9" name="Google Shape;6199;p385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0" name="Google Shape;6200;p385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1" name="Google Shape;6201;p385"/>
          <p:cNvSpPr/>
          <p:nvPr/>
        </p:nvSpPr>
        <p:spPr>
          <a:xfrm>
            <a:off x="1646039" y="3771900"/>
            <a:ext cx="664443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Catching several kinds of error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2" name="Google Shape;6202;p385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3" name="Google Shape;6203;p385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4" name="Google Shape;6204;p385"/>
          <p:cNvSpPr/>
          <p:nvPr/>
        </p:nvSpPr>
        <p:spPr>
          <a:xfrm>
            <a:off x="1646039" y="4815840"/>
            <a:ext cx="455181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else, finally, and raise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5" name="Google Shape;6205;p385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6" name="Google Shape;6206;p385"/>
          <p:cNvSpPr/>
          <p:nvPr/>
        </p:nvSpPr>
        <p:spPr>
          <a:xfrm>
            <a:off x="1646039" y="5859780"/>
            <a:ext cx="5332786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Reading and writing files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211" name="Shape 6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2" name="Google Shape;6212;p38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PROBLEM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3" name="Google Shape;6213;p38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One bad value stops everything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4" name="Google Shape;6214;p386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5" name="Google Shape;6215;p386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6" name="Google Shape;6216;p386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int(input("Enter a: 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= int(input("Enter b: 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/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+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7" name="Google Shape;6217;p386"/>
          <p:cNvSpPr/>
          <p:nvPr/>
        </p:nvSpPr>
        <p:spPr>
          <a:xfrm>
            <a:off x="952500" y="54102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8" name="Google Shape;6218;p386"/>
          <p:cNvSpPr/>
          <p:nvPr/>
        </p:nvSpPr>
        <p:spPr>
          <a:xfrm>
            <a:off x="2228850" y="5219700"/>
            <a:ext cx="15106650" cy="819150"/>
          </a:xfrm>
          <a:prstGeom prst="roundRect">
            <a:avLst>
              <a:gd fmla="val 9302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9" name="Google Shape;6219;p386"/>
          <p:cNvSpPr/>
          <p:nvPr/>
        </p:nvSpPr>
        <p:spPr>
          <a:xfrm>
            <a:off x="2533650" y="5429250"/>
            <a:ext cx="14950249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143"/>
              </a:lnSpc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ZeroDivisionError: division by zero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0" name="Google Shape;6220;p386"/>
          <p:cNvSpPr/>
          <p:nvPr/>
        </p:nvSpPr>
        <p:spPr>
          <a:xfrm>
            <a:off x="952500" y="638175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last line never runs. The program did not fail because of a typo, but because of a value.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225" name="Shape 6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6" name="Google Shape;6226;p38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7" name="Google Shape;6227;p38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and except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8" name="Google Shape;6228;p387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9" name="Google Shape;6229;p387"/>
          <p:cNvSpPr/>
          <p:nvPr/>
        </p:nvSpPr>
        <p:spPr>
          <a:xfrm>
            <a:off x="2228850" y="2727960"/>
            <a:ext cx="15106650" cy="4406265"/>
          </a:xfrm>
          <a:prstGeom prst="roundRect">
            <a:avLst>
              <a:gd fmla="val 1729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0" name="Google Shape;6230;p387"/>
          <p:cNvSpPr/>
          <p:nvPr/>
        </p:nvSpPr>
        <p:spPr>
          <a:xfrm>
            <a:off x="2541270" y="3002280"/>
            <a:ext cx="14935010" cy="3895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try: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a = int(input("Enter a: 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b = int(input("Enter b: 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print(a /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except ZeroDivisionError: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print("Stop, you can not divide by zero")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+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1" name="Google Shape;6231;p387"/>
          <p:cNvSpPr/>
          <p:nvPr/>
        </p:nvSpPr>
        <p:spPr>
          <a:xfrm>
            <a:off x="952500" y="736282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Now the last line runs either way. The program handles the bad value instead of stopping.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6236" name="Shape 6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7" name="Google Shape;6237;p388"/>
          <p:cNvSpPr/>
          <p:nvPr/>
        </p:nvSpPr>
        <p:spPr>
          <a:xfrm>
            <a:off x="952500" y="397002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TWO PATHS THROUGH A TRY BLOCK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8" name="Google Shape;6238;p388"/>
          <p:cNvSpPr/>
          <p:nvPr/>
        </p:nvSpPr>
        <p:spPr>
          <a:xfrm>
            <a:off x="952500" y="4823460"/>
            <a:ext cx="8591550" cy="624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1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Nothing goes wrong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9" name="Google Shape;6239;p388"/>
          <p:cNvSpPr/>
          <p:nvPr/>
        </p:nvSpPr>
        <p:spPr>
          <a:xfrm>
            <a:off x="952500" y="5600700"/>
            <a:ext cx="859155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whole try block runs. Every except is skipped.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0" name="Google Shape;6240;p388"/>
          <p:cNvSpPr/>
          <p:nvPr/>
        </p:nvSpPr>
        <p:spPr>
          <a:xfrm>
            <a:off x="9525000" y="4823460"/>
            <a:ext cx="8591550" cy="624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3300"/>
              <a:buFont typeface="Bricolage Grotesque"/>
              <a:buNone/>
            </a:pPr>
            <a:r>
              <a:rPr b="1" i="0" lang="en-US" sz="3300" u="none" cap="none" strike="noStrike">
                <a:solidFill>
                  <a:srgbClr val="D9A08A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Something goes wrong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1" name="Google Shape;6241;p388"/>
          <p:cNvSpPr/>
          <p:nvPr/>
        </p:nvSpPr>
        <p:spPr>
          <a:xfrm>
            <a:off x="9525000" y="5600700"/>
            <a:ext cx="8044815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try block stops at that line. The matching except runs instead.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246" name="Shape 6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7" name="Google Shape;6247;p38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8" name="Google Shape;6248;p38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Catching more than one kind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9" name="Google Shape;6249;p389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[3]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0" name="Google Shape;6250;p389"/>
          <p:cNvSpPr/>
          <p:nvPr/>
        </p:nvSpPr>
        <p:spPr>
          <a:xfrm>
            <a:off x="2228850" y="2727960"/>
            <a:ext cx="15106650" cy="4834890"/>
          </a:xfrm>
          <a:prstGeom prst="roundRect">
            <a:avLst>
              <a:gd fmla="val 157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1" name="Google Shape;6251;p389"/>
          <p:cNvSpPr/>
          <p:nvPr/>
        </p:nvSpPr>
        <p:spPr>
          <a:xfrm>
            <a:off x="2541270" y="3002280"/>
            <a:ext cx="1493501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try: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a = int(input("Enter a: 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b = int(input("Enter b: 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print(a /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except ZeroDivisionError: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print("You can not divide by zero")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except ValueError: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print("You can not provide string as integers")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2" name="Google Shape;6252;p389"/>
          <p:cNvSpPr/>
          <p:nvPr/>
        </p:nvSpPr>
        <p:spPr>
          <a:xfrm>
            <a:off x="952500" y="779145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Typing 0 for b gives the first message. Typing "ten" gives the second.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257" name="Shape 6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8" name="Google Shape;6258;p39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REFERENCE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9" name="Google Shape;6259;p39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errors you have met this term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0" name="Google Shape;6260;p390"/>
          <p:cNvSpPr/>
          <p:nvPr/>
        </p:nvSpPr>
        <p:spPr>
          <a:xfrm>
            <a:off x="952500" y="3219450"/>
            <a:ext cx="79819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1" name="Google Shape;6261;p390"/>
          <p:cNvSpPr/>
          <p:nvPr/>
        </p:nvSpPr>
        <p:spPr>
          <a:xfrm>
            <a:off x="952500" y="2727960"/>
            <a:ext cx="33528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ZeroDivisionError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2" name="Google Shape;6262;p390"/>
          <p:cNvSpPr/>
          <p:nvPr/>
        </p:nvSpPr>
        <p:spPr>
          <a:xfrm>
            <a:off x="4191000" y="2727960"/>
            <a:ext cx="734258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10 / 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3" name="Google Shape;6263;p390"/>
          <p:cNvSpPr/>
          <p:nvPr/>
        </p:nvSpPr>
        <p:spPr>
          <a:xfrm>
            <a:off x="9353550" y="3219450"/>
            <a:ext cx="79819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4" name="Google Shape;6264;p390"/>
          <p:cNvSpPr/>
          <p:nvPr/>
        </p:nvSpPr>
        <p:spPr>
          <a:xfrm>
            <a:off x="9353550" y="2727960"/>
            <a:ext cx="33528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5" name="Google Shape;6265;p390"/>
          <p:cNvSpPr/>
          <p:nvPr/>
        </p:nvSpPr>
        <p:spPr>
          <a:xfrm>
            <a:off x="12592050" y="2727960"/>
            <a:ext cx="118026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'hello' + 5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6" name="Google Shape;6266;p390"/>
          <p:cNvSpPr/>
          <p:nvPr/>
        </p:nvSpPr>
        <p:spPr>
          <a:xfrm>
            <a:off x="952500" y="3890010"/>
            <a:ext cx="79819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7" name="Google Shape;6267;p390"/>
          <p:cNvSpPr/>
          <p:nvPr/>
        </p:nvSpPr>
        <p:spPr>
          <a:xfrm>
            <a:off x="952500" y="3398520"/>
            <a:ext cx="33528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ValueError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8" name="Google Shape;6268;p390"/>
          <p:cNvSpPr/>
          <p:nvPr/>
        </p:nvSpPr>
        <p:spPr>
          <a:xfrm>
            <a:off x="4191000" y="3398520"/>
            <a:ext cx="136993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int("hello")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9" name="Google Shape;6269;p390"/>
          <p:cNvSpPr/>
          <p:nvPr/>
        </p:nvSpPr>
        <p:spPr>
          <a:xfrm>
            <a:off x="9353550" y="3890010"/>
            <a:ext cx="79819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0" name="Google Shape;6270;p390"/>
          <p:cNvSpPr/>
          <p:nvPr/>
        </p:nvSpPr>
        <p:spPr>
          <a:xfrm>
            <a:off x="9353550" y="3398520"/>
            <a:ext cx="33528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IndexError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1" name="Google Shape;6271;p390"/>
          <p:cNvSpPr/>
          <p:nvPr/>
        </p:nvSpPr>
        <p:spPr>
          <a:xfrm>
            <a:off x="12592050" y="3398520"/>
            <a:ext cx="116883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[1, 2, 3][5]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2" name="Google Shape;6272;p390"/>
          <p:cNvSpPr/>
          <p:nvPr/>
        </p:nvSpPr>
        <p:spPr>
          <a:xfrm>
            <a:off x="952500" y="4560570"/>
            <a:ext cx="79819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3" name="Google Shape;6273;p390"/>
          <p:cNvSpPr/>
          <p:nvPr/>
        </p:nvSpPr>
        <p:spPr>
          <a:xfrm>
            <a:off x="952500" y="4069080"/>
            <a:ext cx="33528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KeyError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4" name="Google Shape;6274;p390"/>
          <p:cNvSpPr/>
          <p:nvPr/>
        </p:nvSpPr>
        <p:spPr>
          <a:xfrm>
            <a:off x="4191000" y="4069080"/>
            <a:ext cx="294876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{"name": "Alice"}["age"]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5" name="Google Shape;6275;p390"/>
          <p:cNvSpPr/>
          <p:nvPr/>
        </p:nvSpPr>
        <p:spPr>
          <a:xfrm>
            <a:off x="9353550" y="4560570"/>
            <a:ext cx="79819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6" name="Google Shape;6276;p390"/>
          <p:cNvSpPr/>
          <p:nvPr/>
        </p:nvSpPr>
        <p:spPr>
          <a:xfrm>
            <a:off x="9353550" y="4069080"/>
            <a:ext cx="33528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FileNotFoundError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7" name="Google Shape;6277;p390"/>
          <p:cNvSpPr/>
          <p:nvPr/>
        </p:nvSpPr>
        <p:spPr>
          <a:xfrm>
            <a:off x="12592050" y="4069080"/>
            <a:ext cx="311902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open("nonexistent.txt")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8" name="Google Shape;6278;p390"/>
          <p:cNvSpPr/>
          <p:nvPr/>
        </p:nvSpPr>
        <p:spPr>
          <a:xfrm>
            <a:off x="952500" y="5231130"/>
            <a:ext cx="79819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9" name="Google Shape;6279;p390"/>
          <p:cNvSpPr/>
          <p:nvPr/>
        </p:nvSpPr>
        <p:spPr>
          <a:xfrm>
            <a:off x="952500" y="4739640"/>
            <a:ext cx="33528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AttributeError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0" name="Google Shape;6280;p390"/>
          <p:cNvSpPr/>
          <p:nvPr/>
        </p:nvSpPr>
        <p:spPr>
          <a:xfrm>
            <a:off x="4191000" y="4739640"/>
            <a:ext cx="187927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(10).append(5)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1" name="Google Shape;6281;p390"/>
          <p:cNvSpPr/>
          <p:nvPr/>
        </p:nvSpPr>
        <p:spPr>
          <a:xfrm>
            <a:off x="9353550" y="5231130"/>
            <a:ext cx="798195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2" name="Google Shape;6282;p390"/>
          <p:cNvSpPr/>
          <p:nvPr/>
        </p:nvSpPr>
        <p:spPr>
          <a:xfrm>
            <a:off x="9353550" y="4739640"/>
            <a:ext cx="33528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NameError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3" name="Google Shape;6283;p390"/>
          <p:cNvSpPr/>
          <p:nvPr/>
        </p:nvSpPr>
        <p:spPr>
          <a:xfrm>
            <a:off x="12592050" y="4739640"/>
            <a:ext cx="346268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print(undefined_variable)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4" name="Google Shape;6284;p390"/>
          <p:cNvSpPr/>
          <p:nvPr/>
        </p:nvSpPr>
        <p:spPr>
          <a:xfrm>
            <a:off x="952500" y="5410200"/>
            <a:ext cx="33528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5" name="Google Shape;6285;p390"/>
          <p:cNvSpPr/>
          <p:nvPr/>
        </p:nvSpPr>
        <p:spPr>
          <a:xfrm>
            <a:off x="4191000" y="5410200"/>
            <a:ext cx="382612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import nonexistent_module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6" name="Google Shape;6286;p390"/>
          <p:cNvSpPr/>
          <p:nvPr/>
        </p:nvSpPr>
        <p:spPr>
          <a:xfrm>
            <a:off x="9353550" y="5410200"/>
            <a:ext cx="33528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IOError / OSError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7" name="Google Shape;6287;p390"/>
          <p:cNvSpPr/>
          <p:nvPr/>
        </p:nvSpPr>
        <p:spPr>
          <a:xfrm>
            <a:off x="12592050" y="5410200"/>
            <a:ext cx="475482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writing to a file opened for reading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292" name="Shape 6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3" name="Google Shape;6293;p39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4" name="Google Shape;6294;p39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Reading the message yourself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5" name="Google Shape;6295;p391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[4]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6" name="Google Shape;6296;p391"/>
          <p:cNvSpPr/>
          <p:nvPr/>
        </p:nvSpPr>
        <p:spPr>
          <a:xfrm>
            <a:off x="2228850" y="2727960"/>
            <a:ext cx="15106650" cy="2263140"/>
          </a:xfrm>
          <a:prstGeom prst="roundRect">
            <a:avLst>
              <a:gd fmla="val 336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7" name="Google Shape;6297;p391"/>
          <p:cNvSpPr/>
          <p:nvPr/>
        </p:nvSpPr>
        <p:spPr>
          <a:xfrm>
            <a:off x="2541270" y="3002280"/>
            <a:ext cx="1493501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try: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x = int("hello")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except ValueError as 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print("ValueError:", e)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8" name="Google Shape;6298;p391"/>
          <p:cNvSpPr/>
          <p:nvPr/>
        </p:nvSpPr>
        <p:spPr>
          <a:xfrm>
            <a:off x="952500" y="54102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9" name="Google Shape;6299;p391"/>
          <p:cNvSpPr/>
          <p:nvPr/>
        </p:nvSpPr>
        <p:spPr>
          <a:xfrm>
            <a:off x="2228850" y="5219700"/>
            <a:ext cx="15106650" cy="765810"/>
          </a:xfrm>
          <a:prstGeom prst="roundRect">
            <a:avLst>
              <a:gd fmla="val 995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0" name="Google Shape;6300;p391"/>
          <p:cNvSpPr/>
          <p:nvPr/>
        </p:nvSpPr>
        <p:spPr>
          <a:xfrm>
            <a:off x="2533650" y="5429250"/>
            <a:ext cx="14950249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4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ValueError: invalid literal for int() with base 10: 'hello'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1" name="Google Shape;6301;p391"/>
          <p:cNvSpPr/>
          <p:nvPr/>
        </p:nvSpPr>
        <p:spPr>
          <a:xfrm>
            <a:off x="952500" y="632841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 holds the explanation. Print it while you are debugging, hide it from real users.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306" name="Shape 6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" name="Google Shape;6307;p39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8" name="Google Shape;6308;p39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else and finally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9" name="Google Shape;6309;p392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[5]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0" name="Google Shape;6310;p392"/>
          <p:cNvSpPr/>
          <p:nvPr/>
        </p:nvSpPr>
        <p:spPr>
          <a:xfrm>
            <a:off x="2228850" y="2727960"/>
            <a:ext cx="15106650" cy="6120765"/>
          </a:xfrm>
          <a:prstGeom prst="roundRect">
            <a:avLst>
              <a:gd fmla="val 124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1" name="Google Shape;6311;p392"/>
          <p:cNvSpPr/>
          <p:nvPr/>
        </p:nvSpPr>
        <p:spPr>
          <a:xfrm>
            <a:off x="2541270" y="3002280"/>
            <a:ext cx="14935010" cy="561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try: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a = int(input("Enter a: 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b = int(input("Enter b: "))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 = a / b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except ZeroDivisionError: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print("You can not divide by zero")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print(p)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finally: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2" name="Google Shape;6312;p392"/>
          <p:cNvSpPr/>
          <p:nvPr/>
        </p:nvSpPr>
        <p:spPr>
          <a:xfrm>
            <a:off x="952500" y="907732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else runs only when the try block finished cleanly. finally runs either way.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317" name="Shape 6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" name="Google Shape;6318;p39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9" name="Google Shape;6319;p39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Which blocks run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0" name="Google Shape;6320;p393"/>
          <p:cNvSpPr/>
          <p:nvPr/>
        </p:nvSpPr>
        <p:spPr>
          <a:xfrm>
            <a:off x="952500" y="272796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1" name="Google Shape;6321;p393"/>
          <p:cNvSpPr/>
          <p:nvPr/>
        </p:nvSpPr>
        <p:spPr>
          <a:xfrm>
            <a:off x="952500" y="348234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2" name="Google Shape;6322;p393"/>
          <p:cNvSpPr/>
          <p:nvPr/>
        </p:nvSpPr>
        <p:spPr>
          <a:xfrm>
            <a:off x="1181100" y="2933700"/>
            <a:ext cx="5167548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BLOCK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3" name="Google Shape;6323;p393"/>
          <p:cNvSpPr/>
          <p:nvPr/>
        </p:nvSpPr>
        <p:spPr>
          <a:xfrm>
            <a:off x="6413421" y="348234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4" name="Google Shape;6324;p393"/>
          <p:cNvSpPr/>
          <p:nvPr/>
        </p:nvSpPr>
        <p:spPr>
          <a:xfrm>
            <a:off x="6642021" y="2933700"/>
            <a:ext cx="516767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= 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5" name="Google Shape;6325;p393"/>
          <p:cNvSpPr/>
          <p:nvPr/>
        </p:nvSpPr>
        <p:spPr>
          <a:xfrm>
            <a:off x="11874460" y="348234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6" name="Google Shape;6326;p393"/>
          <p:cNvSpPr/>
          <p:nvPr/>
        </p:nvSpPr>
        <p:spPr>
          <a:xfrm>
            <a:off x="12103060" y="2933700"/>
            <a:ext cx="516767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= 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7" name="Google Shape;6327;p393"/>
          <p:cNvSpPr/>
          <p:nvPr/>
        </p:nvSpPr>
        <p:spPr>
          <a:xfrm>
            <a:off x="952500" y="425958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8" name="Google Shape;6328;p393"/>
          <p:cNvSpPr/>
          <p:nvPr/>
        </p:nvSpPr>
        <p:spPr>
          <a:xfrm>
            <a:off x="1181100" y="366141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9" name="Google Shape;6329;p393"/>
          <p:cNvSpPr/>
          <p:nvPr/>
        </p:nvSpPr>
        <p:spPr>
          <a:xfrm>
            <a:off x="6413421" y="425958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0" name="Google Shape;6330;p393"/>
          <p:cNvSpPr/>
          <p:nvPr/>
        </p:nvSpPr>
        <p:spPr>
          <a:xfrm>
            <a:off x="6642021" y="366141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runs fully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1" name="Google Shape;6331;p393"/>
          <p:cNvSpPr/>
          <p:nvPr/>
        </p:nvSpPr>
        <p:spPr>
          <a:xfrm>
            <a:off x="11874460" y="425958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2" name="Google Shape;6332;p393"/>
          <p:cNvSpPr/>
          <p:nvPr/>
        </p:nvSpPr>
        <p:spPr>
          <a:xfrm>
            <a:off x="12103060" y="366141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stops at the division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3" name="Google Shape;6333;p393"/>
          <p:cNvSpPr/>
          <p:nvPr/>
        </p:nvSpPr>
        <p:spPr>
          <a:xfrm>
            <a:off x="952500" y="503682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4" name="Google Shape;6334;p393"/>
          <p:cNvSpPr/>
          <p:nvPr/>
        </p:nvSpPr>
        <p:spPr>
          <a:xfrm>
            <a:off x="1181100" y="443865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except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5" name="Google Shape;6335;p393"/>
          <p:cNvSpPr/>
          <p:nvPr/>
        </p:nvSpPr>
        <p:spPr>
          <a:xfrm>
            <a:off x="6413421" y="503682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6" name="Google Shape;6336;p393"/>
          <p:cNvSpPr/>
          <p:nvPr/>
        </p:nvSpPr>
        <p:spPr>
          <a:xfrm>
            <a:off x="6642021" y="443865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skipped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7" name="Google Shape;6337;p393"/>
          <p:cNvSpPr/>
          <p:nvPr/>
        </p:nvSpPr>
        <p:spPr>
          <a:xfrm>
            <a:off x="11874460" y="503682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8" name="Google Shape;6338;p393"/>
          <p:cNvSpPr/>
          <p:nvPr/>
        </p:nvSpPr>
        <p:spPr>
          <a:xfrm>
            <a:off x="12103060" y="443865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runs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9" name="Google Shape;6339;p393"/>
          <p:cNvSpPr/>
          <p:nvPr/>
        </p:nvSpPr>
        <p:spPr>
          <a:xfrm>
            <a:off x="952500" y="5814060"/>
            <a:ext cx="54609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0" name="Google Shape;6340;p393"/>
          <p:cNvSpPr/>
          <p:nvPr/>
        </p:nvSpPr>
        <p:spPr>
          <a:xfrm>
            <a:off x="1181100" y="521589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1" name="Google Shape;6341;p393"/>
          <p:cNvSpPr/>
          <p:nvPr/>
        </p:nvSpPr>
        <p:spPr>
          <a:xfrm>
            <a:off x="6413421" y="581406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2" name="Google Shape;6342;p393"/>
          <p:cNvSpPr/>
          <p:nvPr/>
        </p:nvSpPr>
        <p:spPr>
          <a:xfrm>
            <a:off x="6642021" y="521589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runs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3" name="Google Shape;6343;p393"/>
          <p:cNvSpPr/>
          <p:nvPr/>
        </p:nvSpPr>
        <p:spPr>
          <a:xfrm>
            <a:off x="11874460" y="5814060"/>
            <a:ext cx="54610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4" name="Google Shape;6344;p393"/>
          <p:cNvSpPr/>
          <p:nvPr/>
        </p:nvSpPr>
        <p:spPr>
          <a:xfrm>
            <a:off x="12103060" y="521589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skipped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5" name="Google Shape;6345;p393"/>
          <p:cNvSpPr/>
          <p:nvPr/>
        </p:nvSpPr>
        <p:spPr>
          <a:xfrm>
            <a:off x="1181100" y="5993130"/>
            <a:ext cx="516754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finally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6" name="Google Shape;6346;p393"/>
          <p:cNvSpPr/>
          <p:nvPr/>
        </p:nvSpPr>
        <p:spPr>
          <a:xfrm>
            <a:off x="6642021" y="599313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runs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7" name="Google Shape;6347;p393"/>
          <p:cNvSpPr/>
          <p:nvPr/>
        </p:nvSpPr>
        <p:spPr>
          <a:xfrm>
            <a:off x="12103060" y="5993130"/>
            <a:ext cx="516767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runs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352" name="Shape 6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3" name="Google Shape;6353;p39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4" name="Google Shape;6354;p39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Raising an error yourself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5" name="Google Shape;6355;p394"/>
          <p:cNvSpPr/>
          <p:nvPr/>
        </p:nvSpPr>
        <p:spPr>
          <a:xfrm>
            <a:off x="952500" y="2727960"/>
            <a:ext cx="7943850" cy="1996440"/>
          </a:xfrm>
          <a:prstGeom prst="roundRect">
            <a:avLst>
              <a:gd fmla="val 381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6" name="Google Shape;6356;p394"/>
          <p:cNvSpPr/>
          <p:nvPr/>
        </p:nvSpPr>
        <p:spPr>
          <a:xfrm>
            <a:off x="1245870" y="2983230"/>
            <a:ext cx="75954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 = -5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age &lt; 0: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raise ValueError("Age cannot be negative")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7" name="Google Shape;6357;p394"/>
          <p:cNvSpPr/>
          <p:nvPr/>
        </p:nvSpPr>
        <p:spPr>
          <a:xfrm>
            <a:off x="9391650" y="2727960"/>
            <a:ext cx="7943850" cy="2739390"/>
          </a:xfrm>
          <a:prstGeom prst="roundRect">
            <a:avLst>
              <a:gd fmla="val 278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8" name="Google Shape;6358;p394"/>
          <p:cNvSpPr/>
          <p:nvPr/>
        </p:nvSpPr>
        <p:spPr>
          <a:xfrm>
            <a:off x="9685020" y="2983230"/>
            <a:ext cx="7595425" cy="2266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withdraw(balance, amount):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amount &gt; balance: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raise ValueError("Insufficient funds")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balance - amount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9" name="Google Shape;6359;p394"/>
          <p:cNvSpPr/>
          <p:nvPr/>
        </p:nvSpPr>
        <p:spPr>
          <a:xfrm>
            <a:off x="952500" y="5924550"/>
            <a:ext cx="16383000" cy="1352550"/>
          </a:xfrm>
          <a:prstGeom prst="roundRect">
            <a:avLst>
              <a:gd fmla="val 563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0" name="Google Shape;6360;p394"/>
          <p:cNvSpPr/>
          <p:nvPr/>
        </p:nvSpPr>
        <p:spPr>
          <a:xfrm>
            <a:off x="1238250" y="6172200"/>
            <a:ext cx="1630299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raise  = create and report a problem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except = catch and handle a problem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365" name="Shape 6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6" name="Google Shape;6366;p39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7" name="Google Shape;6367;p39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Catching everything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8" name="Google Shape;6368;p395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HIDES YOUR BUGS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9" name="Google Shape;6369;p395"/>
          <p:cNvSpPr/>
          <p:nvPr/>
        </p:nvSpPr>
        <p:spPr>
          <a:xfrm>
            <a:off x="952500" y="3276600"/>
            <a:ext cx="7943850" cy="2225040"/>
          </a:xfrm>
          <a:prstGeom prst="roundRect">
            <a:avLst>
              <a:gd fmla="val 342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0" name="Google Shape;6370;p395"/>
          <p:cNvSpPr/>
          <p:nvPr/>
        </p:nvSpPr>
        <p:spPr>
          <a:xfrm>
            <a:off x="1245870" y="3531870"/>
            <a:ext cx="75954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try: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print(a /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except: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print("Something went wrong")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1" name="Google Shape;6371;p395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SAYS WHAT YOU EXPECTED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2" name="Google Shape;6372;p395"/>
          <p:cNvSpPr/>
          <p:nvPr/>
        </p:nvSpPr>
        <p:spPr>
          <a:xfrm>
            <a:off x="9391650" y="3276600"/>
            <a:ext cx="7943850" cy="2225040"/>
          </a:xfrm>
          <a:prstGeom prst="roundRect">
            <a:avLst>
              <a:gd fmla="val 342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3" name="Google Shape;6373;p395"/>
          <p:cNvSpPr/>
          <p:nvPr/>
        </p:nvSpPr>
        <p:spPr>
          <a:xfrm>
            <a:off x="9685020" y="3531870"/>
            <a:ext cx="75954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try: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print(a / b)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except ZeroDivisionError: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print("b cannot be zero")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4" name="Google Shape;6374;p395"/>
          <p:cNvSpPr/>
          <p:nvPr/>
        </p:nvSpPr>
        <p:spPr>
          <a:xfrm>
            <a:off x="952500" y="599694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bare except also swallows your own typos, and then you cannot find them.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379" name="Shape 6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0" name="Google Shape;6380;p39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1" name="Google Shape;6381;p39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Reading a file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2" name="Google Shape;6382;p396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[6]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3" name="Google Shape;6383;p396"/>
          <p:cNvSpPr/>
          <p:nvPr/>
        </p:nvSpPr>
        <p:spPr>
          <a:xfrm>
            <a:off x="2228850" y="2727960"/>
            <a:ext cx="15106650" cy="5692140"/>
          </a:xfrm>
          <a:prstGeom prst="roundRect">
            <a:avLst>
              <a:gd fmla="val 1339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4" name="Google Shape;6384;p396"/>
          <p:cNvSpPr/>
          <p:nvPr/>
        </p:nvSpPr>
        <p:spPr>
          <a:xfrm>
            <a:off x="2541270" y="3002280"/>
            <a:ext cx="1493501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Read entire file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open('file.txt', 'r') as f: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content = f.read()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Read line by line (memory-efficient for large files)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open('file.txt', 'r') as f: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line in f: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print(line.strip())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Read all lines into a list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open('file.txt', 'r') as f: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lines = f.readlines()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5" name="Google Shape;6385;p396"/>
          <p:cNvSpPr/>
          <p:nvPr/>
        </p:nvSpPr>
        <p:spPr>
          <a:xfrm>
            <a:off x="952500" y="86487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with open(...) as f gives you the file as f, and closes it when the block ends.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390" name="Shape 6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1" name="Google Shape;6391;p39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2" name="Google Shape;6392;p39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Writing a file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3" name="Google Shape;6393;p397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[7]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4" name="Google Shape;6394;p397"/>
          <p:cNvSpPr/>
          <p:nvPr/>
        </p:nvSpPr>
        <p:spPr>
          <a:xfrm>
            <a:off x="2228850" y="2727960"/>
            <a:ext cx="15106650" cy="5263515"/>
          </a:xfrm>
          <a:prstGeom prst="roundRect">
            <a:avLst>
              <a:gd fmla="val 144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5" name="Google Shape;6395;p397"/>
          <p:cNvSpPr/>
          <p:nvPr/>
        </p:nvSpPr>
        <p:spPr>
          <a:xfrm>
            <a:off x="2541270" y="3002280"/>
            <a:ext cx="14935010" cy="4752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Write (overwrites existing content)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open('file.txt', 'w') as f: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f.write('Hello, world!\n')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Append to file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open('file.txt', 'a') as f: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f.write('New line\n')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Write multiple lines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open('file.txt', 'w') as f: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f.writelines(['line 1\n', 'line 2\n'])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6" name="Google Shape;6396;p397"/>
          <p:cNvSpPr/>
          <p:nvPr/>
        </p:nvSpPr>
        <p:spPr>
          <a:xfrm>
            <a:off x="952500" y="822007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does not add a line break. Put \n in yourself.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401" name="Shape 6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2" name="Google Shape;6402;p39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REFERENCE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3" name="Google Shape;6403;p39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three modes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4" name="Google Shape;6404;p398"/>
          <p:cNvSpPr/>
          <p:nvPr/>
        </p:nvSpPr>
        <p:spPr>
          <a:xfrm>
            <a:off x="952500" y="2727960"/>
            <a:ext cx="5181600" cy="2362200"/>
          </a:xfrm>
          <a:prstGeom prst="roundRect">
            <a:avLst>
              <a:gd fmla="val 3226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5" name="Google Shape;6405;p398"/>
          <p:cNvSpPr/>
          <p:nvPr/>
        </p:nvSpPr>
        <p:spPr>
          <a:xfrm>
            <a:off x="1295400" y="3070860"/>
            <a:ext cx="4945380" cy="78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2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200"/>
              <a:buFont typeface="JetBrains Mono"/>
              <a:buNone/>
            </a:pPr>
            <a:r>
              <a:rPr b="0" i="0" lang="en-US" sz="42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'r'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6" name="Google Shape;6406;p398"/>
          <p:cNvSpPr/>
          <p:nvPr/>
        </p:nvSpPr>
        <p:spPr>
          <a:xfrm>
            <a:off x="1295400" y="3992880"/>
            <a:ext cx="4138665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Read. Fails if the file is not there.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7" name="Google Shape;6407;p398"/>
          <p:cNvSpPr/>
          <p:nvPr/>
        </p:nvSpPr>
        <p:spPr>
          <a:xfrm>
            <a:off x="6553200" y="2727960"/>
            <a:ext cx="5181600" cy="236220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 cap="flat" cmpd="sng" w="15225">
            <a:solidFill>
              <a:srgbClr val="B03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8" name="Google Shape;6408;p398"/>
          <p:cNvSpPr/>
          <p:nvPr/>
        </p:nvSpPr>
        <p:spPr>
          <a:xfrm>
            <a:off x="6911340" y="3086100"/>
            <a:ext cx="4911852" cy="78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22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4200"/>
              <a:buFont typeface="JetBrains Mono"/>
              <a:buNone/>
            </a:pPr>
            <a:r>
              <a:rPr b="0" i="0" lang="en-US" sz="42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'w'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9" name="Google Shape;6409;p398"/>
          <p:cNvSpPr/>
          <p:nvPr/>
        </p:nvSpPr>
        <p:spPr>
          <a:xfrm>
            <a:off x="6911340" y="4008120"/>
            <a:ext cx="446720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Write. Creates the file, and empties it if it already exists.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0" name="Google Shape;6410;p398"/>
          <p:cNvSpPr/>
          <p:nvPr/>
        </p:nvSpPr>
        <p:spPr>
          <a:xfrm>
            <a:off x="12153900" y="2727960"/>
            <a:ext cx="5181600" cy="2362200"/>
          </a:xfrm>
          <a:prstGeom prst="roundRect">
            <a:avLst>
              <a:gd fmla="val 3226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1" name="Google Shape;6411;p398"/>
          <p:cNvSpPr/>
          <p:nvPr/>
        </p:nvSpPr>
        <p:spPr>
          <a:xfrm>
            <a:off x="12496800" y="3070860"/>
            <a:ext cx="4945380" cy="78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2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200"/>
              <a:buFont typeface="JetBrains Mono"/>
              <a:buNone/>
            </a:pPr>
            <a:r>
              <a:rPr b="0" i="0" lang="en-US" sz="42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'a'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2" name="Google Shape;6412;p398"/>
          <p:cNvSpPr/>
          <p:nvPr/>
        </p:nvSpPr>
        <p:spPr>
          <a:xfrm>
            <a:off x="12496800" y="3992880"/>
            <a:ext cx="4280431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Append. Adds to the end, keeping what was there.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3" name="Google Shape;6413;p398"/>
          <p:cNvSpPr/>
          <p:nvPr/>
        </p:nvSpPr>
        <p:spPr>
          <a:xfrm>
            <a:off x="952500" y="5623560"/>
            <a:ext cx="1571625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Opening a file in 'w' mode deletes its contents immediately, before you write anything.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418" name="Shape 6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9" name="Google Shape;6419;p39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0" name="Google Shape;6420;p39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Two ways a file goes wrong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1" name="Google Shape;6421;p399"/>
          <p:cNvSpPr/>
          <p:nvPr/>
        </p:nvSpPr>
        <p:spPr>
          <a:xfrm>
            <a:off x="952500" y="2727960"/>
            <a:ext cx="7943850" cy="2367915"/>
          </a:xfrm>
          <a:prstGeom prst="roundRect">
            <a:avLst>
              <a:gd fmla="val 321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2" name="Google Shape;6422;p399"/>
          <p:cNvSpPr/>
          <p:nvPr/>
        </p:nvSpPr>
        <p:spPr>
          <a:xfrm>
            <a:off x="1245870" y="2983230"/>
            <a:ext cx="7595425" cy="1895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try: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with open("nonexistent.txt", "r") as f: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content = f.read()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except FileNotFoundError as e: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print("FileNotFoundError:", e)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3" name="Google Shape;6423;p399"/>
          <p:cNvSpPr/>
          <p:nvPr/>
        </p:nvSpPr>
        <p:spPr>
          <a:xfrm>
            <a:off x="9391650" y="2727960"/>
            <a:ext cx="7943850" cy="2367915"/>
          </a:xfrm>
          <a:prstGeom prst="roundRect">
            <a:avLst>
              <a:gd fmla="val 321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4" name="Google Shape;6424;p399"/>
          <p:cNvSpPr/>
          <p:nvPr/>
        </p:nvSpPr>
        <p:spPr>
          <a:xfrm>
            <a:off x="9685020" y="2983230"/>
            <a:ext cx="7595425" cy="1895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try: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with open("test_io.txt", "r") as f: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f.write("Trying to write")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except (IOError, OSError) as e: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print("IOError/OSError:", e)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5" name="Google Shape;6425;p399"/>
          <p:cNvSpPr/>
          <p:nvPr/>
        </p:nvSpPr>
        <p:spPr>
          <a:xfrm>
            <a:off x="952500" y="574357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Brackets around two error names in one except catch either of them.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430" name="Shape 6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1" name="Google Shape;6431;p40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WORKED EXAMPLE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2" name="Google Shape;6432;p40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Averaging marks from a file, safely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3" name="Google Shape;6433;p400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[8]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4" name="Google Shape;6434;p400"/>
          <p:cNvSpPr/>
          <p:nvPr/>
        </p:nvSpPr>
        <p:spPr>
          <a:xfrm>
            <a:off x="2228850" y="2727960"/>
            <a:ext cx="15106650" cy="6120765"/>
          </a:xfrm>
          <a:prstGeom prst="roundRect">
            <a:avLst>
              <a:gd fmla="val 124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5" name="Google Shape;6435;p400"/>
          <p:cNvSpPr/>
          <p:nvPr/>
        </p:nvSpPr>
        <p:spPr>
          <a:xfrm>
            <a:off x="2541270" y="3002280"/>
            <a:ext cx="14935010" cy="561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try: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with open("marks.txt", "r") as f: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marks = []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for line in f: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marks.append(int(line.strip()))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print(sum(marks) / len(marks))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except FileNotFoundError: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print("marks.txt is missing")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except ValueError: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print("A line in the file is not a number")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except ZeroDivisionError: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print("The file is empty")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6" name="Google Shape;6436;p400"/>
          <p:cNvSpPr/>
          <p:nvPr/>
        </p:nvSpPr>
        <p:spPr>
          <a:xfrm>
            <a:off x="952500" y="907732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Three things can go wrong, and each one gets an honest message.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441" name="Shape 6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2" name="Google Shape;6442;p40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QUICK 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3" name="Google Shape;6443;p40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Which error does each line raise?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4" name="Google Shape;6444;p401"/>
          <p:cNvSpPr/>
          <p:nvPr/>
        </p:nvSpPr>
        <p:spPr>
          <a:xfrm>
            <a:off x="952500" y="2727960"/>
            <a:ext cx="8039100" cy="967740"/>
          </a:xfrm>
          <a:prstGeom prst="roundRect">
            <a:avLst>
              <a:gd fmla="val 787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5" name="Google Shape;6445;p401"/>
          <p:cNvSpPr/>
          <p:nvPr/>
        </p:nvSpPr>
        <p:spPr>
          <a:xfrm>
            <a:off x="1264920" y="3002280"/>
            <a:ext cx="765543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int("12.5")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6" name="Google Shape;6446;p401"/>
          <p:cNvSpPr/>
          <p:nvPr/>
        </p:nvSpPr>
        <p:spPr>
          <a:xfrm>
            <a:off x="9296400" y="2727960"/>
            <a:ext cx="8039100" cy="967740"/>
          </a:xfrm>
          <a:prstGeom prst="roundRect">
            <a:avLst>
              <a:gd fmla="val 787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7" name="Google Shape;6447;p401"/>
          <p:cNvSpPr/>
          <p:nvPr/>
        </p:nvSpPr>
        <p:spPr>
          <a:xfrm>
            <a:off x="9608820" y="3002280"/>
            <a:ext cx="765543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[1,2][9]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8" name="Google Shape;6448;p401"/>
          <p:cNvSpPr/>
          <p:nvPr/>
        </p:nvSpPr>
        <p:spPr>
          <a:xfrm>
            <a:off x="952500" y="4000500"/>
            <a:ext cx="8039100" cy="967740"/>
          </a:xfrm>
          <a:prstGeom prst="roundRect">
            <a:avLst>
              <a:gd fmla="val 787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9" name="Google Shape;6449;p401"/>
          <p:cNvSpPr/>
          <p:nvPr/>
        </p:nvSpPr>
        <p:spPr>
          <a:xfrm>
            <a:off x="1264920" y="4274820"/>
            <a:ext cx="765543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{"a":1}["b"]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0" name="Google Shape;6450;p401"/>
          <p:cNvSpPr/>
          <p:nvPr/>
        </p:nvSpPr>
        <p:spPr>
          <a:xfrm>
            <a:off x="9296400" y="4000500"/>
            <a:ext cx="8039100" cy="967740"/>
          </a:xfrm>
          <a:prstGeom prst="roundRect">
            <a:avLst>
              <a:gd fmla="val 787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1" name="Google Shape;6451;p401"/>
          <p:cNvSpPr/>
          <p:nvPr/>
        </p:nvSpPr>
        <p:spPr>
          <a:xfrm>
            <a:off x="9608820" y="4274820"/>
            <a:ext cx="765543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241C17"/>
                </a:solidFill>
                <a:latin typeface="Courier New"/>
                <a:ea typeface="Courier New"/>
                <a:cs typeface="Courier New"/>
                <a:sym typeface="Courier New"/>
              </a:rPr>
              <a:t>"5" + 5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6456" name="Shape 6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7" name="Google Shape;6457;p40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8" name="Google Shape;6458;p40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9" name="Google Shape;6459;p402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0" name="Google Shape;6460;p402"/>
          <p:cNvSpPr/>
          <p:nvPr/>
        </p:nvSpPr>
        <p:spPr>
          <a:xfrm>
            <a:off x="1684139" y="272796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Keep asking for a number until the user types a valid one, using try and except in a loop.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1" name="Google Shape;6461;p402"/>
          <p:cNvSpPr/>
          <p:nvPr/>
        </p:nvSpPr>
        <p:spPr>
          <a:xfrm>
            <a:off x="952500" y="413766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2" name="Google Shape;6462;p402"/>
          <p:cNvSpPr/>
          <p:nvPr/>
        </p:nvSpPr>
        <p:spPr>
          <a:xfrm>
            <a:off x="1684139" y="407670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five student names to a file, then read them back and print them numbered.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3" name="Google Shape;6463;p402"/>
          <p:cNvSpPr/>
          <p:nvPr/>
        </p:nvSpPr>
        <p:spPr>
          <a:xfrm>
            <a:off x="952500" y="548640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4" name="Google Shape;6464;p402"/>
          <p:cNvSpPr/>
          <p:nvPr/>
        </p:nvSpPr>
        <p:spPr>
          <a:xfrm>
            <a:off x="1684139" y="542544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a withdraw function that raises ValueError, and call it inside a try block.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6469" name="Shape 6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0" name="Google Shape;6470;p40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TWENTY-FOUR CLASSES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1" name="Google Shape;6471;p40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Where you started, where you are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2" name="Google Shape;6472;p403"/>
          <p:cNvSpPr/>
          <p:nvPr/>
        </p:nvSpPr>
        <p:spPr>
          <a:xfrm>
            <a:off x="952500" y="2727960"/>
            <a:ext cx="8020050" cy="15240"/>
          </a:xfrm>
          <a:prstGeom prst="rect">
            <a:avLst/>
          </a:prstGeom>
          <a:solidFill>
            <a:srgbClr val="F7EFE4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3" name="Google Shape;6473;p403"/>
          <p:cNvSpPr/>
          <p:nvPr/>
        </p:nvSpPr>
        <p:spPr>
          <a:xfrm>
            <a:off x="952500" y="2952750"/>
            <a:ext cx="8260652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You printed a line of text.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4" name="Google Shape;6474;p403"/>
          <p:cNvSpPr/>
          <p:nvPr/>
        </p:nvSpPr>
        <p:spPr>
          <a:xfrm>
            <a:off x="9315450" y="2727960"/>
            <a:ext cx="8020050" cy="15240"/>
          </a:xfrm>
          <a:prstGeom prst="rect">
            <a:avLst/>
          </a:prstGeom>
          <a:solidFill>
            <a:srgbClr val="F7EFE4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5" name="Google Shape;6475;p403"/>
          <p:cNvSpPr/>
          <p:nvPr/>
        </p:nvSpPr>
        <p:spPr>
          <a:xfrm>
            <a:off x="9315450" y="2952750"/>
            <a:ext cx="8260652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Now you write functions that return values.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6" name="Google Shape;6476;p403"/>
          <p:cNvSpPr/>
          <p:nvPr/>
        </p:nvSpPr>
        <p:spPr>
          <a:xfrm>
            <a:off x="952500" y="3732847"/>
            <a:ext cx="8020050" cy="15240"/>
          </a:xfrm>
          <a:prstGeom prst="rect">
            <a:avLst/>
          </a:prstGeom>
          <a:solidFill>
            <a:srgbClr val="F7EFE4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7" name="Google Shape;6477;p403"/>
          <p:cNvSpPr/>
          <p:nvPr/>
        </p:nvSpPr>
        <p:spPr>
          <a:xfrm>
            <a:off x="952500" y="3957637"/>
            <a:ext cx="8260652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You feared error messages.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8" name="Google Shape;6478;p403"/>
          <p:cNvSpPr/>
          <p:nvPr/>
        </p:nvSpPr>
        <p:spPr>
          <a:xfrm>
            <a:off x="9315450" y="3732847"/>
            <a:ext cx="8020050" cy="15240"/>
          </a:xfrm>
          <a:prstGeom prst="rect">
            <a:avLst/>
          </a:prstGeom>
          <a:solidFill>
            <a:srgbClr val="F7EFE4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9" name="Google Shape;6479;p403"/>
          <p:cNvSpPr/>
          <p:nvPr/>
        </p:nvSpPr>
        <p:spPr>
          <a:xfrm>
            <a:off x="9315450" y="3957637"/>
            <a:ext cx="8260652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Now you read them, and choose which to catch.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0" name="Google Shape;6480;p403"/>
          <p:cNvSpPr/>
          <p:nvPr/>
        </p:nvSpPr>
        <p:spPr>
          <a:xfrm>
            <a:off x="952500" y="4737735"/>
            <a:ext cx="8020050" cy="15240"/>
          </a:xfrm>
          <a:prstGeom prst="rect">
            <a:avLst/>
          </a:prstGeom>
          <a:solidFill>
            <a:srgbClr val="F7EFE4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1" name="Google Shape;6481;p403"/>
          <p:cNvSpPr/>
          <p:nvPr/>
        </p:nvSpPr>
        <p:spPr>
          <a:xfrm>
            <a:off x="952500" y="4962525"/>
            <a:ext cx="8260652" cy="9124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You stored one value in one name.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2" name="Google Shape;6482;p403"/>
          <p:cNvSpPr/>
          <p:nvPr/>
        </p:nvSpPr>
        <p:spPr>
          <a:xfrm>
            <a:off x="9315450" y="4737735"/>
            <a:ext cx="8020050" cy="15240"/>
          </a:xfrm>
          <a:prstGeom prst="rect">
            <a:avLst/>
          </a:prstGeom>
          <a:solidFill>
            <a:srgbClr val="F7EFE4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3" name="Google Shape;6483;p403"/>
          <p:cNvSpPr/>
          <p:nvPr/>
        </p:nvSpPr>
        <p:spPr>
          <a:xfrm>
            <a:off x="9315450" y="4962525"/>
            <a:ext cx="8260652" cy="9124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Now you use lists, dictionaries and your own classes.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4" name="Google Shape;6484;p403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Keep the notebooks. Everything after this course assumes what is in them.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6489" name="Shape 6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0" name="Google Shape;6490;p404"/>
          <p:cNvSpPr/>
          <p:nvPr/>
        </p:nvSpPr>
        <p:spPr>
          <a:xfrm>
            <a:off x="952500" y="4085272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9 · SUPPLEMENTARY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1" name="Google Shape;6491;p404"/>
          <p:cNvSpPr/>
          <p:nvPr/>
        </p:nvSpPr>
        <p:spPr>
          <a:xfrm>
            <a:off x="952500" y="4854893"/>
            <a:ext cx="2170938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25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2" name="Google Shape;6492;p404"/>
          <p:cNvSpPr/>
          <p:nvPr/>
        </p:nvSpPr>
        <p:spPr>
          <a:xfrm>
            <a:off x="3459480" y="5632132"/>
            <a:ext cx="8078415" cy="79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Libraries and pygame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497" name="Shape 6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8" name="Google Shape;6498;p40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25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9" name="Google Shape;6499;p40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0" name="Google Shape;6500;p405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1" name="Google Shape;6501;p405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2" name="Google Shape;6502;p405"/>
          <p:cNvSpPr/>
          <p:nvPr/>
        </p:nvSpPr>
        <p:spPr>
          <a:xfrm>
            <a:off x="1646039" y="2727960"/>
            <a:ext cx="891216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a library is, and four ways to import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3" name="Google Shape;6503;p405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4" name="Google Shape;6504;p405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5" name="Google Shape;6505;p405"/>
          <p:cNvSpPr/>
          <p:nvPr/>
        </p:nvSpPr>
        <p:spPr>
          <a:xfrm>
            <a:off x="1646039" y="3771900"/>
            <a:ext cx="727308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math, random, datetime, statistics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6" name="Google Shape;6506;p405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7" name="Google Shape;6507;p405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8" name="Google Shape;6508;p405"/>
          <p:cNvSpPr/>
          <p:nvPr/>
        </p:nvSpPr>
        <p:spPr>
          <a:xfrm>
            <a:off x="1646039" y="4815840"/>
            <a:ext cx="856339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pygame: the surface and the event loop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9" name="Google Shape;6509;p405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0" name="Google Shape;6510;p405"/>
          <p:cNvSpPr/>
          <p:nvPr/>
        </p:nvSpPr>
        <p:spPr>
          <a:xfrm>
            <a:off x="1646039" y="5859780"/>
            <a:ext cx="584579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Drawing, timing and events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515" name="Shape 6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6" name="Google Shape;6516;p40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7" name="Google Shape;6517;p40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a library is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8" name="Google Shape;6518;p406"/>
          <p:cNvSpPr/>
          <p:nvPr/>
        </p:nvSpPr>
        <p:spPr>
          <a:xfrm>
            <a:off x="952500" y="2727960"/>
            <a:ext cx="14716125" cy="11696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library is a collection of code written by someone else, that you use again and again instead of writing the same thing for every project.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9" name="Google Shape;6519;p406"/>
          <p:cNvSpPr/>
          <p:nvPr/>
        </p:nvSpPr>
        <p:spPr>
          <a:xfrm>
            <a:off x="952500" y="4354830"/>
            <a:ext cx="5181600" cy="2019300"/>
          </a:xfrm>
          <a:prstGeom prst="roundRect">
            <a:avLst>
              <a:gd fmla="val 377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0" name="Google Shape;6520;p406"/>
          <p:cNvSpPr/>
          <p:nvPr/>
        </p:nvSpPr>
        <p:spPr>
          <a:xfrm>
            <a:off x="1295400" y="4697730"/>
            <a:ext cx="494538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Standard library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1" name="Google Shape;6521;p406"/>
          <p:cNvSpPr/>
          <p:nvPr/>
        </p:nvSpPr>
        <p:spPr>
          <a:xfrm>
            <a:off x="1295400" y="5307330"/>
            <a:ext cx="434959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More than 200 core modules ship with Python. Nothing to install.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2" name="Google Shape;6522;p406"/>
          <p:cNvSpPr/>
          <p:nvPr/>
        </p:nvSpPr>
        <p:spPr>
          <a:xfrm>
            <a:off x="6553200" y="4354830"/>
            <a:ext cx="5181600" cy="2019300"/>
          </a:xfrm>
          <a:prstGeom prst="roundRect">
            <a:avLst>
              <a:gd fmla="val 377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3" name="Google Shape;6523;p406"/>
          <p:cNvSpPr/>
          <p:nvPr/>
        </p:nvSpPr>
        <p:spPr>
          <a:xfrm>
            <a:off x="6896100" y="4697730"/>
            <a:ext cx="494538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Installed libraries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4" name="Google Shape;6524;p406"/>
          <p:cNvSpPr/>
          <p:nvPr/>
        </p:nvSpPr>
        <p:spPr>
          <a:xfrm>
            <a:off x="6896100" y="5307330"/>
            <a:ext cx="4570583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pygame, numpy, pandas, matplotlib. Added with pip.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5" name="Google Shape;6525;p406"/>
          <p:cNvSpPr/>
          <p:nvPr/>
        </p:nvSpPr>
        <p:spPr>
          <a:xfrm>
            <a:off x="12153900" y="4354830"/>
            <a:ext cx="5181600" cy="2019300"/>
          </a:xfrm>
          <a:prstGeom prst="roundRect">
            <a:avLst>
              <a:gd fmla="val 377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6" name="Google Shape;6526;p406"/>
          <p:cNvSpPr/>
          <p:nvPr/>
        </p:nvSpPr>
        <p:spPr>
          <a:xfrm>
            <a:off x="12496800" y="4697730"/>
            <a:ext cx="494538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1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Your own modules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7" name="Google Shape;6527;p406"/>
          <p:cNvSpPr/>
          <p:nvPr/>
        </p:nvSpPr>
        <p:spPr>
          <a:xfrm>
            <a:off x="12496800" y="5307330"/>
            <a:ext cx="362629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Any .py file you write can be imported by another.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532" name="Shape 6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3" name="Google Shape;6533;p40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4" name="Google Shape;6534;p40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Four ways to import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5" name="Google Shape;6535;p407"/>
          <p:cNvSpPr/>
          <p:nvPr/>
        </p:nvSpPr>
        <p:spPr>
          <a:xfrm>
            <a:off x="952500" y="2727960"/>
            <a:ext cx="16383000" cy="2377440"/>
          </a:xfrm>
          <a:prstGeom prst="roundRect">
            <a:avLst>
              <a:gd fmla="val 3205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6" name="Google Shape;6536;p407"/>
          <p:cNvSpPr/>
          <p:nvPr/>
        </p:nvSpPr>
        <p:spPr>
          <a:xfrm>
            <a:off x="1264920" y="3002280"/>
            <a:ext cx="16249650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math                 # whole module, use as math.sqrt(9)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math as m            # with a shorter name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 math import sqrt, pi   # just the names you want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 math import *          # everything -- avoid this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7" name="Google Shape;6537;p407"/>
          <p:cNvSpPr/>
          <p:nvPr/>
        </p:nvSpPr>
        <p:spPr>
          <a:xfrm>
            <a:off x="952500" y="5524500"/>
            <a:ext cx="14716125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last form drops every name into your program at once, so you can no longer tell what came from where, and one of them may quietly replace a name of your own.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542" name="Shape 6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3" name="Google Shape;6543;p40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MODULE · math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4" name="Google Shape;6544;p40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Mathematics beyond the operators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5" name="Google Shape;6545;p408"/>
          <p:cNvSpPr/>
          <p:nvPr/>
        </p:nvSpPr>
        <p:spPr>
          <a:xfrm>
            <a:off x="952500" y="2727960"/>
            <a:ext cx="7943850" cy="3749040"/>
          </a:xfrm>
          <a:prstGeom prst="roundRect">
            <a:avLst>
              <a:gd fmla="val 2033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6" name="Google Shape;6546;p408"/>
          <p:cNvSpPr/>
          <p:nvPr/>
        </p:nvSpPr>
        <p:spPr>
          <a:xfrm>
            <a:off x="1264920" y="3002280"/>
            <a:ext cx="7557325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math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print(math.sqrt(81))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print(math.pi)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print(math.ceil(4.1))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print(math.floor(4.9))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print(math.factorial(5))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7" name="Google Shape;6547;p408"/>
          <p:cNvSpPr/>
          <p:nvPr/>
        </p:nvSpPr>
        <p:spPr>
          <a:xfrm>
            <a:off x="9391650" y="2727960"/>
            <a:ext cx="7943850" cy="3749040"/>
          </a:xfrm>
          <a:prstGeom prst="roundRect">
            <a:avLst>
              <a:gd fmla="val 203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8" name="Google Shape;6548;p408"/>
          <p:cNvSpPr/>
          <p:nvPr/>
        </p:nvSpPr>
        <p:spPr>
          <a:xfrm>
            <a:off x="9696450" y="2994660"/>
            <a:ext cx="7572566" cy="32537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9.0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3.141592653589793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9" name="Google Shape;6549;p408"/>
          <p:cNvSpPr/>
          <p:nvPr/>
        </p:nvSpPr>
        <p:spPr>
          <a:xfrm>
            <a:off x="952500" y="6934200"/>
            <a:ext cx="16874490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math.sqrt returns a float, always. Note that ceil rounds up and floor rounds down, whatever the decimal part.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554" name="Shape 6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5" name="Google Shape;6555;p40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MODULE · random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6" name="Google Shape;6556;p40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Making things unpredictable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7" name="Google Shape;6557;p409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8" name="Google Shape;6558;p409"/>
          <p:cNvSpPr/>
          <p:nvPr/>
        </p:nvSpPr>
        <p:spPr>
          <a:xfrm>
            <a:off x="2228850" y="2727960"/>
            <a:ext cx="15106650" cy="3977640"/>
          </a:xfrm>
          <a:prstGeom prst="roundRect">
            <a:avLst>
              <a:gd fmla="val 191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9" name="Google Shape;6559;p409"/>
          <p:cNvSpPr/>
          <p:nvPr/>
        </p:nvSpPr>
        <p:spPr>
          <a:xfrm>
            <a:off x="2541270" y="3002280"/>
            <a:ext cx="14935010" cy="3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random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print(random.randint(1, 6))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print(random.choice(['red', 'green', 'blue']))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deck = [1, 2, 3, 4, 5]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random.shuffle(deck)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print(deck)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0" name="Google Shape;6560;p409"/>
          <p:cNvSpPr/>
          <p:nvPr/>
        </p:nvSpPr>
        <p:spPr>
          <a:xfrm>
            <a:off x="952500" y="69342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randint includes both ends, unlike range. shuffle changes the list in place and returns nothing.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565" name="Shape 6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6" name="Google Shape;6566;p41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MODULES · datetime, statistics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7" name="Google Shape;6567;p41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Dates, and statistics you no longer write by hand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8" name="Google Shape;6568;p410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DATETIME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9" name="Google Shape;6569;p410"/>
          <p:cNvSpPr/>
          <p:nvPr/>
        </p:nvSpPr>
        <p:spPr>
          <a:xfrm>
            <a:off x="952500" y="3276600"/>
            <a:ext cx="7943850" cy="2367915"/>
          </a:xfrm>
          <a:prstGeom prst="roundRect">
            <a:avLst>
              <a:gd fmla="val 321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0" name="Google Shape;6570;p410"/>
          <p:cNvSpPr/>
          <p:nvPr/>
        </p:nvSpPr>
        <p:spPr>
          <a:xfrm>
            <a:off x="1245870" y="3531870"/>
            <a:ext cx="7595425" cy="1895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datetime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now = datetime.datetime.now()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print(now.year)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print(now.strftime('%d %B %Y'))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1" name="Google Shape;6571;p410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STATISTICS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2" name="Google Shape;6572;p410"/>
          <p:cNvSpPr/>
          <p:nvPr/>
        </p:nvSpPr>
        <p:spPr>
          <a:xfrm>
            <a:off x="9391650" y="3276600"/>
            <a:ext cx="7943850" cy="2739390"/>
          </a:xfrm>
          <a:prstGeom prst="roundRect">
            <a:avLst>
              <a:gd fmla="val 278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3" name="Google Shape;6573;p410"/>
          <p:cNvSpPr/>
          <p:nvPr/>
        </p:nvSpPr>
        <p:spPr>
          <a:xfrm>
            <a:off x="9685020" y="3531870"/>
            <a:ext cx="7595425" cy="2266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statistics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= [88, 75, 92, 60, 75]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print(statistics.mean(marks))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print(statistics.median(marks))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print(statistics.mode(marks))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4" name="Google Shape;6574;p410"/>
          <p:cNvSpPr/>
          <p:nvPr/>
        </p:nvSpPr>
        <p:spPr>
          <a:xfrm>
            <a:off x="952500" y="647319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You wrote mean and median by hand in Class 18. Now you know what the library was doing.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6579" name="Shape 6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0" name="Google Shape;6580;p411"/>
          <p:cNvSpPr/>
          <p:nvPr/>
        </p:nvSpPr>
        <p:spPr>
          <a:xfrm>
            <a:off x="952500" y="327279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BEFORE WE START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1" name="Google Shape;6581;p411"/>
          <p:cNvSpPr/>
          <p:nvPr/>
        </p:nvSpPr>
        <p:spPr>
          <a:xfrm>
            <a:off x="952500" y="4050030"/>
            <a:ext cx="14716125" cy="1527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100"/>
              <a:buFont typeface="Bricolage Grotesque"/>
              <a:buNone/>
            </a:pPr>
            <a:r>
              <a:rPr b="1" i="0" lang="en-US" sz="51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pygame opens a real window, so it will not run inside Colab.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2" name="Google Shape;6582;p411"/>
          <p:cNvSpPr/>
          <p:nvPr/>
        </p:nvSpPr>
        <p:spPr>
          <a:xfrm>
            <a:off x="952500" y="5958840"/>
            <a:ext cx="1466850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Copy these programs into a .py file and run them from your own machine.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3" name="Google Shape;6583;p411"/>
          <p:cNvSpPr/>
          <p:nvPr/>
        </p:nvSpPr>
        <p:spPr>
          <a:xfrm>
            <a:off x="952500" y="6831330"/>
            <a:ext cx="1687449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 -m pip install -U pygame --user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588" name="Shape 6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9" name="Google Shape;6589;p41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0" name="Google Shape;6590;p41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shape of every pygame program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1" name="Google Shape;6591;p412"/>
          <p:cNvSpPr/>
          <p:nvPr/>
        </p:nvSpPr>
        <p:spPr>
          <a:xfrm>
            <a:off x="952500" y="2727960"/>
            <a:ext cx="16383000" cy="5577840"/>
          </a:xfrm>
          <a:prstGeom prst="roundRect">
            <a:avLst>
              <a:gd fmla="val 136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2" name="Google Shape;6592;p412"/>
          <p:cNvSpPr/>
          <p:nvPr/>
        </p:nvSpPr>
        <p:spPr>
          <a:xfrm>
            <a:off x="1264920" y="3002280"/>
            <a:ext cx="16249650" cy="50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pygame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pygame.init()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surface = pygame.display.set_mode((400, 500))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done = False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 not done: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event in pygame.event.get():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if event.type == pygame.QUIT: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done = True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pygame.display.flip()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3" name="Google Shape;6593;p412"/>
          <p:cNvSpPr/>
          <p:nvPr/>
        </p:nvSpPr>
        <p:spPr>
          <a:xfrm>
            <a:off x="952500" y="87249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while loop and a for loop, exactly as in Unit 4. The game is a loop that never stops until you tell it to.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598" name="Shape 6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9" name="Google Shape;6599;p41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REFERENCE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0" name="Google Shape;6600;p41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each line does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1" name="Google Shape;6601;p413"/>
          <p:cNvSpPr/>
          <p:nvPr/>
        </p:nvSpPr>
        <p:spPr>
          <a:xfrm>
            <a:off x="952500" y="2727960"/>
            <a:ext cx="163830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2" name="Google Shape;6602;p413"/>
          <p:cNvSpPr/>
          <p:nvPr/>
        </p:nvSpPr>
        <p:spPr>
          <a:xfrm>
            <a:off x="952500" y="3444240"/>
            <a:ext cx="682621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3" name="Google Shape;6603;p413"/>
          <p:cNvSpPr/>
          <p:nvPr/>
        </p:nvSpPr>
        <p:spPr>
          <a:xfrm>
            <a:off x="1162050" y="2914650"/>
            <a:ext cx="661189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STATEMENT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4" name="Google Shape;6604;p413"/>
          <p:cNvSpPr/>
          <p:nvPr/>
        </p:nvSpPr>
        <p:spPr>
          <a:xfrm>
            <a:off x="7778711" y="3444240"/>
            <a:ext cx="955679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5" name="Google Shape;6605;p413"/>
          <p:cNvSpPr/>
          <p:nvPr/>
        </p:nvSpPr>
        <p:spPr>
          <a:xfrm>
            <a:off x="7988261" y="2914650"/>
            <a:ext cx="9424394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IT DOES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6" name="Google Shape;6606;p413"/>
          <p:cNvSpPr/>
          <p:nvPr/>
        </p:nvSpPr>
        <p:spPr>
          <a:xfrm>
            <a:off x="952500" y="4152900"/>
            <a:ext cx="682621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7" name="Google Shape;6607;p413"/>
          <p:cNvSpPr/>
          <p:nvPr/>
        </p:nvSpPr>
        <p:spPr>
          <a:xfrm>
            <a:off x="1162050" y="3623310"/>
            <a:ext cx="661189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pygame.init()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8" name="Google Shape;6608;p413"/>
          <p:cNvSpPr/>
          <p:nvPr/>
        </p:nvSpPr>
        <p:spPr>
          <a:xfrm>
            <a:off x="7778711" y="4152900"/>
            <a:ext cx="955679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9" name="Google Shape;6609;p413"/>
          <p:cNvSpPr/>
          <p:nvPr/>
        </p:nvSpPr>
        <p:spPr>
          <a:xfrm>
            <a:off x="7988261" y="3623310"/>
            <a:ext cx="9424394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Starts up every module pygame needs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0" name="Google Shape;6610;p413"/>
          <p:cNvSpPr/>
          <p:nvPr/>
        </p:nvSpPr>
        <p:spPr>
          <a:xfrm>
            <a:off x="952500" y="4861560"/>
            <a:ext cx="682621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1" name="Google Shape;6611;p413"/>
          <p:cNvSpPr/>
          <p:nvPr/>
        </p:nvSpPr>
        <p:spPr>
          <a:xfrm>
            <a:off x="1162050" y="4331970"/>
            <a:ext cx="661189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display.set_mode((w, h))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2" name="Google Shape;6612;p413"/>
          <p:cNvSpPr/>
          <p:nvPr/>
        </p:nvSpPr>
        <p:spPr>
          <a:xfrm>
            <a:off x="7778711" y="4861560"/>
            <a:ext cx="955679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3" name="Google Shape;6613;p413"/>
          <p:cNvSpPr/>
          <p:nvPr/>
        </p:nvSpPr>
        <p:spPr>
          <a:xfrm>
            <a:off x="7988261" y="4331970"/>
            <a:ext cx="9424394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Opens a window and returns a Surface, your canvas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4" name="Google Shape;6614;p413"/>
          <p:cNvSpPr/>
          <p:nvPr/>
        </p:nvSpPr>
        <p:spPr>
          <a:xfrm>
            <a:off x="952500" y="5852160"/>
            <a:ext cx="682621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5" name="Google Shape;6615;p413"/>
          <p:cNvSpPr/>
          <p:nvPr/>
        </p:nvSpPr>
        <p:spPr>
          <a:xfrm>
            <a:off x="1162050" y="5040630"/>
            <a:ext cx="6611897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event.get()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6" name="Google Shape;6616;p413"/>
          <p:cNvSpPr/>
          <p:nvPr/>
        </p:nvSpPr>
        <p:spPr>
          <a:xfrm>
            <a:off x="7778711" y="5852160"/>
            <a:ext cx="955679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7" name="Google Shape;6617;p413"/>
          <p:cNvSpPr/>
          <p:nvPr/>
        </p:nvSpPr>
        <p:spPr>
          <a:xfrm>
            <a:off x="7988261" y="5040630"/>
            <a:ext cx="9424394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Empties the event queue. Skip it and the system thinks your program has frozen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8" name="Google Shape;6618;p413"/>
          <p:cNvSpPr/>
          <p:nvPr/>
        </p:nvSpPr>
        <p:spPr>
          <a:xfrm>
            <a:off x="952500" y="6560820"/>
            <a:ext cx="682621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9" name="Google Shape;6619;p413"/>
          <p:cNvSpPr/>
          <p:nvPr/>
        </p:nvSpPr>
        <p:spPr>
          <a:xfrm>
            <a:off x="1162050" y="6031230"/>
            <a:ext cx="661189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pygame.QUIT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0" name="Google Shape;6620;p413"/>
          <p:cNvSpPr/>
          <p:nvPr/>
        </p:nvSpPr>
        <p:spPr>
          <a:xfrm>
            <a:off x="7778711" y="6560820"/>
            <a:ext cx="955679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1" name="Google Shape;6621;p413"/>
          <p:cNvSpPr/>
          <p:nvPr/>
        </p:nvSpPr>
        <p:spPr>
          <a:xfrm>
            <a:off x="7988261" y="6031230"/>
            <a:ext cx="9424394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event fired when the close button is clicked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2" name="Google Shape;6622;p413"/>
          <p:cNvSpPr/>
          <p:nvPr/>
        </p:nvSpPr>
        <p:spPr>
          <a:xfrm>
            <a:off x="952500" y="7269480"/>
            <a:ext cx="682621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3" name="Google Shape;6623;p413"/>
          <p:cNvSpPr/>
          <p:nvPr/>
        </p:nvSpPr>
        <p:spPr>
          <a:xfrm>
            <a:off x="1162050" y="6739890"/>
            <a:ext cx="661189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display.flip()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4" name="Google Shape;6624;p413"/>
          <p:cNvSpPr/>
          <p:nvPr/>
        </p:nvSpPr>
        <p:spPr>
          <a:xfrm>
            <a:off x="7778711" y="7269480"/>
            <a:ext cx="955679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5" name="Google Shape;6625;p413"/>
          <p:cNvSpPr/>
          <p:nvPr/>
        </p:nvSpPr>
        <p:spPr>
          <a:xfrm>
            <a:off x="7988261" y="6739890"/>
            <a:ext cx="9424394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Swaps the buffers. Without it nothing you draw is ever visible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6" name="Google Shape;6626;p413"/>
          <p:cNvSpPr/>
          <p:nvPr/>
        </p:nvSpPr>
        <p:spPr>
          <a:xfrm>
            <a:off x="1162050" y="7448550"/>
            <a:ext cx="661189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surface.fill(color)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7" name="Google Shape;6627;p413"/>
          <p:cNvSpPr/>
          <p:nvPr/>
        </p:nvSpPr>
        <p:spPr>
          <a:xfrm>
            <a:off x="7988261" y="7448550"/>
            <a:ext cx="9424394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Paints the whole canvas one colour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632" name="Shape 6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3" name="Google Shape;6633;p41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4" name="Google Shape;6634;p41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Colour is a tuple of three numbers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5" name="Google Shape;6635;p414"/>
          <p:cNvSpPr/>
          <p:nvPr/>
        </p:nvSpPr>
        <p:spPr>
          <a:xfrm>
            <a:off x="952500" y="2727960"/>
            <a:ext cx="8665964" cy="4663440"/>
          </a:xfrm>
          <a:prstGeom prst="roundRect">
            <a:avLst>
              <a:gd fmla="val 163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6" name="Google Shape;6636;p414"/>
          <p:cNvSpPr/>
          <p:nvPr/>
        </p:nvSpPr>
        <p:spPr>
          <a:xfrm>
            <a:off x="1264920" y="3002280"/>
            <a:ext cx="8301103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color = (255, 0, 0)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surface.fill(color)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pygame.display.flip()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pygame.display.set_caption('Hello')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img = pygame.image.load('picture.jpg')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surface.blit(img, (0, 0))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7" name="Google Shape;6637;p414"/>
          <p:cNvSpPr/>
          <p:nvPr/>
        </p:nvSpPr>
        <p:spPr>
          <a:xfrm>
            <a:off x="10113764" y="2727960"/>
            <a:ext cx="794377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Each number is 0 to 255: red, green, blue.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8" name="Google Shape;6638;p414"/>
          <p:cNvSpPr/>
          <p:nvPr/>
        </p:nvSpPr>
        <p:spPr>
          <a:xfrm>
            <a:off x="10113764" y="3329940"/>
            <a:ext cx="272415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(255, 0, 0)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9" name="Google Shape;6639;p414"/>
          <p:cNvSpPr/>
          <p:nvPr/>
        </p:nvSpPr>
        <p:spPr>
          <a:xfrm>
            <a:off x="12742664" y="3329940"/>
            <a:ext cx="49351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0" name="Google Shape;6640;p414"/>
          <p:cNvSpPr/>
          <p:nvPr/>
        </p:nvSpPr>
        <p:spPr>
          <a:xfrm>
            <a:off x="10113764" y="3798570"/>
            <a:ext cx="272415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(0, 0, 0)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1" name="Google Shape;6641;p414"/>
          <p:cNvSpPr/>
          <p:nvPr/>
        </p:nvSpPr>
        <p:spPr>
          <a:xfrm>
            <a:off x="12742664" y="3798570"/>
            <a:ext cx="74509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black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2" name="Google Shape;6642;p414"/>
          <p:cNvSpPr/>
          <p:nvPr/>
        </p:nvSpPr>
        <p:spPr>
          <a:xfrm>
            <a:off x="10113764" y="4267200"/>
            <a:ext cx="272415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55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(255, 255, 255)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3" name="Google Shape;6643;p414"/>
          <p:cNvSpPr/>
          <p:nvPr/>
        </p:nvSpPr>
        <p:spPr>
          <a:xfrm>
            <a:off x="12742664" y="4267200"/>
            <a:ext cx="76545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white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4" name="Google Shape;6644;p414"/>
          <p:cNvSpPr/>
          <p:nvPr/>
        </p:nvSpPr>
        <p:spPr>
          <a:xfrm>
            <a:off x="10113764" y="4869180"/>
            <a:ext cx="794377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blit copies an image onto the surface at a position.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649" name="Shape 6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0" name="Google Shape;6650;p41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1" name="Google Shape;6651;p41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Drawing shapes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2" name="Google Shape;6652;p415"/>
          <p:cNvSpPr/>
          <p:nvPr/>
        </p:nvSpPr>
        <p:spPr>
          <a:xfrm>
            <a:off x="952500" y="2727960"/>
            <a:ext cx="16383000" cy="2529840"/>
          </a:xfrm>
          <a:prstGeom prst="roundRect">
            <a:avLst>
              <a:gd fmla="val 3012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3" name="Google Shape;6653;p415"/>
          <p:cNvSpPr/>
          <p:nvPr/>
        </p:nvSpPr>
        <p:spPr>
          <a:xfrm>
            <a:off x="1264920" y="3002280"/>
            <a:ext cx="1624965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93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pygame.draw.line(surface, green, (60, 300), (120, 300), 4)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93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pygame.draw.circle(surface, green, (300, 50), 20, 0)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93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pygame.draw.rect(surface, black, (150, 300, 100, 50))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93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pygame.draw.ellipse(surface, black, (300, 250, 40, 80), 1)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93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pygame.draw.polygon(surface, blue, [(146, 0), (291, 106), (0, 106)])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4" name="Google Shape;6654;p415"/>
          <p:cNvSpPr/>
          <p:nvPr/>
        </p:nvSpPr>
        <p:spPr>
          <a:xfrm>
            <a:off x="952500" y="567690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last number is the line thickness. Leave it out, or pass 0, and the shape is filled.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659" name="Shape 6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0" name="Google Shape;6660;p41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REFERENCE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1" name="Google Shape;6661;p41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Controlling time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2" name="Google Shape;6662;p416"/>
          <p:cNvSpPr/>
          <p:nvPr/>
        </p:nvSpPr>
        <p:spPr>
          <a:xfrm>
            <a:off x="952500" y="2727960"/>
            <a:ext cx="8020050" cy="1924050"/>
          </a:xfrm>
          <a:prstGeom prst="roundRect">
            <a:avLst>
              <a:gd fmla="val 396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3" name="Google Shape;6663;p416"/>
          <p:cNvSpPr/>
          <p:nvPr/>
        </p:nvSpPr>
        <p:spPr>
          <a:xfrm>
            <a:off x="1257300" y="3032760"/>
            <a:ext cx="8151495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time.wait(ms)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4" name="Google Shape;6664;p416"/>
          <p:cNvSpPr/>
          <p:nvPr/>
        </p:nvSpPr>
        <p:spPr>
          <a:xfrm>
            <a:off x="1257300" y="3623310"/>
            <a:ext cx="6212903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Pause the program for a number of milliseconds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5" name="Google Shape;6665;p416"/>
          <p:cNvSpPr/>
          <p:nvPr/>
        </p:nvSpPr>
        <p:spPr>
          <a:xfrm>
            <a:off x="9315450" y="2727960"/>
            <a:ext cx="8020050" cy="1924050"/>
          </a:xfrm>
          <a:prstGeom prst="roundRect">
            <a:avLst>
              <a:gd fmla="val 3960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6" name="Google Shape;6666;p416"/>
          <p:cNvSpPr/>
          <p:nvPr/>
        </p:nvSpPr>
        <p:spPr>
          <a:xfrm>
            <a:off x="9620250" y="3032760"/>
            <a:ext cx="8151495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time.delay(ms)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7" name="Google Shape;6667;p416"/>
          <p:cNvSpPr/>
          <p:nvPr/>
        </p:nvSpPr>
        <p:spPr>
          <a:xfrm>
            <a:off x="9620250" y="3623310"/>
            <a:ext cx="6809887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same, but more accurate, at the cost of using the processor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8" name="Google Shape;6668;p416"/>
          <p:cNvSpPr/>
          <p:nvPr/>
        </p:nvSpPr>
        <p:spPr>
          <a:xfrm>
            <a:off x="952500" y="4994910"/>
            <a:ext cx="8020050" cy="1550670"/>
          </a:xfrm>
          <a:prstGeom prst="roundRect">
            <a:avLst>
              <a:gd fmla="val 491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9" name="Google Shape;6669;p416"/>
          <p:cNvSpPr/>
          <p:nvPr/>
        </p:nvSpPr>
        <p:spPr>
          <a:xfrm>
            <a:off x="1257300" y="5299710"/>
            <a:ext cx="8151495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time.get_ticks()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0" name="Google Shape;6670;p416"/>
          <p:cNvSpPr/>
          <p:nvPr/>
        </p:nvSpPr>
        <p:spPr>
          <a:xfrm>
            <a:off x="1257300" y="5890260"/>
            <a:ext cx="7218014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How long the program has been running, in milliseconds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1" name="Google Shape;6671;p416"/>
          <p:cNvSpPr/>
          <p:nvPr/>
        </p:nvSpPr>
        <p:spPr>
          <a:xfrm>
            <a:off x="9315450" y="4994910"/>
            <a:ext cx="8020050" cy="1550670"/>
          </a:xfrm>
          <a:prstGeom prst="roundRect">
            <a:avLst>
              <a:gd fmla="val 491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2" name="Google Shape;6672;p416"/>
          <p:cNvSpPr/>
          <p:nvPr/>
        </p:nvSpPr>
        <p:spPr>
          <a:xfrm>
            <a:off x="9620250" y="5299710"/>
            <a:ext cx="8151495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time.Clock()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3" name="Google Shape;6673;p416"/>
          <p:cNvSpPr/>
          <p:nvPr/>
        </p:nvSpPr>
        <p:spPr>
          <a:xfrm>
            <a:off x="9620250" y="5890260"/>
            <a:ext cx="7584568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clock object; call tick(30) each pass to cap the frame rate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678" name="Shape 6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9" name="Google Shape;6679;p41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0" name="Google Shape;6680;p41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Reacting to the keyboard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1" name="Google Shape;6681;p417"/>
          <p:cNvSpPr/>
          <p:nvPr/>
        </p:nvSpPr>
        <p:spPr>
          <a:xfrm>
            <a:off x="952500" y="2727960"/>
            <a:ext cx="16383000" cy="6035040"/>
          </a:xfrm>
          <a:prstGeom prst="roundRect">
            <a:avLst>
              <a:gd fmla="val 1263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2" name="Google Shape;6682;p417"/>
          <p:cNvSpPr/>
          <p:nvPr/>
        </p:nvSpPr>
        <p:spPr>
          <a:xfrm>
            <a:off x="1264920" y="3002280"/>
            <a:ext cx="1624965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pygame, sys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pygame.init()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display = pygame.display.set_mode((300, 300))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 True: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event in pygame.event.get():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if event.type == pygame.QUIT: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pygame.quit()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sys.exit()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if event.type == pygame.KEYDOWN: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449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print("A key has been pressed")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3" name="Google Shape;6683;p417"/>
          <p:cNvSpPr/>
          <p:nvPr/>
        </p:nvSpPr>
        <p:spPr>
          <a:xfrm>
            <a:off x="952500" y="9182100"/>
            <a:ext cx="16874490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event loop is a for loop inside a while loop. Every frame, you check what happened and decide what to do.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688" name="Shape 6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9" name="Google Shape;6689;p41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0" name="Google Shape;6690;p41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Making your own events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1" name="Google Shape;6691;p418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NAME THEM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2" name="Google Shape;6692;p418"/>
          <p:cNvSpPr/>
          <p:nvPr/>
        </p:nvSpPr>
        <p:spPr>
          <a:xfrm>
            <a:off x="952500" y="3276600"/>
            <a:ext cx="7943850" cy="1253490"/>
          </a:xfrm>
          <a:prstGeom prst="roundRect">
            <a:avLst>
              <a:gd fmla="val 6079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3" name="Google Shape;6693;p418"/>
          <p:cNvSpPr/>
          <p:nvPr/>
        </p:nvSpPr>
        <p:spPr>
          <a:xfrm>
            <a:off x="1245870" y="3531870"/>
            <a:ext cx="759542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CHANGE_COLOR = pygame.USEREVENT + 1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ON_BOX       = pygame.USEREVENT + 2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4" name="Google Shape;6694;p418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POST THEM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5" name="Google Shape;6695;p418"/>
          <p:cNvSpPr/>
          <p:nvPr/>
        </p:nvSpPr>
        <p:spPr>
          <a:xfrm>
            <a:off x="9391650" y="3276600"/>
            <a:ext cx="7943850" cy="2367915"/>
          </a:xfrm>
          <a:prstGeom prst="roundRect">
            <a:avLst>
              <a:gd fmla="val 321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6" name="Google Shape;6696;p418"/>
          <p:cNvSpPr/>
          <p:nvPr/>
        </p:nvSpPr>
        <p:spPr>
          <a:xfrm>
            <a:off x="9685020" y="3531870"/>
            <a:ext cx="7595425" cy="1895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pygame.event.post(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pygame.event.Event(ON_BOX))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pygame.time.set_timer(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CHANGE_COLOR, 500)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7" name="Google Shape;6697;p418"/>
          <p:cNvSpPr/>
          <p:nvPr/>
        </p:nvSpPr>
        <p:spPr>
          <a:xfrm>
            <a:off x="952500" y="6101715"/>
            <a:ext cx="16874490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set_timer posts the same event every 500 milliseconds, which is how you make something happen on a schedule.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6702" name="Shape 6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3" name="Google Shape;6703;p41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4" name="Google Shape;6704;p41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5" name="Google Shape;6705;p419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6" name="Google Shape;6706;p419"/>
          <p:cNvSpPr/>
          <p:nvPr/>
        </p:nvSpPr>
        <p:spPr>
          <a:xfrm>
            <a:off x="1684139" y="2727960"/>
            <a:ext cx="14070365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a dice game: roll two dice with random, and report the total.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7" name="Google Shape;6707;p419"/>
          <p:cNvSpPr/>
          <p:nvPr/>
        </p:nvSpPr>
        <p:spPr>
          <a:xfrm>
            <a:off x="952500" y="363474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8" name="Google Shape;6708;p419"/>
          <p:cNvSpPr/>
          <p:nvPr/>
        </p:nvSpPr>
        <p:spPr>
          <a:xfrm>
            <a:off x="1684139" y="357378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Use statistics to check the mean and median you calculated by hand in Class 18.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9" name="Google Shape;6709;p419"/>
          <p:cNvSpPr/>
          <p:nvPr/>
        </p:nvSpPr>
        <p:spPr>
          <a:xfrm>
            <a:off x="952500" y="498348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0" name="Google Shape;6710;p419"/>
          <p:cNvSpPr/>
          <p:nvPr/>
        </p:nvSpPr>
        <p:spPr>
          <a:xfrm>
            <a:off x="1684139" y="492252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 your own machine, open a pygame window that changes colour when a key is pressed.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715" name="Shape 6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6" name="Google Shape;6716;p42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7" name="Google Shape;6717;p42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8" name="Google Shape;6718;p420"/>
          <p:cNvSpPr/>
          <p:nvPr/>
        </p:nvSpPr>
        <p:spPr>
          <a:xfrm>
            <a:off x="952500" y="272796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9" name="Google Shape;6719;p420"/>
          <p:cNvSpPr/>
          <p:nvPr/>
        </p:nvSpPr>
        <p:spPr>
          <a:xfrm>
            <a:off x="1295400" y="307086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Import a module in all four forms, and say why the star form is a bad idea.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0" name="Google Shape;6720;p420"/>
          <p:cNvSpPr/>
          <p:nvPr/>
        </p:nvSpPr>
        <p:spPr>
          <a:xfrm>
            <a:off x="9334500" y="272796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1" name="Google Shape;6721;p420"/>
          <p:cNvSpPr/>
          <p:nvPr/>
        </p:nvSpPr>
        <p:spPr>
          <a:xfrm>
            <a:off x="9677400" y="307086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Use math, random, datetime and statistics.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2" name="Google Shape;6722;p420"/>
          <p:cNvSpPr/>
          <p:nvPr/>
        </p:nvSpPr>
        <p:spPr>
          <a:xfrm>
            <a:off x="952500" y="470154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3" name="Google Shape;6723;p420"/>
          <p:cNvSpPr/>
          <p:nvPr/>
        </p:nvSpPr>
        <p:spPr>
          <a:xfrm>
            <a:off x="1295400" y="504444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Read a pygame program and name each line's job.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4" name="Google Shape;6724;p420"/>
          <p:cNvSpPr/>
          <p:nvPr/>
        </p:nvSpPr>
        <p:spPr>
          <a:xfrm>
            <a:off x="9334500" y="470154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5" name="Google Shape;6725;p420"/>
          <p:cNvSpPr/>
          <p:nvPr/>
        </p:nvSpPr>
        <p:spPr>
          <a:xfrm>
            <a:off x="9677400" y="504444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Draw shapes and respond to events in an event loop.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6" name="Google Shape;6726;p420"/>
          <p:cNvSpPr/>
          <p:nvPr/>
        </p:nvSpPr>
        <p:spPr>
          <a:xfrm>
            <a:off x="952500" y="913638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class: loose ends worth knowing.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2E1E"/>
        </a:solidFill>
      </p:bgPr>
    </p:bg>
    <p:spTree>
      <p:nvGrpSpPr>
        <p:cNvPr id="6731" name="Shape 6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2" name="Google Shape;6732;p421"/>
          <p:cNvSpPr/>
          <p:nvPr/>
        </p:nvSpPr>
        <p:spPr>
          <a:xfrm>
            <a:off x="952500" y="4085272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F7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9 · SUPPLEMENTARY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3" name="Google Shape;6733;p421"/>
          <p:cNvSpPr/>
          <p:nvPr/>
        </p:nvSpPr>
        <p:spPr>
          <a:xfrm>
            <a:off x="952500" y="4854893"/>
            <a:ext cx="2219135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445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15000"/>
              <a:buFont typeface="Bricolage Grotesque"/>
              <a:buNone/>
            </a:pPr>
            <a:r>
              <a:rPr b="1" i="0" lang="en-US" sz="150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26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4" name="Google Shape;6734;p421"/>
          <p:cNvSpPr/>
          <p:nvPr/>
        </p:nvSpPr>
        <p:spPr>
          <a:xfrm>
            <a:off x="3503295" y="5632132"/>
            <a:ext cx="10226564" cy="79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5700"/>
              <a:buFont typeface="Bricolage Grotesque"/>
              <a:buNone/>
            </a:pPr>
            <a:r>
              <a:rPr b="1" i="0" lang="en-US" sz="57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Loose Ends Worth Knowing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739" name="Shape 6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0" name="Google Shape;6740;p42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26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1" name="Google Shape;6741;p42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2" name="Google Shape;6742;p422"/>
          <p:cNvSpPr/>
          <p:nvPr/>
        </p:nvSpPr>
        <p:spPr>
          <a:xfrm>
            <a:off x="952500" y="349758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3" name="Google Shape;6743;p422"/>
          <p:cNvSpPr/>
          <p:nvPr/>
        </p:nvSpPr>
        <p:spPr>
          <a:xfrm>
            <a:off x="952500" y="272796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4" name="Google Shape;6744;p422"/>
          <p:cNvSpPr/>
          <p:nvPr/>
        </p:nvSpPr>
        <p:spPr>
          <a:xfrm>
            <a:off x="1646039" y="2727960"/>
            <a:ext cx="570630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Shadowing a built-in name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5" name="Google Shape;6745;p422"/>
          <p:cNvSpPr/>
          <p:nvPr/>
        </p:nvSpPr>
        <p:spPr>
          <a:xfrm>
            <a:off x="952500" y="454152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6" name="Google Shape;6746;p422"/>
          <p:cNvSpPr/>
          <p:nvPr/>
        </p:nvSpPr>
        <p:spPr>
          <a:xfrm>
            <a:off x="952500" y="377190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7" name="Google Shape;6747;p422"/>
          <p:cNvSpPr/>
          <p:nvPr/>
        </p:nvSpPr>
        <p:spPr>
          <a:xfrm>
            <a:off x="1646039" y="3771900"/>
            <a:ext cx="848900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global keyword, and why to avoid it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8" name="Google Shape;6748;p422"/>
          <p:cNvSpPr/>
          <p:nvPr/>
        </p:nvSpPr>
        <p:spPr>
          <a:xfrm>
            <a:off x="952500" y="558546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9" name="Google Shape;6749;p422"/>
          <p:cNvSpPr/>
          <p:nvPr/>
        </p:nvSpPr>
        <p:spPr>
          <a:xfrm>
            <a:off x="952500" y="481584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0" name="Google Shape;6750;p422"/>
          <p:cNvSpPr/>
          <p:nvPr/>
        </p:nvSpPr>
        <p:spPr>
          <a:xfrm>
            <a:off x="1646039" y="4815840"/>
            <a:ext cx="5628906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enumerate, sorted, extend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1" name="Google Shape;6751;p422"/>
          <p:cNvSpPr/>
          <p:nvPr/>
        </p:nvSpPr>
        <p:spPr>
          <a:xfrm>
            <a:off x="952500" y="6629400"/>
            <a:ext cx="1238250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2" name="Google Shape;6752;p422"/>
          <p:cNvSpPr/>
          <p:nvPr/>
        </p:nvSpPr>
        <p:spPr>
          <a:xfrm>
            <a:off x="952500" y="585978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3" name="Google Shape;6753;p422"/>
          <p:cNvSpPr/>
          <p:nvPr/>
        </p:nvSpPr>
        <p:spPr>
          <a:xfrm>
            <a:off x="1646039" y="5859780"/>
            <a:ext cx="484571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Counter and fromkeys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4" name="Google Shape;6754;p422"/>
          <p:cNvSpPr/>
          <p:nvPr/>
        </p:nvSpPr>
        <p:spPr>
          <a:xfrm>
            <a:off x="952500" y="6903720"/>
            <a:ext cx="464939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5" name="Google Shape;6755;p422"/>
          <p:cNvSpPr/>
          <p:nvPr/>
        </p:nvSpPr>
        <p:spPr>
          <a:xfrm>
            <a:off x="1646039" y="6903720"/>
            <a:ext cx="4975765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Memoisation, and yield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760" name="Shape 6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1" name="Google Shape;6761;p42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2" name="Google Shape;6762;p42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Naming a variable sum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3" name="Google Shape;6763;p423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[1]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4" name="Google Shape;6764;p423"/>
          <p:cNvSpPr/>
          <p:nvPr/>
        </p:nvSpPr>
        <p:spPr>
          <a:xfrm>
            <a:off x="2228850" y="2727960"/>
            <a:ext cx="15106650" cy="2691765"/>
          </a:xfrm>
          <a:prstGeom prst="roundRect">
            <a:avLst>
              <a:gd fmla="val 283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5" name="Google Shape;6765;p423"/>
          <p:cNvSpPr/>
          <p:nvPr/>
        </p:nvSpPr>
        <p:spPr>
          <a:xfrm>
            <a:off x="2541270" y="3002280"/>
            <a:ext cx="14935010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sum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range(6):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sum = sum + i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print(sum([1, 2, 3]))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6" name="Google Shape;6766;p423"/>
          <p:cNvSpPr/>
          <p:nvPr/>
        </p:nvSpPr>
        <p:spPr>
          <a:xfrm>
            <a:off x="952500" y="583882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7" name="Google Shape;6767;p423"/>
          <p:cNvSpPr/>
          <p:nvPr/>
        </p:nvSpPr>
        <p:spPr>
          <a:xfrm>
            <a:off x="2228850" y="5648325"/>
            <a:ext cx="15106650" cy="792480"/>
          </a:xfrm>
          <a:prstGeom prst="roundRect">
            <a:avLst>
              <a:gd fmla="val 9615" name="adj"/>
            </a:avLst>
          </a:prstGeom>
          <a:solidFill>
            <a:srgbClr val="FB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8" name="Google Shape;6768;p423"/>
          <p:cNvSpPr/>
          <p:nvPr/>
        </p:nvSpPr>
        <p:spPr>
          <a:xfrm>
            <a:off x="2533650" y="5857875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7B24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TypeError: 'int' object is not callable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9" name="Google Shape;6769;p423"/>
          <p:cNvSpPr/>
          <p:nvPr/>
        </p:nvSpPr>
        <p:spPr>
          <a:xfrm>
            <a:off x="952500" y="678370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Your variable hid the built-in sum() function. Python gives no warning, because the name is perfectly legal.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774" name="Shape 6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5" name="Google Shape;6775;p42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HABIT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6" name="Google Shape;6776;p42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Names that already belong to Python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7" name="Google Shape;6777;p424"/>
          <p:cNvSpPr/>
          <p:nvPr/>
        </p:nvSpPr>
        <p:spPr>
          <a:xfrm>
            <a:off x="952500" y="2727960"/>
            <a:ext cx="5283161" cy="870585"/>
          </a:xfrm>
          <a:prstGeom prst="roundRect">
            <a:avLst>
              <a:gd fmla="val 875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8" name="Google Shape;6778;p424"/>
          <p:cNvSpPr/>
          <p:nvPr/>
        </p:nvSpPr>
        <p:spPr>
          <a:xfrm>
            <a:off x="1200150" y="2975610"/>
            <a:ext cx="4946355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sum </a:t>
            </a:r>
            <a:r>
              <a:rPr b="0" i="0" lang="en-US" sz="2100" u="none" cap="none" strike="noStrike">
                <a:solidFill>
                  <a:srgbClr val="6E6259"/>
                </a:solidFill>
                <a:highlight>
                  <a:srgbClr val="F2EBE1"/>
                </a:highlight>
                <a:latin typeface="Bricolage Grotesque"/>
                <a:ea typeface="Bricolage Grotesque"/>
                <a:cs typeface="Bricolage Grotesque"/>
                <a:sym typeface="Bricolage Grotesque"/>
              </a:rPr>
              <a:t>→ </a:t>
            </a: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total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9" name="Google Shape;6779;p424"/>
          <p:cNvSpPr/>
          <p:nvPr/>
        </p:nvSpPr>
        <p:spPr>
          <a:xfrm>
            <a:off x="6502361" y="2727960"/>
            <a:ext cx="5283161" cy="870585"/>
          </a:xfrm>
          <a:prstGeom prst="roundRect">
            <a:avLst>
              <a:gd fmla="val 875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0" name="Google Shape;6780;p424"/>
          <p:cNvSpPr/>
          <p:nvPr/>
        </p:nvSpPr>
        <p:spPr>
          <a:xfrm>
            <a:off x="6750011" y="2975610"/>
            <a:ext cx="4946355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 </a:t>
            </a:r>
            <a:r>
              <a:rPr b="0" i="0" lang="en-US" sz="2100" u="none" cap="none" strike="noStrike">
                <a:solidFill>
                  <a:srgbClr val="6E6259"/>
                </a:solidFill>
                <a:highlight>
                  <a:srgbClr val="F2EBE1"/>
                </a:highlight>
                <a:latin typeface="Bricolage Grotesque"/>
                <a:ea typeface="Bricolage Grotesque"/>
                <a:cs typeface="Bricolage Grotesque"/>
                <a:sym typeface="Bricolage Grotesque"/>
              </a:rPr>
              <a:t>→ </a:t>
            </a: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items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1" name="Google Shape;6781;p424"/>
          <p:cNvSpPr/>
          <p:nvPr/>
        </p:nvSpPr>
        <p:spPr>
          <a:xfrm>
            <a:off x="12052221" y="2727960"/>
            <a:ext cx="5283161" cy="870585"/>
          </a:xfrm>
          <a:prstGeom prst="roundRect">
            <a:avLst>
              <a:gd fmla="val 875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2" name="Google Shape;6782;p424"/>
          <p:cNvSpPr/>
          <p:nvPr/>
        </p:nvSpPr>
        <p:spPr>
          <a:xfrm>
            <a:off x="12299871" y="2975610"/>
            <a:ext cx="4946355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 </a:t>
            </a:r>
            <a:r>
              <a:rPr b="0" i="0" lang="en-US" sz="2100" u="none" cap="none" strike="noStrike">
                <a:solidFill>
                  <a:srgbClr val="6E6259"/>
                </a:solidFill>
                <a:highlight>
                  <a:srgbClr val="F2EBE1"/>
                </a:highlight>
                <a:latin typeface="Bricolage Grotesque"/>
                <a:ea typeface="Bricolage Grotesque"/>
                <a:cs typeface="Bricolage Grotesque"/>
                <a:sym typeface="Bricolage Grotesque"/>
              </a:rPr>
              <a:t>→ </a:t>
            </a: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text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3" name="Google Shape;6783;p424"/>
          <p:cNvSpPr/>
          <p:nvPr/>
        </p:nvSpPr>
        <p:spPr>
          <a:xfrm>
            <a:off x="952500" y="3865245"/>
            <a:ext cx="5283161" cy="870585"/>
          </a:xfrm>
          <a:prstGeom prst="roundRect">
            <a:avLst>
              <a:gd fmla="val 875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4" name="Google Shape;6784;p424"/>
          <p:cNvSpPr/>
          <p:nvPr/>
        </p:nvSpPr>
        <p:spPr>
          <a:xfrm>
            <a:off x="1200150" y="4112895"/>
            <a:ext cx="4946355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len </a:t>
            </a:r>
            <a:r>
              <a:rPr b="0" i="0" lang="en-US" sz="2100" u="none" cap="none" strike="noStrike">
                <a:solidFill>
                  <a:srgbClr val="6E6259"/>
                </a:solidFill>
                <a:highlight>
                  <a:srgbClr val="F2EBE1"/>
                </a:highlight>
                <a:latin typeface="Bricolage Grotesque"/>
                <a:ea typeface="Bricolage Grotesque"/>
                <a:cs typeface="Bricolage Grotesque"/>
                <a:sym typeface="Bricolage Grotesque"/>
              </a:rPr>
              <a:t>→ </a:t>
            </a: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count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5" name="Google Shape;6785;p424"/>
          <p:cNvSpPr/>
          <p:nvPr/>
        </p:nvSpPr>
        <p:spPr>
          <a:xfrm>
            <a:off x="6502361" y="3865245"/>
            <a:ext cx="5283161" cy="870585"/>
          </a:xfrm>
          <a:prstGeom prst="roundRect">
            <a:avLst>
              <a:gd fmla="val 875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6" name="Google Shape;6786;p424"/>
          <p:cNvSpPr/>
          <p:nvPr/>
        </p:nvSpPr>
        <p:spPr>
          <a:xfrm>
            <a:off x="6750011" y="4112895"/>
            <a:ext cx="4946355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max </a:t>
            </a:r>
            <a:r>
              <a:rPr b="0" i="0" lang="en-US" sz="2100" u="none" cap="none" strike="noStrike">
                <a:solidFill>
                  <a:srgbClr val="6E6259"/>
                </a:solidFill>
                <a:highlight>
                  <a:srgbClr val="F2EBE1"/>
                </a:highlight>
                <a:latin typeface="Bricolage Grotesque"/>
                <a:ea typeface="Bricolage Grotesque"/>
                <a:cs typeface="Bricolage Grotesque"/>
                <a:sym typeface="Bricolage Grotesque"/>
              </a:rPr>
              <a:t>→ </a:t>
            </a: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largest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7" name="Google Shape;6787;p424"/>
          <p:cNvSpPr/>
          <p:nvPr/>
        </p:nvSpPr>
        <p:spPr>
          <a:xfrm>
            <a:off x="12052221" y="3865245"/>
            <a:ext cx="5283161" cy="870585"/>
          </a:xfrm>
          <a:prstGeom prst="roundRect">
            <a:avLst>
              <a:gd fmla="val 875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8" name="Google Shape;6788;p424"/>
          <p:cNvSpPr/>
          <p:nvPr/>
        </p:nvSpPr>
        <p:spPr>
          <a:xfrm>
            <a:off x="12299871" y="4112895"/>
            <a:ext cx="4946355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min </a:t>
            </a:r>
            <a:r>
              <a:rPr b="0" i="0" lang="en-US" sz="2100" u="none" cap="none" strike="noStrike">
                <a:solidFill>
                  <a:srgbClr val="6E6259"/>
                </a:solidFill>
                <a:highlight>
                  <a:srgbClr val="F2EBE1"/>
                </a:highlight>
                <a:latin typeface="Bricolage Grotesque"/>
                <a:ea typeface="Bricolage Grotesque"/>
                <a:cs typeface="Bricolage Grotesque"/>
                <a:sym typeface="Bricolage Grotesque"/>
              </a:rPr>
              <a:t>→ </a:t>
            </a: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smallest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9" name="Google Shape;6789;p424"/>
          <p:cNvSpPr/>
          <p:nvPr/>
        </p:nvSpPr>
        <p:spPr>
          <a:xfrm>
            <a:off x="952500" y="5002530"/>
            <a:ext cx="5283161" cy="870585"/>
          </a:xfrm>
          <a:prstGeom prst="roundRect">
            <a:avLst>
              <a:gd fmla="val 875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0" name="Google Shape;6790;p424"/>
          <p:cNvSpPr/>
          <p:nvPr/>
        </p:nvSpPr>
        <p:spPr>
          <a:xfrm>
            <a:off x="1200150" y="5250180"/>
            <a:ext cx="4946355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 </a:t>
            </a:r>
            <a:r>
              <a:rPr b="0" i="0" lang="en-US" sz="2100" u="none" cap="none" strike="noStrike">
                <a:solidFill>
                  <a:srgbClr val="6E6259"/>
                </a:solidFill>
                <a:highlight>
                  <a:srgbClr val="F2EBE1"/>
                </a:highlight>
                <a:latin typeface="Bricolage Grotesque"/>
                <a:ea typeface="Bricolage Grotesque"/>
                <a:cs typeface="Bricolage Grotesque"/>
                <a:sym typeface="Bricolage Grotesque"/>
              </a:rPr>
              <a:t>→ </a:t>
            </a: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answer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1" name="Google Shape;6791;p424"/>
          <p:cNvSpPr/>
          <p:nvPr/>
        </p:nvSpPr>
        <p:spPr>
          <a:xfrm>
            <a:off x="6502361" y="5002530"/>
            <a:ext cx="5283161" cy="870585"/>
          </a:xfrm>
          <a:prstGeom prst="roundRect">
            <a:avLst>
              <a:gd fmla="val 875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2" name="Google Shape;6792;p424"/>
          <p:cNvSpPr/>
          <p:nvPr/>
        </p:nvSpPr>
        <p:spPr>
          <a:xfrm>
            <a:off x="6750011" y="5250180"/>
            <a:ext cx="4946355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 </a:t>
            </a:r>
            <a:r>
              <a:rPr b="0" i="0" lang="en-US" sz="2100" u="none" cap="none" strike="noStrike">
                <a:solidFill>
                  <a:srgbClr val="6E6259"/>
                </a:solidFill>
                <a:highlight>
                  <a:srgbClr val="F2EBE1"/>
                </a:highlight>
                <a:latin typeface="Bricolage Grotesque"/>
                <a:ea typeface="Bricolage Grotesque"/>
                <a:cs typeface="Bricolage Grotesque"/>
                <a:sym typeface="Bricolage Grotesque"/>
              </a:rPr>
              <a:t>→ </a:t>
            </a: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kind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3" name="Google Shape;6793;p424"/>
          <p:cNvSpPr/>
          <p:nvPr/>
        </p:nvSpPr>
        <p:spPr>
          <a:xfrm>
            <a:off x="12052221" y="5002530"/>
            <a:ext cx="5283161" cy="870585"/>
          </a:xfrm>
          <a:prstGeom prst="roundRect">
            <a:avLst>
              <a:gd fmla="val 8753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4" name="Google Shape;6794;p424"/>
          <p:cNvSpPr/>
          <p:nvPr/>
        </p:nvSpPr>
        <p:spPr>
          <a:xfrm>
            <a:off x="12299871" y="5250180"/>
            <a:ext cx="4946355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B03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dict </a:t>
            </a:r>
            <a:r>
              <a:rPr b="0" i="0" lang="en-US" sz="2100" u="none" cap="none" strike="noStrike">
                <a:solidFill>
                  <a:srgbClr val="6E6259"/>
                </a:solidFill>
                <a:highlight>
                  <a:srgbClr val="F2EBE1"/>
                </a:highlight>
                <a:latin typeface="Bricolage Grotesque"/>
                <a:ea typeface="Bricolage Grotesque"/>
                <a:cs typeface="Bricolage Grotesque"/>
                <a:sym typeface="Bricolage Grotesque"/>
              </a:rPr>
              <a:t>→ </a:t>
            </a:r>
            <a:r>
              <a:rPr b="0" i="0" lang="en-US" sz="21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lookup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5" name="Google Shape;6795;p424"/>
          <p:cNvSpPr/>
          <p:nvPr/>
        </p:nvSpPr>
        <p:spPr>
          <a:xfrm>
            <a:off x="952500" y="6368415"/>
            <a:ext cx="180213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If you have already done it, </a:t>
            </a:r>
            <a:r>
              <a:rPr b="0" i="0" lang="en-US" sz="255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del sum </a:t>
            </a: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removes your variable and gives the built-in back.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800" name="Shape 6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1" name="Google Shape;6801;p42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2" name="Google Shape;6802;p42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global keyword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3" name="Google Shape;6803;p425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WITHOUT global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4" name="Google Shape;6804;p425"/>
          <p:cNvSpPr/>
          <p:nvPr/>
        </p:nvSpPr>
        <p:spPr>
          <a:xfrm>
            <a:off x="952500" y="3276600"/>
            <a:ext cx="7943850" cy="3510915"/>
          </a:xfrm>
          <a:prstGeom prst="roundRect">
            <a:avLst>
              <a:gd fmla="val 2170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5" name="Google Shape;6805;p425"/>
          <p:cNvSpPr/>
          <p:nvPr/>
        </p:nvSpPr>
        <p:spPr>
          <a:xfrm>
            <a:off x="1245870" y="3531870"/>
            <a:ext cx="7595425" cy="3038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counter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bump():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counter = 99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bump()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print(counter)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6" name="Google Shape;6806;p425"/>
          <p:cNvSpPr/>
          <p:nvPr/>
        </p:nvSpPr>
        <p:spPr>
          <a:xfrm>
            <a:off x="952500" y="6978015"/>
            <a:ext cx="7943850" cy="792480"/>
          </a:xfrm>
          <a:prstGeom prst="roundRect">
            <a:avLst>
              <a:gd fmla="val 961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7" name="Google Shape;6807;p425"/>
          <p:cNvSpPr/>
          <p:nvPr/>
        </p:nvSpPr>
        <p:spPr>
          <a:xfrm>
            <a:off x="1238250" y="7187565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8" name="Google Shape;6808;p425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global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9" name="Google Shape;6809;p425"/>
          <p:cNvSpPr/>
          <p:nvPr/>
        </p:nvSpPr>
        <p:spPr>
          <a:xfrm>
            <a:off x="9391650" y="3276600"/>
            <a:ext cx="7943850" cy="3939540"/>
          </a:xfrm>
          <a:prstGeom prst="roundRect">
            <a:avLst>
              <a:gd fmla="val 1934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0" name="Google Shape;6810;p425"/>
          <p:cNvSpPr/>
          <p:nvPr/>
        </p:nvSpPr>
        <p:spPr>
          <a:xfrm>
            <a:off x="9685020" y="3531870"/>
            <a:ext cx="7595425" cy="3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counter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bump():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global counter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counter += 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bump()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print(counter)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1" name="Google Shape;6811;p425"/>
          <p:cNvSpPr/>
          <p:nvPr/>
        </p:nvSpPr>
        <p:spPr>
          <a:xfrm>
            <a:off x="9391650" y="7406640"/>
            <a:ext cx="7943850" cy="792480"/>
          </a:xfrm>
          <a:prstGeom prst="roundRect">
            <a:avLst>
              <a:gd fmla="val 961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2" name="Google Shape;6812;p425"/>
          <p:cNvSpPr/>
          <p:nvPr/>
        </p:nvSpPr>
        <p:spPr>
          <a:xfrm>
            <a:off x="9677400" y="7616190"/>
            <a:ext cx="76106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3" name="Google Shape;6813;p425"/>
          <p:cNvSpPr/>
          <p:nvPr/>
        </p:nvSpPr>
        <p:spPr>
          <a:xfrm>
            <a:off x="952500" y="8618220"/>
            <a:ext cx="16874490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Prefer returning a value. Heavy use of global makes a program hard to follow, because any function might have changed anything.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818" name="Shape 6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" name="Google Shape;6819;p426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SHORTCUT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0" name="Google Shape;6820;p426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enumerate: the position and the item at once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1" name="Google Shape;6821;p426"/>
          <p:cNvSpPr/>
          <p:nvPr/>
        </p:nvSpPr>
        <p:spPr>
          <a:xfrm>
            <a:off x="95250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YOU HAVE BEEN WRITING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2" name="Google Shape;6822;p426"/>
          <p:cNvSpPr/>
          <p:nvPr/>
        </p:nvSpPr>
        <p:spPr>
          <a:xfrm>
            <a:off x="952500" y="327660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3" name="Google Shape;6823;p426"/>
          <p:cNvSpPr/>
          <p:nvPr/>
        </p:nvSpPr>
        <p:spPr>
          <a:xfrm>
            <a:off x="1245870" y="353187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range(len(fruits)):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print(i, fruits[i])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4" name="Google Shape;6824;p426"/>
          <p:cNvSpPr/>
          <p:nvPr/>
        </p:nvSpPr>
        <p:spPr>
          <a:xfrm>
            <a:off x="9391650" y="2727960"/>
            <a:ext cx="873823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SHORTER FORM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5" name="Google Shape;6825;p426"/>
          <p:cNvSpPr/>
          <p:nvPr/>
        </p:nvSpPr>
        <p:spPr>
          <a:xfrm>
            <a:off x="9391650" y="3276600"/>
            <a:ext cx="7943850" cy="1367790"/>
          </a:xfrm>
          <a:prstGeom prst="roundRect">
            <a:avLst>
              <a:gd fmla="val 5571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6" name="Google Shape;6826;p426"/>
          <p:cNvSpPr/>
          <p:nvPr/>
        </p:nvSpPr>
        <p:spPr>
          <a:xfrm>
            <a:off x="9685020" y="3531870"/>
            <a:ext cx="75954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i, f in enumerate(fruits):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print(i, f)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7" name="Google Shape;6827;p426"/>
          <p:cNvSpPr/>
          <p:nvPr/>
        </p:nvSpPr>
        <p:spPr>
          <a:xfrm>
            <a:off x="952500" y="513969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Both print the same thing. The second cannot go out of range, because there is no index to get wrong.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832" name="Shape 6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3" name="Google Shape;6833;p427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TWO DISTINCTIONS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4" name="Google Shape;6834;p427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append or extend, sort or sorted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5" name="Google Shape;6835;p427"/>
          <p:cNvSpPr/>
          <p:nvPr/>
        </p:nvSpPr>
        <p:spPr>
          <a:xfrm>
            <a:off x="952500" y="2727960"/>
            <a:ext cx="7943850" cy="1996440"/>
          </a:xfrm>
          <a:prstGeom prst="roundRect">
            <a:avLst>
              <a:gd fmla="val 381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6" name="Google Shape;6836;p427"/>
          <p:cNvSpPr/>
          <p:nvPr/>
        </p:nvSpPr>
        <p:spPr>
          <a:xfrm>
            <a:off x="1245870" y="2983230"/>
            <a:ext cx="75954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[1, 2, 3]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= [1, 2, 3]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a.append([4, 5])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b.extend([4, 5])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7" name="Google Shape;6837;p427"/>
          <p:cNvSpPr/>
          <p:nvPr/>
        </p:nvSpPr>
        <p:spPr>
          <a:xfrm>
            <a:off x="952500" y="4914900"/>
            <a:ext cx="7943850" cy="1112520"/>
          </a:xfrm>
          <a:prstGeom prst="roundRect">
            <a:avLst>
              <a:gd fmla="val 684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8" name="Google Shape;6838;p427"/>
          <p:cNvSpPr/>
          <p:nvPr/>
        </p:nvSpPr>
        <p:spPr>
          <a:xfrm>
            <a:off x="1238250" y="5124450"/>
            <a:ext cx="761066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4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[1, 2, 3, [4, 5]]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814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[1, 2, 3, 4, 5]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9" name="Google Shape;6839;p427"/>
          <p:cNvSpPr/>
          <p:nvPr/>
        </p:nvSpPr>
        <p:spPr>
          <a:xfrm>
            <a:off x="9391650" y="2727960"/>
            <a:ext cx="7943850" cy="2367915"/>
          </a:xfrm>
          <a:prstGeom prst="roundRect">
            <a:avLst>
              <a:gd fmla="val 321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0" name="Google Shape;6840;p427"/>
          <p:cNvSpPr/>
          <p:nvPr/>
        </p:nvSpPr>
        <p:spPr>
          <a:xfrm>
            <a:off x="9685020" y="2983230"/>
            <a:ext cx="7595425" cy="1895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 = [5, 2, 9]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copy = sorted(m)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m.sort()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1" name="Google Shape;6841;p427"/>
          <p:cNvSpPr/>
          <p:nvPr/>
        </p:nvSpPr>
        <p:spPr>
          <a:xfrm>
            <a:off x="9391650" y="5286375"/>
            <a:ext cx="7943850" cy="1112520"/>
          </a:xfrm>
          <a:prstGeom prst="roundRect">
            <a:avLst>
              <a:gd fmla="val 684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2" name="Google Shape;6842;p427"/>
          <p:cNvSpPr/>
          <p:nvPr/>
        </p:nvSpPr>
        <p:spPr>
          <a:xfrm>
            <a:off x="9677400" y="5495925"/>
            <a:ext cx="761066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4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[5, 2, 9]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814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[2, 5, 9]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3" name="Google Shape;6843;p427"/>
          <p:cNvSpPr/>
          <p:nvPr/>
        </p:nvSpPr>
        <p:spPr>
          <a:xfrm>
            <a:off x="952500" y="681799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append adds one item, whatever it is. sorted returns a new list; sort changes the one you have.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848" name="Shape 6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9" name="Google Shape;6849;p428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SETS · TWO MORE OPERATIONS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0" name="Google Shape;6850;p428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Symmetric difference, subset, superset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1" name="Google Shape;6851;p428"/>
          <p:cNvSpPr/>
          <p:nvPr/>
        </p:nvSpPr>
        <p:spPr>
          <a:xfrm>
            <a:off x="952500" y="2727960"/>
            <a:ext cx="7943850" cy="1996440"/>
          </a:xfrm>
          <a:prstGeom prst="roundRect">
            <a:avLst>
              <a:gd fmla="val 3817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2" name="Google Shape;6852;p428"/>
          <p:cNvSpPr/>
          <p:nvPr/>
        </p:nvSpPr>
        <p:spPr>
          <a:xfrm>
            <a:off x="1245870" y="2983230"/>
            <a:ext cx="75954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{"Mon", "Tue", "Wed"}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= {"Wed", "Thu"}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^ B)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3" name="Google Shape;6853;p428"/>
          <p:cNvSpPr/>
          <p:nvPr/>
        </p:nvSpPr>
        <p:spPr>
          <a:xfrm>
            <a:off x="952500" y="4914900"/>
            <a:ext cx="7943850" cy="746760"/>
          </a:xfrm>
          <a:prstGeom prst="roundRect">
            <a:avLst>
              <a:gd fmla="val 1020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4" name="Google Shape;6854;p428"/>
          <p:cNvSpPr/>
          <p:nvPr/>
        </p:nvSpPr>
        <p:spPr>
          <a:xfrm>
            <a:off x="1238250" y="5124450"/>
            <a:ext cx="761066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{'Mon', 'Tue', 'Thu'}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5" name="Google Shape;6855;p428"/>
          <p:cNvSpPr/>
          <p:nvPr/>
        </p:nvSpPr>
        <p:spPr>
          <a:xfrm>
            <a:off x="952500" y="5852160"/>
            <a:ext cx="8738235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 one set but not both.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6" name="Google Shape;6856;p428"/>
          <p:cNvSpPr/>
          <p:nvPr/>
        </p:nvSpPr>
        <p:spPr>
          <a:xfrm>
            <a:off x="9391650" y="2727960"/>
            <a:ext cx="7943850" cy="2367915"/>
          </a:xfrm>
          <a:prstGeom prst="roundRect">
            <a:avLst>
              <a:gd fmla="val 321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7" name="Google Shape;6857;p428"/>
          <p:cNvSpPr/>
          <p:nvPr/>
        </p:nvSpPr>
        <p:spPr>
          <a:xfrm>
            <a:off x="9685020" y="2983230"/>
            <a:ext cx="7595425" cy="1895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{"Mon", "Tue"}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= {"Mon", "Tue", "Wed"}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&lt;= B)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print(B &gt;= A)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8" name="Google Shape;6858;p428"/>
          <p:cNvSpPr/>
          <p:nvPr/>
        </p:nvSpPr>
        <p:spPr>
          <a:xfrm>
            <a:off x="9391650" y="5286375"/>
            <a:ext cx="7943850" cy="1112520"/>
          </a:xfrm>
          <a:prstGeom prst="roundRect">
            <a:avLst>
              <a:gd fmla="val 6849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9" name="Google Shape;6859;p428"/>
          <p:cNvSpPr/>
          <p:nvPr/>
        </p:nvSpPr>
        <p:spPr>
          <a:xfrm>
            <a:off x="9677400" y="5495925"/>
            <a:ext cx="761066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4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814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0" name="Google Shape;6860;p428"/>
          <p:cNvSpPr/>
          <p:nvPr/>
        </p:nvSpPr>
        <p:spPr>
          <a:xfrm>
            <a:off x="9391650" y="6589395"/>
            <a:ext cx="8738235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Bricolage Grotesque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is a subset; B is a superset.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865" name="Shape 6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6" name="Google Shape;6866;p429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SHORTCUT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7" name="Google Shape;6867;p429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Counter: the counting pattern, done for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8" name="Google Shape;6868;p429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[2]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9" name="Google Shape;6869;p429"/>
          <p:cNvSpPr/>
          <p:nvPr/>
        </p:nvSpPr>
        <p:spPr>
          <a:xfrm>
            <a:off x="2228850" y="2727960"/>
            <a:ext cx="15106650" cy="3977640"/>
          </a:xfrm>
          <a:prstGeom prst="roundRect">
            <a:avLst>
              <a:gd fmla="val 1916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0" name="Google Shape;6870;p429"/>
          <p:cNvSpPr/>
          <p:nvPr/>
        </p:nvSpPr>
        <p:spPr>
          <a:xfrm>
            <a:off x="2541270" y="3002280"/>
            <a:ext cx="14935010" cy="3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 collections import Counter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letters = ['B', 'B', 'A', 'B', 'C', 'A']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 = Counter(letters)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print(c)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print(c['A'])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print(c.most_common(2))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1" name="Google Shape;6871;p429"/>
          <p:cNvSpPr/>
          <p:nvPr/>
        </p:nvSpPr>
        <p:spPr>
          <a:xfrm>
            <a:off x="952500" y="712470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2" name="Google Shape;6872;p429"/>
          <p:cNvSpPr/>
          <p:nvPr/>
        </p:nvSpPr>
        <p:spPr>
          <a:xfrm>
            <a:off x="2228850" y="6934200"/>
            <a:ext cx="15106650" cy="1459230"/>
          </a:xfrm>
          <a:prstGeom prst="roundRect">
            <a:avLst>
              <a:gd fmla="val 5222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3" name="Google Shape;6873;p429"/>
          <p:cNvSpPr/>
          <p:nvPr/>
        </p:nvSpPr>
        <p:spPr>
          <a:xfrm>
            <a:off x="2533650" y="7143750"/>
            <a:ext cx="14950249" cy="10782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4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Counter({'B': 3, 'A': 2, 'C': 1})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814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814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[('B', 3), ('A', 2)]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4" name="Google Shape;6874;p429"/>
          <p:cNvSpPr/>
          <p:nvPr/>
        </p:nvSpPr>
        <p:spPr>
          <a:xfrm>
            <a:off x="952500" y="873633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Counter is a dictionary, so everything from Class 21 still works on it.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879" name="Shape 6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0" name="Google Shape;6880;p430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DICTIONARIES · TWO MORE THINGS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1" name="Google Shape;6881;p430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fromkeys, and copy versus alias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2" name="Google Shape;6882;p430"/>
          <p:cNvSpPr/>
          <p:nvPr/>
        </p:nvSpPr>
        <p:spPr>
          <a:xfrm>
            <a:off x="952500" y="2727960"/>
            <a:ext cx="7943850" cy="1624965"/>
          </a:xfrm>
          <a:prstGeom prst="roundRect">
            <a:avLst>
              <a:gd fmla="val 4689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3" name="Google Shape;6883;p430"/>
          <p:cNvSpPr/>
          <p:nvPr/>
        </p:nvSpPr>
        <p:spPr>
          <a:xfrm>
            <a:off x="1245870" y="2983230"/>
            <a:ext cx="7595425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subjects = ['math', 'physics']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marks = dict.fromkeys(subjects, 0)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print(marks)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4" name="Google Shape;6884;p430"/>
          <p:cNvSpPr/>
          <p:nvPr/>
        </p:nvSpPr>
        <p:spPr>
          <a:xfrm>
            <a:off x="952500" y="4543425"/>
            <a:ext cx="7943850" cy="746760"/>
          </a:xfrm>
          <a:prstGeom prst="roundRect">
            <a:avLst>
              <a:gd fmla="val 1020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5" name="Google Shape;6885;p430"/>
          <p:cNvSpPr/>
          <p:nvPr/>
        </p:nvSpPr>
        <p:spPr>
          <a:xfrm>
            <a:off x="1238250" y="4752975"/>
            <a:ext cx="761066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{'math': 0, 'physics': 0}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6" name="Google Shape;6886;p430"/>
          <p:cNvSpPr/>
          <p:nvPr/>
        </p:nvSpPr>
        <p:spPr>
          <a:xfrm>
            <a:off x="9391650" y="2727960"/>
            <a:ext cx="7943850" cy="2367915"/>
          </a:xfrm>
          <a:prstGeom prst="roundRect">
            <a:avLst>
              <a:gd fmla="val 321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7" name="Google Shape;6887;p430"/>
          <p:cNvSpPr/>
          <p:nvPr/>
        </p:nvSpPr>
        <p:spPr>
          <a:xfrm>
            <a:off x="9685020" y="2983230"/>
            <a:ext cx="7595425" cy="1895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 = {"year": 1964}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alias  = 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shadow = d.copy()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alias['year'] = 2024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print(d, shadow)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8" name="Google Shape;6888;p430"/>
          <p:cNvSpPr/>
          <p:nvPr/>
        </p:nvSpPr>
        <p:spPr>
          <a:xfrm>
            <a:off x="9391650" y="5286375"/>
            <a:ext cx="7943850" cy="746760"/>
          </a:xfrm>
          <a:prstGeom prst="roundRect">
            <a:avLst>
              <a:gd fmla="val 10204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9" name="Google Shape;6889;p430"/>
          <p:cNvSpPr/>
          <p:nvPr/>
        </p:nvSpPr>
        <p:spPr>
          <a:xfrm>
            <a:off x="9677400" y="5495925"/>
            <a:ext cx="761066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{'year': 2024} {'year': 1964}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0" name="Google Shape;6890;p430"/>
          <p:cNvSpPr/>
          <p:nvPr/>
        </p:nvSpPr>
        <p:spPr>
          <a:xfrm>
            <a:off x="952500" y="645223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Same trap as lists: plain assignment gives a second name, not a second dictionary.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895" name="Shape 6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6" name="Google Shape;6896;p431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FIXING CLASS 22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7" name="Google Shape;6897;p431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Memoisation: remember what you already worked out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8" name="Google Shape;6898;p431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[3]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9" name="Google Shape;6899;p431"/>
          <p:cNvSpPr/>
          <p:nvPr/>
        </p:nvSpPr>
        <p:spPr>
          <a:xfrm>
            <a:off x="2228850" y="2727960"/>
            <a:ext cx="15106650" cy="5263515"/>
          </a:xfrm>
          <a:prstGeom prst="roundRect">
            <a:avLst>
              <a:gd fmla="val 144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0" name="Google Shape;6900;p431"/>
          <p:cNvSpPr/>
          <p:nvPr/>
        </p:nvSpPr>
        <p:spPr>
          <a:xfrm>
            <a:off x="2541270" y="3002280"/>
            <a:ext cx="14935010" cy="4752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memo = {}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fib(n):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n &lt;= 1: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return 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n in memo: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return memo[n]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memo[n] = fib(n - 1) + fib(n - 2)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memo[n]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print(fib(50))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1" name="Google Shape;6901;p431"/>
          <p:cNvSpPr/>
          <p:nvPr/>
        </p:nvSpPr>
        <p:spPr>
          <a:xfrm>
            <a:off x="952500" y="8220075"/>
            <a:ext cx="16874490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Instant, where the version in Class 22 would take years. The recursion tree collapses to a line, because each value is worked out only once.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906" name="Shape 6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7" name="Google Shape;6907;p432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WHY IT MATTERS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8" name="Google Shape;6908;p432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How many calls the naive version makes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9" name="Google Shape;6909;p432"/>
          <p:cNvSpPr/>
          <p:nvPr/>
        </p:nvSpPr>
        <p:spPr>
          <a:xfrm>
            <a:off x="952500" y="2727960"/>
            <a:ext cx="12382500" cy="15240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0" name="Google Shape;6910;p432"/>
          <p:cNvSpPr/>
          <p:nvPr/>
        </p:nvSpPr>
        <p:spPr>
          <a:xfrm>
            <a:off x="952500" y="3482340"/>
            <a:ext cx="41274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1" name="Google Shape;6911;p432"/>
          <p:cNvSpPr/>
          <p:nvPr/>
        </p:nvSpPr>
        <p:spPr>
          <a:xfrm>
            <a:off x="1181100" y="2933700"/>
            <a:ext cx="379404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2" name="Google Shape;6912;p432"/>
          <p:cNvSpPr/>
          <p:nvPr/>
        </p:nvSpPr>
        <p:spPr>
          <a:xfrm>
            <a:off x="5079921" y="3482340"/>
            <a:ext cx="41275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3" name="Google Shape;6913;p432"/>
          <p:cNvSpPr/>
          <p:nvPr/>
        </p:nvSpPr>
        <p:spPr>
          <a:xfrm>
            <a:off x="5308521" y="2933700"/>
            <a:ext cx="3794166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NAIVE CALLS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4" name="Google Shape;6914;p432"/>
          <p:cNvSpPr/>
          <p:nvPr/>
        </p:nvSpPr>
        <p:spPr>
          <a:xfrm>
            <a:off x="9207461" y="3482340"/>
            <a:ext cx="41275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5" name="Google Shape;6915;p432"/>
          <p:cNvSpPr/>
          <p:nvPr/>
        </p:nvSpPr>
        <p:spPr>
          <a:xfrm>
            <a:off x="9436061" y="2933700"/>
            <a:ext cx="3794166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MEMO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6" name="Google Shape;6916;p432"/>
          <p:cNvSpPr/>
          <p:nvPr/>
        </p:nvSpPr>
        <p:spPr>
          <a:xfrm>
            <a:off x="952500" y="4389120"/>
            <a:ext cx="41274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7" name="Google Shape;6917;p432"/>
          <p:cNvSpPr/>
          <p:nvPr/>
        </p:nvSpPr>
        <p:spPr>
          <a:xfrm>
            <a:off x="1181100" y="3661410"/>
            <a:ext cx="3794043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8" name="Google Shape;6918;p432"/>
          <p:cNvSpPr/>
          <p:nvPr/>
        </p:nvSpPr>
        <p:spPr>
          <a:xfrm>
            <a:off x="5079921" y="4389120"/>
            <a:ext cx="41275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9" name="Google Shape;6919;p432"/>
          <p:cNvSpPr/>
          <p:nvPr/>
        </p:nvSpPr>
        <p:spPr>
          <a:xfrm>
            <a:off x="5308521" y="3661410"/>
            <a:ext cx="379416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0" name="Google Shape;6920;p432"/>
          <p:cNvSpPr/>
          <p:nvPr/>
        </p:nvSpPr>
        <p:spPr>
          <a:xfrm>
            <a:off x="9207461" y="4389120"/>
            <a:ext cx="41275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1" name="Google Shape;6921;p432"/>
          <p:cNvSpPr/>
          <p:nvPr/>
        </p:nvSpPr>
        <p:spPr>
          <a:xfrm>
            <a:off x="9436061" y="3661410"/>
            <a:ext cx="379416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2" name="Google Shape;6922;p432"/>
          <p:cNvSpPr/>
          <p:nvPr/>
        </p:nvSpPr>
        <p:spPr>
          <a:xfrm>
            <a:off x="952500" y="5295900"/>
            <a:ext cx="41274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3" name="Google Shape;6923;p432"/>
          <p:cNvSpPr/>
          <p:nvPr/>
        </p:nvSpPr>
        <p:spPr>
          <a:xfrm>
            <a:off x="1181100" y="4568190"/>
            <a:ext cx="3794043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4" name="Google Shape;6924;p432"/>
          <p:cNvSpPr/>
          <p:nvPr/>
        </p:nvSpPr>
        <p:spPr>
          <a:xfrm>
            <a:off x="5079921" y="5295900"/>
            <a:ext cx="41275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5" name="Google Shape;6925;p432"/>
          <p:cNvSpPr/>
          <p:nvPr/>
        </p:nvSpPr>
        <p:spPr>
          <a:xfrm>
            <a:off x="5308521" y="4568190"/>
            <a:ext cx="379416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177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6" name="Google Shape;6926;p432"/>
          <p:cNvSpPr/>
          <p:nvPr/>
        </p:nvSpPr>
        <p:spPr>
          <a:xfrm>
            <a:off x="9207461" y="5295900"/>
            <a:ext cx="41275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7" name="Google Shape;6927;p432"/>
          <p:cNvSpPr/>
          <p:nvPr/>
        </p:nvSpPr>
        <p:spPr>
          <a:xfrm>
            <a:off x="9436061" y="4568190"/>
            <a:ext cx="379416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19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8" name="Google Shape;6928;p432"/>
          <p:cNvSpPr/>
          <p:nvPr/>
        </p:nvSpPr>
        <p:spPr>
          <a:xfrm>
            <a:off x="952500" y="6202680"/>
            <a:ext cx="4127421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9" name="Google Shape;6929;p432"/>
          <p:cNvSpPr/>
          <p:nvPr/>
        </p:nvSpPr>
        <p:spPr>
          <a:xfrm>
            <a:off x="1181100" y="5474970"/>
            <a:ext cx="3794043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0" name="Google Shape;6930;p432"/>
          <p:cNvSpPr/>
          <p:nvPr/>
        </p:nvSpPr>
        <p:spPr>
          <a:xfrm>
            <a:off x="5079921" y="6202680"/>
            <a:ext cx="41275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1" name="Google Shape;6931;p432"/>
          <p:cNvSpPr/>
          <p:nvPr/>
        </p:nvSpPr>
        <p:spPr>
          <a:xfrm>
            <a:off x="5308521" y="5474970"/>
            <a:ext cx="379416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21,891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2" name="Google Shape;6932;p432"/>
          <p:cNvSpPr/>
          <p:nvPr/>
        </p:nvSpPr>
        <p:spPr>
          <a:xfrm>
            <a:off x="9207461" y="6202680"/>
            <a:ext cx="4127540" cy="9525"/>
          </a:xfrm>
          <a:prstGeom prst="rect">
            <a:avLst/>
          </a:prstGeom>
          <a:solidFill>
            <a:srgbClr val="E3D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3" name="Google Shape;6933;p432"/>
          <p:cNvSpPr/>
          <p:nvPr/>
        </p:nvSpPr>
        <p:spPr>
          <a:xfrm>
            <a:off x="9436061" y="5474970"/>
            <a:ext cx="379416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39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4" name="Google Shape;6934;p432"/>
          <p:cNvSpPr/>
          <p:nvPr/>
        </p:nvSpPr>
        <p:spPr>
          <a:xfrm>
            <a:off x="1181100" y="6381750"/>
            <a:ext cx="3794043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30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5" name="Google Shape;6935;p432"/>
          <p:cNvSpPr/>
          <p:nvPr/>
        </p:nvSpPr>
        <p:spPr>
          <a:xfrm>
            <a:off x="5308521" y="6381750"/>
            <a:ext cx="379416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2,692,537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6" name="Google Shape;6936;p432"/>
          <p:cNvSpPr/>
          <p:nvPr/>
        </p:nvSpPr>
        <p:spPr>
          <a:xfrm>
            <a:off x="9436061" y="6381750"/>
            <a:ext cx="379416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3300"/>
              <a:buFont typeface="JetBrains Mono"/>
              <a:buNone/>
            </a:pPr>
            <a:r>
              <a:rPr b="0" i="0" lang="en-US" sz="33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59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7" name="Google Shape;6937;p432"/>
          <p:cNvSpPr/>
          <p:nvPr/>
        </p:nvSpPr>
        <p:spPr>
          <a:xfrm>
            <a:off x="952500" y="7566660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naive count roughly doubles for every step of n. The memoised count adds two.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942" name="Shape 6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3" name="Google Shape;6943;p433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PREVIEW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4" name="Google Shape;6944;p433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yield: handing back one value at a time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5" name="Google Shape;6945;p433"/>
          <p:cNvSpPr/>
          <p:nvPr/>
        </p:nvSpPr>
        <p:spPr>
          <a:xfrm>
            <a:off x="952500" y="2975610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[4]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6" name="Google Shape;6946;p433"/>
          <p:cNvSpPr/>
          <p:nvPr/>
        </p:nvSpPr>
        <p:spPr>
          <a:xfrm>
            <a:off x="2228850" y="2727960"/>
            <a:ext cx="15106650" cy="5263515"/>
          </a:xfrm>
          <a:prstGeom prst="roundRect">
            <a:avLst>
              <a:gd fmla="val 1448" name="adj"/>
            </a:avLst>
          </a:prstGeom>
          <a:solidFill>
            <a:srgbClr val="FFFFFF"/>
          </a:solidFill>
          <a:ln cap="flat" cmpd="sng" w="9525">
            <a:solidFill>
              <a:srgbClr val="E3D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7" name="Google Shape;6947;p433"/>
          <p:cNvSpPr/>
          <p:nvPr/>
        </p:nvSpPr>
        <p:spPr>
          <a:xfrm>
            <a:off x="2541270" y="3002280"/>
            <a:ext cx="14935010" cy="4752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fib(limit):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a = 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b = 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while a &lt; limit: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yield 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c = a + b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a = b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b = c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fib(5):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796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print(i, end = " 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8" name="Google Shape;6948;p433"/>
          <p:cNvSpPr/>
          <p:nvPr/>
        </p:nvSpPr>
        <p:spPr>
          <a:xfrm>
            <a:off x="952500" y="8410575"/>
            <a:ext cx="11239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6E62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9" name="Google Shape;6949;p433"/>
          <p:cNvSpPr/>
          <p:nvPr/>
        </p:nvSpPr>
        <p:spPr>
          <a:xfrm>
            <a:off x="2228850" y="8220075"/>
            <a:ext cx="15106650" cy="792480"/>
          </a:xfrm>
          <a:prstGeom prst="roundRect">
            <a:avLst>
              <a:gd fmla="val 961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0" name="Google Shape;6950;p433"/>
          <p:cNvSpPr/>
          <p:nvPr/>
        </p:nvSpPr>
        <p:spPr>
          <a:xfrm>
            <a:off x="2533650" y="8429625"/>
            <a:ext cx="1495024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250"/>
              <a:buFont typeface="JetBrains Mono"/>
              <a:buNone/>
            </a:pPr>
            <a:r>
              <a:rPr b="0" i="0" lang="en-US" sz="2250" u="none" cap="none" strike="noStrike">
                <a:solidFill>
                  <a:srgbClr val="241C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0 1 1 2 3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1" name="Google Shape;6951;p433"/>
          <p:cNvSpPr/>
          <p:nvPr/>
        </p:nvSpPr>
        <p:spPr>
          <a:xfrm>
            <a:off x="952500" y="9355455"/>
            <a:ext cx="180213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259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6E62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return ends a function. yield pauses it, hands one value back, and carries on from the same place next time.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C17"/>
        </a:solidFill>
      </p:bgPr>
    </p:bg>
    <p:spTree>
      <p:nvGrpSpPr>
        <p:cNvPr id="6956" name="Shape 6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7" name="Google Shape;6957;p434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PRACTICE · 25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8" name="Google Shape;6958;p434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Try it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9" name="Google Shape;6959;p434"/>
          <p:cNvSpPr/>
          <p:nvPr/>
        </p:nvSpPr>
        <p:spPr>
          <a:xfrm>
            <a:off x="952500" y="278892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0" name="Google Shape;6960;p434"/>
          <p:cNvSpPr/>
          <p:nvPr/>
        </p:nvSpPr>
        <p:spPr>
          <a:xfrm>
            <a:off x="1684139" y="272796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Count the words in a sentence with a dictionary, then again with Counter, and compare.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1" name="Google Shape;6961;p434"/>
          <p:cNvSpPr/>
          <p:nvPr/>
        </p:nvSpPr>
        <p:spPr>
          <a:xfrm>
            <a:off x="952500" y="413766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2" name="Google Shape;6962;p434"/>
          <p:cNvSpPr/>
          <p:nvPr/>
        </p:nvSpPr>
        <p:spPr>
          <a:xfrm>
            <a:off x="1684139" y="4076700"/>
            <a:ext cx="13962537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a recursive gcd(a, b) using gcd(b, a % b), with gcd(a, 0) returning a.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3" name="Google Shape;6963;p434"/>
          <p:cNvSpPr/>
          <p:nvPr/>
        </p:nvSpPr>
        <p:spPr>
          <a:xfrm>
            <a:off x="952500" y="5486400"/>
            <a:ext cx="46493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08A"/>
              </a:buClr>
              <a:buSzPts val="2550"/>
              <a:buFont typeface="JetBrains Mono"/>
              <a:buNone/>
            </a:pPr>
            <a:r>
              <a:rPr b="0" i="0" lang="en-US" sz="2550" u="none" cap="none" strike="noStrike">
                <a:solidFill>
                  <a:srgbClr val="D9A0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4" name="Google Shape;6964;p434"/>
          <p:cNvSpPr/>
          <p:nvPr/>
        </p:nvSpPr>
        <p:spPr>
          <a:xfrm>
            <a:off x="1684139" y="5425440"/>
            <a:ext cx="11355645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FE4"/>
              </a:buClr>
              <a:buSzPts val="3300"/>
              <a:buFont typeface="Bricolage Grotesque"/>
              <a:buNone/>
            </a:pPr>
            <a:r>
              <a:rPr b="0" i="0" lang="en-US" sz="3300" u="none" cap="none" strike="noStrike">
                <a:solidFill>
                  <a:srgbClr val="F7EF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Print the moves for the Towers of Hanoi with n disks.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969" name="Shape 6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0" name="Google Shape;6970;p435"/>
          <p:cNvSpPr/>
          <p:nvPr/>
        </p:nvSpPr>
        <p:spPr>
          <a:xfrm>
            <a:off x="952500" y="952500"/>
            <a:ext cx="180213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1E"/>
              </a:buClr>
              <a:buSzPts val="2100"/>
              <a:buFont typeface="JetBrains Mono"/>
              <a:buNone/>
            </a:pPr>
            <a:r>
              <a:rPr b="0" i="0" lang="en-US" sz="2100" u="none" cap="none" strike="noStrike">
                <a:solidFill>
                  <a:srgbClr val="7A2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9 COMPLETE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1" name="Google Shape;6971;p435"/>
          <p:cNvSpPr/>
          <p:nvPr/>
        </p:nvSpPr>
        <p:spPr>
          <a:xfrm>
            <a:off x="952500" y="1501140"/>
            <a:ext cx="180213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you can do 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2" name="Google Shape;6972;p435"/>
          <p:cNvSpPr/>
          <p:nvPr/>
        </p:nvSpPr>
        <p:spPr>
          <a:xfrm>
            <a:off x="952500" y="272796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3" name="Google Shape;6973;p435"/>
          <p:cNvSpPr/>
          <p:nvPr/>
        </p:nvSpPr>
        <p:spPr>
          <a:xfrm>
            <a:off x="1295400" y="307086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Avoid shadowing a built-in, and undo it when you have.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4" name="Google Shape;6974;p435"/>
          <p:cNvSpPr/>
          <p:nvPr/>
        </p:nvSpPr>
        <p:spPr>
          <a:xfrm>
            <a:off x="9334500" y="272796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5" name="Google Shape;6975;p435"/>
          <p:cNvSpPr/>
          <p:nvPr/>
        </p:nvSpPr>
        <p:spPr>
          <a:xfrm>
            <a:off x="9677400" y="307086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Use global knowingly, and prefer a return instead.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6" name="Google Shape;6976;p435"/>
          <p:cNvSpPr/>
          <p:nvPr/>
        </p:nvSpPr>
        <p:spPr>
          <a:xfrm>
            <a:off x="952500" y="470154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7" name="Google Shape;6977;p435"/>
          <p:cNvSpPr/>
          <p:nvPr/>
        </p:nvSpPr>
        <p:spPr>
          <a:xfrm>
            <a:off x="1295400" y="504444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Reach for enumerate, sorted, Counter and fromkeys.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8" name="Google Shape;6978;p435"/>
          <p:cNvSpPr/>
          <p:nvPr/>
        </p:nvSpPr>
        <p:spPr>
          <a:xfrm>
            <a:off x="9334500" y="4701540"/>
            <a:ext cx="8001000" cy="1592580"/>
          </a:xfrm>
          <a:prstGeom prst="roundRect">
            <a:avLst>
              <a:gd fmla="val 4785" name="adj"/>
            </a:avLst>
          </a:prstGeom>
          <a:solidFill>
            <a:srgbClr val="F2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9" name="Google Shape;6979;p435"/>
          <p:cNvSpPr/>
          <p:nvPr/>
        </p:nvSpPr>
        <p:spPr>
          <a:xfrm>
            <a:off x="9677400" y="5044440"/>
            <a:ext cx="755523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241C17"/>
              </a:buClr>
              <a:buSzPts val="2550"/>
              <a:buFont typeface="Bricolage Grotesque"/>
              <a:buNone/>
            </a:pPr>
            <a:r>
              <a:rPr b="0" i="0" lang="en-US" sz="2550" u="none" cap="none" strike="noStrike">
                <a:solidFill>
                  <a:srgbClr val="241C1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Speed up a recursion by remembering its results.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