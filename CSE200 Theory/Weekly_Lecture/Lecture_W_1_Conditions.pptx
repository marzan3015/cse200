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Baumans"/>
      <p:regular r:id="rId41"/>
    </p:embeddedFont>
    <p:embeddedFont>
      <p:font typeface="Century Gothic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zK4e18fnHsgPl8TbfTmYZyMBU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7AF3D3-91A4-4366-862C-B20384B24E18}">
  <a:tblStyle styleId="{AF7AF3D3-91A4-4366-862C-B20384B24E18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7"/>
          </a:solidFill>
        </a:fill>
      </a:tcStyle>
    </a:wholeTbl>
    <a:band1H>
      <a:tcTxStyle b="off" i="off"/>
      <a:tcStyle>
        <a:fill>
          <a:solidFill>
            <a:srgbClr val="CAE3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3EF"/>
          </a:solidFill>
        </a:fill>
      </a:tcStyle>
    </a:band1V>
    <a:band2V>
      <a:tcTxStyle b="off" i="off"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CenturyGothic-regular.fntdata"/><Relationship Id="rId41" Type="http://schemas.openxmlformats.org/officeDocument/2006/relationships/font" Target="fonts/Baumans-regular.fntdata"/><Relationship Id="rId22" Type="http://schemas.openxmlformats.org/officeDocument/2006/relationships/slide" Target="slides/slide17.xml"/><Relationship Id="rId44" Type="http://schemas.openxmlformats.org/officeDocument/2006/relationships/font" Target="fonts/CenturyGothic-italic.fntdata"/><Relationship Id="rId21" Type="http://schemas.openxmlformats.org/officeDocument/2006/relationships/slide" Target="slides/slide16.xml"/><Relationship Id="rId43" Type="http://schemas.openxmlformats.org/officeDocument/2006/relationships/font" Target="fonts/CenturyGothic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3" name="Google Shape;41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12" name="Google Shape;12;p37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Google Shape;13;p37"/>
          <p:cNvSpPr txBox="1"/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7"/>
          <p:cNvSpPr txBox="1"/>
          <p:nvPr>
            <p:ph idx="1" type="subTitle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19" name="Google Shape;19;p38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" type="body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26" name="Google Shape;26;p39"/>
          <p:cNvSpPr/>
          <p:nvPr/>
        </p:nvSpPr>
        <p:spPr>
          <a:xfrm>
            <a:off x="7209816" y="0"/>
            <a:ext cx="4143984" cy="5747660"/>
          </a:xfrm>
          <a:custGeom>
            <a:rect b="b" l="l" r="r" t="t"/>
            <a:pathLst>
              <a:path extrusionOk="0" h="5956080" w="384375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39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" type="body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33" name="Google Shape;33;p40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Google Shape;3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41" name="Google Shape;41;p41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" type="body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41"/>
          <p:cNvSpPr txBox="1"/>
          <p:nvPr>
            <p:ph idx="2" type="body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3" type="body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41"/>
          <p:cNvSpPr txBox="1"/>
          <p:nvPr>
            <p:ph idx="4" type="body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51" name="Google Shape;51;p42"/>
          <p:cNvSpPr/>
          <p:nvPr/>
        </p:nvSpPr>
        <p:spPr>
          <a:xfrm flipH="1">
            <a:off x="1969639" y="181596"/>
            <a:ext cx="8252722" cy="6022258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42"/>
          <p:cNvSpPr txBox="1"/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ask ID=&#10;Mask position=bottom, center&#10;Mask family= brushstroke, landscape, wide" id="61" name="Google Shape;61;p44"/>
          <p:cNvSpPr/>
          <p:nvPr/>
        </p:nvSpPr>
        <p:spPr>
          <a:xfrm>
            <a:off x="1768100" y="-1"/>
            <a:ext cx="10423900" cy="5920155"/>
          </a:xfrm>
          <a:custGeom>
            <a:rect b="b" l="l" r="r" t="t"/>
            <a:pathLst>
              <a:path extrusionOk="0" h="5491534" w="1042390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66" name="Google Shape;66;p45"/>
          <p:cNvSpPr/>
          <p:nvPr/>
        </p:nvSpPr>
        <p:spPr>
          <a:xfrm>
            <a:off x="4726728" y="0"/>
            <a:ext cx="7472381" cy="6858000"/>
          </a:xfrm>
          <a:custGeom>
            <a:rect b="b" l="l" r="r" t="t"/>
            <a:pathLst>
              <a:path extrusionOk="0" h="6886575" w="7472381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45"/>
          <p:cNvSpPr txBox="1"/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45"/>
          <p:cNvSpPr txBox="1"/>
          <p:nvPr>
            <p:ph idx="2" type="body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4" name="Google Shape;74;p46"/>
          <p:cNvSpPr/>
          <p:nvPr/>
        </p:nvSpPr>
        <p:spPr>
          <a:xfrm>
            <a:off x="684965" y="1332237"/>
            <a:ext cx="5263732" cy="3841102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" name="Google Shape;75;p46"/>
          <p:cNvSpPr txBox="1"/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/>
          <p:nvPr>
            <p:ph idx="2" type="pic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6"/>
          <p:cNvSpPr txBox="1"/>
          <p:nvPr>
            <p:ph idx="1" type="body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" name="Google Shape;98;p1"/>
          <p:cNvSpPr txBox="1"/>
          <p:nvPr>
            <p:ph type="ctrTitle"/>
          </p:nvPr>
        </p:nvSpPr>
        <p:spPr>
          <a:xfrm>
            <a:off x="1329446" y="4331242"/>
            <a:ext cx="10100170" cy="6829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b="1" lang="en-US" sz="3700"/>
              <a:t>Python – Conditional Statements</a:t>
            </a:r>
            <a:endParaRPr/>
          </a:p>
        </p:txBody>
      </p:sp>
      <p:pic>
        <p:nvPicPr>
          <p:cNvPr descr="Aerial view of beach and waves" id="99" name="Google Shape;99;p1"/>
          <p:cNvPicPr preferRelativeResize="0"/>
          <p:nvPr/>
        </p:nvPicPr>
        <p:blipFill rotWithShape="1">
          <a:blip r:embed="rId3">
            <a:alphaModFix/>
          </a:blip>
          <a:srcRect b="32796" l="0" r="0" t="29137"/>
          <a:stretch/>
        </p:blipFill>
        <p:spPr>
          <a:xfrm>
            <a:off x="838201" y="10"/>
            <a:ext cx="10484412" cy="3811394"/>
          </a:xfrm>
          <a:custGeom>
            <a:rect b="b" l="l" r="r" t="t"/>
            <a:pathLst>
              <a:path extrusionOk="0" h="3811404" w="10484412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&#10;&#10;Description automatically generated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30" y="3590767"/>
            <a:ext cx="2374629" cy="682908"/>
          </a:xfrm>
          <a:custGeom>
            <a:rect b="b" l="l" r="r" t="t"/>
            <a:pathLst>
              <a:path extrusionOk="0" fill="none" h="682908" w="2374629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extrusionOk="0" h="682908" w="2374629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01" name="Google Shape;101;p1"/>
          <p:cNvSpPr txBox="1"/>
          <p:nvPr/>
        </p:nvSpPr>
        <p:spPr>
          <a:xfrm>
            <a:off x="5894962" y="3729869"/>
            <a:ext cx="4141280" cy="6829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8E6B"/>
              </a:buClr>
              <a:buSzPts val="3700"/>
              <a:buFont typeface="Baumans"/>
              <a:buNone/>
            </a:pPr>
            <a:r>
              <a:rPr b="1" i="0" lang="en-US" sz="3700" u="none" cap="none" strike="noStrike">
                <a:solidFill>
                  <a:srgbClr val="E88E6B"/>
                </a:solidFill>
                <a:latin typeface="Baumans"/>
                <a:ea typeface="Baumans"/>
                <a:cs typeface="Baumans"/>
                <a:sym typeface="Baumans"/>
              </a:rPr>
              <a:t>Decision Making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524000" y="5071718"/>
            <a:ext cx="9144000" cy="6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M M Mahbubul syeed, phd. Associate professor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Highlight</a:t>
            </a:r>
            <a:endParaRPr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838200" y="2235416"/>
            <a:ext cx="10515600" cy="206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Decision Making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Conditional Statement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Types of Conditional Statements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Examples..</a:t>
            </a:r>
            <a:endParaRPr/>
          </a:p>
        </p:txBody>
      </p:sp>
      <p:pic>
        <p:nvPicPr>
          <p:cNvPr descr="Logo&#10;&#10;Description automatically generated"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" name="Google Shape;116;p3"/>
          <p:cNvSpPr/>
          <p:nvPr/>
        </p:nvSpPr>
        <p:spPr>
          <a:xfrm flipH="1">
            <a:off x="0" y="0"/>
            <a:ext cx="5962785" cy="685800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216309" y="795234"/>
            <a:ext cx="519689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Decision Making </a:t>
            </a:r>
            <a:br>
              <a:rPr b="1" i="1" lang="en-US"/>
            </a:br>
            <a:r>
              <a:rPr i="1" lang="en-US"/>
              <a:t>In </a:t>
            </a:r>
            <a:br>
              <a:rPr i="1" lang="en-US"/>
            </a:br>
            <a:r>
              <a:rPr i="1" lang="en-US"/>
              <a:t>Programming</a:t>
            </a:r>
            <a:endParaRPr/>
          </a:p>
        </p:txBody>
      </p:sp>
      <p:pic>
        <p:nvPicPr>
          <p:cNvPr descr="Diagram&#10;&#10;Description automatically generated" id="118" name="Google Shape;118;p3"/>
          <p:cNvPicPr preferRelativeResize="0"/>
          <p:nvPr/>
        </p:nvPicPr>
        <p:blipFill rotWithShape="1">
          <a:blip r:embed="rId3">
            <a:alphaModFix/>
          </a:blip>
          <a:srcRect b="2139" l="2719" r="1520" t="1143"/>
          <a:stretch/>
        </p:blipFill>
        <p:spPr>
          <a:xfrm>
            <a:off x="7020233" y="590703"/>
            <a:ext cx="4955458" cy="5676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19" name="Google Shape;1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Decision Making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382752" y="1521968"/>
            <a:ext cx="11155194" cy="8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Decision-making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the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anticipation of conditions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occurring during the execution of a program and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specified actions taken according to the conditions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56907" y="2946648"/>
            <a:ext cx="6544283" cy="170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 structures evaluate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 expressions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Expression evaluates to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 or FALSE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the outcome.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Based on the result (TRUE or FALSE) appropriate actions are taken.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127" name="Google Shape;127;p4"/>
          <p:cNvPicPr preferRelativeResize="0"/>
          <p:nvPr/>
        </p:nvPicPr>
        <p:blipFill rotWithShape="1">
          <a:blip r:embed="rId3">
            <a:alphaModFix/>
          </a:blip>
          <a:srcRect b="2139" l="2719" r="1520" t="1143"/>
          <a:stretch/>
        </p:blipFill>
        <p:spPr>
          <a:xfrm>
            <a:off x="8142730" y="2392463"/>
            <a:ext cx="3211070" cy="36783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Decision Making – Buy a mobile!!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247641" y="2678192"/>
            <a:ext cx="6123839" cy="170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Will visit mobile shop to buy 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 is based on the brand and budget.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Choice of brand is Samsung and the price must be within 80k. Otherwise, will buy the phone later.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5"/>
          <p:cNvGrpSpPr/>
          <p:nvPr/>
        </p:nvGrpSpPr>
        <p:grpSpPr>
          <a:xfrm>
            <a:off x="6605536" y="1376604"/>
            <a:ext cx="5377455" cy="5297788"/>
            <a:chOff x="6605536" y="1376604"/>
            <a:chExt cx="5377455" cy="5297788"/>
          </a:xfrm>
        </p:grpSpPr>
        <p:sp>
          <p:nvSpPr>
            <p:cNvPr id="136" name="Google Shape;136;p5"/>
            <p:cNvSpPr/>
            <p:nvPr/>
          </p:nvSpPr>
          <p:spPr>
            <a:xfrm>
              <a:off x="8836429" y="1376604"/>
              <a:ext cx="350196" cy="341010"/>
            </a:xfrm>
            <a:prstGeom prst="flowChartConnector">
              <a:avLst/>
            </a:prstGeom>
            <a:gradFill>
              <a:gsLst>
                <a:gs pos="0">
                  <a:srgbClr val="49B8DD"/>
                </a:gs>
                <a:gs pos="50000">
                  <a:srgbClr val="0DB3DD"/>
                </a:gs>
                <a:gs pos="100000">
                  <a:srgbClr val="02A3CB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6605536" y="2170370"/>
              <a:ext cx="4811982" cy="1546698"/>
            </a:xfrm>
            <a:prstGeom prst="flowChartDecision">
              <a:avLst/>
            </a:prstGeom>
            <a:gradFill>
              <a:gsLst>
                <a:gs pos="0">
                  <a:srgbClr val="49B8DD"/>
                </a:gs>
                <a:gs pos="50000">
                  <a:srgbClr val="0DB3DD"/>
                </a:gs>
                <a:gs pos="100000">
                  <a:srgbClr val="02A3CB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If (brand == ‘samsung’ &amp; price &lt;= 80000)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544398" y="4510834"/>
              <a:ext cx="973441" cy="530893"/>
            </a:xfrm>
            <a:prstGeom prst="rect">
              <a:avLst/>
            </a:prstGeom>
            <a:gradFill>
              <a:gsLst>
                <a:gs pos="0">
                  <a:srgbClr val="49B8DD"/>
                </a:gs>
                <a:gs pos="50000">
                  <a:srgbClr val="0DB3DD"/>
                </a:gs>
                <a:gs pos="100000">
                  <a:srgbClr val="02A3CB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Buy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Phone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11009550" y="4495507"/>
              <a:ext cx="973441" cy="5308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Buy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" name="Google Shape;140;p5"/>
            <p:cNvCxnSpPr>
              <a:stCxn id="137" idx="2"/>
              <a:endCxn id="138" idx="0"/>
            </p:cNvCxnSpPr>
            <p:nvPr/>
          </p:nvCxnSpPr>
          <p:spPr>
            <a:xfrm>
              <a:off x="9011527" y="3717068"/>
              <a:ext cx="19500" cy="793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1" name="Google Shape;141;p5"/>
            <p:cNvCxnSpPr>
              <a:stCxn id="137" idx="3"/>
              <a:endCxn id="139" idx="0"/>
            </p:cNvCxnSpPr>
            <p:nvPr/>
          </p:nvCxnSpPr>
          <p:spPr>
            <a:xfrm>
              <a:off x="11417518" y="2943719"/>
              <a:ext cx="78900" cy="1551900"/>
            </a:xfrm>
            <a:prstGeom prst="bent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2" name="Google Shape;142;p5"/>
            <p:cNvCxnSpPr>
              <a:stCxn id="136" idx="4"/>
              <a:endCxn id="137" idx="0"/>
            </p:cNvCxnSpPr>
            <p:nvPr/>
          </p:nvCxnSpPr>
          <p:spPr>
            <a:xfrm>
              <a:off x="9011527" y="1717614"/>
              <a:ext cx="0" cy="4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3" name="Google Shape;143;p5"/>
            <p:cNvSpPr txBox="1"/>
            <p:nvPr/>
          </p:nvSpPr>
          <p:spPr>
            <a:xfrm>
              <a:off x="7802897" y="3825878"/>
              <a:ext cx="1228221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If condition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is True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10268049" y="3719312"/>
              <a:ext cx="1228221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If condition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is False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5"/>
            <p:cNvCxnSpPr>
              <a:stCxn id="138" idx="2"/>
            </p:cNvCxnSpPr>
            <p:nvPr/>
          </p:nvCxnSpPr>
          <p:spPr>
            <a:xfrm>
              <a:off x="9031119" y="5041727"/>
              <a:ext cx="0" cy="1309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6" name="Google Shape;146;p5"/>
            <p:cNvCxnSpPr>
              <a:stCxn id="139" idx="2"/>
            </p:cNvCxnSpPr>
            <p:nvPr/>
          </p:nvCxnSpPr>
          <p:spPr>
            <a:xfrm rot="5400000">
              <a:off x="9946171" y="4111400"/>
              <a:ext cx="635100" cy="2465100"/>
            </a:xfrm>
            <a:prstGeom prst="bent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7" name="Google Shape;147;p5"/>
            <p:cNvSpPr txBox="1"/>
            <p:nvPr/>
          </p:nvSpPr>
          <p:spPr>
            <a:xfrm>
              <a:off x="7929587" y="5708380"/>
              <a:ext cx="1080809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Get back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Home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856020" y="6333382"/>
              <a:ext cx="350196" cy="341010"/>
            </a:xfrm>
            <a:prstGeom prst="flowChartConnector">
              <a:avLst/>
            </a:prstGeom>
            <a:gradFill>
              <a:gsLst>
                <a:gs pos="0">
                  <a:srgbClr val="49B8DD"/>
                </a:gs>
                <a:gs pos="50000">
                  <a:srgbClr val="0DB3DD"/>
                </a:gs>
                <a:gs pos="100000">
                  <a:srgbClr val="02A3CB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9010396" y="1750860"/>
              <a:ext cx="1401346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Visit the shop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&#10;&#10;Description automatically generated"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lang="en-US" sz="3700"/>
              <a:t>Decision Making – &gt; </a:t>
            </a:r>
            <a:r>
              <a:rPr b="1" lang="en-US" sz="3700"/>
              <a:t>Conditional Statement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247641" y="2678192"/>
            <a:ext cx="6123839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Conditional statements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are the means of decision making in Programming.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6"/>
          <p:cNvGrpSpPr/>
          <p:nvPr/>
        </p:nvGrpSpPr>
        <p:grpSpPr>
          <a:xfrm>
            <a:off x="6605536" y="1376604"/>
            <a:ext cx="5377455" cy="5297788"/>
            <a:chOff x="6605536" y="1376604"/>
            <a:chExt cx="5377455" cy="5297788"/>
          </a:xfrm>
        </p:grpSpPr>
        <p:sp>
          <p:nvSpPr>
            <p:cNvPr id="158" name="Google Shape;158;p6"/>
            <p:cNvSpPr/>
            <p:nvPr/>
          </p:nvSpPr>
          <p:spPr>
            <a:xfrm>
              <a:off x="8836429" y="1376604"/>
              <a:ext cx="350196" cy="341010"/>
            </a:xfrm>
            <a:prstGeom prst="flowChartConnector">
              <a:avLst/>
            </a:prstGeom>
            <a:gradFill>
              <a:gsLst>
                <a:gs pos="0">
                  <a:srgbClr val="49B8DD"/>
                </a:gs>
                <a:gs pos="50000">
                  <a:srgbClr val="0DB3DD"/>
                </a:gs>
                <a:gs pos="100000">
                  <a:srgbClr val="02A3CB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6605536" y="2170370"/>
              <a:ext cx="4811982" cy="1546698"/>
            </a:xfrm>
            <a:prstGeom prst="flowChartDecision">
              <a:avLst/>
            </a:prstGeom>
            <a:gradFill>
              <a:gsLst>
                <a:gs pos="0">
                  <a:srgbClr val="49B8DD"/>
                </a:gs>
                <a:gs pos="50000">
                  <a:srgbClr val="0DB3DD"/>
                </a:gs>
                <a:gs pos="100000">
                  <a:srgbClr val="02A3CB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If (brand == ‘samsung’ &amp; price &lt;= 80000)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8544398" y="4510834"/>
              <a:ext cx="973441" cy="530893"/>
            </a:xfrm>
            <a:prstGeom prst="rect">
              <a:avLst/>
            </a:prstGeom>
            <a:gradFill>
              <a:gsLst>
                <a:gs pos="0">
                  <a:srgbClr val="49B8DD"/>
                </a:gs>
                <a:gs pos="50000">
                  <a:srgbClr val="0DB3DD"/>
                </a:gs>
                <a:gs pos="100000">
                  <a:srgbClr val="02A3CB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Buy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Phone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11009550" y="4495507"/>
              <a:ext cx="973441" cy="5308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Buy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" name="Google Shape;162;p6"/>
            <p:cNvCxnSpPr>
              <a:stCxn id="159" idx="2"/>
              <a:endCxn id="160" idx="0"/>
            </p:cNvCxnSpPr>
            <p:nvPr/>
          </p:nvCxnSpPr>
          <p:spPr>
            <a:xfrm>
              <a:off x="9011527" y="3717068"/>
              <a:ext cx="19500" cy="793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63" name="Google Shape;163;p6"/>
            <p:cNvCxnSpPr>
              <a:stCxn id="159" idx="3"/>
              <a:endCxn id="161" idx="0"/>
            </p:cNvCxnSpPr>
            <p:nvPr/>
          </p:nvCxnSpPr>
          <p:spPr>
            <a:xfrm>
              <a:off x="11417518" y="2943719"/>
              <a:ext cx="78900" cy="1551900"/>
            </a:xfrm>
            <a:prstGeom prst="bent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64" name="Google Shape;164;p6"/>
            <p:cNvCxnSpPr>
              <a:stCxn id="158" idx="4"/>
              <a:endCxn id="159" idx="0"/>
            </p:cNvCxnSpPr>
            <p:nvPr/>
          </p:nvCxnSpPr>
          <p:spPr>
            <a:xfrm>
              <a:off x="9011527" y="1717614"/>
              <a:ext cx="0" cy="4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5" name="Google Shape;165;p6"/>
            <p:cNvSpPr txBox="1"/>
            <p:nvPr/>
          </p:nvSpPr>
          <p:spPr>
            <a:xfrm>
              <a:off x="7802897" y="3825878"/>
              <a:ext cx="1228221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If condition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is True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10268049" y="3719312"/>
              <a:ext cx="1228221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If condition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is False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" name="Google Shape;167;p6"/>
            <p:cNvCxnSpPr>
              <a:stCxn id="160" idx="2"/>
            </p:cNvCxnSpPr>
            <p:nvPr/>
          </p:nvCxnSpPr>
          <p:spPr>
            <a:xfrm>
              <a:off x="9031119" y="5041727"/>
              <a:ext cx="0" cy="1309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68" name="Google Shape;168;p6"/>
            <p:cNvCxnSpPr>
              <a:stCxn id="161" idx="2"/>
            </p:cNvCxnSpPr>
            <p:nvPr/>
          </p:nvCxnSpPr>
          <p:spPr>
            <a:xfrm rot="5400000">
              <a:off x="9946171" y="4111400"/>
              <a:ext cx="635100" cy="2465100"/>
            </a:xfrm>
            <a:prstGeom prst="bent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9" name="Google Shape;169;p6"/>
            <p:cNvSpPr txBox="1"/>
            <p:nvPr/>
          </p:nvSpPr>
          <p:spPr>
            <a:xfrm>
              <a:off x="7929587" y="5708380"/>
              <a:ext cx="1080809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Get back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Home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8856020" y="6333382"/>
              <a:ext cx="350196" cy="341010"/>
            </a:xfrm>
            <a:prstGeom prst="flowChartConnector">
              <a:avLst/>
            </a:prstGeom>
            <a:gradFill>
              <a:gsLst>
                <a:gs pos="0">
                  <a:srgbClr val="49B8DD"/>
                </a:gs>
                <a:gs pos="50000">
                  <a:srgbClr val="0DB3DD"/>
                </a:gs>
                <a:gs pos="100000">
                  <a:srgbClr val="02A3CB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9010396" y="1750860"/>
              <a:ext cx="1401346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Visit the shop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6"/>
          <p:cNvSpPr txBox="1"/>
          <p:nvPr/>
        </p:nvSpPr>
        <p:spPr>
          <a:xfrm>
            <a:off x="503456" y="4192147"/>
            <a:ext cx="6094378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programming language assumes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5746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any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non-zero and non-null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values as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5746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any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or null values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lang="en-US" sz="3700"/>
              <a:t>Decision Making – &gt; </a:t>
            </a:r>
            <a:r>
              <a:rPr b="1" lang="en-US" sz="3700"/>
              <a:t>Conditional Statement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476221" y="2206254"/>
            <a:ext cx="11239558" cy="190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life scenario!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it rains tomorrow, I'll clean up the basement. After that I will paint the walls. If there is any time left, I will file my tax return. Otherwise, i.e., if it will not rain, I will go swimming. In the evening, I will go to the movies!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lang="en-US" sz="3700"/>
              <a:t>Decision Making – &gt; </a:t>
            </a:r>
            <a:r>
              <a:rPr b="1" lang="en-US" sz="3700"/>
              <a:t>Conditional Statement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476221" y="1496718"/>
            <a:ext cx="112395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life scenario!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it rains tomorrow, I'll clean up the basement. After that I will paint the walls. If there is any time left, I will file my tax return. Otherwise, i.e., if it will not rain, I will go swimming. In the evening, I will go to the movies.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494495" y="2804244"/>
            <a:ext cx="9200745" cy="368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Breaking it down according to condition 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1825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it rains tomorrow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I will do the following: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Clean up the basement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Paint the walls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16573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56AB9"/>
              </a:buClr>
              <a:buSzPts val="1800"/>
              <a:buFont typeface="Century Gothic"/>
              <a:buChar char="-"/>
            </a:pPr>
            <a:r>
              <a:rPr b="0" i="0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there is any time left: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111375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will make my tax declaration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1825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Otherwise,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 will do the following: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16573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swimming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1825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A2C0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Finally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Going to the movies in the evening.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lang="en-US" sz="3700"/>
              <a:t>Decision Making – &gt; </a:t>
            </a:r>
            <a:r>
              <a:rPr b="1" lang="en-US" sz="3700"/>
              <a:t>Conditional Statement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301125" y="2021920"/>
            <a:ext cx="5674222" cy="3686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Breaking it down according to condition 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1825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it rains tomorrow, I will do the following: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Clean up the basement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Paint the walls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1657350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-"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there is any time left: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111375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-"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will make my tax declaration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1825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Otherwise, I will do the following: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Go swimming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1825" marR="0" rtl="0" algn="l">
              <a:lnSpc>
                <a:spcPct val="17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Finally, Going to the movies in the evening.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9"/>
          <p:cNvGrpSpPr/>
          <p:nvPr/>
        </p:nvGrpSpPr>
        <p:grpSpPr>
          <a:xfrm>
            <a:off x="6216655" y="1289018"/>
            <a:ext cx="5906520" cy="5357587"/>
            <a:chOff x="6216655" y="1289018"/>
            <a:chExt cx="5906520" cy="5357587"/>
          </a:xfrm>
        </p:grpSpPr>
        <p:pic>
          <p:nvPicPr>
            <p:cNvPr id="196" name="Google Shape;19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16655" y="1289018"/>
              <a:ext cx="5906520" cy="53575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7" name="Google Shape;197;p9"/>
            <p:cNvCxnSpPr/>
            <p:nvPr/>
          </p:nvCxnSpPr>
          <p:spPr>
            <a:xfrm flipH="1">
              <a:off x="8809703" y="4542817"/>
              <a:ext cx="1083327" cy="14056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8" name="Google Shape;198;p9"/>
            <p:cNvSpPr txBox="1"/>
            <p:nvPr/>
          </p:nvSpPr>
          <p:spPr>
            <a:xfrm>
              <a:off x="10737836" y="4464996"/>
              <a:ext cx="5405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True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"/>
            <p:cNvSpPr txBox="1"/>
            <p:nvPr/>
          </p:nvSpPr>
          <p:spPr>
            <a:xfrm>
              <a:off x="9125368" y="4605648"/>
              <a:ext cx="62709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False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9"/>
          <p:cNvSpPr/>
          <p:nvPr/>
        </p:nvSpPr>
        <p:spPr>
          <a:xfrm>
            <a:off x="5632315" y="2957209"/>
            <a:ext cx="584340" cy="583659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9B8DD"/>
              </a:gs>
              <a:gs pos="50000">
                <a:srgbClr val="0DB3DD"/>
              </a:gs>
              <a:gs pos="100000">
                <a:srgbClr val="02A3CB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&#10;&#10;Description automatically generated" id="201" name="Google Shape;2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lang="en-US" sz="3700"/>
              <a:t>Decision Making – &gt; </a:t>
            </a:r>
            <a:r>
              <a:rPr b="1" lang="en-US" sz="3700"/>
              <a:t>Conditional Statement</a:t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490832" y="1690688"/>
            <a:ext cx="10515600" cy="455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programming language provides the following types of decision-making statements.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8" name="Google Shape;208;p10"/>
          <p:cNvGraphicFramePr/>
          <p:nvPr/>
        </p:nvGraphicFramePr>
        <p:xfrm>
          <a:off x="1147863" y="26210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{AF7AF3D3-91A4-4366-862C-B20384B24E18}</a:tableStyleId>
              </a:tblPr>
              <a:tblGrid>
                <a:gridCol w="3521425"/>
                <a:gridCol w="6186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Conditional Statement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if</a:t>
                      </a:r>
                      <a:r>
                        <a:rPr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statement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 if statement consists of a Boolean expression followed by one or more statements.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if...else</a:t>
                      </a:r>
                      <a:r>
                        <a:rPr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statements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 if statement can be followed by an optional else statement, which executes when the boolean expression is FALSE.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Nested if</a:t>
                      </a: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statements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You can use one if or else if statement inside another if or else if statement(s).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pic>
        <p:nvPicPr>
          <p:cNvPr descr="Logo&#10;&#10;Description automatically generated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>
            <p:ph type="title"/>
          </p:nvPr>
        </p:nvSpPr>
        <p:spPr>
          <a:xfrm>
            <a:off x="6935820" y="4231532"/>
            <a:ext cx="4382071" cy="1821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b="1" lang="en-US" sz="3600"/>
              <a:t>Decision Making </a:t>
            </a:r>
            <a:br>
              <a:rPr b="1" i="1" lang="en-US" sz="3600"/>
            </a:br>
            <a:r>
              <a:rPr i="1" lang="en-US" sz="3600"/>
              <a:t>In </a:t>
            </a:r>
            <a:br>
              <a:rPr i="1" lang="en-US" sz="3600"/>
            </a:br>
            <a:r>
              <a:rPr i="1" lang="en-US" sz="3600"/>
              <a:t>Programming</a:t>
            </a:r>
            <a:endParaRPr/>
          </a:p>
        </p:txBody>
      </p:sp>
      <p:pic>
        <p:nvPicPr>
          <p:cNvPr descr="Logo&#10;&#10;Description automatically generated"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16" name="Google Shape;216;p11"/>
          <p:cNvSpPr txBox="1"/>
          <p:nvPr/>
        </p:nvSpPr>
        <p:spPr>
          <a:xfrm>
            <a:off x="694044" y="2705725"/>
            <a:ext cx="427392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If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</a:t>
            </a:r>
            <a:r>
              <a:rPr lang="en-US"/>
              <a:t> statement</a:t>
            </a:r>
            <a:endParaRPr/>
          </a:p>
        </p:txBody>
      </p:sp>
      <p:pic>
        <p:nvPicPr>
          <p:cNvPr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0313" y="2313534"/>
            <a:ext cx="3539324" cy="426424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3" name="Google Shape;223;p12"/>
          <p:cNvSpPr txBox="1"/>
          <p:nvPr/>
        </p:nvSpPr>
        <p:spPr>
          <a:xfrm>
            <a:off x="463087" y="1670441"/>
            <a:ext cx="6797202" cy="1286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if statement contains a </a:t>
            </a:r>
            <a:r>
              <a:rPr b="1" i="0" lang="en-US" sz="1800" u="none" cap="none" strike="noStrike">
                <a:solidFill>
                  <a:srgbClr val="7A2C0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logical expression (Condition)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using which the data is compared and a decision is made based on the result of the comparison.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1344848" y="3691949"/>
            <a:ext cx="2614309" cy="87530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A2C0D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857375" y="3200719"/>
            <a:ext cx="974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26" name="Google Shape;22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</a:t>
            </a:r>
            <a:r>
              <a:rPr lang="en-US"/>
              <a:t> statement</a:t>
            </a:r>
            <a:endParaRPr/>
          </a:p>
        </p:txBody>
      </p:sp>
      <p:pic>
        <p:nvPicPr>
          <p:cNvPr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4943" y="1727982"/>
            <a:ext cx="3539324" cy="426424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p13"/>
          <p:cNvSpPr txBox="1"/>
          <p:nvPr/>
        </p:nvSpPr>
        <p:spPr>
          <a:xfrm>
            <a:off x="1247379" y="2034546"/>
            <a:ext cx="2614309" cy="87530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A2C0D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759906" y="1543316"/>
            <a:ext cx="974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407664" y="3429000"/>
            <a:ext cx="6965902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expression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evaluates to </a:t>
            </a:r>
            <a:r>
              <a:rPr b="1" i="0" lang="en-US" sz="18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the block of statement(s) inside the if statement 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executed.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expression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evaluates to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the first set of code after the end of block is executed.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36" name="Google Shape;2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</a:t>
            </a:r>
            <a:r>
              <a:rPr lang="en-US"/>
              <a:t> statement - Example</a:t>
            </a:r>
            <a:endParaRPr/>
          </a:p>
        </p:txBody>
      </p:sp>
      <p:pic>
        <p:nvPicPr>
          <p:cNvPr id="242" name="Google Shape;2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4943" y="1727982"/>
            <a:ext cx="3539324" cy="426424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3" name="Google Shape;243;p14"/>
          <p:cNvSpPr txBox="1"/>
          <p:nvPr/>
        </p:nvSpPr>
        <p:spPr>
          <a:xfrm>
            <a:off x="271731" y="1690688"/>
            <a:ext cx="7539579" cy="17016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would like to go to the university. It’s a rainy season. So, before going out .. You are checking whether it is raining or not. If it’s raining you will take an umbrella before leaving for the university.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271731" y="3584339"/>
            <a:ext cx="3152405" cy="24249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Preparing for going 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Checking the weather..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(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raining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Take umbrella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Leave for University.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4658905" y="3584339"/>
            <a:ext cx="3152405" cy="24249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Preparing for going 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Checking the weather..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(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is_raining == True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Take umbrella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Leave for University.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3856897" y="4612152"/>
            <a:ext cx="40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47" name="Google Shape;24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</a:t>
            </a:r>
            <a:r>
              <a:rPr lang="en-US"/>
              <a:t> statement - Example</a:t>
            </a:r>
            <a:endParaRPr/>
          </a:p>
        </p:txBody>
      </p:sp>
      <p:pic>
        <p:nvPicPr>
          <p:cNvPr id="253" name="Google Shape;2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4943" y="1727982"/>
            <a:ext cx="3539324" cy="426424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4" name="Google Shape;254;p15"/>
          <p:cNvSpPr txBox="1"/>
          <p:nvPr/>
        </p:nvSpPr>
        <p:spPr>
          <a:xfrm>
            <a:off x="271731" y="1690688"/>
            <a:ext cx="7539579" cy="128618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Let's consider you are paying monthly salary to your employee. If your employee worked overtime, you would pay 5% extra on their usual salary. Otherwise, they will get their usual salary.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741684" y="3429000"/>
            <a:ext cx="3917865" cy="247756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Salary = Get employee salary..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worked overtime = ‘yes’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(worked overtime == ‘yes’):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Salary += Salary * 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 (Salary)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56" name="Google Shape;2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</a:t>
            </a:r>
            <a:r>
              <a:rPr lang="en-US"/>
              <a:t> statement – Example Code</a:t>
            </a:r>
            <a:endParaRPr/>
          </a:p>
        </p:txBody>
      </p:sp>
      <p:pic>
        <p:nvPicPr>
          <p:cNvPr id="262" name="Google Shape;2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622" y="1727982"/>
            <a:ext cx="3163832" cy="381184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16"/>
          <p:cNvSpPr txBox="1"/>
          <p:nvPr/>
        </p:nvSpPr>
        <p:spPr>
          <a:xfrm>
            <a:off x="271731" y="1690688"/>
            <a:ext cx="7539579" cy="11535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would like to go to the university. It’s a rainy season. So, before going out .. You are checking whether it is raining or not. If it’s raining you will take an umbrella before leaving for the university.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946013" y="3139170"/>
            <a:ext cx="6865297" cy="24006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'no umbrella'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'Will leave for the university..'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weather_condition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'Is it raining?: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weather_condition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'yes'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weather_condition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== ‘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true’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'umbrella'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'Going to university with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7903723" y="3803514"/>
            <a:ext cx="768485" cy="437745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9B8DD"/>
              </a:gs>
              <a:gs pos="50000">
                <a:srgbClr val="0DB3DD"/>
              </a:gs>
              <a:gs pos="100000">
                <a:srgbClr val="02A3C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&#10;&#10;Description automatically generated" id="266" name="Google Shape;2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</a:t>
            </a:r>
            <a:r>
              <a:rPr lang="en-US"/>
              <a:t> statement – Example Code</a:t>
            </a:r>
            <a:endParaRPr/>
          </a:p>
        </p:txBody>
      </p:sp>
      <p:pic>
        <p:nvPicPr>
          <p:cNvPr id="272" name="Google Shape;2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4943" y="1727982"/>
            <a:ext cx="3539324" cy="426424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3" name="Google Shape;273;p17"/>
          <p:cNvSpPr txBox="1"/>
          <p:nvPr/>
        </p:nvSpPr>
        <p:spPr>
          <a:xfrm>
            <a:off x="271731" y="1690688"/>
            <a:ext cx="7539579" cy="11535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Let's consider you are paying monthly salary to your employee. If your employee worked overtime, you would pay 5% extra on their usual salary. Otherwise, they will get their usual salary.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654184" y="3185809"/>
            <a:ext cx="6094378" cy="26468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'Get employee salary: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has_overtime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'Has overtime: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has_overtime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==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'yes'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.05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8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'Final salary is: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8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7102195" y="4071503"/>
            <a:ext cx="768485" cy="437745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9B8DD"/>
              </a:gs>
              <a:gs pos="50000">
                <a:srgbClr val="0DB3DD"/>
              </a:gs>
              <a:gs pos="100000">
                <a:srgbClr val="02A3C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&#10;&#10;Description automatically generated" id="276" name="Google Shape;2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 txBox="1"/>
          <p:nvPr>
            <p:ph type="title"/>
          </p:nvPr>
        </p:nvSpPr>
        <p:spPr>
          <a:xfrm>
            <a:off x="6935820" y="4231532"/>
            <a:ext cx="4382071" cy="1821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b="1" lang="en-US" sz="3600"/>
              <a:t>Decision Making </a:t>
            </a:r>
            <a:br>
              <a:rPr b="1" i="1" lang="en-US" sz="3600"/>
            </a:br>
            <a:r>
              <a:rPr i="1" lang="en-US" sz="3600"/>
              <a:t>In </a:t>
            </a:r>
            <a:br>
              <a:rPr i="1" lang="en-US" sz="3600"/>
            </a:br>
            <a:r>
              <a:rPr i="1" lang="en-US" sz="3600"/>
              <a:t>Programming</a:t>
            </a:r>
            <a:endParaRPr/>
          </a:p>
        </p:txBody>
      </p:sp>
      <p:pic>
        <p:nvPicPr>
          <p:cNvPr descr="Logo&#10;&#10;Description automatically generated" id="282" name="Google Shape;2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83" name="Google Shape;283;p18"/>
          <p:cNvSpPr txBox="1"/>
          <p:nvPr/>
        </p:nvSpPr>
        <p:spPr>
          <a:xfrm>
            <a:off x="694044" y="2705725"/>
            <a:ext cx="427392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If - 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 - else</a:t>
            </a:r>
            <a:r>
              <a:rPr lang="en-US"/>
              <a:t> statement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641383" y="2302954"/>
            <a:ext cx="6391715" cy="14400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 is combined with 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condition in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block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evaluates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9692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0" lang="en-US" sz="1800" u="none" cap="none" strike="noStrike">
                <a:solidFill>
                  <a:srgbClr val="1452B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Only then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 block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executed.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90" name="Google Shape;2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91" name="Google Shape;2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7058" y="1418313"/>
            <a:ext cx="3955397" cy="480218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 - else</a:t>
            </a:r>
            <a:r>
              <a:rPr lang="en-US"/>
              <a:t> statement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602473" y="1563652"/>
            <a:ext cx="6391715" cy="14400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 is combined with 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condition in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block expression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evaluates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9692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0" lang="en-US" sz="1800" u="none" cap="none" strike="noStrike">
                <a:solidFill>
                  <a:srgbClr val="1452B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Only then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 block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executed.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98" name="Google Shape;2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99" name="Google Shape;2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7058" y="1418313"/>
            <a:ext cx="3955397" cy="480218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0" name="Google Shape;300;p20"/>
          <p:cNvSpPr txBox="1"/>
          <p:nvPr/>
        </p:nvSpPr>
        <p:spPr>
          <a:xfrm>
            <a:off x="1705052" y="3854275"/>
            <a:ext cx="2614309" cy="17063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b="1" i="0" lang="en-US" sz="1800" u="none" cap="none" strike="noStrike">
                <a:solidFill>
                  <a:srgbClr val="7A2C0D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A2C0D"/>
                </a:solidFill>
                <a:latin typeface="Arial"/>
                <a:ea typeface="Arial"/>
                <a:cs typeface="Arial"/>
                <a:sym typeface="Arial"/>
              </a:rPr>
              <a:t>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A2C0D"/>
                </a:solidFill>
                <a:latin typeface="Arial"/>
                <a:ea typeface="Arial"/>
                <a:cs typeface="Arial"/>
                <a:sym typeface="Arial"/>
              </a:rPr>
              <a:t>      statement(s)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838200" y="3363045"/>
            <a:ext cx="974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 - else</a:t>
            </a:r>
            <a:r>
              <a:rPr lang="en-US"/>
              <a:t> statement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602473" y="1563652"/>
            <a:ext cx="6391715" cy="14400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 is combined with 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condition in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block expression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evaluates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9692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0" lang="en-US" sz="1800" u="none" cap="none" strike="noStrike">
                <a:solidFill>
                  <a:srgbClr val="1452B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Only then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 block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executed.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08" name="Google Shape;3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09" name="Google Shape;3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7058" y="1418313"/>
            <a:ext cx="3955397" cy="480218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0" name="Google Shape;310;p21"/>
          <p:cNvSpPr txBox="1"/>
          <p:nvPr/>
        </p:nvSpPr>
        <p:spPr>
          <a:xfrm>
            <a:off x="1705052" y="3854275"/>
            <a:ext cx="2614309" cy="17063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b="1" i="0" lang="en-US" sz="1800" u="none" cap="none" strike="noStrike">
                <a:solidFill>
                  <a:srgbClr val="7A2C0D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A2C0D"/>
                </a:solidFill>
                <a:latin typeface="Arial"/>
                <a:ea typeface="Arial"/>
                <a:cs typeface="Arial"/>
                <a:sym typeface="Arial"/>
              </a:rPr>
              <a:t>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A2C0D"/>
                </a:solidFill>
                <a:latin typeface="Arial"/>
                <a:ea typeface="Arial"/>
                <a:cs typeface="Arial"/>
                <a:sym typeface="Arial"/>
              </a:rPr>
              <a:t>      statement(s)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838200" y="3244334"/>
            <a:ext cx="974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669106" y="3854275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692692" y="4396583"/>
            <a:ext cx="740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21"/>
          <p:cNvCxnSpPr>
            <a:stCxn id="312" idx="2"/>
          </p:cNvCxnSpPr>
          <p:nvPr/>
        </p:nvCxnSpPr>
        <p:spPr>
          <a:xfrm rot="5400000">
            <a:off x="4419019" y="4009557"/>
            <a:ext cx="357600" cy="785700"/>
          </a:xfrm>
          <a:prstGeom prst="bentConnector2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5" name="Google Shape;315;p21"/>
          <p:cNvCxnSpPr>
            <a:stCxn id="310" idx="0"/>
            <a:endCxn id="312" idx="0"/>
          </p:cNvCxnSpPr>
          <p:nvPr/>
        </p:nvCxnSpPr>
        <p:spPr>
          <a:xfrm flipH="1" rot="-5400000">
            <a:off x="4001157" y="2865325"/>
            <a:ext cx="600" cy="1978500"/>
          </a:xfrm>
          <a:prstGeom prst="bentConnector3">
            <a:avLst>
              <a:gd fmla="val -37041667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6" name="Google Shape;316;p21"/>
          <p:cNvCxnSpPr>
            <a:stCxn id="310" idx="0"/>
            <a:endCxn id="313" idx="0"/>
          </p:cNvCxnSpPr>
          <p:nvPr/>
        </p:nvCxnSpPr>
        <p:spPr>
          <a:xfrm rot="5400000">
            <a:off x="1766456" y="3150925"/>
            <a:ext cx="542400" cy="1949100"/>
          </a:xfrm>
          <a:prstGeom prst="bentConnector3">
            <a:avLst>
              <a:gd fmla="val -4214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7" name="Google Shape;317;p21"/>
          <p:cNvSpPr/>
          <p:nvPr/>
        </p:nvSpPr>
        <p:spPr>
          <a:xfrm>
            <a:off x="1355308" y="4883285"/>
            <a:ext cx="220528" cy="58366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8" name="Google Shape;318;p21"/>
          <p:cNvCxnSpPr>
            <a:stCxn id="313" idx="2"/>
            <a:endCxn id="317" idx="1"/>
          </p:cNvCxnSpPr>
          <p:nvPr/>
        </p:nvCxnSpPr>
        <p:spPr>
          <a:xfrm flipH="1" rot="-5400000">
            <a:off x="1004646" y="4824415"/>
            <a:ext cx="409200" cy="292200"/>
          </a:xfrm>
          <a:prstGeom prst="bentConnector2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 - else</a:t>
            </a:r>
            <a:r>
              <a:rPr lang="en-US"/>
              <a:t> statement - Example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602473" y="1563652"/>
            <a:ext cx="6391715" cy="14400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 is combined with 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condition in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block expression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evaluates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9692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0" lang="en-US" sz="1800" u="none" cap="none" strike="noStrike">
                <a:solidFill>
                  <a:srgbClr val="1452B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Only then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 block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executed.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26" name="Google Shape;3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2652" y="1623059"/>
            <a:ext cx="2974983" cy="361188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7" name="Google Shape;327;p22"/>
          <p:cNvSpPr txBox="1"/>
          <p:nvPr/>
        </p:nvSpPr>
        <p:spPr>
          <a:xfrm>
            <a:off x="602473" y="3429000"/>
            <a:ext cx="7539579" cy="17016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Let's consider you have a fashion house. For Eid, you are providing discount to the customers based on the purchased amount. Your policy is as follows, if a customer purchase over 10k then she will get 15% discount otherwise, 7.5% discount.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 - else</a:t>
            </a:r>
            <a:r>
              <a:rPr lang="en-US"/>
              <a:t> statement - Example</a:t>
            </a:r>
            <a:endParaRPr/>
          </a:p>
        </p:txBody>
      </p:sp>
      <p:pic>
        <p:nvPicPr>
          <p:cNvPr descr="Logo&#10;&#10;Description automatically generated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34" name="Google Shape;3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8241" y="1922377"/>
            <a:ext cx="3344214" cy="406015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5" name="Google Shape;335;p23"/>
          <p:cNvSpPr txBox="1"/>
          <p:nvPr/>
        </p:nvSpPr>
        <p:spPr>
          <a:xfrm>
            <a:off x="764418" y="1598740"/>
            <a:ext cx="7539579" cy="152285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Let's consider you have a fashion house. For Eid, you are providing discount to the customers based on the purchased amount. Your policy is as follows, if a customer purchase over 10k then she will get 15% discount otherwise, 7.5% discount.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764418" y="3429000"/>
            <a:ext cx="7056620" cy="292201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purchase_amount = Get customer purchase amount…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</a:t>
            </a:r>
            <a:r>
              <a:rPr b="1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purchase_amount &gt; 10000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purchase_amount  -= purchase_amount *.15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purchase_amount  -= purchase_amount *.075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print(purchase_amount)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 - else</a:t>
            </a:r>
            <a:r>
              <a:rPr lang="en-US"/>
              <a:t> statement – Code Example</a:t>
            </a:r>
            <a:endParaRPr/>
          </a:p>
        </p:txBody>
      </p:sp>
      <p:pic>
        <p:nvPicPr>
          <p:cNvPr descr="Logo&#10;&#10;Description automatically generated" id="342" name="Google Shape;3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43" name="Google Shape;3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1095" y="1922377"/>
            <a:ext cx="2991359" cy="3631763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4" name="Google Shape;344;p24"/>
          <p:cNvSpPr txBox="1"/>
          <p:nvPr/>
        </p:nvSpPr>
        <p:spPr>
          <a:xfrm>
            <a:off x="605545" y="1690688"/>
            <a:ext cx="8149349" cy="31700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'Purchase amount: ‘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10000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'Applicable discount is 15%'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 -=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.15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'Applicable discount is 7.5%'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 -=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.075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'Customer has to pay after discount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 bdt'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4"/>
          <p:cNvSpPr txBox="1"/>
          <p:nvPr/>
        </p:nvSpPr>
        <p:spPr>
          <a:xfrm>
            <a:off x="3125010" y="5700242"/>
            <a:ext cx="555206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 amount: 13000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Applicable discount is 15%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has to pay after discount 11050.0 bdt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2148620" y="5330910"/>
            <a:ext cx="19527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Sample 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>
            <p:ph type="title"/>
          </p:nvPr>
        </p:nvSpPr>
        <p:spPr>
          <a:xfrm>
            <a:off x="6935820" y="4231532"/>
            <a:ext cx="4382071" cy="1821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b="1" lang="en-US" sz="3600"/>
              <a:t>Decision Making </a:t>
            </a:r>
            <a:br>
              <a:rPr b="1" i="1" lang="en-US" sz="3600"/>
            </a:br>
            <a:r>
              <a:rPr i="1" lang="en-US" sz="3600"/>
              <a:t>In </a:t>
            </a:r>
            <a:br>
              <a:rPr i="1" lang="en-US" sz="3600"/>
            </a:br>
            <a:r>
              <a:rPr i="1" lang="en-US" sz="3600"/>
              <a:t>Programming</a:t>
            </a:r>
            <a:endParaRPr/>
          </a:p>
        </p:txBody>
      </p:sp>
      <p:pic>
        <p:nvPicPr>
          <p:cNvPr descr="Logo&#10;&#10;Description automatically generated" id="352" name="Google Shape;3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53" name="Google Shape;353;p25"/>
          <p:cNvSpPr txBox="1"/>
          <p:nvPr/>
        </p:nvSpPr>
        <p:spPr>
          <a:xfrm>
            <a:off x="287082" y="2705725"/>
            <a:ext cx="611898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IF...ELIF...ELSE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IF...ELIF...ELSE - </a:t>
            </a:r>
            <a:r>
              <a:rPr lang="en-US"/>
              <a:t>statement</a:t>
            </a:r>
            <a:endParaRPr/>
          </a:p>
        </p:txBody>
      </p:sp>
      <p:pic>
        <p:nvPicPr>
          <p:cNvPr descr="Logo&#10;&#10;Description automatically generated" id="359" name="Google Shape;3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60" name="Google Shape;360;p26"/>
          <p:cNvSpPr txBox="1"/>
          <p:nvPr/>
        </p:nvSpPr>
        <p:spPr>
          <a:xfrm>
            <a:off x="602473" y="1563652"/>
            <a:ext cx="10321689" cy="136313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you have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(more than two)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mutually exclusive conditions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check and decide, then you have to use,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           IF...ELIF...ELSE</a:t>
            </a:r>
            <a:endParaRPr b="0" i="0" sz="1800" u="none" cap="none" strike="noStrike">
              <a:solidFill>
                <a:srgbClr val="056AB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2959920" y="3226857"/>
            <a:ext cx="3635433" cy="336829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expression1: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elif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expression2: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elif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expression3: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statement(s)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6"/>
          <p:cNvSpPr txBox="1"/>
          <p:nvPr/>
        </p:nvSpPr>
        <p:spPr>
          <a:xfrm>
            <a:off x="1100847" y="3226857"/>
            <a:ext cx="974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IF...ELIF...ELSE - </a:t>
            </a:r>
            <a:r>
              <a:rPr lang="en-US"/>
              <a:t>statement</a:t>
            </a:r>
            <a:endParaRPr/>
          </a:p>
        </p:txBody>
      </p:sp>
      <p:pic>
        <p:nvPicPr>
          <p:cNvPr descr="Logo&#10;&#10;Description automatically generated" id="368" name="Google Shape;3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69" name="Google Shape;369;p27"/>
          <p:cNvSpPr txBox="1"/>
          <p:nvPr/>
        </p:nvSpPr>
        <p:spPr>
          <a:xfrm>
            <a:off x="3387937" y="2224908"/>
            <a:ext cx="3635433" cy="336829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expression1: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elif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expression2: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elif </a:t>
            </a: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expression3: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6AB9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statement(s)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7645941" y="2224908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7"/>
          <p:cNvSpPr txBox="1"/>
          <p:nvPr/>
        </p:nvSpPr>
        <p:spPr>
          <a:xfrm>
            <a:off x="2204937" y="3059668"/>
            <a:ext cx="740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27"/>
          <p:cNvCxnSpPr>
            <a:stCxn id="369" idx="0"/>
            <a:endCxn id="370" idx="0"/>
          </p:cNvCxnSpPr>
          <p:nvPr/>
        </p:nvCxnSpPr>
        <p:spPr>
          <a:xfrm flipH="1" rot="-5400000">
            <a:off x="6586254" y="844308"/>
            <a:ext cx="600" cy="2761800"/>
          </a:xfrm>
          <a:prstGeom prst="bentConnector3">
            <a:avLst>
              <a:gd fmla="val -37041667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3" name="Google Shape;373;p27"/>
          <p:cNvCxnSpPr>
            <a:stCxn id="370" idx="2"/>
          </p:cNvCxnSpPr>
          <p:nvPr/>
        </p:nvCxnSpPr>
        <p:spPr>
          <a:xfrm rot="5400000">
            <a:off x="7031954" y="1963190"/>
            <a:ext cx="304500" cy="1566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4" name="Google Shape;374;p27"/>
          <p:cNvSpPr txBox="1"/>
          <p:nvPr/>
        </p:nvSpPr>
        <p:spPr>
          <a:xfrm>
            <a:off x="7652291" y="3128460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7"/>
          <p:cNvSpPr txBox="1"/>
          <p:nvPr/>
        </p:nvSpPr>
        <p:spPr>
          <a:xfrm>
            <a:off x="7645941" y="3974989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7"/>
          <p:cNvSpPr txBox="1"/>
          <p:nvPr/>
        </p:nvSpPr>
        <p:spPr>
          <a:xfrm>
            <a:off x="2203301" y="3957103"/>
            <a:ext cx="740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27"/>
          <p:cNvCxnSpPr>
            <a:endCxn id="374" idx="1"/>
          </p:cNvCxnSpPr>
          <p:nvPr/>
        </p:nvCxnSpPr>
        <p:spPr>
          <a:xfrm>
            <a:off x="5846291" y="3307426"/>
            <a:ext cx="1806000" cy="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8" name="Google Shape;378;p27"/>
          <p:cNvCxnSpPr>
            <a:stCxn id="374" idx="2"/>
          </p:cNvCxnSpPr>
          <p:nvPr/>
        </p:nvCxnSpPr>
        <p:spPr>
          <a:xfrm rot="5400000">
            <a:off x="7085854" y="2812592"/>
            <a:ext cx="202800" cy="15732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9" name="Google Shape;379;p27"/>
          <p:cNvSpPr txBox="1"/>
          <p:nvPr/>
        </p:nvSpPr>
        <p:spPr>
          <a:xfrm>
            <a:off x="2203301" y="2282845"/>
            <a:ext cx="740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27"/>
          <p:cNvCxnSpPr>
            <a:stCxn id="369" idx="0"/>
            <a:endCxn id="379" idx="0"/>
          </p:cNvCxnSpPr>
          <p:nvPr/>
        </p:nvCxnSpPr>
        <p:spPr>
          <a:xfrm rot="5400000">
            <a:off x="3860754" y="937908"/>
            <a:ext cx="57900" cy="2631900"/>
          </a:xfrm>
          <a:prstGeom prst="bentConnector3">
            <a:avLst>
              <a:gd fmla="val -394821" name="adj1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1" name="Google Shape;381;p27"/>
          <p:cNvCxnSpPr>
            <a:stCxn id="379" idx="2"/>
          </p:cNvCxnSpPr>
          <p:nvPr/>
        </p:nvCxnSpPr>
        <p:spPr>
          <a:xfrm>
            <a:off x="2573755" y="2652177"/>
            <a:ext cx="918600" cy="56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2" name="Google Shape;382;p27"/>
          <p:cNvCxnSpPr>
            <a:endCxn id="371" idx="0"/>
          </p:cNvCxnSpPr>
          <p:nvPr/>
        </p:nvCxnSpPr>
        <p:spPr>
          <a:xfrm rot="10800000">
            <a:off x="2575391" y="3059668"/>
            <a:ext cx="1967400" cy="152400"/>
          </a:xfrm>
          <a:prstGeom prst="bentConnector4">
            <a:avLst>
              <a:gd fmla="val 40" name="adj1"/>
              <a:gd fmla="val 167022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3" name="Google Shape;383;p27"/>
          <p:cNvCxnSpPr>
            <a:stCxn id="371" idx="2"/>
          </p:cNvCxnSpPr>
          <p:nvPr/>
        </p:nvCxnSpPr>
        <p:spPr>
          <a:xfrm>
            <a:off x="2575391" y="3429000"/>
            <a:ext cx="1072500" cy="52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4" name="Google Shape;384;p27"/>
          <p:cNvCxnSpPr>
            <a:endCxn id="375" idx="1"/>
          </p:cNvCxnSpPr>
          <p:nvPr/>
        </p:nvCxnSpPr>
        <p:spPr>
          <a:xfrm>
            <a:off x="5739441" y="4159655"/>
            <a:ext cx="190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5" name="Google Shape;385;p27"/>
          <p:cNvCxnSpPr>
            <a:stCxn id="375" idx="2"/>
          </p:cNvCxnSpPr>
          <p:nvPr/>
        </p:nvCxnSpPr>
        <p:spPr>
          <a:xfrm rot="5400000">
            <a:off x="7075154" y="3670071"/>
            <a:ext cx="218100" cy="1566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6" name="Google Shape;386;p27"/>
          <p:cNvCxnSpPr>
            <a:endCxn id="376" idx="0"/>
          </p:cNvCxnSpPr>
          <p:nvPr/>
        </p:nvCxnSpPr>
        <p:spPr>
          <a:xfrm rot="10800000">
            <a:off x="2573755" y="3957103"/>
            <a:ext cx="1891200" cy="18000"/>
          </a:xfrm>
          <a:prstGeom prst="bentConnector4">
            <a:avLst>
              <a:gd fmla="val -944" name="adj1"/>
              <a:gd fmla="val 775533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7" name="Google Shape;387;p27"/>
          <p:cNvCxnSpPr>
            <a:stCxn id="376" idx="2"/>
          </p:cNvCxnSpPr>
          <p:nvPr/>
        </p:nvCxnSpPr>
        <p:spPr>
          <a:xfrm>
            <a:off x="2573755" y="4326435"/>
            <a:ext cx="1074000" cy="469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8" name="Google Shape;388;p27"/>
          <p:cNvSpPr txBox="1"/>
          <p:nvPr/>
        </p:nvSpPr>
        <p:spPr>
          <a:xfrm>
            <a:off x="8847437" y="2190512"/>
            <a:ext cx="4828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7"/>
          <p:cNvSpPr txBox="1"/>
          <p:nvPr/>
        </p:nvSpPr>
        <p:spPr>
          <a:xfrm>
            <a:off x="8819689" y="3157013"/>
            <a:ext cx="4828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7"/>
          <p:cNvSpPr txBox="1"/>
          <p:nvPr/>
        </p:nvSpPr>
        <p:spPr>
          <a:xfrm>
            <a:off x="8819689" y="3938848"/>
            <a:ext cx="4828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7"/>
          <p:cNvSpPr txBox="1"/>
          <p:nvPr/>
        </p:nvSpPr>
        <p:spPr>
          <a:xfrm>
            <a:off x="8819689" y="4836276"/>
            <a:ext cx="4828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27"/>
          <p:cNvCxnSpPr/>
          <p:nvPr/>
        </p:nvCxnSpPr>
        <p:spPr>
          <a:xfrm>
            <a:off x="9717932" y="2091447"/>
            <a:ext cx="0" cy="3114161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3" name="Google Shape;393;p27"/>
          <p:cNvSpPr txBox="1"/>
          <p:nvPr/>
        </p:nvSpPr>
        <p:spPr>
          <a:xfrm>
            <a:off x="9961123" y="3244334"/>
            <a:ext cx="12763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Flow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IF...ELIF...ELSE - </a:t>
            </a:r>
            <a:r>
              <a:rPr lang="en-US"/>
              <a:t>Example</a:t>
            </a:r>
            <a:endParaRPr/>
          </a:p>
        </p:txBody>
      </p:sp>
      <p:pic>
        <p:nvPicPr>
          <p:cNvPr descr="Logo&#10;&#10;Description automatically generated" id="399" name="Google Shape;3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00" name="Google Shape;400;p28"/>
          <p:cNvSpPr txBox="1"/>
          <p:nvPr/>
        </p:nvSpPr>
        <p:spPr>
          <a:xfrm>
            <a:off x="602473" y="1563652"/>
            <a:ext cx="10321689" cy="136313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you have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(more than two)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mutually exclusive conditions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check and decide, then you have to use,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           IF...ELIF...ELSE</a:t>
            </a:r>
            <a:endParaRPr b="0" i="0" sz="1800" u="none" cap="none" strike="noStrike">
              <a:solidFill>
                <a:srgbClr val="056AB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28"/>
          <p:cNvSpPr txBox="1"/>
          <p:nvPr/>
        </p:nvSpPr>
        <p:spPr>
          <a:xfrm>
            <a:off x="602473" y="3274467"/>
            <a:ext cx="10321689" cy="27545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Let's consider you have a fashion house. For Eid, you are providing discount to the customers based on the purchase amount. Your policy is as follows,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equal or over 50k then she will get 25% discount.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between 40k and 50k then she will get 20% discount.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between 25k and 40 k then she will get 10% discount.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Otherwise, there is no discount.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IF...ELIF...ELSE - </a:t>
            </a:r>
            <a:r>
              <a:rPr lang="en-US"/>
              <a:t>Example</a:t>
            </a:r>
            <a:endParaRPr/>
          </a:p>
        </p:txBody>
      </p:sp>
      <p:pic>
        <p:nvPicPr>
          <p:cNvPr descr="Logo&#10;&#10;Description automatically generated" id="407" name="Google Shape;4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08" name="Google Shape;408;p29"/>
          <p:cNvSpPr txBox="1"/>
          <p:nvPr/>
        </p:nvSpPr>
        <p:spPr>
          <a:xfrm>
            <a:off x="184185" y="2235443"/>
            <a:ext cx="3580419" cy="27699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Your policy is as follows,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31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equal or over 50k then she will get 25% discount.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31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between 40k and 50k then she will get 20% discount.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31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between 25k and 40k then she will get 10% discount.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31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Otherwise, there is no discount.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9"/>
          <p:cNvSpPr txBox="1"/>
          <p:nvPr/>
        </p:nvSpPr>
        <p:spPr>
          <a:xfrm>
            <a:off x="4340970" y="1622852"/>
            <a:ext cx="7740783" cy="447810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Get the purchase amount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&gt;=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50000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Discount is 25%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.25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&gt;=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40000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50000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Discount is 20%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&gt;=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25000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40000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Discount is 10%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No Discount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Finally, show the payable amount based on above discount calculation!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3832698" y="3297677"/>
            <a:ext cx="408562" cy="44747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5081EA"/>
              </a:gs>
              <a:gs pos="50000">
                <a:srgbClr val="1F6EEF"/>
              </a:gs>
              <a:gs pos="100000">
                <a:srgbClr val="105EDE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 txBox="1"/>
          <p:nvPr>
            <p:ph type="title"/>
          </p:nvPr>
        </p:nvSpPr>
        <p:spPr>
          <a:xfrm>
            <a:off x="517187" y="52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IF...ELIF...ELSE – </a:t>
            </a:r>
            <a:r>
              <a:rPr lang="en-US"/>
              <a:t>Code</a:t>
            </a:r>
            <a:r>
              <a:rPr b="1" lang="en-US"/>
              <a:t> </a:t>
            </a:r>
            <a:r>
              <a:rPr lang="en-US"/>
              <a:t>Example</a:t>
            </a:r>
            <a:endParaRPr/>
          </a:p>
        </p:txBody>
      </p:sp>
      <p:pic>
        <p:nvPicPr>
          <p:cNvPr descr="Logo&#10;&#10;Description automatically generated" id="416" name="Google Shape;4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17" name="Google Shape;417;p30"/>
          <p:cNvSpPr txBox="1"/>
          <p:nvPr/>
        </p:nvSpPr>
        <p:spPr>
          <a:xfrm>
            <a:off x="184185" y="2235443"/>
            <a:ext cx="3580419" cy="27699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Your policy is as follows,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31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equal or over 50k then she will get 25% discount.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31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between 40k and 50k then she will get 20% discount.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31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customer purchase between 25k and 40k then she will get 10% discount.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31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Otherwise, there is no discount.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4340970" y="1622852"/>
            <a:ext cx="7666845" cy="44781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'Purchase amount: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&gt;=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50000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'Applicable discount is 25%'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.25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&gt;=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40000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50000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'Applicable discount is 20%'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&gt;=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25000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40000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'Applicable discount is 20%'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-=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.1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'No discount is available for this purchase amount!'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'Customer has to pay after discount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purchase_amount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 bdt'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3832698" y="3297677"/>
            <a:ext cx="408562" cy="44747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5081EA"/>
              </a:gs>
              <a:gs pos="50000">
                <a:srgbClr val="1F6EEF"/>
              </a:gs>
              <a:gs pos="100000">
                <a:srgbClr val="105EDE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 txBox="1"/>
          <p:nvPr>
            <p:ph type="title"/>
          </p:nvPr>
        </p:nvSpPr>
        <p:spPr>
          <a:xfrm>
            <a:off x="6935820" y="4231532"/>
            <a:ext cx="4382071" cy="1821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b="1" lang="en-US" sz="3600"/>
              <a:t>Decision Making </a:t>
            </a:r>
            <a:br>
              <a:rPr b="1" i="1" lang="en-US" sz="3600"/>
            </a:br>
            <a:r>
              <a:rPr i="1" lang="en-US" sz="3600"/>
              <a:t>In </a:t>
            </a:r>
            <a:br>
              <a:rPr i="1" lang="en-US" sz="3600"/>
            </a:br>
            <a:r>
              <a:rPr i="1" lang="en-US" sz="3600"/>
              <a:t>Programming</a:t>
            </a:r>
            <a:endParaRPr/>
          </a:p>
        </p:txBody>
      </p:sp>
      <p:pic>
        <p:nvPicPr>
          <p:cNvPr descr="Logo&#10;&#10;Description automatically generated" id="425" name="Google Shape;4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26" name="Google Shape;426;p31"/>
          <p:cNvSpPr txBox="1"/>
          <p:nvPr/>
        </p:nvSpPr>
        <p:spPr>
          <a:xfrm>
            <a:off x="1209610" y="2705725"/>
            <a:ext cx="427392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Nested 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Nested if- </a:t>
            </a:r>
            <a:r>
              <a:rPr lang="en-US"/>
              <a:t>Statement</a:t>
            </a:r>
            <a:endParaRPr/>
          </a:p>
        </p:txBody>
      </p:sp>
      <p:pic>
        <p:nvPicPr>
          <p:cNvPr descr="Logo&#10;&#10;Description automatically generated" id="432" name="Google Shape;43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33" name="Google Shape;433;p32"/>
          <p:cNvSpPr txBox="1"/>
          <p:nvPr/>
        </p:nvSpPr>
        <p:spPr>
          <a:xfrm>
            <a:off x="583018" y="1612290"/>
            <a:ext cx="11359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Sometimes we ha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nested conditions! i.e, condition within a condition.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</a:t>
            </a:r>
            <a:r>
              <a:rPr b="1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condition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then we have to check </a:t>
            </a:r>
            <a:r>
              <a:rPr b="1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another condition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….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such a situation,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we use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nested 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construct.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434" name="Google Shape;43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2664" y="2781277"/>
            <a:ext cx="6840846" cy="39178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Nested if- </a:t>
            </a:r>
            <a:r>
              <a:rPr lang="en-US"/>
              <a:t>Statement</a:t>
            </a:r>
            <a:endParaRPr/>
          </a:p>
        </p:txBody>
      </p:sp>
      <p:pic>
        <p:nvPicPr>
          <p:cNvPr descr="Logo&#10;&#10;Description automatically generated" id="440" name="Google Shape;4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41" name="Google Shape;441;p33"/>
          <p:cNvSpPr txBox="1"/>
          <p:nvPr/>
        </p:nvSpPr>
        <p:spPr>
          <a:xfrm>
            <a:off x="1137494" y="1753116"/>
            <a:ext cx="2802207" cy="47397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expression1: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if expression2: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elif expression3: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</a:t>
            </a: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elif expression4: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442" name="Google Shape;44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4298" y="2164081"/>
            <a:ext cx="6840846" cy="39178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Nested if- </a:t>
            </a:r>
            <a:r>
              <a:rPr lang="en-US"/>
              <a:t>Statement Example</a:t>
            </a:r>
            <a:endParaRPr/>
          </a:p>
        </p:txBody>
      </p:sp>
      <p:pic>
        <p:nvPicPr>
          <p:cNvPr descr="Logo&#10;&#10;Description automatically generated" id="448" name="Google Shape;44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49" name="Google Shape;449;p34"/>
          <p:cNvSpPr txBox="1"/>
          <p:nvPr/>
        </p:nvSpPr>
        <p:spPr>
          <a:xfrm>
            <a:off x="621928" y="1690688"/>
            <a:ext cx="2802207" cy="47397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expression1: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if expression2: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elif expression3: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</a:t>
            </a: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elif expression4: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3424135" y="1589342"/>
            <a:ext cx="85183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are given three numbers. Now, find the largest among these three numbers!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 txBox="1"/>
          <p:nvPr/>
        </p:nvSpPr>
        <p:spPr>
          <a:xfrm>
            <a:off x="9988552" y="3379381"/>
            <a:ext cx="2042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Brain storm here!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, circle&#10;&#10;Description automatically generated" id="452" name="Google Shape;45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9051" y="2010401"/>
            <a:ext cx="1141551" cy="14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Nested if- </a:t>
            </a:r>
            <a:r>
              <a:rPr lang="en-US"/>
              <a:t>Statement Code Example</a:t>
            </a:r>
            <a:endParaRPr/>
          </a:p>
        </p:txBody>
      </p:sp>
      <p:pic>
        <p:nvPicPr>
          <p:cNvPr descr="Logo&#10;&#10;Description automatically generated" id="458" name="Google Shape;4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244" y="158896"/>
            <a:ext cx="1434211" cy="412458"/>
          </a:xfrm>
          <a:custGeom>
            <a:rect b="b" l="l" r="r" t="t"/>
            <a:pathLst>
              <a:path extrusionOk="0" fill="none" h="412458" w="1434211">
                <a:moveTo>
                  <a:pt x="0" y="0"/>
                </a:moveTo>
                <a:cubicBezTo>
                  <a:pt x="91541" y="-20124"/>
                  <a:pt x="269186" y="39712"/>
                  <a:pt x="449386" y="0"/>
                </a:cubicBezTo>
                <a:cubicBezTo>
                  <a:pt x="629586" y="-39712"/>
                  <a:pt x="799472" y="48194"/>
                  <a:pt x="898772" y="0"/>
                </a:cubicBezTo>
                <a:cubicBezTo>
                  <a:pt x="998072" y="-48194"/>
                  <a:pt x="1249689" y="6400"/>
                  <a:pt x="1434211" y="0"/>
                </a:cubicBezTo>
                <a:cubicBezTo>
                  <a:pt x="1456809" y="155149"/>
                  <a:pt x="1390208" y="309638"/>
                  <a:pt x="1434211" y="412458"/>
                </a:cubicBezTo>
                <a:cubicBezTo>
                  <a:pt x="1333224" y="444180"/>
                  <a:pt x="1170975" y="403027"/>
                  <a:pt x="970483" y="412458"/>
                </a:cubicBezTo>
                <a:cubicBezTo>
                  <a:pt x="769991" y="421889"/>
                  <a:pt x="695071" y="356654"/>
                  <a:pt x="463728" y="412458"/>
                </a:cubicBezTo>
                <a:cubicBezTo>
                  <a:pt x="232386" y="468262"/>
                  <a:pt x="122674" y="403070"/>
                  <a:pt x="0" y="412458"/>
                </a:cubicBezTo>
                <a:cubicBezTo>
                  <a:pt x="-45235" y="208649"/>
                  <a:pt x="2148" y="203510"/>
                  <a:pt x="0" y="0"/>
                </a:cubicBezTo>
                <a:close/>
              </a:path>
              <a:path extrusionOk="0" h="412458" w="1434211">
                <a:moveTo>
                  <a:pt x="0" y="0"/>
                </a:moveTo>
                <a:cubicBezTo>
                  <a:pt x="153027" y="-20647"/>
                  <a:pt x="276157" y="16532"/>
                  <a:pt x="506755" y="0"/>
                </a:cubicBezTo>
                <a:cubicBezTo>
                  <a:pt x="737354" y="-16532"/>
                  <a:pt x="829210" y="20141"/>
                  <a:pt x="984825" y="0"/>
                </a:cubicBezTo>
                <a:cubicBezTo>
                  <a:pt x="1140440" y="-20141"/>
                  <a:pt x="1230546" y="35139"/>
                  <a:pt x="1434211" y="0"/>
                </a:cubicBezTo>
                <a:cubicBezTo>
                  <a:pt x="1447996" y="163386"/>
                  <a:pt x="1426779" y="327294"/>
                  <a:pt x="1434211" y="412458"/>
                </a:cubicBezTo>
                <a:cubicBezTo>
                  <a:pt x="1289222" y="436908"/>
                  <a:pt x="1191672" y="378034"/>
                  <a:pt x="956141" y="412458"/>
                </a:cubicBezTo>
                <a:cubicBezTo>
                  <a:pt x="720610" y="446882"/>
                  <a:pt x="723552" y="402905"/>
                  <a:pt x="492412" y="412458"/>
                </a:cubicBezTo>
                <a:cubicBezTo>
                  <a:pt x="261272" y="422011"/>
                  <a:pt x="203027" y="357886"/>
                  <a:pt x="0" y="412458"/>
                </a:cubicBezTo>
                <a:cubicBezTo>
                  <a:pt x="-45525" y="236532"/>
                  <a:pt x="43139" y="152623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59" name="Google Shape;459;p35"/>
          <p:cNvSpPr txBox="1"/>
          <p:nvPr/>
        </p:nvSpPr>
        <p:spPr>
          <a:xfrm>
            <a:off x="675702" y="1688763"/>
            <a:ext cx="101317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are given three numbers. Now, find the largest among these three numbers!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5"/>
          <p:cNvSpPr txBox="1"/>
          <p:nvPr/>
        </p:nvSpPr>
        <p:spPr>
          <a:xfrm>
            <a:off x="5612180" y="2294866"/>
            <a:ext cx="5866458" cy="420730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'Number1: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'Number2: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n3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'Number3: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n3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'Largest Number is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n1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'Largest Number is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n3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n3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'Largest number is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n2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'Largest number is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n3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1405277" y="2442535"/>
            <a:ext cx="2802207" cy="38933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expression1: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if expression2: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elif expression3: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</a:t>
            </a:r>
            <a:r>
              <a:rPr b="0" i="0" lang="en-US" sz="16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elif expression4: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ushVTI">
  <a:themeElements>
    <a:clrScheme name="AnalogousFromDarkSeed_2SEEDS">
      <a:dk1>
        <a:srgbClr val="000000"/>
      </a:dk1>
      <a:lt1>
        <a:srgbClr val="FFFFFF"/>
      </a:lt1>
      <a:dk2>
        <a:srgbClr val="1B2C30"/>
      </a:dk2>
      <a:lt2>
        <a:srgbClr val="F3F1F0"/>
      </a:lt2>
      <a:accent1>
        <a:srgbClr val="17AED5"/>
      </a:accent1>
      <a:accent2>
        <a:srgbClr val="20B596"/>
      </a:accent2>
      <a:accent3>
        <a:srgbClr val="2971E7"/>
      </a:accent3>
      <a:accent4>
        <a:srgbClr val="D51731"/>
      </a:accent4>
      <a:accent5>
        <a:srgbClr val="E75E29"/>
      </a:accent5>
      <a:accent6>
        <a:srgbClr val="D19817"/>
      </a:accent6>
      <a:hlink>
        <a:srgbClr val="A14EC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2021-11-24T14:43:08Z</dcterms:created>
  <dc:creator>M.M. Mahbubul Syeed</dc:creator>
</cp:coreProperties>
</file>