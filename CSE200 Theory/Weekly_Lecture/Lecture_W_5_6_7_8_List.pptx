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Tahoma"/>
      <p:regular r:id="rId35"/>
      <p:bold r:id="rId36"/>
    </p:embeddedFont>
    <p:embeddedFont>
      <p:font typeface="Century Gothic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hwwUUy5gEzCK8NV5CGEkUS9C37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09D73A-A272-44F6-B70D-3BC4A17343CB}">
  <a:tblStyle styleId="{4509D73A-A272-44F6-B70D-3BC4A17343CB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7"/>
          </a:solidFill>
        </a:fill>
      </a:tcStyle>
    </a:wholeTbl>
    <a:band1H>
      <a:tcTxStyle b="off" i="off"/>
      <a:tcStyle>
        <a:fill>
          <a:solidFill>
            <a:srgbClr val="CAE3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E3EF"/>
          </a:solidFill>
        </a:fill>
      </a:tcStyle>
    </a:band1V>
    <a:band2V>
      <a:tcTxStyle b="off" i="off"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Tahoma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CenturyGothic-regular.fntdata"/><Relationship Id="rId14" Type="http://schemas.openxmlformats.org/officeDocument/2006/relationships/slide" Target="slides/slide9.xml"/><Relationship Id="rId36" Type="http://schemas.openxmlformats.org/officeDocument/2006/relationships/font" Target="fonts/Tahoma-bold.fntdata"/><Relationship Id="rId17" Type="http://schemas.openxmlformats.org/officeDocument/2006/relationships/slide" Target="slides/slide12.xml"/><Relationship Id="rId39" Type="http://schemas.openxmlformats.org/officeDocument/2006/relationships/font" Target="fonts/CenturyGothic-italic.fntdata"/><Relationship Id="rId16" Type="http://schemas.openxmlformats.org/officeDocument/2006/relationships/slide" Target="slides/slide11.xml"/><Relationship Id="rId38" Type="http://schemas.openxmlformats.org/officeDocument/2006/relationships/font" Target="fonts/CenturyGothic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16" name="Google Shape;16;p25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25"/>
          <p:cNvSpPr txBox="1"/>
          <p:nvPr>
            <p:ph type="ctrTitle"/>
          </p:nvPr>
        </p:nvSpPr>
        <p:spPr>
          <a:xfrm>
            <a:off x="1508760" y="1591056"/>
            <a:ext cx="5705856" cy="32644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" type="subTitle"/>
          </p:nvPr>
        </p:nvSpPr>
        <p:spPr>
          <a:xfrm>
            <a:off x="1524000" y="4928616"/>
            <a:ext cx="5705856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23" name="Google Shape;23;p26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" type="body"/>
          </p:nvPr>
        </p:nvSpPr>
        <p:spPr>
          <a:xfrm>
            <a:off x="838200" y="2011680"/>
            <a:ext cx="1051560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30" name="Google Shape;30;p27"/>
          <p:cNvSpPr/>
          <p:nvPr/>
        </p:nvSpPr>
        <p:spPr>
          <a:xfrm>
            <a:off x="7209816" y="0"/>
            <a:ext cx="4143984" cy="5747660"/>
          </a:xfrm>
          <a:custGeom>
            <a:rect b="b" l="l" r="r" t="t"/>
            <a:pathLst>
              <a:path extrusionOk="0" h="5956080" w="384375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" name="Google Shape;31;p27"/>
          <p:cNvSpPr txBox="1"/>
          <p:nvPr>
            <p:ph type="title"/>
          </p:nvPr>
        </p:nvSpPr>
        <p:spPr>
          <a:xfrm>
            <a:off x="831850" y="1078991"/>
            <a:ext cx="5266944" cy="31363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" type="body"/>
          </p:nvPr>
        </p:nvSpPr>
        <p:spPr>
          <a:xfrm>
            <a:off x="831850" y="4279392"/>
            <a:ext cx="5266944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41" name="Google Shape;41;p28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838200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2" type="body"/>
          </p:nvPr>
        </p:nvSpPr>
        <p:spPr>
          <a:xfrm>
            <a:off x="6419088" y="2011680"/>
            <a:ext cx="4937760" cy="416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49" name="Google Shape;49;p29"/>
          <p:cNvSpPr/>
          <p:nvPr/>
        </p:nvSpPr>
        <p:spPr>
          <a:xfrm flipH="1">
            <a:off x="1" y="315111"/>
            <a:ext cx="3021543" cy="1435442"/>
          </a:xfrm>
          <a:custGeom>
            <a:rect b="b" l="l" r="r" t="t"/>
            <a:pathLst>
              <a:path extrusionOk="0" h="1435442" w="3021543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" type="body"/>
          </p:nvPr>
        </p:nvSpPr>
        <p:spPr>
          <a:xfrm>
            <a:off x="8397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9"/>
          <p:cNvSpPr txBox="1"/>
          <p:nvPr>
            <p:ph idx="2" type="body"/>
          </p:nvPr>
        </p:nvSpPr>
        <p:spPr>
          <a:xfrm>
            <a:off x="8397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3" type="body"/>
          </p:nvPr>
        </p:nvSpPr>
        <p:spPr>
          <a:xfrm>
            <a:off x="6419088" y="2011680"/>
            <a:ext cx="49377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9"/>
          <p:cNvSpPr txBox="1"/>
          <p:nvPr>
            <p:ph idx="4" type="body"/>
          </p:nvPr>
        </p:nvSpPr>
        <p:spPr>
          <a:xfrm>
            <a:off x="6419088" y="312724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59" name="Google Shape;59;p30"/>
          <p:cNvSpPr/>
          <p:nvPr/>
        </p:nvSpPr>
        <p:spPr>
          <a:xfrm flipH="1">
            <a:off x="1969639" y="181596"/>
            <a:ext cx="8252722" cy="6022258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0;p30"/>
          <p:cNvSpPr txBox="1"/>
          <p:nvPr>
            <p:ph type="title"/>
          </p:nvPr>
        </p:nvSpPr>
        <p:spPr>
          <a:xfrm>
            <a:off x="2843784" y="1572768"/>
            <a:ext cx="65013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ask ID=&#10;Mask position=bottom, center&#10;Mask family= brushstroke, landscape, wide" id="65" name="Google Shape;65;p32"/>
          <p:cNvSpPr/>
          <p:nvPr/>
        </p:nvSpPr>
        <p:spPr>
          <a:xfrm>
            <a:off x="1768100" y="-1"/>
            <a:ext cx="10423900" cy="5920155"/>
          </a:xfrm>
          <a:custGeom>
            <a:rect b="b" l="l" r="r" t="t"/>
            <a:pathLst>
              <a:path extrusionOk="0" h="5491534" w="10423900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70" name="Google Shape;70;p33"/>
          <p:cNvSpPr/>
          <p:nvPr/>
        </p:nvSpPr>
        <p:spPr>
          <a:xfrm>
            <a:off x="4726728" y="0"/>
            <a:ext cx="7472381" cy="6858000"/>
          </a:xfrm>
          <a:custGeom>
            <a:rect b="b" l="l" r="r" t="t"/>
            <a:pathLst>
              <a:path extrusionOk="0" h="6886575" w="7472381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33"/>
          <p:cNvSpPr txBox="1"/>
          <p:nvPr>
            <p:ph type="title"/>
          </p:nvPr>
        </p:nvSpPr>
        <p:spPr>
          <a:xfrm>
            <a:off x="839788" y="640080"/>
            <a:ext cx="3886200" cy="2953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" type="body"/>
          </p:nvPr>
        </p:nvSpPr>
        <p:spPr>
          <a:xfrm>
            <a:off x="7059168" y="640080"/>
            <a:ext cx="4489704" cy="5596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33"/>
          <p:cNvSpPr txBox="1"/>
          <p:nvPr>
            <p:ph idx="2" type="body"/>
          </p:nvPr>
        </p:nvSpPr>
        <p:spPr>
          <a:xfrm>
            <a:off x="839788" y="3776472"/>
            <a:ext cx="38862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" id="78" name="Google Shape;78;p34"/>
          <p:cNvSpPr/>
          <p:nvPr/>
        </p:nvSpPr>
        <p:spPr>
          <a:xfrm>
            <a:off x="684965" y="1332237"/>
            <a:ext cx="5263732" cy="3841102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34"/>
          <p:cNvSpPr txBox="1"/>
          <p:nvPr>
            <p:ph type="title"/>
          </p:nvPr>
        </p:nvSpPr>
        <p:spPr>
          <a:xfrm>
            <a:off x="1399032" y="2523744"/>
            <a:ext cx="3831336" cy="1453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/>
          <p:nvPr>
            <p:ph idx="2" type="pic"/>
          </p:nvPr>
        </p:nvSpPr>
        <p:spPr>
          <a:xfrm>
            <a:off x="6711696" y="640079"/>
            <a:ext cx="4837176" cy="556869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34"/>
          <p:cNvSpPr txBox="1"/>
          <p:nvPr>
            <p:ph idx="1" type="body"/>
          </p:nvPr>
        </p:nvSpPr>
        <p:spPr>
          <a:xfrm>
            <a:off x="1655064" y="4087368"/>
            <a:ext cx="3319272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/>
          <p:nvPr>
            <p:ph type="ctrTitle"/>
          </p:nvPr>
        </p:nvSpPr>
        <p:spPr>
          <a:xfrm>
            <a:off x="1329446" y="4331242"/>
            <a:ext cx="10100170" cy="6829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entury Gothic"/>
              <a:buNone/>
            </a:pPr>
            <a:r>
              <a:rPr b="1" lang="en-US" sz="3700"/>
              <a:t>Python – List &amp; Tuples </a:t>
            </a:r>
            <a:endParaRPr/>
          </a:p>
        </p:txBody>
      </p:sp>
      <p:pic>
        <p:nvPicPr>
          <p:cNvPr descr="Aerial view of beach and waves" id="103" name="Google Shape;103;p1"/>
          <p:cNvPicPr preferRelativeResize="0"/>
          <p:nvPr/>
        </p:nvPicPr>
        <p:blipFill rotWithShape="1">
          <a:blip r:embed="rId3">
            <a:alphaModFix/>
          </a:blip>
          <a:srcRect b="32796" l="0" r="0" t="29137"/>
          <a:stretch/>
        </p:blipFill>
        <p:spPr>
          <a:xfrm>
            <a:off x="838201" y="10"/>
            <a:ext cx="10484412" cy="3811394"/>
          </a:xfrm>
          <a:custGeom>
            <a:rect b="b" l="l" r="r" t="t"/>
            <a:pathLst>
              <a:path extrusionOk="0" h="3811404" w="10484412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Logo&#10;&#10;Description automatically generated" id="104" name="Google Shape;10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30" y="3590767"/>
            <a:ext cx="2374629" cy="682908"/>
          </a:xfrm>
          <a:custGeom>
            <a:rect b="b" l="l" r="r" t="t"/>
            <a:pathLst>
              <a:path extrusionOk="0" fill="none" h="682908" w="2374629">
                <a:moveTo>
                  <a:pt x="0" y="0"/>
                </a:moveTo>
                <a:cubicBezTo>
                  <a:pt x="131428" y="-36206"/>
                  <a:pt x="429568" y="49038"/>
                  <a:pt x="593657" y="0"/>
                </a:cubicBezTo>
                <a:cubicBezTo>
                  <a:pt x="757746" y="-49038"/>
                  <a:pt x="1097918" y="53842"/>
                  <a:pt x="1234807" y="0"/>
                </a:cubicBezTo>
                <a:cubicBezTo>
                  <a:pt x="1371696" y="-53842"/>
                  <a:pt x="2054204" y="66126"/>
                  <a:pt x="2374629" y="0"/>
                </a:cubicBezTo>
                <a:cubicBezTo>
                  <a:pt x="2405002" y="162524"/>
                  <a:pt x="2371205" y="264958"/>
                  <a:pt x="2374629" y="334625"/>
                </a:cubicBezTo>
                <a:cubicBezTo>
                  <a:pt x="2378053" y="404292"/>
                  <a:pt x="2347794" y="576645"/>
                  <a:pt x="2374629" y="682908"/>
                </a:cubicBezTo>
                <a:cubicBezTo>
                  <a:pt x="2238559" y="706138"/>
                  <a:pt x="2022244" y="650700"/>
                  <a:pt x="1757225" y="682908"/>
                </a:cubicBezTo>
                <a:cubicBezTo>
                  <a:pt x="1492206" y="715116"/>
                  <a:pt x="1476653" y="629947"/>
                  <a:pt x="1234807" y="682908"/>
                </a:cubicBezTo>
                <a:cubicBezTo>
                  <a:pt x="992961" y="735869"/>
                  <a:pt x="919868" y="629849"/>
                  <a:pt x="712389" y="682908"/>
                </a:cubicBezTo>
                <a:cubicBezTo>
                  <a:pt x="504910" y="735967"/>
                  <a:pt x="305855" y="663304"/>
                  <a:pt x="0" y="682908"/>
                </a:cubicBezTo>
                <a:cubicBezTo>
                  <a:pt x="-18065" y="557586"/>
                  <a:pt x="6995" y="450320"/>
                  <a:pt x="0" y="348283"/>
                </a:cubicBezTo>
                <a:cubicBezTo>
                  <a:pt x="-6995" y="246247"/>
                  <a:pt x="2488" y="107054"/>
                  <a:pt x="0" y="0"/>
                </a:cubicBezTo>
                <a:close/>
              </a:path>
              <a:path extrusionOk="0" h="682908" w="2374629">
                <a:moveTo>
                  <a:pt x="0" y="0"/>
                </a:moveTo>
                <a:cubicBezTo>
                  <a:pt x="311661" y="-61020"/>
                  <a:pt x="325144" y="53203"/>
                  <a:pt x="641150" y="0"/>
                </a:cubicBezTo>
                <a:cubicBezTo>
                  <a:pt x="957156" y="-53203"/>
                  <a:pt x="959195" y="19220"/>
                  <a:pt x="1234807" y="0"/>
                </a:cubicBezTo>
                <a:cubicBezTo>
                  <a:pt x="1510419" y="-19220"/>
                  <a:pt x="1584655" y="38722"/>
                  <a:pt x="1780972" y="0"/>
                </a:cubicBezTo>
                <a:cubicBezTo>
                  <a:pt x="1977289" y="-38722"/>
                  <a:pt x="2190607" y="69537"/>
                  <a:pt x="2374629" y="0"/>
                </a:cubicBezTo>
                <a:cubicBezTo>
                  <a:pt x="2385325" y="132255"/>
                  <a:pt x="2363129" y="182532"/>
                  <a:pt x="2374629" y="341454"/>
                </a:cubicBezTo>
                <a:cubicBezTo>
                  <a:pt x="2386129" y="500376"/>
                  <a:pt x="2370081" y="556976"/>
                  <a:pt x="2374629" y="682908"/>
                </a:cubicBezTo>
                <a:cubicBezTo>
                  <a:pt x="2124574" y="704019"/>
                  <a:pt x="1976947" y="673626"/>
                  <a:pt x="1780972" y="682908"/>
                </a:cubicBezTo>
                <a:cubicBezTo>
                  <a:pt x="1584997" y="692190"/>
                  <a:pt x="1379907" y="658257"/>
                  <a:pt x="1258553" y="682908"/>
                </a:cubicBezTo>
                <a:cubicBezTo>
                  <a:pt x="1137199" y="707559"/>
                  <a:pt x="917106" y="632366"/>
                  <a:pt x="712389" y="682908"/>
                </a:cubicBezTo>
                <a:cubicBezTo>
                  <a:pt x="507672" y="733450"/>
                  <a:pt x="205418" y="628160"/>
                  <a:pt x="0" y="682908"/>
                </a:cubicBezTo>
                <a:cubicBezTo>
                  <a:pt x="-31526" y="607460"/>
                  <a:pt x="16314" y="448776"/>
                  <a:pt x="0" y="361941"/>
                </a:cubicBezTo>
                <a:cubicBezTo>
                  <a:pt x="-16314" y="275106"/>
                  <a:pt x="37469" y="142419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524000" y="5071718"/>
            <a:ext cx="9144000" cy="6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M M Mahbubul syeed, phd. Associate professor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Highlight</a:t>
            </a:r>
            <a:endParaRPr/>
          </a:p>
        </p:txBody>
      </p:sp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721468" y="2177050"/>
            <a:ext cx="10515600" cy="314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List</a:t>
            </a:r>
            <a:r>
              <a:rPr lang="en-US" sz="2000"/>
              <a:t> – what is it!!??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Why we use list?!.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Construction (memory and index) of a list.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List operations (basic).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List operations (built in functions).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List operations (list functions).</a:t>
            </a:r>
            <a:endParaRPr/>
          </a:p>
        </p:txBody>
      </p:sp>
      <p:pic>
        <p:nvPicPr>
          <p:cNvPr descr="Logo&#10;&#10;Description automatically generated"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 flipH="1">
            <a:off x="2599854" y="527562"/>
            <a:ext cx="6992292" cy="5102484"/>
          </a:xfrm>
          <a:custGeom>
            <a:rect b="b" l="l" r="r" t="t"/>
            <a:pathLst>
              <a:path extrusionOk="0" h="5025119" w="6886274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3"/>
          <p:cNvSpPr/>
          <p:nvPr/>
        </p:nvSpPr>
        <p:spPr>
          <a:xfrm flipH="1">
            <a:off x="0" y="0"/>
            <a:ext cx="5962785" cy="685800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3"/>
          <p:cNvSpPr txBox="1"/>
          <p:nvPr>
            <p:ph type="title"/>
          </p:nvPr>
        </p:nvSpPr>
        <p:spPr>
          <a:xfrm>
            <a:off x="643468" y="643467"/>
            <a:ext cx="4620584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b="1" i="1" lang="en-US"/>
              <a:t>List</a:t>
            </a:r>
            <a:endParaRPr i="1"/>
          </a:p>
        </p:txBody>
      </p:sp>
      <p:pic>
        <p:nvPicPr>
          <p:cNvPr descr="Logo&#10;&#10;Description automatically generated"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graphicFrame>
        <p:nvGraphicFramePr>
          <p:cNvPr id="124" name="Google Shape;124;p3"/>
          <p:cNvGraphicFramePr/>
          <p:nvPr/>
        </p:nvGraphicFramePr>
        <p:xfrm>
          <a:off x="6606253" y="45352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{4509D73A-A272-44F6-B70D-3BC4A17343CB}</a:tableStyleId>
              </a:tblPr>
              <a:tblGrid>
                <a:gridCol w="1077300"/>
                <a:gridCol w="1077300"/>
                <a:gridCol w="1077300"/>
                <a:gridCol w="1077300"/>
                <a:gridCol w="1077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5" name="Google Shape;125;p3"/>
          <p:cNvSpPr txBox="1"/>
          <p:nvPr/>
        </p:nvSpPr>
        <p:spPr>
          <a:xfrm>
            <a:off x="5663016" y="4265357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3"/>
          <p:cNvCxnSpPr>
            <a:stCxn id="125" idx="3"/>
          </p:cNvCxnSpPr>
          <p:nvPr/>
        </p:nvCxnSpPr>
        <p:spPr>
          <a:xfrm>
            <a:off x="6259654" y="4450023"/>
            <a:ext cx="346500" cy="27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7" name="Google Shape;127;p3"/>
          <p:cNvSpPr txBox="1"/>
          <p:nvPr/>
        </p:nvSpPr>
        <p:spPr>
          <a:xfrm>
            <a:off x="7764145" y="3307297"/>
            <a:ext cx="3402249" cy="774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What is it?!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335279" y="1727509"/>
            <a:ext cx="10515599" cy="1285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a data structure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that is a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mutable, or changeable, ordered sequence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elements.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Each element or value that is inside of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called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item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36" name="Google Shape;136;p4"/>
          <p:cNvSpPr txBox="1"/>
          <p:nvPr/>
        </p:nvSpPr>
        <p:spPr>
          <a:xfrm>
            <a:off x="556909" y="3429000"/>
            <a:ext cx="4601995" cy="2862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list2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[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"d"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D367A"/>
                </a:solidFill>
                <a:latin typeface="Consolas"/>
                <a:ea typeface="Consolas"/>
                <a:cs typeface="Consolas"/>
                <a:sym typeface="Consolas"/>
              </a:rPr>
              <a:t>List3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[] //Creating an empty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7" name="Google Shape;137;p4"/>
          <p:cNvGraphicFramePr/>
          <p:nvPr/>
        </p:nvGraphicFramePr>
        <p:xfrm>
          <a:off x="6651287" y="41072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{4509D73A-A272-44F6-B70D-3BC4A17343CB}</a:tableStyleId>
              </a:tblPr>
              <a:tblGrid>
                <a:gridCol w="1077300"/>
                <a:gridCol w="1077300"/>
                <a:gridCol w="1077300"/>
                <a:gridCol w="1077300"/>
                <a:gridCol w="1077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8" name="Google Shape;138;p4"/>
          <p:cNvGraphicFramePr/>
          <p:nvPr/>
        </p:nvGraphicFramePr>
        <p:xfrm>
          <a:off x="7033097" y="47854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{4509D73A-A272-44F6-B70D-3BC4A17343CB}</a:tableStyleId>
              </a:tblPr>
              <a:tblGrid>
                <a:gridCol w="1251175"/>
                <a:gridCol w="1251175"/>
                <a:gridCol w="1251175"/>
                <a:gridCol w="1251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9" name="Google Shape;139;p4"/>
          <p:cNvSpPr txBox="1"/>
          <p:nvPr/>
        </p:nvSpPr>
        <p:spPr>
          <a:xfrm>
            <a:off x="5324545" y="4095999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5324545" y="4844329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4"/>
          <p:cNvCxnSpPr>
            <a:stCxn id="139" idx="3"/>
          </p:cNvCxnSpPr>
          <p:nvPr/>
        </p:nvCxnSpPr>
        <p:spPr>
          <a:xfrm>
            <a:off x="5921183" y="4280665"/>
            <a:ext cx="730200" cy="1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" name="Google Shape;142;p4"/>
          <p:cNvCxnSpPr>
            <a:stCxn id="140" idx="3"/>
          </p:cNvCxnSpPr>
          <p:nvPr/>
        </p:nvCxnSpPr>
        <p:spPr>
          <a:xfrm flipH="1" rot="10800000">
            <a:off x="5921183" y="4970795"/>
            <a:ext cx="1111800" cy="5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" name="Google Shape;143;p4"/>
          <p:cNvSpPr txBox="1"/>
          <p:nvPr/>
        </p:nvSpPr>
        <p:spPr>
          <a:xfrm>
            <a:off x="9075905" y="3277751"/>
            <a:ext cx="11063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Why?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698045" y="1901179"/>
            <a:ext cx="10515599" cy="3979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store ordered list of items, e.g., list of students, list of products, list of prices, list of marks.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carry out different useful operations on the list, e.g., sorting the marks, find min/max marks or price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Manipulating list items / data (add, remove, modify), e.g., adding new students in the list, changing price of a product.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Combining two or more lists together, e.g., combining list of CSE students and list of EEE students to get a full list of students in the University.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create graphical representation of data, e.g., show list of items in the user interface!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51" name="Google Shape;1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What is it?!</a:t>
            </a:r>
            <a:endParaRPr/>
          </a:p>
        </p:txBody>
      </p:sp>
      <p:pic>
        <p:nvPicPr>
          <p:cNvPr descr="Logo&#10;&#10;Description automatically generated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59" name="Google Shape;159;p6"/>
          <p:cNvSpPr txBox="1"/>
          <p:nvPr/>
        </p:nvSpPr>
        <p:spPr>
          <a:xfrm>
            <a:off x="498541" y="1951672"/>
            <a:ext cx="9822505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can be written as a </a:t>
            </a:r>
            <a:r>
              <a:rPr b="1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comma-separated values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(items) between </a:t>
            </a:r>
            <a:r>
              <a:rPr b="1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square brackets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 thing about a list is that the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items in a list need not be of the same type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Index of a List starts with 0 (from left to right).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Index of a List starts with -1 (from right to left).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498541" y="4285529"/>
            <a:ext cx="4015091" cy="1051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" name="Google Shape;161;p6"/>
          <p:cNvGraphicFramePr/>
          <p:nvPr/>
        </p:nvGraphicFramePr>
        <p:xfrm>
          <a:off x="6402090" y="5181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{4509D73A-A272-44F6-B70D-3BC4A17343CB}</a:tableStyleId>
              </a:tblPr>
              <a:tblGrid>
                <a:gridCol w="1077300"/>
                <a:gridCol w="1077300"/>
                <a:gridCol w="1077300"/>
                <a:gridCol w="1077300"/>
                <a:gridCol w="1077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2" name="Google Shape;162;p6"/>
          <p:cNvSpPr txBox="1"/>
          <p:nvPr/>
        </p:nvSpPr>
        <p:spPr>
          <a:xfrm>
            <a:off x="5232183" y="5193237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6"/>
          <p:cNvCxnSpPr>
            <a:stCxn id="162" idx="3"/>
          </p:cNvCxnSpPr>
          <p:nvPr/>
        </p:nvCxnSpPr>
        <p:spPr>
          <a:xfrm flipH="1" rot="10800000">
            <a:off x="5828821" y="5367103"/>
            <a:ext cx="573300" cy="1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4" name="Google Shape;164;p6"/>
          <p:cNvSpPr txBox="1"/>
          <p:nvPr/>
        </p:nvSpPr>
        <p:spPr>
          <a:xfrm>
            <a:off x="8278237" y="3659832"/>
            <a:ext cx="11063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5" name="Google Shape;165;p6"/>
          <p:cNvGraphicFramePr/>
          <p:nvPr/>
        </p:nvGraphicFramePr>
        <p:xfrm>
          <a:off x="6402090" y="46260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{4509D73A-A272-44F6-B70D-3BC4A17343CB}</a:tableStyleId>
              </a:tblPr>
              <a:tblGrid>
                <a:gridCol w="1077300"/>
                <a:gridCol w="1077300"/>
                <a:gridCol w="1077300"/>
                <a:gridCol w="1077300"/>
                <a:gridCol w="1077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6" name="Google Shape;166;p6"/>
          <p:cNvSpPr txBox="1"/>
          <p:nvPr/>
        </p:nvSpPr>
        <p:spPr>
          <a:xfrm>
            <a:off x="4747098" y="4105482"/>
            <a:ext cx="19351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 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6"/>
          <p:cNvCxnSpPr/>
          <p:nvPr/>
        </p:nvCxnSpPr>
        <p:spPr>
          <a:xfrm>
            <a:off x="6712083" y="4397869"/>
            <a:ext cx="1342416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8" name="Google Shape;168;p6"/>
          <p:cNvSpPr txBox="1"/>
          <p:nvPr/>
        </p:nvSpPr>
        <p:spPr>
          <a:xfrm>
            <a:off x="9956761" y="6118320"/>
            <a:ext cx="19351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 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to 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p6"/>
          <p:cNvGraphicFramePr/>
          <p:nvPr/>
        </p:nvGraphicFramePr>
        <p:xfrm>
          <a:off x="6402090" y="57262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{4509D73A-A272-44F6-B70D-3BC4A17343CB}</a:tableStyleId>
              </a:tblPr>
              <a:tblGrid>
                <a:gridCol w="1077300"/>
                <a:gridCol w="1077300"/>
                <a:gridCol w="1077300"/>
                <a:gridCol w="1077300"/>
                <a:gridCol w="1077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70" name="Google Shape;170;p6"/>
          <p:cNvCxnSpPr/>
          <p:nvPr/>
        </p:nvCxnSpPr>
        <p:spPr>
          <a:xfrm rot="10800000">
            <a:off x="9305171" y="6563895"/>
            <a:ext cx="1230212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1" name="Google Shape;171;p6"/>
          <p:cNvSpPr txBox="1"/>
          <p:nvPr/>
        </p:nvSpPr>
        <p:spPr>
          <a:xfrm>
            <a:off x="10112584" y="3177109"/>
            <a:ext cx="20210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index or indices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6"/>
          <p:cNvCxnSpPr>
            <a:stCxn id="171" idx="2"/>
          </p:cNvCxnSpPr>
          <p:nvPr/>
        </p:nvCxnSpPr>
        <p:spPr>
          <a:xfrm flipH="1" rot="-5400000">
            <a:off x="10273209" y="4396341"/>
            <a:ext cx="2365200" cy="665400"/>
          </a:xfrm>
          <a:prstGeom prst="bentConnector4">
            <a:avLst>
              <a:gd fmla="val 12766" name="adj1"/>
              <a:gd fmla="val 142365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3" name="Google Shape;173;p6"/>
          <p:cNvCxnSpPr>
            <a:stCxn id="171" idx="2"/>
          </p:cNvCxnSpPr>
          <p:nvPr/>
        </p:nvCxnSpPr>
        <p:spPr>
          <a:xfrm flipH="1" rot="-5400000">
            <a:off x="10823259" y="3846291"/>
            <a:ext cx="1265100" cy="665400"/>
          </a:xfrm>
          <a:prstGeom prst="bentConnector4">
            <a:avLst>
              <a:gd fmla="val 24215" name="adj1"/>
              <a:gd fmla="val 140904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accessing list items</a:t>
            </a:r>
            <a:endParaRPr/>
          </a:p>
        </p:txBody>
      </p:sp>
      <p:pic>
        <p:nvPicPr>
          <p:cNvPr descr="Logo&#10;&#10;Description automatically generated"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81" name="Google Shape;181;p7"/>
          <p:cNvSpPr txBox="1"/>
          <p:nvPr/>
        </p:nvSpPr>
        <p:spPr>
          <a:xfrm>
            <a:off x="479085" y="1690688"/>
            <a:ext cx="6485919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items can be accessed with </a:t>
            </a:r>
            <a:r>
              <a:rPr b="1" i="0" lang="en-US" sz="1800" u="sng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slicing operator (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</a:t>
            </a:r>
            <a:r>
              <a:rPr b="1" i="0" lang="en-US" sz="1800" u="sng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7397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Index of a List starts with 0 (from left to right).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7397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Index of a List starts with -1 (from right to left).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7690934" y="2110926"/>
            <a:ext cx="3593151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:-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accessing list items</a:t>
            </a:r>
            <a:endParaRPr/>
          </a:p>
        </p:txBody>
      </p:sp>
      <p:pic>
        <p:nvPicPr>
          <p:cNvPr descr="Logo&#10;&#10;Description automatically generated"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90" name="Google Shape;190;p8"/>
          <p:cNvSpPr txBox="1"/>
          <p:nvPr/>
        </p:nvSpPr>
        <p:spPr>
          <a:xfrm>
            <a:off x="479085" y="1690688"/>
            <a:ext cx="6485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items can be accessed with </a:t>
            </a:r>
            <a:r>
              <a:rPr b="1" i="0" lang="en-US" sz="1800" u="sng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slicing operator (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[]</a:t>
            </a:r>
            <a:r>
              <a:rPr b="1" i="0" lang="en-US" sz="1800" u="sng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479085" y="2363846"/>
            <a:ext cx="3593151" cy="4616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:-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8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8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[:])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2" name="Google Shape;192;p8"/>
          <p:cNvGraphicFramePr/>
          <p:nvPr/>
        </p:nvGraphicFramePr>
        <p:xfrm>
          <a:off x="8051333" y="54482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{4509D73A-A272-44F6-B70D-3BC4A17343CB}</a:tableStyleId>
              </a:tblPr>
              <a:tblGrid>
                <a:gridCol w="791450"/>
                <a:gridCol w="791450"/>
                <a:gridCol w="791450"/>
                <a:gridCol w="791450"/>
                <a:gridCol w="791450"/>
              </a:tblGrid>
              <a:tr h="252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3" name="Google Shape;193;p8"/>
          <p:cNvSpPr txBox="1"/>
          <p:nvPr/>
        </p:nvSpPr>
        <p:spPr>
          <a:xfrm>
            <a:off x="7081736" y="5506374"/>
            <a:ext cx="5682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8"/>
          <p:cNvCxnSpPr>
            <a:stCxn id="193" idx="3"/>
          </p:cNvCxnSpPr>
          <p:nvPr/>
        </p:nvCxnSpPr>
        <p:spPr>
          <a:xfrm flipH="1" rot="10800000">
            <a:off x="7649999" y="5631163"/>
            <a:ext cx="401400" cy="2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5" name="Google Shape;195;p8"/>
          <p:cNvSpPr txBox="1"/>
          <p:nvPr/>
        </p:nvSpPr>
        <p:spPr>
          <a:xfrm>
            <a:off x="10815323" y="4005357"/>
            <a:ext cx="9261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6" name="Google Shape;196;p8"/>
          <p:cNvGraphicFramePr/>
          <p:nvPr/>
        </p:nvGraphicFramePr>
        <p:xfrm>
          <a:off x="8051333" y="4994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{4509D73A-A272-44F6-B70D-3BC4A17343CB}</a:tableStyleId>
              </a:tblPr>
              <a:tblGrid>
                <a:gridCol w="791450"/>
                <a:gridCol w="791450"/>
                <a:gridCol w="791450"/>
                <a:gridCol w="791450"/>
                <a:gridCol w="791450"/>
              </a:tblGrid>
              <a:tr h="252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7" name="Google Shape;197;p8"/>
          <p:cNvSpPr txBox="1"/>
          <p:nvPr/>
        </p:nvSpPr>
        <p:spPr>
          <a:xfrm>
            <a:off x="7756842" y="4505731"/>
            <a:ext cx="19027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 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8"/>
          <p:cNvCxnSpPr/>
          <p:nvPr/>
        </p:nvCxnSpPr>
        <p:spPr>
          <a:xfrm>
            <a:off x="9759876" y="4798290"/>
            <a:ext cx="986227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9" name="Google Shape;199;p8"/>
          <p:cNvSpPr txBox="1"/>
          <p:nvPr/>
        </p:nvSpPr>
        <p:spPr>
          <a:xfrm>
            <a:off x="10301592" y="6180146"/>
            <a:ext cx="18103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Memory 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to 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0" name="Google Shape;200;p8"/>
          <p:cNvGraphicFramePr/>
          <p:nvPr/>
        </p:nvGraphicFramePr>
        <p:xfrm>
          <a:off x="8051333" y="58721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{4509D73A-A272-44F6-B70D-3BC4A17343CB}</a:tableStyleId>
              </a:tblPr>
              <a:tblGrid>
                <a:gridCol w="791450"/>
                <a:gridCol w="791450"/>
                <a:gridCol w="791450"/>
                <a:gridCol w="791450"/>
                <a:gridCol w="791450"/>
              </a:tblGrid>
              <a:tr h="252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01" name="Google Shape;201;p8"/>
          <p:cNvCxnSpPr/>
          <p:nvPr/>
        </p:nvCxnSpPr>
        <p:spPr>
          <a:xfrm rot="10800000">
            <a:off x="10325698" y="6691514"/>
            <a:ext cx="326417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2" name="Google Shape;202;p8"/>
          <p:cNvSpPr txBox="1"/>
          <p:nvPr/>
        </p:nvSpPr>
        <p:spPr>
          <a:xfrm>
            <a:off x="5158565" y="2768555"/>
            <a:ext cx="1783889" cy="428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[1, 2, 3, 4, 5]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[2, 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[3, 4, 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[3, 4, 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[2, 3, 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[2, 3, 4, 5]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[1, 2, 3, 4, 5]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5422956" y="2534340"/>
            <a:ext cx="92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8"/>
          <p:cNvCxnSpPr/>
          <p:nvPr/>
        </p:nvCxnSpPr>
        <p:spPr>
          <a:xfrm>
            <a:off x="6942463" y="2363846"/>
            <a:ext cx="22541" cy="449415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items can be of different types!!</a:t>
            </a:r>
            <a:endParaRPr/>
          </a:p>
        </p:txBody>
      </p:sp>
      <p:pic>
        <p:nvPicPr>
          <p:cNvPr descr="Logo&#10;&#10;Description automatically generated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12" name="Google Shape;212;p9"/>
          <p:cNvSpPr txBox="1"/>
          <p:nvPr/>
        </p:nvSpPr>
        <p:spPr>
          <a:xfrm>
            <a:off x="498541" y="1951672"/>
            <a:ext cx="98225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 thing about a list is that the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items in a list need not be of the same type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498541" y="3044280"/>
            <a:ext cx="6573468" cy="2985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'physics'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'chemistry'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1997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2000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'It is raining today'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-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"list1[0]: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"list2[4:]: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'list2[2]: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'list2[-5]: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9474741" y="2674948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items are mutable</a:t>
            </a:r>
            <a:endParaRPr/>
          </a:p>
        </p:txBody>
      </p:sp>
      <p:pic>
        <p:nvPicPr>
          <p:cNvPr descr="Logo&#10;&#10;Description automatically generated" id="221" name="Google Shape;2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22" name="Google Shape;222;p10"/>
          <p:cNvSpPr txBox="1"/>
          <p:nvPr/>
        </p:nvSpPr>
        <p:spPr>
          <a:xfrm>
            <a:off x="372081" y="1665790"/>
            <a:ext cx="10855259" cy="11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items are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mutable, or changeable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Update or </a:t>
            </a:r>
            <a:r>
              <a:rPr b="0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change a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single or multiple elements of lists</a:t>
            </a:r>
            <a:r>
              <a:rPr b="0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by giving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slice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on the left-hand side of the assignment operator.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372081" y="3530663"/>
            <a:ext cx="6573468" cy="2446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'It is raining today'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-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"list1[2]: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'apple'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"After change list1[2]: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=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'This is me!!'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984401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"list1: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9201363" y="2990641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items can be deleted	</a:t>
            </a:r>
            <a:endParaRPr/>
          </a:p>
        </p:txBody>
      </p:sp>
      <p:pic>
        <p:nvPicPr>
          <p:cNvPr descr="Logo&#10;&#10;Description automatically generated" id="231" name="Google Shape;2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32" name="Google Shape;232;p11"/>
          <p:cNvSpPr txBox="1"/>
          <p:nvPr/>
        </p:nvSpPr>
        <p:spPr>
          <a:xfrm>
            <a:off x="372081" y="1665790"/>
            <a:ext cx="92972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the </a:t>
            </a:r>
            <a:r>
              <a:rPr b="1" i="0" lang="en-US" sz="1800" u="sng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statement if you know </a:t>
            </a:r>
            <a:r>
              <a:rPr b="1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exactly which element(s)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are deleting.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303986" y="2656473"/>
            <a:ext cx="7011213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'physics'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'chemistry'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1997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2000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'Raining!'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1976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del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"After deleting value at index 2 : 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del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[-</a:t>
            </a:r>
            <a:r>
              <a:rPr b="0" i="0" lang="en-US" sz="15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5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"After deleting values: "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5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7868674" y="5051283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5458186" y="5634121"/>
            <a:ext cx="6808394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['physics', 'chemistry', 1997, 2000, 'Raining!', 1976]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deleting a value:  ['physics', 'chemistry', 2000, 'Raining!', 1976]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deleting values:  ['physics', 'chemistry', 2000]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Basic Operations	</a:t>
            </a:r>
            <a:endParaRPr/>
          </a:p>
        </p:txBody>
      </p:sp>
      <p:pic>
        <p:nvPicPr>
          <p:cNvPr descr="Logo&#10;&#10;Description automatically generated" id="242" name="Google Shape;2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43" name="Google Shape;24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925" y="1490075"/>
            <a:ext cx="10515599" cy="511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"/>
          <p:cNvSpPr txBox="1"/>
          <p:nvPr>
            <p:ph type="title"/>
          </p:nvPr>
        </p:nvSpPr>
        <p:spPr>
          <a:xfrm>
            <a:off x="225358" y="154634"/>
            <a:ext cx="8840821" cy="763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en-US" sz="3600"/>
              <a:t>List – Basic Operations	</a:t>
            </a:r>
            <a:endParaRPr/>
          </a:p>
        </p:txBody>
      </p:sp>
      <p:pic>
        <p:nvPicPr>
          <p:cNvPr descr="Logo&#10;&#10;Description automatically generated" id="250" name="Google Shape;2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51" name="Google Shape;251;p13"/>
          <p:cNvSpPr txBox="1"/>
          <p:nvPr/>
        </p:nvSpPr>
        <p:spPr>
          <a:xfrm>
            <a:off x="411805" y="1194166"/>
            <a:ext cx="7506510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'physics'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'chemistry'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1997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2000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'Raining!'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1976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'Total items in list: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inList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'chemistry'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'is chemistry in the list: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inList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b="0" i="0" lang="en-US" sz="1600" u="none" cap="none" strike="noStrike">
                <a:solidFill>
                  <a:srgbClr val="EE0000"/>
                </a:solidFill>
                <a:latin typeface="Arial"/>
                <a:ea typeface="Arial"/>
                <a:cs typeface="Arial"/>
                <a:sym typeface="Arial"/>
              </a:rPr>
              <a:t>\n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 list id: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'list id: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'list2 id: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'list2 id: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9066179" y="1452049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6708031" y="2548254"/>
            <a:ext cx="548396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items in list: 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chemistry in the list: 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physics chemistry 1997 2000 Raining! 1976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list id:  3100435584768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['physics', 'chemistry', 1997, 2000, 'Raining!', 1976, 1,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id:  3100436074752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list2 id:  3100435755648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[1, 2, 1, 2, 1,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list2 id:  3100435756608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 txBox="1"/>
          <p:nvPr>
            <p:ph type="title"/>
          </p:nvPr>
        </p:nvSpPr>
        <p:spPr>
          <a:xfrm>
            <a:off x="643467" y="643467"/>
            <a:ext cx="5222311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br>
              <a:rPr b="1" i="1" lang="en-US"/>
            </a:br>
            <a:r>
              <a:rPr b="1" i="1" lang="en-US"/>
              <a:t>Built in Functions</a:t>
            </a:r>
            <a:endParaRPr i="1"/>
          </a:p>
        </p:txBody>
      </p:sp>
      <p:pic>
        <p:nvPicPr>
          <p:cNvPr descr="Logo&#10;&#10;Description automatically generated" id="260" name="Google Shape;2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Built in function	</a:t>
            </a:r>
            <a:endParaRPr/>
          </a:p>
        </p:txBody>
      </p:sp>
      <p:pic>
        <p:nvPicPr>
          <p:cNvPr descr="Logo&#10;&#10;Description automatically generated" id="267" name="Google Shape;2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graphicFrame>
        <p:nvGraphicFramePr>
          <p:cNvPr id="268" name="Google Shape;268;p15"/>
          <p:cNvGraphicFramePr/>
          <p:nvPr/>
        </p:nvGraphicFramePr>
        <p:xfrm>
          <a:off x="3043677" y="21885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{4509D73A-A272-44F6-B70D-3BC4A17343CB}</a:tableStyleId>
              </a:tblPr>
              <a:tblGrid>
                <a:gridCol w="898650"/>
                <a:gridCol w="55129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b="1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List of buil</a:t>
                      </a: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in functions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len(list)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Gives the total length of the list.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max(list)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Returns item from the list with max value.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min(list)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Returns item from the list with min value.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list(seq)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Converts a tuple into list.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 txBox="1"/>
          <p:nvPr>
            <p:ph type="title"/>
          </p:nvPr>
        </p:nvSpPr>
        <p:spPr>
          <a:xfrm>
            <a:off x="300094" y="0"/>
            <a:ext cx="10515600" cy="87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entury Gothic"/>
              <a:buNone/>
            </a:pPr>
            <a:r>
              <a:rPr lang="en-US" sz="3500"/>
              <a:t>List – Built in function	</a:t>
            </a:r>
            <a:endParaRPr/>
          </a:p>
        </p:txBody>
      </p:sp>
      <p:pic>
        <p:nvPicPr>
          <p:cNvPr descr="Logo&#10;&#10;Description automatically generated" id="275" name="Google Shape;2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76" name="Google Shape;276;p16"/>
          <p:cNvSpPr txBox="1"/>
          <p:nvPr/>
        </p:nvSpPr>
        <p:spPr>
          <a:xfrm>
            <a:off x="300094" y="1177049"/>
            <a:ext cx="6917829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'C++'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'Java'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'Python'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], 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456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700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'Total items in list: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"Max value element 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"Max value element 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"Min value element 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"Min value element 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aTuple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123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'C++'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'Java'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'Python'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aTuple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aTuple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"List elements 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"Hello World"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6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"List elements 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8978630" y="1177049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217923" y="2253071"/>
            <a:ext cx="490031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items in list: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 value element : 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 value element :  700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 value element :  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 value element :  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(123, 'C++', 'Java', 'Python')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elements :  [123, 'C++', 'Java', 'Python']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Hello World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elements :  ['H', 'e', 'l', 'l', 'o', ' ', 'W', 'o', 'r', 'l', 'd']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16"/>
          <p:cNvCxnSpPr/>
          <p:nvPr/>
        </p:nvCxnSpPr>
        <p:spPr>
          <a:xfrm>
            <a:off x="6721813" y="1721796"/>
            <a:ext cx="0" cy="5146727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"/>
          <p:cNvSpPr txBox="1"/>
          <p:nvPr>
            <p:ph type="title"/>
          </p:nvPr>
        </p:nvSpPr>
        <p:spPr>
          <a:xfrm>
            <a:off x="643467" y="643467"/>
            <a:ext cx="5222311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br>
              <a:rPr b="1" i="1" lang="en-US"/>
            </a:br>
            <a:r>
              <a:rPr b="1" i="1" lang="en-US"/>
              <a:t>List Functions</a:t>
            </a:r>
            <a:endParaRPr i="1"/>
          </a:p>
        </p:txBody>
      </p:sp>
      <p:pic>
        <p:nvPicPr>
          <p:cNvPr descr="Logo&#10;&#10;Description automatically generated" id="286" name="Google Shape;2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functions	</a:t>
            </a:r>
            <a:endParaRPr/>
          </a:p>
        </p:txBody>
      </p:sp>
      <p:pic>
        <p:nvPicPr>
          <p:cNvPr descr="Logo&#10;&#10;Description automatically generated" id="293" name="Google Shape;2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94" name="Google Shape;2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77" y="1614574"/>
            <a:ext cx="5847463" cy="3988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6687" y="3750272"/>
            <a:ext cx="6049336" cy="295309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8"/>
          <p:cNvSpPr txBox="1"/>
          <p:nvPr/>
        </p:nvSpPr>
        <p:spPr>
          <a:xfrm>
            <a:off x="6518274" y="3814765"/>
            <a:ext cx="5462587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36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list.pop(index=-1)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Removes and returns the last object or object at index from the list</a:t>
            </a:r>
            <a:endParaRPr b="0" i="0" sz="115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"/>
          <p:cNvSpPr txBox="1"/>
          <p:nvPr>
            <p:ph type="title"/>
          </p:nvPr>
        </p:nvSpPr>
        <p:spPr>
          <a:xfrm>
            <a:off x="300094" y="0"/>
            <a:ext cx="10515600" cy="87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entury Gothic"/>
              <a:buNone/>
            </a:pPr>
            <a:r>
              <a:rPr lang="en-US" sz="3500"/>
              <a:t>List – function	</a:t>
            </a:r>
            <a:endParaRPr/>
          </a:p>
        </p:txBody>
      </p:sp>
      <p:pic>
        <p:nvPicPr>
          <p:cNvPr descr="Logo&#10;&#10;Description automatically generated" id="303" name="Google Shape;3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04" name="Google Shape;304;p19"/>
          <p:cNvSpPr txBox="1"/>
          <p:nvPr/>
        </p:nvSpPr>
        <p:spPr>
          <a:xfrm>
            <a:off x="128971" y="692124"/>
            <a:ext cx="6168800" cy="6186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'C++'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'Java'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'Python’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append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'C#'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"updated list 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aList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123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'xyz'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'zara'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'abc'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123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b="0" i="0" lang="en-US" sz="1600" u="none" cap="none" strike="noStrike">
                <a:solidFill>
                  <a:srgbClr val="CD313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"Count for 123 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aList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123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"Count for zara : "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aList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'zara'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'JS'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'DJango'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extend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1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ind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'JS'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'index of JS is: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ind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1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'Python-3'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9"/>
          <p:cNvSpPr txBox="1"/>
          <p:nvPr/>
        </p:nvSpPr>
        <p:spPr>
          <a:xfrm>
            <a:off x="8385242" y="1799619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6866271" y="2768637"/>
            <a:ext cx="5325729" cy="2339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updated list :  ['C++', 'Java', 'Python', 'C#']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Count for 123 :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Count for zara :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['C++', 'Java', 'Python', 'C#', 'JS', 'DJango']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index of JS is: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['C++', 'Java', 'Python-3', 'Python', 'C#', 'JS', 'DJango']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19"/>
          <p:cNvCxnSpPr/>
          <p:nvPr/>
        </p:nvCxnSpPr>
        <p:spPr>
          <a:xfrm>
            <a:off x="6468894" y="1461888"/>
            <a:ext cx="0" cy="5146727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"/>
          <p:cNvSpPr txBox="1"/>
          <p:nvPr>
            <p:ph type="title"/>
          </p:nvPr>
        </p:nvSpPr>
        <p:spPr>
          <a:xfrm>
            <a:off x="300094" y="0"/>
            <a:ext cx="10515600" cy="87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entury Gothic"/>
              <a:buNone/>
            </a:pPr>
            <a:r>
              <a:rPr lang="en-US" sz="3500"/>
              <a:t>List – function	</a:t>
            </a:r>
            <a:endParaRPr/>
          </a:p>
        </p:txBody>
      </p:sp>
      <p:pic>
        <p:nvPicPr>
          <p:cNvPr descr="Logo&#10;&#10;Description automatically generated" id="314" name="Google Shape;3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15" name="Google Shape;315;p20"/>
          <p:cNvSpPr txBox="1"/>
          <p:nvPr/>
        </p:nvSpPr>
        <p:spPr>
          <a:xfrm>
            <a:off x="216520" y="1052782"/>
            <a:ext cx="6168800" cy="5770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'C++'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'Java'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'Python'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'C#'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'JS'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poppeditem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pop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'item popped: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poppeditem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'Java'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reverse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sort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[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'Python'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'C#'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sort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8433880" y="1419921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6213031" y="2203515"/>
            <a:ext cx="5775717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['C++', 'Java', 'Python', 'C#', 'JS’]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item popped:  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['C++', 'Java', 'Python', 'C#']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['C++', 'Python', 'C#']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['C#', 'Python', 'C++']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['C#', 'C++', 'Python']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Traceback (most recent call last):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File "c:\Users\M SYEED\OneDrive - American International University-Bangladesh\Desktop\Lab19\list.py", line 18, in &lt;module&gt;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list.sort()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TypeError: '&lt;' not supported between instances of 'int' and 'str'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20"/>
          <p:cNvCxnSpPr/>
          <p:nvPr/>
        </p:nvCxnSpPr>
        <p:spPr>
          <a:xfrm>
            <a:off x="5992238" y="1676866"/>
            <a:ext cx="0" cy="5146727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" name="Google Shape;319;p20"/>
          <p:cNvSpPr txBox="1"/>
          <p:nvPr/>
        </p:nvSpPr>
        <p:spPr>
          <a:xfrm>
            <a:off x="6792338" y="593707"/>
            <a:ext cx="18263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list1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800" u="none" cap="none" strike="noStrike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pop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8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20"/>
          <p:cNvCxnSpPr>
            <a:endCxn id="319" idx="1"/>
          </p:cNvCxnSpPr>
          <p:nvPr/>
        </p:nvCxnSpPr>
        <p:spPr>
          <a:xfrm flipH="1" rot="10800000">
            <a:off x="4572038" y="778373"/>
            <a:ext cx="2220300" cy="1555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 txBox="1"/>
          <p:nvPr>
            <p:ph type="title"/>
          </p:nvPr>
        </p:nvSpPr>
        <p:spPr>
          <a:xfrm>
            <a:off x="643467" y="643467"/>
            <a:ext cx="5222311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br>
              <a:rPr b="1" i="1" lang="en-US"/>
            </a:br>
            <a:r>
              <a:rPr b="1" i="1" lang="en-US"/>
              <a:t>List </a:t>
            </a:r>
            <a:br>
              <a:rPr b="1" i="1" lang="en-US"/>
            </a:br>
            <a:r>
              <a:rPr b="1" i="1" lang="en-US"/>
              <a:t>Exercise</a:t>
            </a:r>
            <a:endParaRPr i="1"/>
          </a:p>
        </p:txBody>
      </p:sp>
      <p:pic>
        <p:nvPicPr>
          <p:cNvPr descr="Logo&#10;&#10;Description automatically generated" id="327" name="Google Shape;3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/>
              <a:t>List – Exercise</a:t>
            </a:r>
            <a:endParaRPr/>
          </a:p>
        </p:txBody>
      </p:sp>
      <p:pic>
        <p:nvPicPr>
          <p:cNvPr descr="Logo&#10;&#10;Description automatically generated" id="334" name="Google Shape;3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35" name="Google Shape;335;p22"/>
          <p:cNvSpPr txBox="1"/>
          <p:nvPr/>
        </p:nvSpPr>
        <p:spPr>
          <a:xfrm>
            <a:off x="497732" y="1580166"/>
            <a:ext cx="917591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list of N numbers. N must be taken as an input from the user. After inserting all the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User input numbers in the list, do the followings: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 the full list of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Sort the list and print the sorted 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 how many numbers are there in the 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 the max number in the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 the min number in the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 the summation of all the numbers in the list and print the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summation value.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7682261" y="3692108"/>
            <a:ext cx="4209645" cy="280076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many numbers: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number: 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number: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number: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number: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List of numbers are:  ['36', '25', '30', '25']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Sorting:  ['25', '25', '30', '36']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numbers are: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 number:  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 number: 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summation of all vaules is:  116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00094" y="0"/>
            <a:ext cx="10515600" cy="87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entury Gothic"/>
              <a:buNone/>
            </a:pPr>
            <a:r>
              <a:rPr lang="en-US" sz="3500"/>
              <a:t>List – Exercise Solution	</a:t>
            </a:r>
            <a:endParaRPr/>
          </a:p>
        </p:txBody>
      </p:sp>
      <p:pic>
        <p:nvPicPr>
          <p:cNvPr descr="Logo&#10;&#10;Description automatically generated" id="343" name="Google Shape;3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44" name="Google Shape;344;p23"/>
          <p:cNvSpPr txBox="1"/>
          <p:nvPr/>
        </p:nvSpPr>
        <p:spPr>
          <a:xfrm>
            <a:off x="8385242" y="1799619"/>
            <a:ext cx="1334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773279" y="1003733"/>
            <a:ext cx="6094500" cy="55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'How many numbers: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append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'number: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+=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'List of numbers are: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sort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'After Sorting: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'Total numbers are: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'Max number: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'Min number: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F00DB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 </a:t>
            </a: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+= </a:t>
            </a:r>
            <a:r>
              <a:rPr b="0" i="0" lang="en-US" sz="1600" u="none" cap="none" strike="noStrike">
                <a:solidFill>
                  <a:srgbClr val="267F99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numberList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+= </a:t>
            </a:r>
            <a:r>
              <a:rPr b="0" i="0" lang="en-US" sz="16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95E26"/>
                </a:solidFill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16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'summation of all vaules is: '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1080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 txBox="1"/>
          <p:nvPr>
            <p:ph type="title"/>
          </p:nvPr>
        </p:nvSpPr>
        <p:spPr>
          <a:xfrm>
            <a:off x="643467" y="643467"/>
            <a:ext cx="5222311" cy="4567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br>
              <a:rPr b="1" i="1" lang="en-US"/>
            </a:br>
            <a:r>
              <a:rPr b="1" i="1" lang="en-US"/>
              <a:t>2D List </a:t>
            </a:r>
            <a:br>
              <a:rPr b="1" i="1" lang="en-US"/>
            </a:br>
            <a:endParaRPr i="1"/>
          </a:p>
        </p:txBody>
      </p:sp>
      <p:pic>
        <p:nvPicPr>
          <p:cNvPr descr="Logo&#10;&#10;Description automatically generated" id="352" name="Google Shape;35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 txBox="1"/>
          <p:nvPr>
            <p:ph type="title"/>
          </p:nvPr>
        </p:nvSpPr>
        <p:spPr>
          <a:xfrm>
            <a:off x="643467" y="643467"/>
            <a:ext cx="10679853" cy="606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Consider the example of recording temperatures 4 times a day, every day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.</a:t>
            </a:r>
            <a:endParaRPr i="1"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359" name="Google Shape;35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5383" y="154634"/>
            <a:ext cx="1356523" cy="390116"/>
          </a:xfrm>
          <a:custGeom>
            <a:rect b="b" l="l" r="r" t="t"/>
            <a:pathLst>
              <a:path extrusionOk="0" fill="none" h="390116" w="1356523">
                <a:moveTo>
                  <a:pt x="0" y="0"/>
                </a:moveTo>
                <a:cubicBezTo>
                  <a:pt x="118827" y="-34589"/>
                  <a:pt x="330422" y="30000"/>
                  <a:pt x="425044" y="0"/>
                </a:cubicBezTo>
                <a:cubicBezTo>
                  <a:pt x="519666" y="-30000"/>
                  <a:pt x="758120" y="5730"/>
                  <a:pt x="850088" y="0"/>
                </a:cubicBezTo>
                <a:cubicBezTo>
                  <a:pt x="942056" y="-5730"/>
                  <a:pt x="1207515" y="27858"/>
                  <a:pt x="1356523" y="0"/>
                </a:cubicBezTo>
                <a:cubicBezTo>
                  <a:pt x="1384736" y="134729"/>
                  <a:pt x="1334998" y="241196"/>
                  <a:pt x="1356523" y="390116"/>
                </a:cubicBezTo>
                <a:cubicBezTo>
                  <a:pt x="1142280" y="437097"/>
                  <a:pt x="1110910" y="382837"/>
                  <a:pt x="917914" y="390116"/>
                </a:cubicBezTo>
                <a:cubicBezTo>
                  <a:pt x="724918" y="397395"/>
                  <a:pt x="575342" y="340271"/>
                  <a:pt x="438609" y="390116"/>
                </a:cubicBezTo>
                <a:cubicBezTo>
                  <a:pt x="301877" y="439961"/>
                  <a:pt x="97680" y="385748"/>
                  <a:pt x="0" y="390116"/>
                </a:cubicBezTo>
                <a:cubicBezTo>
                  <a:pt x="-39969" y="303919"/>
                  <a:pt x="38502" y="98939"/>
                  <a:pt x="0" y="0"/>
                </a:cubicBezTo>
                <a:close/>
              </a:path>
              <a:path extrusionOk="0" h="390116" w="1356523">
                <a:moveTo>
                  <a:pt x="0" y="0"/>
                </a:moveTo>
                <a:cubicBezTo>
                  <a:pt x="97217" y="-22886"/>
                  <a:pt x="349642" y="57265"/>
                  <a:pt x="479305" y="0"/>
                </a:cubicBezTo>
                <a:cubicBezTo>
                  <a:pt x="608969" y="-57265"/>
                  <a:pt x="739563" y="12802"/>
                  <a:pt x="931479" y="0"/>
                </a:cubicBezTo>
                <a:cubicBezTo>
                  <a:pt x="1123395" y="-12802"/>
                  <a:pt x="1229081" y="39263"/>
                  <a:pt x="1356523" y="0"/>
                </a:cubicBezTo>
                <a:cubicBezTo>
                  <a:pt x="1401789" y="96152"/>
                  <a:pt x="1329724" y="224390"/>
                  <a:pt x="1356523" y="390116"/>
                </a:cubicBezTo>
                <a:cubicBezTo>
                  <a:pt x="1144042" y="390922"/>
                  <a:pt x="1086450" y="381022"/>
                  <a:pt x="904349" y="390116"/>
                </a:cubicBezTo>
                <a:cubicBezTo>
                  <a:pt x="722248" y="399210"/>
                  <a:pt x="681121" y="341113"/>
                  <a:pt x="465740" y="390116"/>
                </a:cubicBezTo>
                <a:cubicBezTo>
                  <a:pt x="250359" y="439119"/>
                  <a:pt x="103790" y="387598"/>
                  <a:pt x="0" y="390116"/>
                </a:cubicBezTo>
                <a:cubicBezTo>
                  <a:pt x="-25731" y="225233"/>
                  <a:pt x="32357" y="171897"/>
                  <a:pt x="0" y="0"/>
                </a:cubicBezTo>
                <a:close/>
              </a:path>
            </a:pathLst>
          </a:custGeom>
          <a:noFill/>
          <a:ln cap="sq" cmpd="thickThin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60" name="Google Shape;360;p38"/>
          <p:cNvSpPr txBox="1"/>
          <p:nvPr/>
        </p:nvSpPr>
        <p:spPr>
          <a:xfrm>
            <a:off x="4980315" y="1991065"/>
            <a:ext cx="223137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Day 1 - 11 12 5 2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Day 2 - 15 6 10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Day 3 - 10 8 12 5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Day 4 - 12 15 8 6 </a:t>
            </a:r>
            <a:endParaRPr/>
          </a:p>
        </p:txBody>
      </p:sp>
      <p:sp>
        <p:nvSpPr>
          <p:cNvPr id="361" name="Google Shape;361;p38"/>
          <p:cNvSpPr txBox="1"/>
          <p:nvPr/>
        </p:nvSpPr>
        <p:spPr>
          <a:xfrm>
            <a:off x="640080" y="3429000"/>
            <a:ext cx="989245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above data can be represented as a two-dimensional list as below.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= [ [11, 12, 5, 2], [15, 6,10], [10, 8, 12, 5], [12,15,8,6] 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9"/>
          <p:cNvSpPr txBox="1"/>
          <p:nvPr>
            <p:ph idx="1" type="body"/>
          </p:nvPr>
        </p:nvSpPr>
        <p:spPr>
          <a:xfrm>
            <a:off x="792480" y="454153"/>
            <a:ext cx="10820400" cy="62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To print out the entire two-dimensional list we can use python for loop</a:t>
            </a:r>
            <a:endParaRPr/>
          </a:p>
        </p:txBody>
      </p:sp>
      <p:sp>
        <p:nvSpPr>
          <p:cNvPr id="367" name="Google Shape;367;p39"/>
          <p:cNvSpPr txBox="1"/>
          <p:nvPr/>
        </p:nvSpPr>
        <p:spPr>
          <a:xfrm>
            <a:off x="1417320" y="1797784"/>
            <a:ext cx="638187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= [[11, 12, 5, 2], [15, 6,10], [10, 8, 12, 5], [12,15,8,6]]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r in T: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for c in r: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print( c, end = " ")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print()</a:t>
            </a:r>
            <a:endParaRPr/>
          </a:p>
        </p:txBody>
      </p:sp>
      <p:sp>
        <p:nvSpPr>
          <p:cNvPr id="368" name="Google Shape;368;p39"/>
          <p:cNvSpPr txBox="1"/>
          <p:nvPr/>
        </p:nvSpPr>
        <p:spPr>
          <a:xfrm>
            <a:off x="7970520" y="2941320"/>
            <a:ext cx="155363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11 12 5 2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15 6 10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10 8 12 5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12 15 8 6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"/>
          <p:cNvSpPr txBox="1"/>
          <p:nvPr/>
        </p:nvSpPr>
        <p:spPr>
          <a:xfrm>
            <a:off x="3368040" y="655320"/>
            <a:ext cx="580158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Inserting Values in 2D list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0"/>
          <p:cNvSpPr txBox="1"/>
          <p:nvPr/>
        </p:nvSpPr>
        <p:spPr>
          <a:xfrm>
            <a:off x="1463040" y="2164080"/>
            <a:ext cx="764023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= [[11, 12, 5, 2], [15, 6,10], [10, 8, 12, 5], [12,15,8,6]]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T.insert(2, [0,5,11,13,6])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r in T: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for c in r: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print(c,end = " ")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print()</a:t>
            </a:r>
            <a:endParaRPr/>
          </a:p>
        </p:txBody>
      </p:sp>
      <p:sp>
        <p:nvSpPr>
          <p:cNvPr id="375" name="Google Shape;375;p40"/>
          <p:cNvSpPr txBox="1"/>
          <p:nvPr/>
        </p:nvSpPr>
        <p:spPr>
          <a:xfrm>
            <a:off x="7437120" y="3687574"/>
            <a:ext cx="1810111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11 12 5 2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15 6 10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0 5 11 13 6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10 8 12 5 1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2 15 8 6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1"/>
          <p:cNvSpPr txBox="1"/>
          <p:nvPr/>
        </p:nvSpPr>
        <p:spPr>
          <a:xfrm>
            <a:off x="4008120" y="716280"/>
            <a:ext cx="46329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Updating Values in 2D list</a:t>
            </a:r>
            <a:endParaRPr/>
          </a:p>
        </p:txBody>
      </p:sp>
      <p:sp>
        <p:nvSpPr>
          <p:cNvPr id="381" name="Google Shape;381;p41"/>
          <p:cNvSpPr txBox="1"/>
          <p:nvPr/>
        </p:nvSpPr>
        <p:spPr>
          <a:xfrm>
            <a:off x="1127760" y="1536174"/>
            <a:ext cx="7640233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= [[11, 12, 5, 2], [15, 6,10], [10, 8, 12, 5], [12,15,8,6]]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T[2] = [11,9]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T[0][3] = 7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r in T: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for c in r: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print(c, end = " ")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print()</a:t>
            </a:r>
            <a:endParaRPr/>
          </a:p>
        </p:txBody>
      </p:sp>
      <p:sp>
        <p:nvSpPr>
          <p:cNvPr id="382" name="Google Shape;382;p41"/>
          <p:cNvSpPr txBox="1"/>
          <p:nvPr/>
        </p:nvSpPr>
        <p:spPr>
          <a:xfrm>
            <a:off x="7848600" y="3121223"/>
            <a:ext cx="1784463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11 12 5 7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15 6 10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11 9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12 15 8 6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"/>
          <p:cNvSpPr txBox="1"/>
          <p:nvPr/>
        </p:nvSpPr>
        <p:spPr>
          <a:xfrm>
            <a:off x="4008120" y="716280"/>
            <a:ext cx="46329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Deleting Values in 2D list</a:t>
            </a:r>
            <a:endParaRPr/>
          </a:p>
        </p:txBody>
      </p:sp>
      <p:sp>
        <p:nvSpPr>
          <p:cNvPr id="388" name="Google Shape;388;p42"/>
          <p:cNvSpPr txBox="1"/>
          <p:nvPr/>
        </p:nvSpPr>
        <p:spPr>
          <a:xfrm>
            <a:off x="579120" y="1569720"/>
            <a:ext cx="7640233" cy="3262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= [[11, 12, 5, 2], [15, 6,10], [10, 8, 12, 5], [12,15,8,6]]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 T[3]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 T[0][2]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r in T: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for c in r: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print(c,end = " ")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print()</a:t>
            </a:r>
            <a:endParaRPr/>
          </a:p>
        </p:txBody>
      </p:sp>
      <p:sp>
        <p:nvSpPr>
          <p:cNvPr id="389" name="Google Shape;389;p42"/>
          <p:cNvSpPr txBox="1"/>
          <p:nvPr/>
        </p:nvSpPr>
        <p:spPr>
          <a:xfrm>
            <a:off x="6665723" y="2987040"/>
            <a:ext cx="155363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11 12 5 2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15 6 10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10 8 12 5 </a:t>
            </a:r>
            <a:endParaRPr/>
          </a:p>
        </p:txBody>
      </p:sp>
      <p:sp>
        <p:nvSpPr>
          <p:cNvPr id="390" name="Google Shape;390;p42"/>
          <p:cNvSpPr txBox="1"/>
          <p:nvPr/>
        </p:nvSpPr>
        <p:spPr>
          <a:xfrm>
            <a:off x="9195563" y="2987040"/>
            <a:ext cx="155363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11 12 2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15 6 10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10 8 12 5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ushVTI">
  <a:themeElements>
    <a:clrScheme name="AnalogousFromDarkSeed_2SEEDS">
      <a:dk1>
        <a:srgbClr val="000000"/>
      </a:dk1>
      <a:lt1>
        <a:srgbClr val="FFFFFF"/>
      </a:lt1>
      <a:dk2>
        <a:srgbClr val="1B2C30"/>
      </a:dk2>
      <a:lt2>
        <a:srgbClr val="F3F1F0"/>
      </a:lt2>
      <a:accent1>
        <a:srgbClr val="17AED5"/>
      </a:accent1>
      <a:accent2>
        <a:srgbClr val="20B596"/>
      </a:accent2>
      <a:accent3>
        <a:srgbClr val="2971E7"/>
      </a:accent3>
      <a:accent4>
        <a:srgbClr val="D51731"/>
      </a:accent4>
      <a:accent5>
        <a:srgbClr val="E75E29"/>
      </a:accent5>
      <a:accent6>
        <a:srgbClr val="D19817"/>
      </a:accent6>
      <a:hlink>
        <a:srgbClr val="A14EC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2021-11-24T14:43:08Z</dcterms:created>
  <dc:creator>M.M. Mahbubul Syeed</dc:creator>
</cp:coreProperties>
</file>