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Century Gothic"/>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Cxce47oLAl43yDB1kmiFsElHa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7EADA0-8C3D-4C98-B79B-A2D1382D1D75}">
  <a:tblStyle styleId="{F87EADA0-8C3D-4C98-B79B-A2D1382D1D75}"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F1F7"/>
          </a:solidFill>
        </a:fill>
      </a:tcStyle>
    </a:wholeTbl>
    <a:band1H>
      <a:tcTxStyle b="off" i="off"/>
      <a:tcStyle>
        <a:fill>
          <a:solidFill>
            <a:srgbClr val="CAE3EF"/>
          </a:solidFill>
        </a:fill>
      </a:tcStyle>
    </a:band1H>
    <a:band2H>
      <a:tcTxStyle b="off" i="off"/>
    </a:band2H>
    <a:band1V>
      <a:tcTxStyle b="off" i="off"/>
      <a:tcStyle>
        <a:fill>
          <a:solidFill>
            <a:srgbClr val="CAE3EF"/>
          </a:solidFill>
        </a:fill>
      </a:tcStyle>
    </a:band1V>
    <a:band2V>
      <a:tcTxStyle b="off" i="off"/>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CenturyGothic-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boldItalic.fntdata"/><Relationship Id="rId30"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5" name="Google Shape;34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descr="Tag=AccentColor&#10;Flavor=Light&#10;Target=Fill" id="16" name="Google Shape;16;p24"/>
          <p:cNvSpPr/>
          <p:nvPr/>
        </p:nvSpPr>
        <p:spPr>
          <a:xfrm flipH="1">
            <a:off x="2599854" y="527562"/>
            <a:ext cx="6992292" cy="5102484"/>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7" name="Google Shape;17;p24"/>
          <p:cNvSpPr txBox="1"/>
          <p:nvPr>
            <p:ph type="ctrTitle"/>
          </p:nvPr>
        </p:nvSpPr>
        <p:spPr>
          <a:xfrm>
            <a:off x="1508760" y="1591056"/>
            <a:ext cx="5705856" cy="32644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4"/>
          <p:cNvSpPr txBox="1"/>
          <p:nvPr>
            <p:ph idx="1" type="subTitle"/>
          </p:nvPr>
        </p:nvSpPr>
        <p:spPr>
          <a:xfrm>
            <a:off x="1524000" y="4928616"/>
            <a:ext cx="5705856" cy="99669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Clr>
                <a:schemeClr val="dk1"/>
              </a:buClr>
              <a:buSzPts val="2400"/>
              <a:buNone/>
              <a:defRPr sz="2400" cap="none"/>
            </a:lvl1pPr>
            <a:lvl2pPr lvl="1" algn="ctr">
              <a:lnSpc>
                <a:spcPct val="100000"/>
              </a:lnSpc>
              <a:spcBef>
                <a:spcPts val="500"/>
              </a:spcBef>
              <a:spcAft>
                <a:spcPts val="0"/>
              </a:spcAft>
              <a:buClr>
                <a:schemeClr val="dk1"/>
              </a:buClr>
              <a:buSzPts val="2000"/>
              <a:buNone/>
              <a:defRPr sz="2000"/>
            </a:lvl2pPr>
            <a:lvl3pPr lvl="2" algn="ctr">
              <a:lnSpc>
                <a:spcPct val="100000"/>
              </a:lnSpc>
              <a:spcBef>
                <a:spcPts val="500"/>
              </a:spcBef>
              <a:spcAft>
                <a:spcPts val="0"/>
              </a:spcAft>
              <a:buClr>
                <a:schemeClr val="dk1"/>
              </a:buClr>
              <a:buSzPts val="1800"/>
              <a:buNone/>
              <a:defRPr sz="1800"/>
            </a:lvl3pPr>
            <a:lvl4pPr lvl="3" algn="ctr">
              <a:lnSpc>
                <a:spcPct val="100000"/>
              </a:lnSpc>
              <a:spcBef>
                <a:spcPts val="500"/>
              </a:spcBef>
              <a:spcAft>
                <a:spcPts val="0"/>
              </a:spcAft>
              <a:buClr>
                <a:schemeClr val="dk1"/>
              </a:buClr>
              <a:buSzPts val="1600"/>
              <a:buNone/>
              <a:defRPr sz="1600"/>
            </a:lvl4pPr>
            <a:lvl5pPr lvl="4" algn="ctr">
              <a:lnSpc>
                <a:spcPct val="10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descr="Tag=AccentColor&#10;Flavor=Light&#10;Target=Fill" id="23" name="Google Shape;23;p25"/>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24" name="Google Shape;2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idx="1" type="body"/>
          </p:nvPr>
        </p:nvSpPr>
        <p:spPr>
          <a:xfrm>
            <a:off x="838200" y="2011680"/>
            <a:ext cx="1051560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descr="Tag=AccentColor&#10;Flavor=Light&#10;Target=Fill" id="30" name="Google Shape;30;p26"/>
          <p:cNvSpPr/>
          <p:nvPr/>
        </p:nvSpPr>
        <p:spPr>
          <a:xfrm>
            <a:off x="7209816" y="0"/>
            <a:ext cx="4143984" cy="5747660"/>
          </a:xfrm>
          <a:custGeom>
            <a:rect b="b" l="l" r="r" t="t"/>
            <a:pathLst>
              <a:path extrusionOk="0" h="5956080" w="384375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1" name="Google Shape;31;p26"/>
          <p:cNvSpPr txBox="1"/>
          <p:nvPr>
            <p:ph type="title"/>
          </p:nvPr>
        </p:nvSpPr>
        <p:spPr>
          <a:xfrm>
            <a:off x="831850" y="1078991"/>
            <a:ext cx="5266944" cy="313639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6"/>
          <p:cNvSpPr txBox="1"/>
          <p:nvPr>
            <p:ph idx="1" type="body"/>
          </p:nvPr>
        </p:nvSpPr>
        <p:spPr>
          <a:xfrm>
            <a:off x="831850" y="4279392"/>
            <a:ext cx="526694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cap="none">
                <a:solidFill>
                  <a:schemeClr val="dk1"/>
                </a:solidFill>
              </a:defRPr>
            </a:lvl1pPr>
            <a:lvl2pPr indent="-228600" lvl="1" marL="914400" algn="l">
              <a:lnSpc>
                <a:spcPct val="100000"/>
              </a:lnSpc>
              <a:spcBef>
                <a:spcPts val="500"/>
              </a:spcBef>
              <a:spcAft>
                <a:spcPts val="0"/>
              </a:spcAft>
              <a:buClr>
                <a:srgbClr val="888888"/>
              </a:buClr>
              <a:buSzPts val="2000"/>
              <a:buNone/>
              <a:defRPr sz="2000">
                <a:solidFill>
                  <a:srgbClr val="888888"/>
                </a:solidFill>
              </a:defRPr>
            </a:lvl2pPr>
            <a:lvl3pPr indent="-228600" lvl="2" marL="1371600" algn="l">
              <a:lnSpc>
                <a:spcPct val="100000"/>
              </a:lnSpc>
              <a:spcBef>
                <a:spcPts val="500"/>
              </a:spcBef>
              <a:spcAft>
                <a:spcPts val="0"/>
              </a:spcAft>
              <a:buClr>
                <a:srgbClr val="888888"/>
              </a:buClr>
              <a:buSzPts val="1800"/>
              <a:buNone/>
              <a:defRPr sz="1800">
                <a:solidFill>
                  <a:srgbClr val="888888"/>
                </a:solidFill>
              </a:defRPr>
            </a:lvl3pPr>
            <a:lvl4pPr indent="-228600" lvl="3" marL="1828800" algn="l">
              <a:lnSpc>
                <a:spcPct val="100000"/>
              </a:lnSpc>
              <a:spcBef>
                <a:spcPts val="500"/>
              </a:spcBef>
              <a:spcAft>
                <a:spcPts val="0"/>
              </a:spcAft>
              <a:buClr>
                <a:srgbClr val="888888"/>
              </a:buClr>
              <a:buSzPts val="1600"/>
              <a:buNone/>
              <a:defRPr sz="1600">
                <a:solidFill>
                  <a:srgbClr val="888888"/>
                </a:solidFill>
              </a:defRPr>
            </a:lvl4pPr>
            <a:lvl5pPr indent="-228600" lvl="4" marL="2286000" algn="l">
              <a:lnSpc>
                <a:spcPct val="10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6" name="Shape 36"/>
        <p:cNvGrpSpPr/>
        <p:nvPr/>
      </p:nvGrpSpPr>
      <p:grpSpPr>
        <a:xfrm>
          <a:off x="0" y="0"/>
          <a:ext cx="0" cy="0"/>
          <a:chOff x="0" y="0"/>
          <a:chExt cx="0" cy="0"/>
        </a:xfrm>
      </p:grpSpPr>
      <p:sp>
        <p:nvSpPr>
          <p:cNvPr descr="Tag=AccentColor&#10;Flavor=Light&#10;Target=Fill" id="37" name="Google Shape;37;p27"/>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38" name="Google Shape;3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 type="body"/>
          </p:nvPr>
        </p:nvSpPr>
        <p:spPr>
          <a:xfrm>
            <a:off x="838200" y="2011680"/>
            <a:ext cx="493776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2" type="body"/>
          </p:nvPr>
        </p:nvSpPr>
        <p:spPr>
          <a:xfrm>
            <a:off x="6419088" y="2011680"/>
            <a:ext cx="4937760" cy="4160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descr="Tag=AccentColor&#10;Flavor=Light&#10;Target=Fill" id="45" name="Google Shape;45;p28"/>
          <p:cNvSpPr/>
          <p:nvPr/>
        </p:nvSpPr>
        <p:spPr>
          <a:xfrm flipH="1">
            <a:off x="1" y="315111"/>
            <a:ext cx="3021543" cy="1435442"/>
          </a:xfrm>
          <a:custGeom>
            <a:rect b="b" l="l" r="r" t="t"/>
            <a:pathLst>
              <a:path extrusionOk="0" h="1435442" w="3021543">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46" name="Google Shape;46;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 type="body"/>
          </p:nvPr>
        </p:nvSpPr>
        <p:spPr>
          <a:xfrm>
            <a:off x="839788" y="2011680"/>
            <a:ext cx="4937760" cy="95097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800"/>
              <a:buNone/>
              <a:defRPr b="1" sz="2800"/>
            </a:lvl1pPr>
            <a:lvl2pPr indent="-228600" lvl="1" marL="914400" algn="l">
              <a:lnSpc>
                <a:spcPct val="100000"/>
              </a:lnSpc>
              <a:spcBef>
                <a:spcPts val="500"/>
              </a:spcBef>
              <a:spcAft>
                <a:spcPts val="0"/>
              </a:spcAft>
              <a:buClr>
                <a:schemeClr val="dk1"/>
              </a:buClr>
              <a:buSzPts val="2000"/>
              <a:buNone/>
              <a:defRPr b="1" sz="2000"/>
            </a:lvl2pPr>
            <a:lvl3pPr indent="-228600" lvl="2" marL="1371600" algn="l">
              <a:lnSpc>
                <a:spcPct val="100000"/>
              </a:lnSpc>
              <a:spcBef>
                <a:spcPts val="500"/>
              </a:spcBef>
              <a:spcAft>
                <a:spcPts val="0"/>
              </a:spcAft>
              <a:buClr>
                <a:schemeClr val="dk1"/>
              </a:buClr>
              <a:buSzPts val="1800"/>
              <a:buNone/>
              <a:defRPr b="1" sz="1800"/>
            </a:lvl3pPr>
            <a:lvl4pPr indent="-228600" lvl="3" marL="1828800" algn="l">
              <a:lnSpc>
                <a:spcPct val="100000"/>
              </a:lnSpc>
              <a:spcBef>
                <a:spcPts val="500"/>
              </a:spcBef>
              <a:spcAft>
                <a:spcPts val="0"/>
              </a:spcAft>
              <a:buClr>
                <a:schemeClr val="dk1"/>
              </a:buClr>
              <a:buSzPts val="1600"/>
              <a:buNone/>
              <a:defRPr b="1" sz="1600"/>
            </a:lvl4pPr>
            <a:lvl5pPr indent="-228600" lvl="4" marL="2286000" algn="l">
              <a:lnSpc>
                <a:spcPct val="10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28"/>
          <p:cNvSpPr txBox="1"/>
          <p:nvPr>
            <p:ph idx="2" type="body"/>
          </p:nvPr>
        </p:nvSpPr>
        <p:spPr>
          <a:xfrm>
            <a:off x="839788" y="3127248"/>
            <a:ext cx="4937760" cy="30632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28"/>
          <p:cNvSpPr txBox="1"/>
          <p:nvPr>
            <p:ph idx="3" type="body"/>
          </p:nvPr>
        </p:nvSpPr>
        <p:spPr>
          <a:xfrm>
            <a:off x="6419088" y="2011680"/>
            <a:ext cx="4937760" cy="95097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800"/>
              <a:buNone/>
              <a:defRPr b="1" sz="2800"/>
            </a:lvl1pPr>
            <a:lvl2pPr indent="-228600" lvl="1" marL="914400" algn="l">
              <a:lnSpc>
                <a:spcPct val="100000"/>
              </a:lnSpc>
              <a:spcBef>
                <a:spcPts val="500"/>
              </a:spcBef>
              <a:spcAft>
                <a:spcPts val="0"/>
              </a:spcAft>
              <a:buClr>
                <a:schemeClr val="dk1"/>
              </a:buClr>
              <a:buSzPts val="2000"/>
              <a:buNone/>
              <a:defRPr b="1" sz="2000"/>
            </a:lvl2pPr>
            <a:lvl3pPr indent="-228600" lvl="2" marL="1371600" algn="l">
              <a:lnSpc>
                <a:spcPct val="100000"/>
              </a:lnSpc>
              <a:spcBef>
                <a:spcPts val="500"/>
              </a:spcBef>
              <a:spcAft>
                <a:spcPts val="0"/>
              </a:spcAft>
              <a:buClr>
                <a:schemeClr val="dk1"/>
              </a:buClr>
              <a:buSzPts val="1800"/>
              <a:buNone/>
              <a:defRPr b="1" sz="1800"/>
            </a:lvl3pPr>
            <a:lvl4pPr indent="-228600" lvl="3" marL="1828800" algn="l">
              <a:lnSpc>
                <a:spcPct val="100000"/>
              </a:lnSpc>
              <a:spcBef>
                <a:spcPts val="500"/>
              </a:spcBef>
              <a:spcAft>
                <a:spcPts val="0"/>
              </a:spcAft>
              <a:buClr>
                <a:schemeClr val="dk1"/>
              </a:buClr>
              <a:buSzPts val="1600"/>
              <a:buNone/>
              <a:defRPr b="1" sz="1600"/>
            </a:lvl4pPr>
            <a:lvl5pPr indent="-228600" lvl="4" marL="2286000" algn="l">
              <a:lnSpc>
                <a:spcPct val="10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28"/>
          <p:cNvSpPr txBox="1"/>
          <p:nvPr>
            <p:ph idx="4" type="body"/>
          </p:nvPr>
        </p:nvSpPr>
        <p:spPr>
          <a:xfrm>
            <a:off x="6419088" y="3127248"/>
            <a:ext cx="4937760" cy="306324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descr="Tag=AccentColor&#10;Flavor=Light&#10;Target=Fill" id="55" name="Google Shape;55;p29"/>
          <p:cNvSpPr/>
          <p:nvPr/>
        </p:nvSpPr>
        <p:spPr>
          <a:xfrm flipH="1">
            <a:off x="1969639" y="181596"/>
            <a:ext cx="8252722" cy="6022258"/>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56" name="Google Shape;56;p29"/>
          <p:cNvSpPr txBox="1"/>
          <p:nvPr>
            <p:ph type="title"/>
          </p:nvPr>
        </p:nvSpPr>
        <p:spPr>
          <a:xfrm>
            <a:off x="2843784" y="1572768"/>
            <a:ext cx="6501384" cy="4096512"/>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type="blank">
  <p:cSld name="BLANK">
    <p:spTree>
      <p:nvGrpSpPr>
        <p:cNvPr id="60" name="Shape 60"/>
        <p:cNvGrpSpPr/>
        <p:nvPr/>
      </p:nvGrpSpPr>
      <p:grpSpPr>
        <a:xfrm>
          <a:off x="0" y="0"/>
          <a:ext cx="0" cy="0"/>
          <a:chOff x="0" y="0"/>
          <a:chExt cx="0" cy="0"/>
        </a:xfrm>
      </p:grpSpPr>
      <p:sp>
        <p:nvSpPr>
          <p:cNvPr id="61" name="Google Shape;61;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 2">
    <p:spTree>
      <p:nvGrpSpPr>
        <p:cNvPr id="64" name="Shape 64"/>
        <p:cNvGrpSpPr/>
        <p:nvPr/>
      </p:nvGrpSpPr>
      <p:grpSpPr>
        <a:xfrm>
          <a:off x="0" y="0"/>
          <a:ext cx="0" cy="0"/>
          <a:chOff x="0" y="0"/>
          <a:chExt cx="0" cy="0"/>
        </a:xfrm>
      </p:grpSpPr>
      <p:sp>
        <p:nvSpPr>
          <p:cNvPr descr="Mask ID=&#10;Mask position=bottom, center&#10;Mask family= brushstroke, landscape, wide" id="65" name="Google Shape;65;p31"/>
          <p:cNvSpPr/>
          <p:nvPr/>
        </p:nvSpPr>
        <p:spPr>
          <a:xfrm>
            <a:off x="1768100" y="-1"/>
            <a:ext cx="10423900" cy="5920155"/>
          </a:xfrm>
          <a:custGeom>
            <a:rect b="b" l="l" r="r" t="t"/>
            <a:pathLst>
              <a:path extrusionOk="0" h="5491534" w="10423900">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66" name="Google Shape;6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descr="Tag=AccentColor&#10;Flavor=Light&#10;Target=Fill" id="70" name="Google Shape;70;p32"/>
          <p:cNvSpPr/>
          <p:nvPr/>
        </p:nvSpPr>
        <p:spPr>
          <a:xfrm>
            <a:off x="4726728" y="0"/>
            <a:ext cx="7472381" cy="6858000"/>
          </a:xfrm>
          <a:custGeom>
            <a:rect b="b" l="l" r="r" t="t"/>
            <a:pathLst>
              <a:path extrusionOk="0" h="6886575" w="7472381">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71" name="Google Shape;71;p32"/>
          <p:cNvSpPr txBox="1"/>
          <p:nvPr>
            <p:ph type="title"/>
          </p:nvPr>
        </p:nvSpPr>
        <p:spPr>
          <a:xfrm>
            <a:off x="839788" y="640080"/>
            <a:ext cx="3886200" cy="29535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2"/>
          <p:cNvSpPr txBox="1"/>
          <p:nvPr>
            <p:ph idx="1" type="body"/>
          </p:nvPr>
        </p:nvSpPr>
        <p:spPr>
          <a:xfrm>
            <a:off x="7059168" y="640080"/>
            <a:ext cx="4489704" cy="5596128"/>
          </a:xfrm>
          <a:prstGeom prst="rect">
            <a:avLst/>
          </a:prstGeom>
          <a:noFill/>
          <a:ln>
            <a:noFill/>
          </a:ln>
        </p:spPr>
        <p:txBody>
          <a:bodyPr anchorCtr="0" anchor="ctr" bIns="45700" lIns="91425" spcFirstLastPara="1" rIns="91425" wrap="square" tIns="45700">
            <a:normAutofit/>
          </a:bodyPr>
          <a:lstStyle>
            <a:lvl1pPr indent="-431800" lvl="0" marL="457200" algn="l">
              <a:lnSpc>
                <a:spcPct val="100000"/>
              </a:lnSpc>
              <a:spcBef>
                <a:spcPts val="1000"/>
              </a:spcBef>
              <a:spcAft>
                <a:spcPts val="0"/>
              </a:spcAft>
              <a:buClr>
                <a:schemeClr val="dk1"/>
              </a:buClr>
              <a:buSzPts val="3200"/>
              <a:buChar char="•"/>
              <a:defRPr sz="3200"/>
            </a:lvl1pPr>
            <a:lvl2pPr indent="-406400" lvl="1" marL="914400" algn="l">
              <a:lnSpc>
                <a:spcPct val="100000"/>
              </a:lnSpc>
              <a:spcBef>
                <a:spcPts val="500"/>
              </a:spcBef>
              <a:spcAft>
                <a:spcPts val="0"/>
              </a:spcAft>
              <a:buClr>
                <a:schemeClr val="dk1"/>
              </a:buClr>
              <a:buSzPts val="2800"/>
              <a:buChar char="•"/>
              <a:defRPr sz="2800"/>
            </a:lvl2pPr>
            <a:lvl3pPr indent="-381000" lvl="2" marL="1371600" algn="l">
              <a:lnSpc>
                <a:spcPct val="100000"/>
              </a:lnSpc>
              <a:spcBef>
                <a:spcPts val="500"/>
              </a:spcBef>
              <a:spcAft>
                <a:spcPts val="0"/>
              </a:spcAft>
              <a:buClr>
                <a:schemeClr val="dk1"/>
              </a:buClr>
              <a:buSzPts val="2400"/>
              <a:buChar char="•"/>
              <a:defRPr sz="2400"/>
            </a:lvl3pPr>
            <a:lvl4pPr indent="-355600" lvl="3" marL="1828800" algn="l">
              <a:lnSpc>
                <a:spcPct val="100000"/>
              </a:lnSpc>
              <a:spcBef>
                <a:spcPts val="500"/>
              </a:spcBef>
              <a:spcAft>
                <a:spcPts val="0"/>
              </a:spcAft>
              <a:buClr>
                <a:schemeClr val="dk1"/>
              </a:buClr>
              <a:buSzPts val="2000"/>
              <a:buChar char="•"/>
              <a:defRPr sz="2000"/>
            </a:lvl4pPr>
            <a:lvl5pPr indent="-355600" lvl="4" marL="2286000" algn="l">
              <a:lnSpc>
                <a:spcPct val="10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3" name="Google Shape;73;p32"/>
          <p:cNvSpPr txBox="1"/>
          <p:nvPr>
            <p:ph idx="2" type="body"/>
          </p:nvPr>
        </p:nvSpPr>
        <p:spPr>
          <a:xfrm>
            <a:off x="839788" y="3776472"/>
            <a:ext cx="3886200" cy="246888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600"/>
              <a:buNone/>
              <a:defRPr sz="16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200"/>
              <a:buNone/>
              <a:defRPr sz="1200"/>
            </a:lvl3pPr>
            <a:lvl4pPr indent="-228600" lvl="3" marL="1828800" algn="l">
              <a:lnSpc>
                <a:spcPct val="100000"/>
              </a:lnSpc>
              <a:spcBef>
                <a:spcPts val="500"/>
              </a:spcBef>
              <a:spcAft>
                <a:spcPts val="0"/>
              </a:spcAft>
              <a:buClr>
                <a:schemeClr val="dk1"/>
              </a:buClr>
              <a:buSzPts val="1000"/>
              <a:buNone/>
              <a:defRPr sz="1000"/>
            </a:lvl4pPr>
            <a:lvl5pPr indent="-228600" lvl="4" marL="2286000" algn="l">
              <a:lnSpc>
                <a:spcPct val="10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descr="Tag=AccentColor&#10;Flavor=Light&#10;Target=Fill" id="78" name="Google Shape;78;p33"/>
          <p:cNvSpPr/>
          <p:nvPr/>
        </p:nvSpPr>
        <p:spPr>
          <a:xfrm>
            <a:off x="684965" y="1332237"/>
            <a:ext cx="5263732" cy="3841102"/>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79" name="Google Shape;79;p33"/>
          <p:cNvSpPr txBox="1"/>
          <p:nvPr>
            <p:ph type="title"/>
          </p:nvPr>
        </p:nvSpPr>
        <p:spPr>
          <a:xfrm>
            <a:off x="1399032" y="2523744"/>
            <a:ext cx="3831336" cy="1453896"/>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p:nvPr>
            <p:ph idx="2" type="pic"/>
          </p:nvPr>
        </p:nvSpPr>
        <p:spPr>
          <a:xfrm>
            <a:off x="6711696" y="640079"/>
            <a:ext cx="4837176" cy="5568696"/>
          </a:xfrm>
          <a:prstGeom prst="rect">
            <a:avLst/>
          </a:prstGeom>
          <a:noFill/>
          <a:ln>
            <a:noFill/>
          </a:ln>
        </p:spPr>
      </p:sp>
      <p:sp>
        <p:nvSpPr>
          <p:cNvPr id="81" name="Google Shape;81;p33"/>
          <p:cNvSpPr txBox="1"/>
          <p:nvPr>
            <p:ph idx="1" type="body"/>
          </p:nvPr>
        </p:nvSpPr>
        <p:spPr>
          <a:xfrm>
            <a:off x="1655064" y="4087368"/>
            <a:ext cx="3319272" cy="649224"/>
          </a:xfrm>
          <a:prstGeom prst="rect">
            <a:avLst/>
          </a:prstGeom>
          <a:noFill/>
          <a:ln>
            <a:noFill/>
          </a:ln>
        </p:spPr>
        <p:txBody>
          <a:bodyPr anchorCtr="0" anchor="t" bIns="45700" lIns="91425" spcFirstLastPara="1" rIns="91425" wrap="square" tIns="45700">
            <a:noAutofit/>
          </a:bodyPr>
          <a:lstStyle>
            <a:lvl1pPr indent="-228600" lvl="0" marL="457200" algn="ctr">
              <a:lnSpc>
                <a:spcPct val="100000"/>
              </a:lnSpc>
              <a:spcBef>
                <a:spcPts val="1000"/>
              </a:spcBef>
              <a:spcAft>
                <a:spcPts val="0"/>
              </a:spcAft>
              <a:buClr>
                <a:schemeClr val="dk1"/>
              </a:buClr>
              <a:buSzPts val="2000"/>
              <a:buNone/>
              <a:defRPr sz="2000" cap="none"/>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200"/>
              <a:buNone/>
              <a:defRPr sz="1200"/>
            </a:lvl3pPr>
            <a:lvl4pPr indent="-228600" lvl="3" marL="1828800" algn="l">
              <a:lnSpc>
                <a:spcPct val="100000"/>
              </a:lnSpc>
              <a:spcBef>
                <a:spcPts val="500"/>
              </a:spcBef>
              <a:spcAft>
                <a:spcPts val="0"/>
              </a:spcAft>
              <a:buClr>
                <a:schemeClr val="dk1"/>
              </a:buClr>
              <a:buSzPts val="1000"/>
              <a:buNone/>
              <a:defRPr sz="1000"/>
            </a:lvl4pPr>
            <a:lvl5pPr indent="-228600" lvl="4" marL="2286000" algn="l">
              <a:lnSpc>
                <a:spcPct val="10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2" name="Google Shape;8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Clr>
                <a:schemeClr val="dk1"/>
              </a:buClr>
              <a:buSzPts val="1800"/>
              <a:buChar char="•"/>
              <a:defRPr/>
            </a:lvl1pPr>
            <a:lvl2pPr indent="-342900" lvl="1" marL="914400" algn="l">
              <a:lnSpc>
                <a:spcPct val="100000"/>
              </a:lnSpc>
              <a:spcBef>
                <a:spcPts val="500"/>
              </a:spcBef>
              <a:spcAft>
                <a:spcPts val="0"/>
              </a:spcAft>
              <a:buClr>
                <a:schemeClr val="dk1"/>
              </a:buClr>
              <a:buSzPts val="1800"/>
              <a:buChar char="•"/>
              <a:defRPr/>
            </a:lvl2pPr>
            <a:lvl3pPr indent="-342900" lvl="2" marL="1371600" algn="l">
              <a:lnSpc>
                <a:spcPct val="100000"/>
              </a:lnSpc>
              <a:spcBef>
                <a:spcPts val="500"/>
              </a:spcBef>
              <a:spcAft>
                <a:spcPts val="0"/>
              </a:spcAft>
              <a:buClr>
                <a:schemeClr val="dk1"/>
              </a:buClr>
              <a:buSzPts val="1800"/>
              <a:buChar char="•"/>
              <a:defRPr/>
            </a:lvl3pPr>
            <a:lvl4pPr indent="-342900" lvl="3" marL="1828800" algn="l">
              <a:lnSpc>
                <a:spcPct val="100000"/>
              </a:lnSpc>
              <a:spcBef>
                <a:spcPts val="500"/>
              </a:spcBef>
              <a:spcAft>
                <a:spcPts val="0"/>
              </a:spcAft>
              <a:buClr>
                <a:schemeClr val="dk1"/>
              </a:buClr>
              <a:buSzPts val="1800"/>
              <a:buChar char="•"/>
              <a:defRPr/>
            </a:lvl4pPr>
            <a:lvl5pPr indent="-342900" lvl="4" marL="2286000" algn="l">
              <a:lnSpc>
                <a:spcPct val="10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entury Gothic"/>
              <a:buNone/>
              <a:defRPr b="0" i="0" sz="40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100000"/>
              </a:lnSpc>
              <a:spcBef>
                <a:spcPts val="1000"/>
              </a:spcBef>
              <a:spcAft>
                <a:spcPts val="0"/>
              </a:spcAft>
              <a:buClr>
                <a:schemeClr val="dk1"/>
              </a:buClr>
              <a:buSzPts val="2800"/>
              <a:buFont typeface="Arial"/>
              <a:buChar char="•"/>
              <a:defRPr b="0" i="0" sz="2800" u="none" cap="none" strike="noStrike">
                <a:solidFill>
                  <a:schemeClr val="dk1"/>
                </a:solidFill>
                <a:latin typeface="Century Gothic"/>
                <a:ea typeface="Century Gothic"/>
                <a:cs typeface="Century Gothic"/>
                <a:sym typeface="Century Gothic"/>
              </a:defRPr>
            </a:lvl1pPr>
            <a:lvl2pPr indent="-381000" lvl="1" marL="914400" marR="0" rtl="0" algn="l">
              <a:lnSpc>
                <a:spcPct val="100000"/>
              </a:lnSpc>
              <a:spcBef>
                <a:spcPts val="50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2pPr>
            <a:lvl3pPr indent="-355600" lvl="2" marL="1371600" marR="0" rtl="0" algn="l">
              <a:lnSpc>
                <a:spcPct val="100000"/>
              </a:lnSpc>
              <a:spcBef>
                <a:spcPts val="5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3pPr>
            <a:lvl4pPr indent="-342900" lvl="3" marL="18288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10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9pPr>
          </a:lstStyle>
          <a:p/>
        </p:txBody>
      </p:sp>
      <p:sp>
        <p:nvSpPr>
          <p:cNvPr id="12" name="Google Shape;1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3" name="Google Shape;1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14" name="Google Shape;1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03" name="Google Shape;103;p1"/>
          <p:cNvSpPr txBox="1"/>
          <p:nvPr>
            <p:ph type="ctrTitle"/>
          </p:nvPr>
        </p:nvSpPr>
        <p:spPr>
          <a:xfrm>
            <a:off x="1329446" y="4331242"/>
            <a:ext cx="10100170" cy="682908"/>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700"/>
              <a:buFont typeface="Century Gothic"/>
              <a:buNone/>
            </a:pPr>
            <a:r>
              <a:rPr b="1" lang="en-US" sz="3700"/>
              <a:t>Python – Files</a:t>
            </a:r>
            <a:endParaRPr/>
          </a:p>
        </p:txBody>
      </p:sp>
      <p:sp>
        <p:nvSpPr>
          <p:cNvPr id="104" name="Google Shape;104;p1"/>
          <p:cNvSpPr txBox="1"/>
          <p:nvPr>
            <p:ph idx="1" type="subTitle"/>
          </p:nvPr>
        </p:nvSpPr>
        <p:spPr>
          <a:xfrm>
            <a:off x="1524000" y="5071718"/>
            <a:ext cx="9144000" cy="646785"/>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2400"/>
              <a:buNone/>
            </a:pPr>
            <a:r>
              <a:rPr lang="en-US"/>
              <a:t>M M MAHBUBUL SYEED, PHD. ASSOCIATE PROFESSOR</a:t>
            </a:r>
            <a:endParaRPr/>
          </a:p>
        </p:txBody>
      </p:sp>
      <p:pic>
        <p:nvPicPr>
          <p:cNvPr descr="Aerial view of beach and waves" id="105" name="Google Shape;105;p1"/>
          <p:cNvPicPr preferRelativeResize="0"/>
          <p:nvPr/>
        </p:nvPicPr>
        <p:blipFill rotWithShape="1">
          <a:blip r:embed="rId3">
            <a:alphaModFix/>
          </a:blip>
          <a:srcRect b="32796" l="0" r="0" t="29137"/>
          <a:stretch/>
        </p:blipFill>
        <p:spPr>
          <a:xfrm>
            <a:off x="838201" y="10"/>
            <a:ext cx="10484412" cy="3811394"/>
          </a:xfrm>
          <a:custGeom>
            <a:rect b="b" l="l" r="r" t="t"/>
            <a:pathLst>
              <a:path extrusionOk="0" h="3811404" w="10484412">
                <a:moveTo>
                  <a:pt x="0" y="3811403"/>
                </a:moveTo>
                <a:lnTo>
                  <a:pt x="10484412" y="3811403"/>
                </a:lnTo>
                <a:lnTo>
                  <a:pt x="10484412" y="3811404"/>
                </a:lnTo>
                <a:lnTo>
                  <a:pt x="0" y="3811404"/>
                </a:lnTo>
                <a:close/>
                <a:moveTo>
                  <a:pt x="181717" y="0"/>
                </a:moveTo>
                <a:lnTo>
                  <a:pt x="10224015" y="0"/>
                </a:lnTo>
                <a:cubicBezTo>
                  <a:pt x="10261561" y="45054"/>
                  <a:pt x="10301611" y="85103"/>
                  <a:pt x="10369193" y="110134"/>
                </a:cubicBezTo>
                <a:cubicBezTo>
                  <a:pt x="10321635" y="167704"/>
                  <a:pt x="10236530" y="182722"/>
                  <a:pt x="10173954" y="222771"/>
                </a:cubicBezTo>
                <a:cubicBezTo>
                  <a:pt x="10168948" y="255310"/>
                  <a:pt x="10269071" y="245298"/>
                  <a:pt x="10241537" y="317887"/>
                </a:cubicBezTo>
                <a:cubicBezTo>
                  <a:pt x="10206494" y="418008"/>
                  <a:pt x="10241537" y="528142"/>
                  <a:pt x="10071328" y="573196"/>
                </a:cubicBezTo>
                <a:cubicBezTo>
                  <a:pt x="10023770" y="668312"/>
                  <a:pt x="10008751" y="820997"/>
                  <a:pt x="10113880" y="913610"/>
                </a:cubicBezTo>
                <a:cubicBezTo>
                  <a:pt x="10271573" y="1048774"/>
                  <a:pt x="10244040" y="1138885"/>
                  <a:pt x="10036285" y="1216478"/>
                </a:cubicBezTo>
                <a:cubicBezTo>
                  <a:pt x="10011255" y="1226491"/>
                  <a:pt x="9978715" y="1231497"/>
                  <a:pt x="9966200" y="1256528"/>
                </a:cubicBezTo>
                <a:cubicBezTo>
                  <a:pt x="9986224" y="1289067"/>
                  <a:pt x="10031280" y="1281557"/>
                  <a:pt x="10063819" y="1289067"/>
                </a:cubicBezTo>
                <a:cubicBezTo>
                  <a:pt x="10211500" y="1324110"/>
                  <a:pt x="10214003" y="1324110"/>
                  <a:pt x="10176457" y="1441752"/>
                </a:cubicBezTo>
                <a:cubicBezTo>
                  <a:pt x="10163942" y="1476795"/>
                  <a:pt x="10188972" y="1491813"/>
                  <a:pt x="10211500" y="1511838"/>
                </a:cubicBezTo>
                <a:cubicBezTo>
                  <a:pt x="10296604" y="1591936"/>
                  <a:pt x="10296604" y="1594439"/>
                  <a:pt x="10206494" y="1664523"/>
                </a:cubicBezTo>
                <a:cubicBezTo>
                  <a:pt x="10181463" y="1684547"/>
                  <a:pt x="10163942" y="1704572"/>
                  <a:pt x="10151426" y="1732106"/>
                </a:cubicBezTo>
                <a:cubicBezTo>
                  <a:pt x="10128899" y="1782166"/>
                  <a:pt x="10128899" y="1822216"/>
                  <a:pt x="10208996" y="1847246"/>
                </a:cubicBezTo>
                <a:cubicBezTo>
                  <a:pt x="10266568" y="1864767"/>
                  <a:pt x="10296604" y="1884791"/>
                  <a:pt x="10299107" y="1939858"/>
                </a:cubicBezTo>
                <a:cubicBezTo>
                  <a:pt x="10299107" y="1987416"/>
                  <a:pt x="10306617" y="2017452"/>
                  <a:pt x="10244040" y="2037477"/>
                </a:cubicBezTo>
                <a:cubicBezTo>
                  <a:pt x="10193979" y="2054998"/>
                  <a:pt x="10178960" y="2090041"/>
                  <a:pt x="10183966" y="2130089"/>
                </a:cubicBezTo>
                <a:cubicBezTo>
                  <a:pt x="10193979" y="2230211"/>
                  <a:pt x="10126396" y="2287781"/>
                  <a:pt x="10013758" y="2335339"/>
                </a:cubicBezTo>
                <a:cubicBezTo>
                  <a:pt x="9908629" y="2377890"/>
                  <a:pt x="9813513" y="2437963"/>
                  <a:pt x="9715893" y="2493030"/>
                </a:cubicBezTo>
                <a:cubicBezTo>
                  <a:pt x="9605758" y="2553103"/>
                  <a:pt x="9480605" y="2590649"/>
                  <a:pt x="9347942" y="2623189"/>
                </a:cubicBezTo>
                <a:cubicBezTo>
                  <a:pt x="9370469" y="2665740"/>
                  <a:pt x="9453071" y="2640710"/>
                  <a:pt x="9460580" y="2700783"/>
                </a:cubicBezTo>
                <a:cubicBezTo>
                  <a:pt x="9255329" y="2753346"/>
                  <a:pt x="9060089" y="2833444"/>
                  <a:pt x="8827305" y="2855971"/>
                </a:cubicBezTo>
                <a:cubicBezTo>
                  <a:pt x="9015035" y="2843456"/>
                  <a:pt x="9182740" y="2908535"/>
                  <a:pt x="9360458" y="2926056"/>
                </a:cubicBezTo>
                <a:cubicBezTo>
                  <a:pt x="9377980" y="2961099"/>
                  <a:pt x="9337930" y="2951087"/>
                  <a:pt x="9322912" y="2958595"/>
                </a:cubicBezTo>
                <a:cubicBezTo>
                  <a:pt x="9307893" y="2963602"/>
                  <a:pt x="9287869" y="2966105"/>
                  <a:pt x="9285366" y="2991135"/>
                </a:cubicBezTo>
                <a:cubicBezTo>
                  <a:pt x="9370469" y="3023675"/>
                  <a:pt x="9478102" y="2998644"/>
                  <a:pt x="9565709" y="3033687"/>
                </a:cubicBezTo>
                <a:cubicBezTo>
                  <a:pt x="9543182" y="3083748"/>
                  <a:pt x="9468090" y="3056214"/>
                  <a:pt x="9435550" y="3096263"/>
                </a:cubicBezTo>
                <a:cubicBezTo>
                  <a:pt x="9518151" y="3101269"/>
                  <a:pt x="9593243" y="3103772"/>
                  <a:pt x="9668335" y="3113784"/>
                </a:cubicBezTo>
                <a:cubicBezTo>
                  <a:pt x="9725905" y="3121294"/>
                  <a:pt x="9740924" y="3163845"/>
                  <a:pt x="9700875" y="3193882"/>
                </a:cubicBezTo>
                <a:cubicBezTo>
                  <a:pt x="9665832" y="3221415"/>
                  <a:pt x="9613268" y="3223918"/>
                  <a:pt x="9565709" y="3236434"/>
                </a:cubicBezTo>
                <a:cubicBezTo>
                  <a:pt x="9232801" y="3319034"/>
                  <a:pt x="8882372" y="3351573"/>
                  <a:pt x="8529440" y="3364088"/>
                </a:cubicBezTo>
                <a:cubicBezTo>
                  <a:pt x="7961245" y="3386616"/>
                  <a:pt x="7393049" y="3394125"/>
                  <a:pt x="6827357" y="3419155"/>
                </a:cubicBezTo>
                <a:cubicBezTo>
                  <a:pt x="6481933" y="3434173"/>
                  <a:pt x="6136510" y="3456701"/>
                  <a:pt x="5788584" y="3456701"/>
                </a:cubicBezTo>
                <a:cubicBezTo>
                  <a:pt x="5415628" y="3456701"/>
                  <a:pt x="5042671" y="3464210"/>
                  <a:pt x="4669714" y="3411646"/>
                </a:cubicBezTo>
                <a:cubicBezTo>
                  <a:pt x="4479481" y="3384113"/>
                  <a:pt x="4279236" y="3396628"/>
                  <a:pt x="4086500" y="3376603"/>
                </a:cubicBezTo>
                <a:cubicBezTo>
                  <a:pt x="3793641" y="3346568"/>
                  <a:pt x="3500782" y="3306518"/>
                  <a:pt x="3210426" y="3256458"/>
                </a:cubicBezTo>
                <a:cubicBezTo>
                  <a:pt x="3117813" y="3241439"/>
                  <a:pt x="3007678" y="3231428"/>
                  <a:pt x="2937592" y="3166348"/>
                </a:cubicBezTo>
                <a:cubicBezTo>
                  <a:pt x="2824954" y="3211403"/>
                  <a:pt x="2757372" y="3131305"/>
                  <a:pt x="2669765" y="3106275"/>
                </a:cubicBezTo>
                <a:cubicBezTo>
                  <a:pt x="2634722" y="3096263"/>
                  <a:pt x="2592169" y="3081245"/>
                  <a:pt x="2597176" y="3048705"/>
                </a:cubicBezTo>
                <a:cubicBezTo>
                  <a:pt x="2604685" y="3006154"/>
                  <a:pt x="2654746" y="2978620"/>
                  <a:pt x="2702304" y="2986130"/>
                </a:cubicBezTo>
                <a:cubicBezTo>
                  <a:pt x="2849986" y="3011160"/>
                  <a:pt x="2985150" y="2948584"/>
                  <a:pt x="3137838" y="2956093"/>
                </a:cubicBezTo>
                <a:cubicBezTo>
                  <a:pt x="3005175" y="2933565"/>
                  <a:pt x="2872513" y="2908535"/>
                  <a:pt x="2739850" y="2886007"/>
                </a:cubicBezTo>
                <a:cubicBezTo>
                  <a:pt x="2940095" y="2863480"/>
                  <a:pt x="3132831" y="2896020"/>
                  <a:pt x="3328071" y="2913541"/>
                </a:cubicBezTo>
                <a:cubicBezTo>
                  <a:pt x="3390647" y="2921050"/>
                  <a:pt x="3485763" y="2968608"/>
                  <a:pt x="3503285" y="2898523"/>
                </a:cubicBezTo>
                <a:cubicBezTo>
                  <a:pt x="3513297" y="2850965"/>
                  <a:pt x="3410671" y="2850965"/>
                  <a:pt x="3350598" y="2838450"/>
                </a:cubicBezTo>
                <a:cubicBezTo>
                  <a:pt x="3090279" y="2785886"/>
                  <a:pt x="2824954" y="2758353"/>
                  <a:pt x="2562133" y="2725813"/>
                </a:cubicBezTo>
                <a:cubicBezTo>
                  <a:pt x="2537102" y="2723310"/>
                  <a:pt x="2504562" y="2725813"/>
                  <a:pt x="2487041" y="2715801"/>
                </a:cubicBezTo>
                <a:cubicBezTo>
                  <a:pt x="2354378" y="2633200"/>
                  <a:pt x="2184170" y="2608170"/>
                  <a:pt x="1998943" y="2548097"/>
                </a:cubicBezTo>
                <a:cubicBezTo>
                  <a:pt x="2116587" y="2515558"/>
                  <a:pt x="2196685" y="2575630"/>
                  <a:pt x="2294304" y="2560612"/>
                </a:cubicBezTo>
                <a:cubicBezTo>
                  <a:pt x="2196685" y="2498036"/>
                  <a:pt x="2079041" y="2488024"/>
                  <a:pt x="1978918" y="2455485"/>
                </a:cubicBezTo>
                <a:cubicBezTo>
                  <a:pt x="1906330" y="2430454"/>
                  <a:pt x="1635999" y="2357866"/>
                  <a:pt x="1595950" y="2335339"/>
                </a:cubicBezTo>
                <a:cubicBezTo>
                  <a:pt x="1473299" y="2267756"/>
                  <a:pt x="1315606" y="2237720"/>
                  <a:pt x="1215483" y="2145108"/>
                </a:cubicBezTo>
                <a:cubicBezTo>
                  <a:pt x="1145398" y="2080028"/>
                  <a:pt x="1025251" y="2095047"/>
                  <a:pt x="942649" y="2049992"/>
                </a:cubicBezTo>
                <a:cubicBezTo>
                  <a:pt x="912613" y="2004937"/>
                  <a:pt x="972686" y="1994925"/>
                  <a:pt x="992711" y="1969894"/>
                </a:cubicBezTo>
                <a:cubicBezTo>
                  <a:pt x="1020244" y="1939858"/>
                  <a:pt x="972686" y="1922337"/>
                  <a:pt x="960170" y="1884791"/>
                </a:cubicBezTo>
                <a:cubicBezTo>
                  <a:pt x="1117863" y="1922337"/>
                  <a:pt x="1268048" y="1944864"/>
                  <a:pt x="1448268" y="1957380"/>
                </a:cubicBezTo>
                <a:cubicBezTo>
                  <a:pt x="1390698" y="1897306"/>
                  <a:pt x="1318109" y="1927343"/>
                  <a:pt x="1270551" y="1904815"/>
                </a:cubicBezTo>
                <a:cubicBezTo>
                  <a:pt x="1238011" y="1889797"/>
                  <a:pt x="1190453" y="1884791"/>
                  <a:pt x="1200466" y="1849749"/>
                </a:cubicBezTo>
                <a:cubicBezTo>
                  <a:pt x="1207974" y="1822216"/>
                  <a:pt x="1248023" y="1824718"/>
                  <a:pt x="1278060" y="1827221"/>
                </a:cubicBezTo>
                <a:cubicBezTo>
                  <a:pt x="1393201" y="1834730"/>
                  <a:pt x="1503336" y="1834730"/>
                  <a:pt x="1615974" y="1764645"/>
                </a:cubicBezTo>
                <a:cubicBezTo>
                  <a:pt x="1338134" y="1669530"/>
                  <a:pt x="1015238" y="1717087"/>
                  <a:pt x="767434" y="1576917"/>
                </a:cubicBezTo>
                <a:cubicBezTo>
                  <a:pt x="802477" y="1531862"/>
                  <a:pt x="852539" y="1554390"/>
                  <a:pt x="890085" y="1559396"/>
                </a:cubicBezTo>
                <a:cubicBezTo>
                  <a:pt x="1132882" y="1591936"/>
                  <a:pt x="2003949" y="1514341"/>
                  <a:pt x="2129102" y="1556893"/>
                </a:cubicBezTo>
                <a:cubicBezTo>
                  <a:pt x="2204195" y="1584426"/>
                  <a:pt x="2286796" y="1594439"/>
                  <a:pt x="2369396" y="1576917"/>
                </a:cubicBezTo>
                <a:cubicBezTo>
                  <a:pt x="2469519" y="1554390"/>
                  <a:pt x="1881298" y="1519347"/>
                  <a:pt x="1746133" y="1421728"/>
                </a:cubicBezTo>
                <a:cubicBezTo>
                  <a:pt x="1678551" y="1374170"/>
                  <a:pt x="1082821" y="1146394"/>
                  <a:pt x="819999" y="1083817"/>
                </a:cubicBezTo>
                <a:cubicBezTo>
                  <a:pt x="857545" y="1041266"/>
                  <a:pt x="952662" y="1066296"/>
                  <a:pt x="940146" y="993707"/>
                </a:cubicBezTo>
                <a:cubicBezTo>
                  <a:pt x="794969" y="956162"/>
                  <a:pt x="627263" y="961168"/>
                  <a:pt x="459558" y="903598"/>
                </a:cubicBezTo>
                <a:cubicBezTo>
                  <a:pt x="537153" y="858543"/>
                  <a:pt x="622257" y="883573"/>
                  <a:pt x="699852" y="868556"/>
                </a:cubicBezTo>
                <a:cubicBezTo>
                  <a:pt x="657300" y="813489"/>
                  <a:pt x="582208" y="823500"/>
                  <a:pt x="522134" y="813489"/>
                </a:cubicBezTo>
                <a:cubicBezTo>
                  <a:pt x="464564" y="803476"/>
                  <a:pt x="349423" y="708360"/>
                  <a:pt x="374453" y="713367"/>
                </a:cubicBezTo>
                <a:cubicBezTo>
                  <a:pt x="607238" y="750912"/>
                  <a:pt x="842526" y="735895"/>
                  <a:pt x="1075312" y="773440"/>
                </a:cubicBezTo>
                <a:cubicBezTo>
                  <a:pt x="1152907" y="785955"/>
                  <a:pt x="1238011" y="810986"/>
                  <a:pt x="1275557" y="728385"/>
                </a:cubicBezTo>
                <a:cubicBezTo>
                  <a:pt x="1285569" y="703355"/>
                  <a:pt x="1278060" y="695846"/>
                  <a:pt x="1385692" y="725882"/>
                </a:cubicBezTo>
                <a:cubicBezTo>
                  <a:pt x="1425741" y="738397"/>
                  <a:pt x="1483311" y="750912"/>
                  <a:pt x="1525863" y="718373"/>
                </a:cubicBezTo>
                <a:cubicBezTo>
                  <a:pt x="1498330" y="678325"/>
                  <a:pt x="1445765" y="690839"/>
                  <a:pt x="1408219" y="680828"/>
                </a:cubicBezTo>
                <a:cubicBezTo>
                  <a:pt x="1305594" y="653294"/>
                  <a:pt x="922624" y="548166"/>
                  <a:pt x="825005" y="518129"/>
                </a:cubicBezTo>
                <a:cubicBezTo>
                  <a:pt x="619754" y="453051"/>
                  <a:pt x="492098" y="475578"/>
                  <a:pt x="286846" y="405492"/>
                </a:cubicBezTo>
                <a:cubicBezTo>
                  <a:pt x="356932" y="407995"/>
                  <a:pt x="336907" y="380462"/>
                  <a:pt x="406993" y="380462"/>
                </a:cubicBezTo>
                <a:cubicBezTo>
                  <a:pt x="437030" y="380462"/>
                  <a:pt x="472073" y="372954"/>
                  <a:pt x="472073" y="342917"/>
                </a:cubicBezTo>
                <a:cubicBezTo>
                  <a:pt x="472073" y="315384"/>
                  <a:pt x="104123" y="170207"/>
                  <a:pt x="156686" y="155188"/>
                </a:cubicBezTo>
                <a:cubicBezTo>
                  <a:pt x="301865" y="115140"/>
                  <a:pt x="667312" y="227777"/>
                  <a:pt x="579705" y="175213"/>
                </a:cubicBezTo>
                <a:cubicBezTo>
                  <a:pt x="447042" y="92613"/>
                  <a:pt x="427018" y="77594"/>
                  <a:pt x="326895" y="67583"/>
                </a:cubicBezTo>
                <a:cubicBezTo>
                  <a:pt x="296858" y="62576"/>
                  <a:pt x="244294" y="35043"/>
                  <a:pt x="181717" y="0"/>
                </a:cubicBezTo>
                <a:close/>
              </a:path>
            </a:pathLst>
          </a:custGeom>
          <a:noFill/>
          <a:ln>
            <a:noFill/>
          </a:ln>
        </p:spPr>
      </p:pic>
      <p:pic>
        <p:nvPicPr>
          <p:cNvPr descr="Logo&#10;&#10;Description automatically generated" id="106" name="Google Shape;106;p1"/>
          <p:cNvPicPr preferRelativeResize="0"/>
          <p:nvPr/>
        </p:nvPicPr>
        <p:blipFill rotWithShape="1">
          <a:blip r:embed="rId4">
            <a:alphaModFix/>
          </a:blip>
          <a:srcRect b="0" l="0" r="0" t="0"/>
          <a:stretch/>
        </p:blipFill>
        <p:spPr>
          <a:xfrm>
            <a:off x="567830" y="3590767"/>
            <a:ext cx="2374629" cy="682908"/>
          </a:xfrm>
          <a:custGeom>
            <a:rect b="b" l="l" r="r" t="t"/>
            <a:pathLst>
              <a:path extrusionOk="0" fill="none" h="682908" w="2374629">
                <a:moveTo>
                  <a:pt x="0" y="0"/>
                </a:moveTo>
                <a:cubicBezTo>
                  <a:pt x="131428" y="-36206"/>
                  <a:pt x="429568" y="49038"/>
                  <a:pt x="593657" y="0"/>
                </a:cubicBezTo>
                <a:cubicBezTo>
                  <a:pt x="757746" y="-49038"/>
                  <a:pt x="1097918" y="53842"/>
                  <a:pt x="1234807" y="0"/>
                </a:cubicBezTo>
                <a:cubicBezTo>
                  <a:pt x="1371696" y="-53842"/>
                  <a:pt x="2054204" y="66126"/>
                  <a:pt x="2374629" y="0"/>
                </a:cubicBezTo>
                <a:cubicBezTo>
                  <a:pt x="2405002" y="162524"/>
                  <a:pt x="2371205" y="264958"/>
                  <a:pt x="2374629" y="334625"/>
                </a:cubicBezTo>
                <a:cubicBezTo>
                  <a:pt x="2378053" y="404292"/>
                  <a:pt x="2347794" y="576645"/>
                  <a:pt x="2374629" y="682908"/>
                </a:cubicBezTo>
                <a:cubicBezTo>
                  <a:pt x="2238559" y="706138"/>
                  <a:pt x="2022244" y="650700"/>
                  <a:pt x="1757225" y="682908"/>
                </a:cubicBezTo>
                <a:cubicBezTo>
                  <a:pt x="1492206" y="715116"/>
                  <a:pt x="1476653" y="629947"/>
                  <a:pt x="1234807" y="682908"/>
                </a:cubicBezTo>
                <a:cubicBezTo>
                  <a:pt x="992961" y="735869"/>
                  <a:pt x="919868" y="629849"/>
                  <a:pt x="712389" y="682908"/>
                </a:cubicBezTo>
                <a:cubicBezTo>
                  <a:pt x="504910" y="735967"/>
                  <a:pt x="305855" y="663304"/>
                  <a:pt x="0" y="682908"/>
                </a:cubicBezTo>
                <a:cubicBezTo>
                  <a:pt x="-18065" y="557586"/>
                  <a:pt x="6995" y="450320"/>
                  <a:pt x="0" y="348283"/>
                </a:cubicBezTo>
                <a:cubicBezTo>
                  <a:pt x="-6995" y="246247"/>
                  <a:pt x="2488" y="107054"/>
                  <a:pt x="0" y="0"/>
                </a:cubicBezTo>
                <a:close/>
              </a:path>
              <a:path extrusionOk="0" h="682908" w="2374629">
                <a:moveTo>
                  <a:pt x="0" y="0"/>
                </a:moveTo>
                <a:cubicBezTo>
                  <a:pt x="311661" y="-61020"/>
                  <a:pt x="325144" y="53203"/>
                  <a:pt x="641150" y="0"/>
                </a:cubicBezTo>
                <a:cubicBezTo>
                  <a:pt x="957156" y="-53203"/>
                  <a:pt x="959195" y="19220"/>
                  <a:pt x="1234807" y="0"/>
                </a:cubicBezTo>
                <a:cubicBezTo>
                  <a:pt x="1510419" y="-19220"/>
                  <a:pt x="1584655" y="38722"/>
                  <a:pt x="1780972" y="0"/>
                </a:cubicBezTo>
                <a:cubicBezTo>
                  <a:pt x="1977289" y="-38722"/>
                  <a:pt x="2190607" y="69537"/>
                  <a:pt x="2374629" y="0"/>
                </a:cubicBezTo>
                <a:cubicBezTo>
                  <a:pt x="2385325" y="132255"/>
                  <a:pt x="2363129" y="182532"/>
                  <a:pt x="2374629" y="341454"/>
                </a:cubicBezTo>
                <a:cubicBezTo>
                  <a:pt x="2386129" y="500376"/>
                  <a:pt x="2370081" y="556976"/>
                  <a:pt x="2374629" y="682908"/>
                </a:cubicBezTo>
                <a:cubicBezTo>
                  <a:pt x="2124574" y="704019"/>
                  <a:pt x="1976947" y="673626"/>
                  <a:pt x="1780972" y="682908"/>
                </a:cubicBezTo>
                <a:cubicBezTo>
                  <a:pt x="1584997" y="692190"/>
                  <a:pt x="1379907" y="658257"/>
                  <a:pt x="1258553" y="682908"/>
                </a:cubicBezTo>
                <a:cubicBezTo>
                  <a:pt x="1137199" y="707559"/>
                  <a:pt x="917106" y="632366"/>
                  <a:pt x="712389" y="682908"/>
                </a:cubicBezTo>
                <a:cubicBezTo>
                  <a:pt x="507672" y="733450"/>
                  <a:pt x="205418" y="628160"/>
                  <a:pt x="0" y="682908"/>
                </a:cubicBezTo>
                <a:cubicBezTo>
                  <a:pt x="-31526" y="607460"/>
                  <a:pt x="16314" y="448776"/>
                  <a:pt x="0" y="361941"/>
                </a:cubicBezTo>
                <a:cubicBezTo>
                  <a:pt x="-16314" y="275106"/>
                  <a:pt x="37469" y="142419"/>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Highlight</a:t>
            </a:r>
            <a:endParaRPr/>
          </a:p>
        </p:txBody>
      </p:sp>
      <p:sp>
        <p:nvSpPr>
          <p:cNvPr id="113" name="Google Shape;113;p2"/>
          <p:cNvSpPr txBox="1"/>
          <p:nvPr>
            <p:ph idx="1" type="body"/>
          </p:nvPr>
        </p:nvSpPr>
        <p:spPr>
          <a:xfrm>
            <a:off x="721468" y="2177050"/>
            <a:ext cx="10515600" cy="314398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000"/>
              <a:buChar char="•"/>
            </a:pPr>
            <a:r>
              <a:rPr b="1" lang="en-US" sz="2000"/>
              <a:t>File</a:t>
            </a:r>
            <a:r>
              <a:rPr lang="en-US" sz="2000"/>
              <a:t> – what is it!!??</a:t>
            </a:r>
            <a:endParaRPr/>
          </a:p>
          <a:p>
            <a:pPr indent="-228600" lvl="0" marL="228600" rtl="0" algn="l">
              <a:lnSpc>
                <a:spcPct val="100000"/>
              </a:lnSpc>
              <a:spcBef>
                <a:spcPts val="1600"/>
              </a:spcBef>
              <a:spcAft>
                <a:spcPts val="0"/>
              </a:spcAft>
              <a:buClr>
                <a:schemeClr val="dk1"/>
              </a:buClr>
              <a:buSzPts val="2000"/>
              <a:buChar char="•"/>
            </a:pPr>
            <a:r>
              <a:rPr lang="en-US" sz="2000"/>
              <a:t>Accessing files. </a:t>
            </a:r>
            <a:endParaRPr/>
          </a:p>
          <a:p>
            <a:pPr indent="-228600" lvl="0" marL="228600" rtl="0" algn="l">
              <a:lnSpc>
                <a:spcPct val="100000"/>
              </a:lnSpc>
              <a:spcBef>
                <a:spcPts val="1600"/>
              </a:spcBef>
              <a:spcAft>
                <a:spcPts val="0"/>
              </a:spcAft>
              <a:buClr>
                <a:schemeClr val="dk1"/>
              </a:buClr>
              <a:buSzPts val="2000"/>
              <a:buChar char="•"/>
            </a:pPr>
            <a:r>
              <a:rPr lang="en-US" sz="2000"/>
              <a:t>Different File operations.</a:t>
            </a:r>
            <a:endParaRPr/>
          </a:p>
          <a:p>
            <a:pPr indent="-228600" lvl="0" marL="228600" rtl="0" algn="l">
              <a:lnSpc>
                <a:spcPct val="100000"/>
              </a:lnSpc>
              <a:spcBef>
                <a:spcPts val="1600"/>
              </a:spcBef>
              <a:spcAft>
                <a:spcPts val="0"/>
              </a:spcAft>
              <a:buClr>
                <a:schemeClr val="dk1"/>
              </a:buClr>
              <a:buSzPts val="2000"/>
              <a:buChar char="•"/>
            </a:pPr>
            <a:r>
              <a:rPr lang="en-US" sz="2000"/>
              <a:t>Exercises.</a:t>
            </a:r>
            <a:endParaRPr/>
          </a:p>
        </p:txBody>
      </p:sp>
      <p:pic>
        <p:nvPicPr>
          <p:cNvPr descr="Logo&#10;&#10;Description automatically generated" id="114" name="Google Shape;114;p2"/>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 name="Shape 119"/>
        <p:cNvGrpSpPr/>
        <p:nvPr/>
      </p:nvGrpSpPr>
      <p:grpSpPr>
        <a:xfrm>
          <a:off x="0" y="0"/>
          <a:ext cx="0" cy="0"/>
          <a:chOff x="0" y="0"/>
          <a:chExt cx="0" cy="0"/>
        </a:xfrm>
      </p:grpSpPr>
      <p:sp>
        <p:nvSpPr>
          <p:cNvPr id="120" name="Google Shape;120;p3"/>
          <p:cNvSpPr/>
          <p:nvPr/>
        </p:nvSpPr>
        <p:spPr>
          <a:xfrm flipH="1">
            <a:off x="2599854" y="527562"/>
            <a:ext cx="6992292" cy="5102484"/>
          </a:xfrm>
          <a:custGeom>
            <a:rect b="b" l="l" r="r" t="t"/>
            <a:pathLst>
              <a:path extrusionOk="0" h="5025119" w="6886274">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sp>
        <p:nvSpPr>
          <p:cNvPr id="121" name="Google Shape;121;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2" name="Google Shape;122;p3"/>
          <p:cNvSpPr/>
          <p:nvPr/>
        </p:nvSpPr>
        <p:spPr>
          <a:xfrm flipH="1">
            <a:off x="0" y="0"/>
            <a:ext cx="5962785" cy="6858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123" name="Google Shape;123;p3"/>
          <p:cNvSpPr txBox="1"/>
          <p:nvPr>
            <p:ph type="title"/>
          </p:nvPr>
        </p:nvSpPr>
        <p:spPr>
          <a:xfrm>
            <a:off x="643468" y="643467"/>
            <a:ext cx="4620584" cy="4567137"/>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entury Gothic"/>
              <a:buNone/>
            </a:pPr>
            <a:r>
              <a:rPr b="1" i="1" lang="en-US"/>
              <a:t>File</a:t>
            </a:r>
            <a:endParaRPr i="1"/>
          </a:p>
        </p:txBody>
      </p:sp>
      <p:pic>
        <p:nvPicPr>
          <p:cNvPr descr="Logo&#10;&#10;Description automatically generated" id="124" name="Google Shape;124;p3"/>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pic>
        <p:nvPicPr>
          <p:cNvPr id="125" name="Google Shape;125;p3"/>
          <p:cNvPicPr preferRelativeResize="0"/>
          <p:nvPr/>
        </p:nvPicPr>
        <p:blipFill rotWithShape="1">
          <a:blip r:embed="rId4">
            <a:alphaModFix/>
          </a:blip>
          <a:srcRect b="0" l="0" r="0" t="0"/>
          <a:stretch/>
        </p:blipFill>
        <p:spPr>
          <a:xfrm>
            <a:off x="9227296" y="3240426"/>
            <a:ext cx="2616171" cy="2653018"/>
          </a:xfrm>
          <a:prstGeom prst="rect">
            <a:avLst/>
          </a:prstGeom>
          <a:noFill/>
          <a:ln>
            <a:noFill/>
          </a:ln>
        </p:spPr>
      </p:pic>
      <p:pic>
        <p:nvPicPr>
          <p:cNvPr id="126" name="Google Shape;126;p3"/>
          <p:cNvPicPr preferRelativeResize="0"/>
          <p:nvPr/>
        </p:nvPicPr>
        <p:blipFill rotWithShape="1">
          <a:blip r:embed="rId5">
            <a:alphaModFix/>
          </a:blip>
          <a:srcRect b="0" l="0" r="0" t="0"/>
          <a:stretch/>
        </p:blipFill>
        <p:spPr>
          <a:xfrm>
            <a:off x="6642723" y="4455552"/>
            <a:ext cx="1409822" cy="1348857"/>
          </a:xfrm>
          <a:prstGeom prst="rect">
            <a:avLst/>
          </a:prstGeom>
          <a:noFill/>
          <a:ln>
            <a:noFill/>
          </a:ln>
        </p:spPr>
      </p:pic>
      <p:sp>
        <p:nvSpPr>
          <p:cNvPr id="127" name="Google Shape;127;p3"/>
          <p:cNvSpPr txBox="1"/>
          <p:nvPr/>
        </p:nvSpPr>
        <p:spPr>
          <a:xfrm>
            <a:off x="6694994" y="5972175"/>
            <a:ext cx="11929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Directory</a:t>
            </a:r>
            <a:endParaRPr b="0" i="0" sz="1400" u="none" cap="none" strike="noStrike">
              <a:solidFill>
                <a:srgbClr val="000000"/>
              </a:solidFill>
              <a:latin typeface="Arial"/>
              <a:ea typeface="Arial"/>
              <a:cs typeface="Arial"/>
              <a:sym typeface="Arial"/>
            </a:endParaRPr>
          </a:p>
        </p:txBody>
      </p:sp>
      <p:sp>
        <p:nvSpPr>
          <p:cNvPr id="128" name="Google Shape;128;p3"/>
          <p:cNvSpPr txBox="1"/>
          <p:nvPr/>
        </p:nvSpPr>
        <p:spPr>
          <a:xfrm>
            <a:off x="10257901" y="6006390"/>
            <a:ext cx="5549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File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What is it?!</a:t>
            </a:r>
            <a:endParaRPr/>
          </a:p>
        </p:txBody>
      </p:sp>
      <p:sp>
        <p:nvSpPr>
          <p:cNvPr id="135" name="Google Shape;135;p4"/>
          <p:cNvSpPr txBox="1"/>
          <p:nvPr/>
        </p:nvSpPr>
        <p:spPr>
          <a:xfrm>
            <a:off x="335279" y="1727509"/>
            <a:ext cx="11454644" cy="170168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A File is </a:t>
            </a:r>
            <a:r>
              <a:rPr b="1" i="0" lang="en-US" sz="1800" u="none" cap="none" strike="noStrike">
                <a:solidFill>
                  <a:schemeClr val="dk1"/>
                </a:solidFill>
                <a:latin typeface="Century Gothic"/>
                <a:ea typeface="Century Gothic"/>
                <a:cs typeface="Century Gothic"/>
                <a:sym typeface="Century Gothic"/>
              </a:rPr>
              <a:t>an object on a computer that stores data, information, settings, or commands used with a computer program</a:t>
            </a:r>
            <a:r>
              <a:rPr b="0" i="0" lang="en-US" sz="1800" u="none" cap="none" strike="noStrike">
                <a:solidFill>
                  <a:schemeClr val="dk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File is a </a:t>
            </a:r>
            <a:r>
              <a:rPr b="1" i="0" lang="en-US" sz="1800" u="none" cap="none" strike="noStrike">
                <a:solidFill>
                  <a:schemeClr val="dk1"/>
                </a:solidFill>
                <a:latin typeface="Century Gothic"/>
                <a:ea typeface="Century Gothic"/>
                <a:cs typeface="Century Gothic"/>
                <a:sym typeface="Century Gothic"/>
              </a:rPr>
              <a:t>persistent storage </a:t>
            </a:r>
            <a:r>
              <a:rPr b="0" i="0" lang="en-US" sz="1800" u="none" cap="none" strike="noStrike">
                <a:solidFill>
                  <a:schemeClr val="dk1"/>
                </a:solidFill>
                <a:latin typeface="Century Gothic"/>
                <a:ea typeface="Century Gothic"/>
                <a:cs typeface="Century Gothic"/>
                <a:sym typeface="Century Gothic"/>
              </a:rPr>
              <a:t>to store data.</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File data can be manipulated. E.g., write, read, append and others.</a:t>
            </a:r>
            <a:endParaRPr b="0" i="0" sz="1400" u="none" cap="none" strike="noStrike">
              <a:solidFill>
                <a:srgbClr val="000000"/>
              </a:solidFill>
              <a:latin typeface="Arial"/>
              <a:ea typeface="Arial"/>
              <a:cs typeface="Arial"/>
              <a:sym typeface="Arial"/>
            </a:endParaRPr>
          </a:p>
        </p:txBody>
      </p:sp>
      <p:pic>
        <p:nvPicPr>
          <p:cNvPr descr="Logo&#10;&#10;Description automatically generated" id="136" name="Google Shape;136;p4"/>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pic>
        <p:nvPicPr>
          <p:cNvPr id="137" name="Google Shape;137;p4"/>
          <p:cNvPicPr preferRelativeResize="0"/>
          <p:nvPr/>
        </p:nvPicPr>
        <p:blipFill rotWithShape="1">
          <a:blip r:embed="rId4">
            <a:alphaModFix/>
          </a:blip>
          <a:srcRect b="0" l="0" r="0" t="0"/>
          <a:stretch/>
        </p:blipFill>
        <p:spPr>
          <a:xfrm>
            <a:off x="8608978" y="3429000"/>
            <a:ext cx="3180945" cy="32257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Open A file</a:t>
            </a:r>
            <a:endParaRPr/>
          </a:p>
        </p:txBody>
      </p:sp>
      <p:sp>
        <p:nvSpPr>
          <p:cNvPr id="144" name="Google Shape;144;p5"/>
          <p:cNvSpPr txBox="1"/>
          <p:nvPr/>
        </p:nvSpPr>
        <p:spPr>
          <a:xfrm>
            <a:off x="639679" y="2157616"/>
            <a:ext cx="11121000" cy="20778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 </a:t>
            </a:r>
            <a:r>
              <a:rPr b="1" i="0" lang="en-US" sz="1800" u="none" cap="none" strike="noStrike">
                <a:solidFill>
                  <a:schemeClr val="dk1"/>
                </a:solidFill>
                <a:latin typeface="Century Gothic"/>
                <a:ea typeface="Century Gothic"/>
                <a:cs typeface="Century Gothic"/>
                <a:sym typeface="Century Gothic"/>
              </a:rPr>
              <a:t>file</a:t>
            </a:r>
            <a:r>
              <a:rPr b="0" i="0" lang="en-US" sz="1800" u="none" cap="none" strike="noStrike">
                <a:solidFill>
                  <a:schemeClr val="dk1"/>
                </a:solidFill>
                <a:latin typeface="Century Gothic"/>
                <a:ea typeface="Century Gothic"/>
                <a:cs typeface="Century Gothic"/>
                <a:sym typeface="Century Gothic"/>
              </a:rPr>
              <a:t> needs to be </a:t>
            </a:r>
            <a:r>
              <a:rPr b="1" i="0" lang="en-US" sz="1800" u="none" cap="none" strike="noStrike">
                <a:solidFill>
                  <a:schemeClr val="dk1"/>
                </a:solidFill>
                <a:latin typeface="Century Gothic"/>
                <a:ea typeface="Century Gothic"/>
                <a:cs typeface="Century Gothic"/>
                <a:sym typeface="Century Gothic"/>
              </a:rPr>
              <a:t>opened</a:t>
            </a:r>
            <a:r>
              <a:rPr b="0" i="0" lang="en-US" sz="1800" u="none" cap="none" strike="noStrike">
                <a:solidFill>
                  <a:schemeClr val="dk1"/>
                </a:solidFill>
                <a:latin typeface="Century Gothic"/>
                <a:ea typeface="Century Gothic"/>
                <a:cs typeface="Century Gothic"/>
                <a:sym typeface="Century Gothic"/>
              </a:rPr>
              <a:t> before we can carry out any operation in it (e.g., read, write, update).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Two possibilities:</a:t>
            </a:r>
            <a:endParaRPr b="0" i="0" sz="1400" u="none" cap="none" strike="noStrike">
              <a:solidFill>
                <a:srgbClr val="000000"/>
              </a:solidFill>
              <a:latin typeface="Arial"/>
              <a:ea typeface="Arial"/>
              <a:cs typeface="Arial"/>
              <a:sym typeface="Arial"/>
            </a:endParaRPr>
          </a:p>
          <a:p>
            <a:pPr indent="-342900" lvl="0" marL="574675" marR="0" rtl="0" algn="l">
              <a:lnSpc>
                <a:spcPct val="150000"/>
              </a:lnSpc>
              <a:spcBef>
                <a:spcPts val="1200"/>
              </a:spcBef>
              <a:spcAft>
                <a:spcPts val="0"/>
              </a:spcAft>
              <a:buClr>
                <a:schemeClr val="dk1"/>
              </a:buClr>
              <a:buSzPts val="1800"/>
              <a:buFont typeface="Century Gothic"/>
              <a:buAutoNum type="alphaLcPeriod"/>
            </a:pPr>
            <a:r>
              <a:rPr b="0" i="0" lang="en-US" sz="1800" u="none" cap="none" strike="noStrike">
                <a:solidFill>
                  <a:schemeClr val="dk1"/>
                </a:solidFill>
                <a:latin typeface="Century Gothic"/>
                <a:ea typeface="Century Gothic"/>
                <a:cs typeface="Century Gothic"/>
                <a:sym typeface="Century Gothic"/>
              </a:rPr>
              <a:t>If the file </a:t>
            </a:r>
            <a:r>
              <a:rPr lang="en-US" sz="1800">
                <a:solidFill>
                  <a:schemeClr val="dk1"/>
                </a:solidFill>
                <a:latin typeface="Century Gothic"/>
                <a:ea typeface="Century Gothic"/>
                <a:cs typeface="Century Gothic"/>
                <a:sym typeface="Century Gothic"/>
              </a:rPr>
              <a:t>does</a:t>
            </a:r>
            <a:r>
              <a:rPr b="0" i="0" lang="en-US" sz="1800" u="none" cap="none" strike="noStrike">
                <a:solidFill>
                  <a:schemeClr val="dk1"/>
                </a:solidFill>
                <a:latin typeface="Century Gothic"/>
                <a:ea typeface="Century Gothic"/>
                <a:cs typeface="Century Gothic"/>
                <a:sym typeface="Century Gothic"/>
              </a:rPr>
              <a:t> not exist, it will create that file.</a:t>
            </a:r>
            <a:endParaRPr b="0" i="0" sz="1400" u="none" cap="none" strike="noStrike">
              <a:solidFill>
                <a:srgbClr val="000000"/>
              </a:solidFill>
              <a:latin typeface="Arial"/>
              <a:ea typeface="Arial"/>
              <a:cs typeface="Arial"/>
              <a:sym typeface="Arial"/>
            </a:endParaRPr>
          </a:p>
          <a:p>
            <a:pPr indent="-342900" lvl="0" marL="574675" marR="0" rtl="0" algn="l">
              <a:lnSpc>
                <a:spcPct val="150000"/>
              </a:lnSpc>
              <a:spcBef>
                <a:spcPts val="1200"/>
              </a:spcBef>
              <a:spcAft>
                <a:spcPts val="0"/>
              </a:spcAft>
              <a:buClr>
                <a:schemeClr val="dk1"/>
              </a:buClr>
              <a:buSzPts val="1800"/>
              <a:buFont typeface="Century Gothic"/>
              <a:buAutoNum type="alphaLcPeriod"/>
            </a:pPr>
            <a:r>
              <a:rPr b="0" i="0" lang="en-US" sz="1800" u="none" cap="none" strike="noStrike">
                <a:solidFill>
                  <a:schemeClr val="dk1"/>
                </a:solidFill>
                <a:latin typeface="Century Gothic"/>
                <a:ea typeface="Century Gothic"/>
                <a:cs typeface="Century Gothic"/>
                <a:sym typeface="Century Gothic"/>
              </a:rPr>
              <a:t>If the file exists, it will open that file with the set access mode (e.g., read, write, update …)</a:t>
            </a:r>
            <a:endParaRPr b="0" i="0" sz="1400" u="none" cap="none" strike="noStrike">
              <a:solidFill>
                <a:srgbClr val="000000"/>
              </a:solidFill>
              <a:latin typeface="Arial"/>
              <a:ea typeface="Arial"/>
              <a:cs typeface="Arial"/>
              <a:sym typeface="Arial"/>
            </a:endParaRPr>
          </a:p>
        </p:txBody>
      </p:sp>
      <p:pic>
        <p:nvPicPr>
          <p:cNvPr descr="Logo&#10;&#10;Description automatically generated" id="145" name="Google Shape;145;p5"/>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Open A file</a:t>
            </a:r>
            <a:endParaRPr/>
          </a:p>
        </p:txBody>
      </p:sp>
      <p:sp>
        <p:nvSpPr>
          <p:cNvPr id="152" name="Google Shape;152;p6"/>
          <p:cNvSpPr txBox="1"/>
          <p:nvPr/>
        </p:nvSpPr>
        <p:spPr>
          <a:xfrm>
            <a:off x="649406" y="1690688"/>
            <a:ext cx="11121062" cy="102457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Syntax:</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n-US" sz="1800" u="none" cap="none" strike="noStrike">
                <a:solidFill>
                  <a:srgbClr val="FF0000"/>
                </a:solidFill>
                <a:latin typeface="Century Gothic"/>
                <a:ea typeface="Century Gothic"/>
                <a:cs typeface="Century Gothic"/>
                <a:sym typeface="Century Gothic"/>
              </a:rPr>
              <a:t>file object = open(file_name [, access_mode][, buffering]) </a:t>
            </a:r>
            <a:endParaRPr b="0" i="0" sz="1400" u="none" cap="none" strike="noStrike">
              <a:solidFill>
                <a:srgbClr val="000000"/>
              </a:solidFill>
              <a:latin typeface="Arial"/>
              <a:ea typeface="Arial"/>
              <a:cs typeface="Arial"/>
              <a:sym typeface="Arial"/>
            </a:endParaRPr>
          </a:p>
        </p:txBody>
      </p:sp>
      <p:pic>
        <p:nvPicPr>
          <p:cNvPr descr="Logo&#10;&#10;Description automatically generated" id="153" name="Google Shape;153;p6"/>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154" name="Google Shape;154;p6"/>
          <p:cNvSpPr txBox="1"/>
          <p:nvPr/>
        </p:nvSpPr>
        <p:spPr>
          <a:xfrm>
            <a:off x="929033" y="3404073"/>
            <a:ext cx="10561807" cy="209602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FF0000"/>
                </a:solidFill>
                <a:latin typeface="Century Gothic"/>
                <a:ea typeface="Century Gothic"/>
                <a:cs typeface="Century Gothic"/>
                <a:sym typeface="Century Gothic"/>
              </a:rPr>
              <a:t>file_name: </a:t>
            </a:r>
            <a:r>
              <a:rPr b="0" i="0" lang="en-US" sz="1800" u="none" cap="none" strike="noStrike">
                <a:solidFill>
                  <a:schemeClr val="dk1"/>
                </a:solidFill>
                <a:latin typeface="Century Gothic"/>
                <a:ea typeface="Century Gothic"/>
                <a:cs typeface="Century Gothic"/>
                <a:sym typeface="Century Gothic"/>
              </a:rPr>
              <a:t>A string value that contains the </a:t>
            </a:r>
            <a:r>
              <a:rPr b="1" i="0" lang="en-US" sz="1800" u="none" cap="none" strike="noStrike">
                <a:solidFill>
                  <a:schemeClr val="dk1"/>
                </a:solidFill>
                <a:latin typeface="Century Gothic"/>
                <a:ea typeface="Century Gothic"/>
                <a:cs typeface="Century Gothic"/>
                <a:sym typeface="Century Gothic"/>
              </a:rPr>
              <a:t>name of the file</a:t>
            </a:r>
            <a:r>
              <a:rPr b="0" i="0" lang="en-US" sz="1800" u="none" cap="none" strike="noStrike">
                <a:solidFill>
                  <a:schemeClr val="dk1"/>
                </a:solidFill>
                <a:latin typeface="Century Gothic"/>
                <a:ea typeface="Century Gothic"/>
                <a:cs typeface="Century Gothic"/>
                <a:sym typeface="Century Gothic"/>
              </a:rPr>
              <a:t> that you want to access.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                   Optionally</a:t>
            </a:r>
            <a:r>
              <a:rPr b="1" i="0" lang="en-US" sz="1800" u="none" cap="none" strike="noStrike">
                <a:solidFill>
                  <a:schemeClr val="dk1"/>
                </a:solidFill>
                <a:latin typeface="Century Gothic"/>
                <a:ea typeface="Century Gothic"/>
                <a:cs typeface="Century Gothic"/>
                <a:sym typeface="Century Gothic"/>
              </a:rPr>
              <a:t>, path </a:t>
            </a:r>
            <a:r>
              <a:rPr b="0" i="0" lang="en-US" sz="1800" u="none" cap="none" strike="noStrike">
                <a:solidFill>
                  <a:schemeClr val="dk1"/>
                </a:solidFill>
                <a:latin typeface="Century Gothic"/>
                <a:ea typeface="Century Gothic"/>
                <a:cs typeface="Century Gothic"/>
                <a:sym typeface="Century Gothic"/>
              </a:rPr>
              <a:t>can also be provided!</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1" i="0" lang="en-US" sz="1800" u="none" cap="none" strike="noStrike">
                <a:solidFill>
                  <a:srgbClr val="FF0000"/>
                </a:solidFill>
                <a:latin typeface="Century Gothic"/>
                <a:ea typeface="Century Gothic"/>
                <a:cs typeface="Century Gothic"/>
                <a:sym typeface="Century Gothic"/>
              </a:rPr>
              <a:t>access_mode: </a:t>
            </a:r>
            <a:r>
              <a:rPr b="0" i="0" lang="en-US" sz="1800" u="none" cap="none" strike="noStrike">
                <a:solidFill>
                  <a:schemeClr val="dk1"/>
                </a:solidFill>
                <a:latin typeface="Century Gothic"/>
                <a:ea typeface="Century Gothic"/>
                <a:cs typeface="Century Gothic"/>
                <a:sym typeface="Century Gothic"/>
              </a:rPr>
              <a:t>Determines the </a:t>
            </a:r>
            <a:r>
              <a:rPr b="1" i="0" lang="en-US" sz="1800" u="none" cap="none" strike="noStrike">
                <a:solidFill>
                  <a:schemeClr val="dk1"/>
                </a:solidFill>
                <a:latin typeface="Century Gothic"/>
                <a:ea typeface="Century Gothic"/>
                <a:cs typeface="Century Gothic"/>
                <a:sym typeface="Century Gothic"/>
              </a:rPr>
              <a:t>mode in which the file</a:t>
            </a:r>
            <a:r>
              <a:rPr b="0" i="0" lang="en-US" sz="1800" u="none" cap="none" strike="noStrike">
                <a:solidFill>
                  <a:schemeClr val="dk1"/>
                </a:solidFill>
                <a:latin typeface="Century Gothic"/>
                <a:ea typeface="Century Gothic"/>
                <a:cs typeface="Century Gothic"/>
                <a:sym typeface="Century Gothic"/>
              </a:rPr>
              <a:t> must be opened, i.e., read, write,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                           append, etc.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                           This is an optional parameter and the </a:t>
            </a:r>
            <a:r>
              <a:rPr b="1" i="0" lang="en-US" sz="1800" u="none" cap="none" strike="noStrike">
                <a:solidFill>
                  <a:srgbClr val="0070C0"/>
                </a:solidFill>
                <a:latin typeface="Century Gothic"/>
                <a:ea typeface="Century Gothic"/>
                <a:cs typeface="Century Gothic"/>
                <a:sym typeface="Century Gothic"/>
              </a:rPr>
              <a:t>default file access mode is read (r)</a:t>
            </a:r>
            <a:r>
              <a:rPr b="0" i="0" lang="en-US" sz="1800" u="none" cap="none" strike="noStrike">
                <a:solidFill>
                  <a:schemeClr val="dk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Open A file</a:t>
            </a:r>
            <a:endParaRPr/>
          </a:p>
        </p:txBody>
      </p:sp>
      <p:sp>
        <p:nvSpPr>
          <p:cNvPr id="161" name="Google Shape;161;p7"/>
          <p:cNvSpPr txBox="1"/>
          <p:nvPr/>
        </p:nvSpPr>
        <p:spPr>
          <a:xfrm>
            <a:off x="649406" y="1690688"/>
            <a:ext cx="11121062" cy="102457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Syntax:</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n-US" sz="1800" u="none" cap="none" strike="noStrike">
                <a:solidFill>
                  <a:srgbClr val="FF0000"/>
                </a:solidFill>
                <a:latin typeface="Century Gothic"/>
                <a:ea typeface="Century Gothic"/>
                <a:cs typeface="Century Gothic"/>
                <a:sym typeface="Century Gothic"/>
              </a:rPr>
              <a:t>file object = open(file_name [, access_mode][, buffering]) </a:t>
            </a:r>
            <a:endParaRPr b="0" i="0" sz="1400" u="none" cap="none" strike="noStrike">
              <a:solidFill>
                <a:srgbClr val="000000"/>
              </a:solidFill>
              <a:latin typeface="Arial"/>
              <a:ea typeface="Arial"/>
              <a:cs typeface="Arial"/>
              <a:sym typeface="Arial"/>
            </a:endParaRPr>
          </a:p>
        </p:txBody>
      </p:sp>
      <p:pic>
        <p:nvPicPr>
          <p:cNvPr descr="Logo&#10;&#10;Description automatically generated" id="162" name="Google Shape;162;p7"/>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163" name="Google Shape;163;p7"/>
          <p:cNvSpPr txBox="1"/>
          <p:nvPr/>
        </p:nvSpPr>
        <p:spPr>
          <a:xfrm>
            <a:off x="1047002" y="3277613"/>
            <a:ext cx="10325869" cy="244227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1" i="0" lang="en-US" sz="1800" u="none" cap="none" strike="noStrike">
                <a:solidFill>
                  <a:srgbClr val="FF0000"/>
                </a:solidFill>
                <a:latin typeface="Century Gothic"/>
                <a:ea typeface="Century Gothic"/>
                <a:cs typeface="Century Gothic"/>
                <a:sym typeface="Century Gothic"/>
              </a:rPr>
              <a:t>buffering: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the buffering value is set to 0, no buffering takes place.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the buffering value is 1, line buffering is performed while accessing a file.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you specify the buffering value as an integer greater than 1, then buffering action is performed with the indicated buffer size. </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negative, the buffer size is the system default (default behavior).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Open A file</a:t>
            </a:r>
            <a:endParaRPr/>
          </a:p>
        </p:txBody>
      </p:sp>
      <p:sp>
        <p:nvSpPr>
          <p:cNvPr id="170" name="Google Shape;170;p8"/>
          <p:cNvSpPr txBox="1"/>
          <p:nvPr/>
        </p:nvSpPr>
        <p:spPr>
          <a:xfrm>
            <a:off x="649406" y="1476680"/>
            <a:ext cx="11121062" cy="102457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Syntax:</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n-US" sz="1800" u="none" cap="none" strike="noStrike">
                <a:solidFill>
                  <a:srgbClr val="FF0000"/>
                </a:solidFill>
                <a:latin typeface="Century Gothic"/>
                <a:ea typeface="Century Gothic"/>
                <a:cs typeface="Century Gothic"/>
                <a:sym typeface="Century Gothic"/>
              </a:rPr>
              <a:t>file object = open(file_name [, access_mode][, buffering]) </a:t>
            </a:r>
            <a:endParaRPr b="0" i="0" sz="1400" u="none" cap="none" strike="noStrike">
              <a:solidFill>
                <a:srgbClr val="000000"/>
              </a:solidFill>
              <a:latin typeface="Arial"/>
              <a:ea typeface="Arial"/>
              <a:cs typeface="Arial"/>
              <a:sym typeface="Arial"/>
            </a:endParaRPr>
          </a:p>
        </p:txBody>
      </p:sp>
      <p:pic>
        <p:nvPicPr>
          <p:cNvPr descr="Logo&#10;&#10;Description automatically generated" id="171" name="Google Shape;171;p8"/>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172" name="Google Shape;172;p8"/>
          <p:cNvSpPr txBox="1"/>
          <p:nvPr/>
        </p:nvSpPr>
        <p:spPr>
          <a:xfrm>
            <a:off x="649406" y="3087348"/>
            <a:ext cx="5235828" cy="28007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 = </a:t>
            </a:r>
            <a:r>
              <a:rPr b="0" i="0" lang="en-US" sz="1800" u="none" cap="none" strike="noStrike">
                <a:solidFill>
                  <a:srgbClr val="795E26"/>
                </a:solidFill>
                <a:latin typeface="Arial"/>
                <a:ea typeface="Arial"/>
                <a:cs typeface="Arial"/>
                <a:sym typeface="Arial"/>
              </a:rPr>
              <a:t>open</a:t>
            </a:r>
            <a:r>
              <a:rPr b="0" i="0" lang="en-US" sz="1800" u="none" cap="none" strike="noStrike">
                <a:solidFill>
                  <a:srgbClr val="00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a:t>
            </a:r>
            <a:r>
              <a:rPr b="0" i="0" lang="en-US" sz="1800" u="none" cap="none" strike="noStrike">
                <a:solidFill>
                  <a:srgbClr val="EE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foo.txt"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"r"</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Arial"/>
                <a:ea typeface="Arial"/>
                <a:cs typeface="Arial"/>
                <a:sym typeface="Arial"/>
              </a:rPr>
              <a:t>print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"Name of the file: "</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name</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Arial"/>
                <a:ea typeface="Arial"/>
                <a:cs typeface="Arial"/>
                <a:sym typeface="Arial"/>
              </a:rPr>
              <a:t>print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"Closed or not : "</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closed</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Arial"/>
                <a:ea typeface="Arial"/>
                <a:cs typeface="Arial"/>
                <a:sym typeface="Arial"/>
              </a:rPr>
              <a:t>print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"Opening mode : "</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mode</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795E26"/>
                </a:solidFill>
                <a:latin typeface="Arial"/>
                <a:ea typeface="Arial"/>
                <a:cs typeface="Arial"/>
                <a:sym typeface="Arial"/>
              </a:rPr>
              <a:t>close</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Arial"/>
                <a:ea typeface="Arial"/>
                <a:cs typeface="Arial"/>
                <a:sym typeface="Arial"/>
              </a:rPr>
              <a:t>print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"Closed or not : "</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closed</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73" name="Google Shape;173;p8"/>
          <p:cNvSpPr txBox="1"/>
          <p:nvPr/>
        </p:nvSpPr>
        <p:spPr>
          <a:xfrm>
            <a:off x="7912640" y="4078709"/>
            <a:ext cx="3441160" cy="170168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Name of the file:  F:\foo.txt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Closed or not :  False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Opening mode :  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Closed or not :  True</a:t>
            </a:r>
            <a:endParaRPr b="0" i="0" sz="1400" u="none" cap="none" strike="noStrike">
              <a:solidFill>
                <a:srgbClr val="000000"/>
              </a:solidFill>
              <a:latin typeface="Arial"/>
              <a:ea typeface="Arial"/>
              <a:cs typeface="Arial"/>
              <a:sym typeface="Arial"/>
            </a:endParaRPr>
          </a:p>
        </p:txBody>
      </p:sp>
      <p:sp>
        <p:nvSpPr>
          <p:cNvPr id="174" name="Google Shape;174;p8"/>
          <p:cNvSpPr txBox="1"/>
          <p:nvPr/>
        </p:nvSpPr>
        <p:spPr>
          <a:xfrm>
            <a:off x="7912640" y="2997381"/>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175" name="Google Shape;175;p8"/>
          <p:cNvSpPr txBox="1"/>
          <p:nvPr/>
        </p:nvSpPr>
        <p:spPr>
          <a:xfrm>
            <a:off x="7912640" y="3551379"/>
            <a:ext cx="27943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56AB9"/>
                </a:solidFill>
                <a:latin typeface="Arial"/>
                <a:ea typeface="Arial"/>
                <a:cs typeface="Arial"/>
                <a:sym typeface="Arial"/>
              </a:rPr>
              <a:t>Check the drive for the file</a:t>
            </a:r>
            <a:endParaRPr b="0" i="0" sz="1400" u="none" cap="none" strike="noStrike">
              <a:solidFill>
                <a:srgbClr val="000000"/>
              </a:solidFill>
              <a:latin typeface="Arial"/>
              <a:ea typeface="Arial"/>
              <a:cs typeface="Arial"/>
              <a:sym typeface="Arial"/>
            </a:endParaRPr>
          </a:p>
        </p:txBody>
      </p:sp>
      <p:cxnSp>
        <p:nvCxnSpPr>
          <p:cNvPr id="176" name="Google Shape;176;p8"/>
          <p:cNvCxnSpPr/>
          <p:nvPr/>
        </p:nvCxnSpPr>
        <p:spPr>
          <a:xfrm>
            <a:off x="6838545" y="2859918"/>
            <a:ext cx="0" cy="3998082"/>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517187" y="255677"/>
            <a:ext cx="10515600" cy="75355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entury Gothic"/>
              <a:buNone/>
            </a:pPr>
            <a:r>
              <a:rPr lang="en-US" sz="3600"/>
              <a:t>File – access modes</a:t>
            </a:r>
            <a:endParaRPr/>
          </a:p>
        </p:txBody>
      </p:sp>
      <p:pic>
        <p:nvPicPr>
          <p:cNvPr descr="Logo&#10;&#10;Description automatically generated" id="183" name="Google Shape;183;p9"/>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graphicFrame>
        <p:nvGraphicFramePr>
          <p:cNvPr id="184" name="Google Shape;184;p9"/>
          <p:cNvGraphicFramePr/>
          <p:nvPr/>
        </p:nvGraphicFramePr>
        <p:xfrm>
          <a:off x="340532" y="1017907"/>
          <a:ext cx="3000000" cy="3000000"/>
        </p:xfrm>
        <a:graphic>
          <a:graphicData uri="http://schemas.openxmlformats.org/drawingml/2006/table">
            <a:tbl>
              <a:tblPr bandRow="1" firstRow="1">
                <a:noFill/>
                <a:tableStyleId>{F87EADA0-8C3D-4C98-B79B-A2D1382D1D75}</a:tableStyleId>
              </a:tblPr>
              <a:tblGrid>
                <a:gridCol w="1050525"/>
                <a:gridCol w="1702350"/>
                <a:gridCol w="8758075"/>
              </a:tblGrid>
              <a:tr h="37085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Mode Symbol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Mode Type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Description</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Read</a:t>
                      </a:r>
                      <a:endParaRPr sz="1400" u="none" cap="none" strike="noStrike"/>
                    </a:p>
                  </a:txBody>
                  <a:tcPr marT="45725" marB="45725" marR="91450" marL="91450"/>
                </a:tc>
                <a:tc>
                  <a:txBody>
                    <a:bodyPr/>
                    <a:lstStyle/>
                    <a:p>
                      <a:pPr indent="0" lvl="0" marL="0" marR="0" rtl="0" algn="l">
                        <a:lnSpc>
                          <a:spcPct val="173333"/>
                        </a:lnSpc>
                        <a:spcBef>
                          <a:spcPts val="0"/>
                        </a:spcBef>
                        <a:spcAft>
                          <a:spcPts val="0"/>
                        </a:spcAft>
                        <a:buClr>
                          <a:srgbClr val="000000"/>
                        </a:buClr>
                        <a:buSzPts val="1500"/>
                        <a:buFont typeface="Arial"/>
                        <a:buNone/>
                      </a:pPr>
                      <a:r>
                        <a:rPr lang="en-US" sz="1500" u="none" cap="none" strike="noStrike"/>
                        <a:t>Opens a file for </a:t>
                      </a:r>
                      <a:r>
                        <a:rPr b="1" lang="en-US" sz="1500" u="none" cap="none" strike="noStrike">
                          <a:solidFill>
                            <a:srgbClr val="FF0000"/>
                          </a:solidFill>
                        </a:rPr>
                        <a:t>reading only</a:t>
                      </a:r>
                      <a:r>
                        <a:rPr lang="en-US" sz="1500" u="none" cap="none" strike="noStrike"/>
                        <a:t>. The </a:t>
                      </a:r>
                      <a:r>
                        <a:rPr b="1" lang="en-US" sz="1500" u="sng" cap="none" strike="noStrike">
                          <a:solidFill>
                            <a:srgbClr val="056AB9"/>
                          </a:solidFill>
                        </a:rPr>
                        <a:t>file pointer is placed at the beginning </a:t>
                      </a:r>
                      <a:r>
                        <a:rPr lang="en-US" sz="1500" u="none" cap="none" strike="noStrike"/>
                        <a:t>of the file. This is the default mode.</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r+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Reading &amp; writing</a:t>
                      </a:r>
                      <a:endParaRPr sz="1400" u="none" cap="none" strike="noStrike"/>
                    </a:p>
                  </a:txBody>
                  <a:tcPr marT="45725" marB="45725" marR="91450" marL="91450"/>
                </a:tc>
                <a:tc>
                  <a:txBody>
                    <a:bodyPr/>
                    <a:lstStyle/>
                    <a:p>
                      <a:pPr indent="0" lvl="0" marL="0" marR="0" rtl="0" algn="l">
                        <a:lnSpc>
                          <a:spcPct val="173333"/>
                        </a:lnSpc>
                        <a:spcBef>
                          <a:spcPts val="0"/>
                        </a:spcBef>
                        <a:spcAft>
                          <a:spcPts val="0"/>
                        </a:spcAft>
                        <a:buClr>
                          <a:srgbClr val="000000"/>
                        </a:buClr>
                        <a:buSzPts val="1500"/>
                        <a:buFont typeface="Arial"/>
                        <a:buNone/>
                      </a:pPr>
                      <a:r>
                        <a:rPr lang="en-US" sz="1500" u="none" cap="none" strike="noStrike"/>
                        <a:t>Opens a file for both </a:t>
                      </a:r>
                      <a:r>
                        <a:rPr b="1" lang="en-US" sz="1500" u="none" cap="none" strike="noStrike">
                          <a:solidFill>
                            <a:srgbClr val="FF0000"/>
                          </a:solidFill>
                        </a:rPr>
                        <a:t>reading and writing</a:t>
                      </a:r>
                      <a:r>
                        <a:rPr lang="en-US" sz="1500" u="none" cap="none" strike="noStrike"/>
                        <a:t>. The file </a:t>
                      </a:r>
                      <a:r>
                        <a:rPr b="1" lang="en-US" sz="1500" u="sng" cap="none" strike="noStrike">
                          <a:solidFill>
                            <a:srgbClr val="056AB9"/>
                          </a:solidFill>
                        </a:rPr>
                        <a:t>pointer placed at the beginning</a:t>
                      </a:r>
                      <a:r>
                        <a:rPr lang="en-US" sz="1500" u="none" cap="none" strike="noStrike"/>
                        <a:t> of the file. </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w</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Write </a:t>
                      </a:r>
                      <a:endParaRPr sz="1400" u="none" cap="none" strike="noStrike"/>
                    </a:p>
                  </a:txBody>
                  <a:tcPr marT="45725" marB="45725" marR="91450" marL="91450"/>
                </a:tc>
                <a:tc>
                  <a:txBody>
                    <a:bodyPr/>
                    <a:lstStyle/>
                    <a:p>
                      <a:pPr indent="0" lvl="0" marL="0" marR="0" rtl="0" algn="l">
                        <a:lnSpc>
                          <a:spcPct val="173333"/>
                        </a:lnSpc>
                        <a:spcBef>
                          <a:spcPts val="0"/>
                        </a:spcBef>
                        <a:spcAft>
                          <a:spcPts val="0"/>
                        </a:spcAft>
                        <a:buClr>
                          <a:srgbClr val="000000"/>
                        </a:buClr>
                        <a:buSzPts val="1500"/>
                        <a:buFont typeface="Arial"/>
                        <a:buNone/>
                      </a:pPr>
                      <a:r>
                        <a:rPr lang="en-US" sz="1500" u="none" cap="none" strike="noStrike"/>
                        <a:t>Opens a file for </a:t>
                      </a:r>
                      <a:r>
                        <a:rPr b="1" lang="en-US" sz="1500" u="none" cap="none" strike="noStrike">
                          <a:solidFill>
                            <a:srgbClr val="FF0000"/>
                          </a:solidFill>
                        </a:rPr>
                        <a:t>writing only</a:t>
                      </a:r>
                      <a:r>
                        <a:rPr lang="en-US" sz="1500" u="none" cap="none" strike="noStrike"/>
                        <a:t>.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b="1" lang="en-US" sz="1500" u="sng" cap="none" strike="noStrike">
                          <a:solidFill>
                            <a:srgbClr val="0070C0"/>
                          </a:solidFill>
                        </a:rPr>
                        <a:t>Overwrites</a:t>
                      </a:r>
                      <a:r>
                        <a:rPr lang="en-US" sz="1500" u="none" cap="none" strike="noStrike"/>
                        <a:t> the file if the file exists.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lang="en-US" sz="1500" u="none" cap="none" strike="noStrike"/>
                        <a:t>If the file does not exist, </a:t>
                      </a:r>
                      <a:r>
                        <a:rPr b="1" lang="en-US" sz="1500" u="sng" cap="none" strike="noStrike">
                          <a:solidFill>
                            <a:srgbClr val="0070C0"/>
                          </a:solidFill>
                        </a:rPr>
                        <a:t>creates a new file </a:t>
                      </a:r>
                      <a:r>
                        <a:rPr lang="en-US" sz="1500" u="none" cap="none" strike="noStrike"/>
                        <a:t>for writing.</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w+</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Writing &amp; reading</a:t>
                      </a:r>
                      <a:endParaRPr sz="1400" u="none" cap="none" strike="noStrike"/>
                    </a:p>
                  </a:txBody>
                  <a:tcPr marT="45725" marB="45725" marR="91450" marL="91450"/>
                </a:tc>
                <a:tc>
                  <a:txBody>
                    <a:bodyPr/>
                    <a:lstStyle/>
                    <a:p>
                      <a:pPr indent="0" lvl="0" marL="0" marR="0" rtl="0" algn="l">
                        <a:lnSpc>
                          <a:spcPct val="173333"/>
                        </a:lnSpc>
                        <a:spcBef>
                          <a:spcPts val="0"/>
                        </a:spcBef>
                        <a:spcAft>
                          <a:spcPts val="0"/>
                        </a:spcAft>
                        <a:buClr>
                          <a:srgbClr val="000000"/>
                        </a:buClr>
                        <a:buSzPts val="1500"/>
                        <a:buFont typeface="Arial"/>
                        <a:buNone/>
                      </a:pPr>
                      <a:r>
                        <a:rPr lang="en-US" sz="1500" u="none" cap="none" strike="noStrike"/>
                        <a:t>Opens a file for both </a:t>
                      </a:r>
                      <a:r>
                        <a:rPr b="1" lang="en-US" sz="1500" u="none" cap="none" strike="noStrike">
                          <a:solidFill>
                            <a:srgbClr val="FF0000"/>
                          </a:solidFill>
                        </a:rPr>
                        <a:t>writing and reading</a:t>
                      </a:r>
                      <a:r>
                        <a:rPr lang="en-US" sz="1500" u="none" cap="none" strike="noStrike"/>
                        <a:t>.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b="1" lang="en-US" sz="1500" u="none" cap="none" strike="noStrike"/>
                        <a:t>Overwrites</a:t>
                      </a:r>
                      <a:r>
                        <a:rPr lang="en-US" sz="1500" u="none" cap="none" strike="noStrike"/>
                        <a:t> the existing file if the file exists.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lang="en-US" sz="1500" u="none" cap="none" strike="noStrike"/>
                        <a:t>If the file does not exist, </a:t>
                      </a:r>
                      <a:r>
                        <a:rPr b="1" lang="en-US" sz="1500" u="none" cap="none" strike="noStrike"/>
                        <a:t>creates a new file </a:t>
                      </a:r>
                      <a:r>
                        <a:rPr lang="en-US" sz="1500" u="none" cap="none" strike="noStrike"/>
                        <a:t>for reading and writing. </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Appending </a:t>
                      </a:r>
                      <a:endParaRPr sz="1400" u="none" cap="none" strike="noStrike"/>
                    </a:p>
                  </a:txBody>
                  <a:tcPr marT="45725" marB="45725" marR="91450" marL="91450"/>
                </a:tc>
                <a:tc>
                  <a:txBody>
                    <a:bodyPr/>
                    <a:lstStyle/>
                    <a:p>
                      <a:pPr indent="0" lvl="0" marL="0" marR="0" rtl="0" algn="l">
                        <a:lnSpc>
                          <a:spcPct val="173333"/>
                        </a:lnSpc>
                        <a:spcBef>
                          <a:spcPts val="0"/>
                        </a:spcBef>
                        <a:spcAft>
                          <a:spcPts val="0"/>
                        </a:spcAft>
                        <a:buClr>
                          <a:srgbClr val="000000"/>
                        </a:buClr>
                        <a:buSzPts val="1500"/>
                        <a:buFont typeface="Arial"/>
                        <a:buNone/>
                      </a:pPr>
                      <a:r>
                        <a:rPr lang="en-US" sz="1500" u="none" cap="none" strike="noStrike"/>
                        <a:t>Opens a file for </a:t>
                      </a:r>
                      <a:r>
                        <a:rPr b="1" lang="en-US" sz="1500" u="sng" cap="none" strike="noStrike">
                          <a:solidFill>
                            <a:srgbClr val="FF0000"/>
                          </a:solidFill>
                        </a:rPr>
                        <a:t>appending</a:t>
                      </a:r>
                      <a:r>
                        <a:rPr lang="en-US" sz="1500" u="none" cap="none" strike="noStrike"/>
                        <a:t>. The </a:t>
                      </a:r>
                      <a:r>
                        <a:rPr b="1" lang="en-US" sz="1500" u="sng" cap="none" strike="noStrike">
                          <a:solidFill>
                            <a:srgbClr val="056AB9"/>
                          </a:solidFill>
                        </a:rPr>
                        <a:t>file pointer is at the end </a:t>
                      </a:r>
                      <a:r>
                        <a:rPr lang="en-US" sz="1500" u="none" cap="none" strike="noStrike"/>
                        <a:t>of the file if the file exists.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lang="en-US" sz="1500" u="none" cap="none" strike="noStrike"/>
                        <a:t>If the file does not exist, it </a:t>
                      </a:r>
                      <a:r>
                        <a:rPr b="1" lang="en-US" sz="1500" u="sng" cap="none" strike="noStrike">
                          <a:solidFill>
                            <a:srgbClr val="056AB9"/>
                          </a:solidFill>
                        </a:rPr>
                        <a:t>creates a new file </a:t>
                      </a:r>
                      <a:r>
                        <a:rPr lang="en-US" sz="1500" u="none" cap="none" strike="noStrike"/>
                        <a:t>for writing.</a:t>
                      </a:r>
                      <a:endParaRPr sz="1400" u="none" cap="none" strike="noStrike"/>
                    </a:p>
                  </a:txBody>
                  <a:tcPr marT="45725" marB="45725" marR="91450" marL="91450"/>
                </a:tc>
              </a:tr>
              <a:tr h="370850">
                <a:tc>
                  <a:txBody>
                    <a:bodyPr/>
                    <a:lstStyle/>
                    <a:p>
                      <a:pPr indent="0" lvl="0" marL="0" marR="0" rtl="0" algn="ctr">
                        <a:lnSpc>
                          <a:spcPct val="100000"/>
                        </a:lnSpc>
                        <a:spcBef>
                          <a:spcPts val="0"/>
                        </a:spcBef>
                        <a:spcAft>
                          <a:spcPts val="0"/>
                        </a:spcAft>
                        <a:buClr>
                          <a:srgbClr val="000000"/>
                        </a:buClr>
                        <a:buSzPts val="1600"/>
                        <a:buFont typeface="Arial"/>
                        <a:buNone/>
                      </a:pPr>
                      <a:r>
                        <a:rPr b="1" lang="en-US" sz="1600" u="none" cap="none" strike="noStrike"/>
                        <a:t>a+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Appending &amp; reading</a:t>
                      </a:r>
                      <a:endParaRPr sz="1400" u="none" cap="none" strike="noStrike"/>
                    </a:p>
                  </a:txBody>
                  <a:tcPr marT="45725" marB="45725" marR="91450" marL="91450"/>
                </a:tc>
                <a:tc>
                  <a:txBody>
                    <a:bodyPr/>
                    <a:lstStyle/>
                    <a:p>
                      <a:pPr indent="0" lvl="0" marL="0" marR="0" rtl="0" algn="l">
                        <a:lnSpc>
                          <a:spcPct val="173333"/>
                        </a:lnSpc>
                        <a:spcBef>
                          <a:spcPts val="0"/>
                        </a:spcBef>
                        <a:spcAft>
                          <a:spcPts val="0"/>
                        </a:spcAft>
                        <a:buClr>
                          <a:srgbClr val="000000"/>
                        </a:buClr>
                        <a:buSzPts val="1500"/>
                        <a:buFont typeface="Arial"/>
                        <a:buNone/>
                      </a:pPr>
                      <a:r>
                        <a:rPr lang="en-US" sz="1500" u="none" cap="none" strike="noStrike"/>
                        <a:t>Opens a file for both </a:t>
                      </a:r>
                      <a:r>
                        <a:rPr b="1" lang="en-US" sz="1500" u="sng" cap="none" strike="noStrike">
                          <a:solidFill>
                            <a:srgbClr val="FF0000"/>
                          </a:solidFill>
                        </a:rPr>
                        <a:t>appending and reading</a:t>
                      </a:r>
                      <a:r>
                        <a:rPr lang="en-US" sz="1500" u="none" cap="none" strike="noStrike"/>
                        <a:t>.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lang="en-US" sz="1500" u="none" cap="none" strike="noStrike"/>
                        <a:t>The file pointer is at the </a:t>
                      </a:r>
                      <a:r>
                        <a:rPr b="1" lang="en-US" sz="1500" u="sng" cap="none" strike="noStrike">
                          <a:solidFill>
                            <a:srgbClr val="056AB9"/>
                          </a:solidFill>
                        </a:rPr>
                        <a:t>end of the file</a:t>
                      </a:r>
                      <a:r>
                        <a:rPr lang="en-US" sz="1500" u="none" cap="none" strike="noStrike"/>
                        <a:t>, if the file exists. </a:t>
                      </a:r>
                      <a:endParaRPr sz="1400" u="none" cap="none" strike="noStrike"/>
                    </a:p>
                    <a:p>
                      <a:pPr indent="0" lvl="0" marL="0" marR="0" rtl="0" algn="l">
                        <a:lnSpc>
                          <a:spcPct val="173333"/>
                        </a:lnSpc>
                        <a:spcBef>
                          <a:spcPts val="0"/>
                        </a:spcBef>
                        <a:spcAft>
                          <a:spcPts val="0"/>
                        </a:spcAft>
                        <a:buClr>
                          <a:srgbClr val="000000"/>
                        </a:buClr>
                        <a:buSzPts val="1500"/>
                        <a:buFont typeface="Arial"/>
                        <a:buNone/>
                      </a:pPr>
                      <a:r>
                        <a:rPr lang="en-US" sz="1500" u="none" cap="none" strike="noStrike"/>
                        <a:t>If the file does not exist, </a:t>
                      </a:r>
                      <a:r>
                        <a:rPr b="1" lang="en-US" sz="1500" u="sng" cap="none" strike="noStrike">
                          <a:solidFill>
                            <a:srgbClr val="056AB9"/>
                          </a:solidFill>
                        </a:rPr>
                        <a:t>it creates a new file </a:t>
                      </a:r>
                      <a:r>
                        <a:rPr lang="en-US" sz="1500" u="none" cap="none" strike="noStrike"/>
                        <a:t>for reading and writing.</a:t>
                      </a:r>
                      <a:endParaRPr sz="1400" u="none" cap="none" strike="noStrike"/>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Write a file (w)</a:t>
            </a:r>
            <a:endParaRPr/>
          </a:p>
        </p:txBody>
      </p:sp>
      <p:sp>
        <p:nvSpPr>
          <p:cNvPr id="191" name="Google Shape;191;p10"/>
          <p:cNvSpPr txBox="1"/>
          <p:nvPr/>
        </p:nvSpPr>
        <p:spPr>
          <a:xfrm>
            <a:off x="649406" y="1476680"/>
            <a:ext cx="11121062" cy="102457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Syntax:</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n-US" sz="1800" u="none" cap="none" strike="noStrike">
                <a:solidFill>
                  <a:srgbClr val="FF0000"/>
                </a:solidFill>
                <a:latin typeface="Century Gothic"/>
                <a:ea typeface="Century Gothic"/>
                <a:cs typeface="Century Gothic"/>
                <a:sym typeface="Century Gothic"/>
              </a:rPr>
              <a:t>file object = open(file_name [, access_mode][, buffering]) </a:t>
            </a:r>
            <a:endParaRPr b="0" i="0" sz="1400" u="none" cap="none" strike="noStrike">
              <a:solidFill>
                <a:srgbClr val="000000"/>
              </a:solidFill>
              <a:latin typeface="Arial"/>
              <a:ea typeface="Arial"/>
              <a:cs typeface="Arial"/>
              <a:sym typeface="Arial"/>
            </a:endParaRPr>
          </a:p>
        </p:txBody>
      </p:sp>
      <p:pic>
        <p:nvPicPr>
          <p:cNvPr descr="Logo&#10;&#10;Description automatically generated" id="192" name="Google Shape;192;p10"/>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193" name="Google Shape;193;p10"/>
          <p:cNvSpPr txBox="1"/>
          <p:nvPr/>
        </p:nvSpPr>
        <p:spPr>
          <a:xfrm>
            <a:off x="454851" y="3124289"/>
            <a:ext cx="8557013" cy="29854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8000"/>
                </a:solidFill>
                <a:latin typeface="Arial"/>
                <a:ea typeface="Arial"/>
                <a:cs typeface="Arial"/>
                <a:sym typeface="Arial"/>
              </a:rPr>
              <a:t># open the file to write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 = </a:t>
            </a:r>
            <a:r>
              <a:rPr b="0" i="0" lang="en-US" sz="1600" u="none" cap="none" strike="noStrike">
                <a:solidFill>
                  <a:srgbClr val="795E26"/>
                </a:solidFill>
                <a:latin typeface="Arial"/>
                <a:ea typeface="Arial"/>
                <a:cs typeface="Arial"/>
                <a:sym typeface="Arial"/>
              </a:rPr>
              <a:t>open</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a:t>
            </a:r>
            <a:r>
              <a:rPr b="0" i="0" lang="en-US" sz="1600" u="none" cap="none" strike="noStrike">
                <a:solidFill>
                  <a:srgbClr val="EE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foo.txt"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"w"</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rgbClr val="008000"/>
              </a:solidFill>
              <a:latin typeface="Consolas"/>
              <a:ea typeface="Consolas"/>
              <a:cs typeface="Consolas"/>
              <a:sym typeface="Consolas"/>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8000"/>
                </a:solidFill>
                <a:latin typeface="Consolas"/>
                <a:ea typeface="Consolas"/>
                <a:cs typeface="Consolas"/>
                <a:sym typeface="Consolas"/>
              </a:rPr>
              <a:t>#write to the file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write</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"Python is a High Level Language.</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Yeah its great!!</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 Close opend file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close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94" name="Google Shape;194;p10"/>
          <p:cNvSpPr txBox="1"/>
          <p:nvPr/>
        </p:nvSpPr>
        <p:spPr>
          <a:xfrm>
            <a:off x="10724989" y="2564652"/>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195" name="Google Shape;195;p10"/>
          <p:cNvSpPr txBox="1"/>
          <p:nvPr/>
        </p:nvSpPr>
        <p:spPr>
          <a:xfrm>
            <a:off x="9206418" y="2933984"/>
            <a:ext cx="27943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56AB9"/>
                </a:solidFill>
                <a:latin typeface="Arial"/>
                <a:ea typeface="Arial"/>
                <a:cs typeface="Arial"/>
                <a:sym typeface="Arial"/>
              </a:rPr>
              <a:t>Check the drive for the file</a:t>
            </a:r>
            <a:endParaRPr b="0" i="0" sz="1400" u="none" cap="none" strike="noStrike">
              <a:solidFill>
                <a:srgbClr val="000000"/>
              </a:solidFill>
              <a:latin typeface="Arial"/>
              <a:ea typeface="Arial"/>
              <a:cs typeface="Arial"/>
              <a:sym typeface="Arial"/>
            </a:endParaRPr>
          </a:p>
        </p:txBody>
      </p:sp>
      <p:sp>
        <p:nvSpPr>
          <p:cNvPr id="196" name="Google Shape;196;p10"/>
          <p:cNvSpPr txBox="1"/>
          <p:nvPr/>
        </p:nvSpPr>
        <p:spPr>
          <a:xfrm>
            <a:off x="5029200" y="2802243"/>
            <a:ext cx="1625766"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56AB9"/>
                </a:solidFill>
                <a:latin typeface="Century Gothic"/>
                <a:ea typeface="Century Gothic"/>
                <a:cs typeface="Century Gothic"/>
                <a:sym typeface="Century Gothic"/>
              </a:rPr>
              <a:t>Mode of open</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5565468" y="6109722"/>
            <a:ext cx="450636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56AB9"/>
                </a:solidFill>
                <a:latin typeface="Century Gothic"/>
                <a:ea typeface="Century Gothic"/>
                <a:cs typeface="Century Gothic"/>
                <a:sym typeface="Century Gothic"/>
              </a:rPr>
              <a:t>Overwrites the contents each time we write</a:t>
            </a:r>
            <a:endParaRPr b="0" i="0" sz="1400" u="none" cap="none" strike="noStrike">
              <a:solidFill>
                <a:srgbClr val="000000"/>
              </a:solidFill>
              <a:latin typeface="Arial"/>
              <a:ea typeface="Arial"/>
              <a:cs typeface="Arial"/>
              <a:sym typeface="Arial"/>
            </a:endParaRPr>
          </a:p>
        </p:txBody>
      </p:sp>
      <p:cxnSp>
        <p:nvCxnSpPr>
          <p:cNvPr id="198" name="Google Shape;198;p10"/>
          <p:cNvCxnSpPr/>
          <p:nvPr/>
        </p:nvCxnSpPr>
        <p:spPr>
          <a:xfrm rot="10800000">
            <a:off x="6468894" y="5068111"/>
            <a:ext cx="1352144" cy="1041611"/>
          </a:xfrm>
          <a:prstGeom prst="straightConnector1">
            <a:avLst/>
          </a:prstGeom>
          <a:noFill/>
          <a:ln cap="flat" cmpd="sng" w="9525">
            <a:solidFill>
              <a:schemeClr val="accent1"/>
            </a:solidFill>
            <a:prstDash val="solid"/>
            <a:miter lim="800000"/>
            <a:headEnd len="sm" w="sm" type="none"/>
            <a:tailEnd len="med" w="med" type="triangle"/>
          </a:ln>
        </p:spPr>
      </p:cxnSp>
      <p:cxnSp>
        <p:nvCxnSpPr>
          <p:cNvPr id="199" name="Google Shape;199;p10"/>
          <p:cNvCxnSpPr>
            <a:stCxn id="196" idx="2"/>
          </p:cNvCxnSpPr>
          <p:nvPr/>
        </p:nvCxnSpPr>
        <p:spPr>
          <a:xfrm flipH="1">
            <a:off x="3745083" y="3140797"/>
            <a:ext cx="2097000" cy="3903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Write a file (w)</a:t>
            </a:r>
            <a:endParaRPr/>
          </a:p>
        </p:txBody>
      </p:sp>
      <p:sp>
        <p:nvSpPr>
          <p:cNvPr id="206" name="Google Shape;206;p11"/>
          <p:cNvSpPr txBox="1"/>
          <p:nvPr/>
        </p:nvSpPr>
        <p:spPr>
          <a:xfrm>
            <a:off x="649406" y="1540076"/>
            <a:ext cx="11121062" cy="455189"/>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FF0000"/>
                </a:solidFill>
                <a:latin typeface="Century Gothic"/>
                <a:ea typeface="Century Gothic"/>
                <a:cs typeface="Century Gothic"/>
                <a:sym typeface="Century Gothic"/>
              </a:rPr>
              <a:t>File opened in write mode cannot be read!!</a:t>
            </a:r>
            <a:endParaRPr b="0" i="0" sz="1400" u="none" cap="none" strike="noStrike">
              <a:solidFill>
                <a:srgbClr val="000000"/>
              </a:solidFill>
              <a:latin typeface="Arial"/>
              <a:ea typeface="Arial"/>
              <a:cs typeface="Arial"/>
              <a:sym typeface="Arial"/>
            </a:endParaRPr>
          </a:p>
        </p:txBody>
      </p:sp>
      <p:pic>
        <p:nvPicPr>
          <p:cNvPr descr="Logo&#10;&#10;Description automatically generated" id="207" name="Google Shape;207;p11"/>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08" name="Google Shape;208;p11"/>
          <p:cNvSpPr txBox="1"/>
          <p:nvPr/>
        </p:nvSpPr>
        <p:spPr>
          <a:xfrm>
            <a:off x="515109" y="2785736"/>
            <a:ext cx="8239785"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8000"/>
                </a:solidFill>
                <a:latin typeface="Arial"/>
                <a:ea typeface="Arial"/>
                <a:cs typeface="Arial"/>
                <a:sym typeface="Arial"/>
              </a:rPr>
              <a:t># open the file to write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 = </a:t>
            </a:r>
            <a:r>
              <a:rPr b="0" i="0" lang="en-US" sz="1600" u="none" cap="none" strike="noStrike">
                <a:solidFill>
                  <a:srgbClr val="795E26"/>
                </a:solidFill>
                <a:latin typeface="Arial"/>
                <a:ea typeface="Arial"/>
                <a:cs typeface="Arial"/>
                <a:sym typeface="Arial"/>
              </a:rPr>
              <a:t>open</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a:t>
            </a:r>
            <a:r>
              <a:rPr b="0" i="0" lang="en-US" sz="1600" u="none" cap="none" strike="noStrike">
                <a:solidFill>
                  <a:srgbClr val="EE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foo.txt"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"w"</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write</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"Python is a High Level Language.</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Yeah its great!!</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 =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read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 Close opend file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close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09" name="Google Shape;209;p11"/>
          <p:cNvSpPr txBox="1"/>
          <p:nvPr/>
        </p:nvSpPr>
        <p:spPr>
          <a:xfrm>
            <a:off x="10690904" y="3693676"/>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210" name="Google Shape;210;p11"/>
          <p:cNvSpPr txBox="1"/>
          <p:nvPr/>
        </p:nvSpPr>
        <p:spPr>
          <a:xfrm>
            <a:off x="2773629" y="5961475"/>
            <a:ext cx="503855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56AB9"/>
                </a:solidFill>
                <a:latin typeface="Century Gothic"/>
                <a:ea typeface="Century Gothic"/>
                <a:cs typeface="Century Gothic"/>
                <a:sym typeface="Century Gothic"/>
              </a:rPr>
              <a:t>Can’t read the file! As it is opened in write mode!</a:t>
            </a:r>
            <a:endParaRPr b="0" i="0" sz="1400" u="none" cap="none" strike="noStrike">
              <a:solidFill>
                <a:srgbClr val="000000"/>
              </a:solidFill>
              <a:latin typeface="Arial"/>
              <a:ea typeface="Arial"/>
              <a:cs typeface="Arial"/>
              <a:sym typeface="Arial"/>
            </a:endParaRPr>
          </a:p>
        </p:txBody>
      </p:sp>
      <p:sp>
        <p:nvSpPr>
          <p:cNvPr id="211" name="Google Shape;211;p11"/>
          <p:cNvSpPr/>
          <p:nvPr/>
        </p:nvSpPr>
        <p:spPr>
          <a:xfrm>
            <a:off x="3180945" y="4063008"/>
            <a:ext cx="194553" cy="508992"/>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p:txBody>
      </p:sp>
      <p:cxnSp>
        <p:nvCxnSpPr>
          <p:cNvPr id="212" name="Google Shape;212;p11"/>
          <p:cNvCxnSpPr>
            <a:stCxn id="210" idx="0"/>
          </p:cNvCxnSpPr>
          <p:nvPr/>
        </p:nvCxnSpPr>
        <p:spPr>
          <a:xfrm flipH="1" rot="5400000">
            <a:off x="3552009" y="4220575"/>
            <a:ext cx="1661700" cy="1820100"/>
          </a:xfrm>
          <a:prstGeom prst="bentConnector2">
            <a:avLst/>
          </a:prstGeom>
          <a:noFill/>
          <a:ln cap="flat" cmpd="sng" w="9525">
            <a:solidFill>
              <a:schemeClr val="accent1"/>
            </a:solidFill>
            <a:prstDash val="solid"/>
            <a:miter lim="800000"/>
            <a:headEnd len="sm" w="sm" type="none"/>
            <a:tailEnd len="med" w="med" type="triangle"/>
          </a:ln>
        </p:spPr>
      </p:cxnSp>
      <p:sp>
        <p:nvSpPr>
          <p:cNvPr id="213" name="Google Shape;213;p11"/>
          <p:cNvSpPr txBox="1"/>
          <p:nvPr/>
        </p:nvSpPr>
        <p:spPr>
          <a:xfrm>
            <a:off x="8242446" y="4330644"/>
            <a:ext cx="3878902" cy="1708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Traceback (most recent call last):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  File "c:\Users\M SYEED\OneDrive - American International University-Bangladesh\Desktop\Lab19\file2.py", line 7, in &lt;module&gt;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    </a:t>
            </a:r>
            <a:r>
              <a:rPr b="1" i="0" lang="en-US" sz="1500" u="none" cap="none" strike="noStrike">
                <a:solidFill>
                  <a:srgbClr val="FF0000"/>
                </a:solidFill>
                <a:latin typeface="Century Gothic"/>
                <a:ea typeface="Century Gothic"/>
                <a:cs typeface="Century Gothic"/>
                <a:sym typeface="Century Gothic"/>
              </a:rPr>
              <a:t>fileData = fo.read()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FF0000"/>
                </a:solidFill>
                <a:latin typeface="Century Gothic"/>
                <a:ea typeface="Century Gothic"/>
                <a:cs typeface="Century Gothic"/>
                <a:sym typeface="Century Gothic"/>
              </a:rPr>
              <a:t>io.UnsupportedOperation: not readable</a:t>
            </a:r>
            <a:endParaRPr b="0" i="0" sz="1400" u="none" cap="none" strike="noStrike">
              <a:solidFill>
                <a:srgbClr val="000000"/>
              </a:solidFill>
              <a:latin typeface="Arial"/>
              <a:ea typeface="Arial"/>
              <a:cs typeface="Arial"/>
              <a:sym typeface="Arial"/>
            </a:endParaRPr>
          </a:p>
        </p:txBody>
      </p:sp>
      <p:cxnSp>
        <p:nvCxnSpPr>
          <p:cNvPr id="214" name="Google Shape;214;p11"/>
          <p:cNvCxnSpPr/>
          <p:nvPr/>
        </p:nvCxnSpPr>
        <p:spPr>
          <a:xfrm>
            <a:off x="8083685" y="4330644"/>
            <a:ext cx="0" cy="2527356"/>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Write a file (w+)</a:t>
            </a:r>
            <a:endParaRPr/>
          </a:p>
        </p:txBody>
      </p:sp>
      <p:pic>
        <p:nvPicPr>
          <p:cNvPr descr="Logo&#10;&#10;Description automatically generated" id="221" name="Google Shape;221;p12"/>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22" name="Google Shape;222;p12"/>
          <p:cNvSpPr txBox="1"/>
          <p:nvPr/>
        </p:nvSpPr>
        <p:spPr>
          <a:xfrm>
            <a:off x="262951" y="1363464"/>
            <a:ext cx="8151600" cy="5510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8000"/>
                </a:solidFill>
                <a:latin typeface="Arial"/>
                <a:ea typeface="Arial"/>
                <a:cs typeface="Arial"/>
                <a:sym typeface="Arial"/>
              </a:rPr>
              <a:t># open the file in both write and read mode</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 = </a:t>
            </a:r>
            <a:r>
              <a:rPr b="0" i="0" lang="en-US" sz="1600" u="none" cap="none" strike="noStrike">
                <a:solidFill>
                  <a:srgbClr val="795E26"/>
                </a:solidFill>
                <a:latin typeface="Arial"/>
                <a:ea typeface="Arial"/>
                <a:cs typeface="Arial"/>
                <a:sym typeface="Arial"/>
              </a:rPr>
              <a:t>open</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a:t>
            </a:r>
            <a:r>
              <a:rPr b="0" i="0" lang="en-US" sz="1600" u="none" cap="none" strike="noStrike">
                <a:solidFill>
                  <a:srgbClr val="EE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foo.txt"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"w+"</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#Write something in the file</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write</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"Python is a High Level Language.</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Yeah its great!!</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#Move the file cursor at the beginning of the file</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seek</a:t>
            </a:r>
            <a:r>
              <a:rPr b="0" i="0" lang="en-US" sz="1600" u="none" cap="none" strike="noStrike">
                <a:solidFill>
                  <a:srgbClr val="000000"/>
                </a:solidFill>
                <a:latin typeface="Arial"/>
                <a:ea typeface="Arial"/>
                <a:cs typeface="Arial"/>
                <a:sym typeface="Arial"/>
              </a:rPr>
              <a:t>(</a:t>
            </a:r>
            <a:r>
              <a:rPr b="0" i="0" lang="en-US" sz="1600" u="none" cap="none" strike="noStrike">
                <a:solidFill>
                  <a:srgbClr val="098658"/>
                </a:solidFill>
                <a:latin typeface="Arial"/>
                <a:ea typeface="Arial"/>
                <a:cs typeface="Arial"/>
                <a:sym typeface="Arial"/>
              </a:rPr>
              <a:t>0</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#read the data and print</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 =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read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 Close opend file</a:t>
            </a:r>
            <a:endParaRPr b="0" i="0" sz="16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close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23" name="Google Shape;223;p12"/>
          <p:cNvSpPr txBox="1"/>
          <p:nvPr/>
        </p:nvSpPr>
        <p:spPr>
          <a:xfrm>
            <a:off x="11019124" y="3719860"/>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224" name="Google Shape;224;p12"/>
          <p:cNvSpPr txBox="1"/>
          <p:nvPr/>
        </p:nvSpPr>
        <p:spPr>
          <a:xfrm>
            <a:off x="8242446" y="4390272"/>
            <a:ext cx="3878902" cy="55399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Python is a High Level Language.</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Yeah its great!!</a:t>
            </a:r>
            <a:endParaRPr b="1" i="0" sz="1500" u="none" cap="none" strike="noStrike">
              <a:solidFill>
                <a:srgbClr val="FF0000"/>
              </a:solidFill>
              <a:latin typeface="Century Gothic"/>
              <a:ea typeface="Century Gothic"/>
              <a:cs typeface="Century Gothic"/>
              <a:sym typeface="Century Gothic"/>
            </a:endParaRPr>
          </a:p>
        </p:txBody>
      </p:sp>
      <p:cxnSp>
        <p:nvCxnSpPr>
          <p:cNvPr id="225" name="Google Shape;225;p12"/>
          <p:cNvCxnSpPr/>
          <p:nvPr/>
        </p:nvCxnSpPr>
        <p:spPr>
          <a:xfrm>
            <a:off x="7334655" y="3812638"/>
            <a:ext cx="0" cy="3045362"/>
          </a:xfrm>
          <a:prstGeom prst="straightConnector1">
            <a:avLst/>
          </a:prstGeom>
          <a:noFill/>
          <a:ln cap="flat" cmpd="sng" w="28575">
            <a:solidFill>
              <a:schemeClr val="accent1"/>
            </a:solidFill>
            <a:prstDash val="solid"/>
            <a:miter lim="800000"/>
            <a:headEnd len="sm" w="sm" type="none"/>
            <a:tailEnd len="sm" w="sm" type="none"/>
          </a:ln>
        </p:spPr>
      </p:cxnSp>
      <p:sp>
        <p:nvSpPr>
          <p:cNvPr id="226" name="Google Shape;226;p12"/>
          <p:cNvSpPr txBox="1"/>
          <p:nvPr/>
        </p:nvSpPr>
        <p:spPr>
          <a:xfrm>
            <a:off x="7143032" y="1687420"/>
            <a:ext cx="240963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0000"/>
                </a:solidFill>
                <a:latin typeface="Century Gothic"/>
                <a:ea typeface="Century Gothic"/>
                <a:cs typeface="Century Gothic"/>
                <a:sym typeface="Century Gothic"/>
              </a:rPr>
              <a:t>In Write + Read mode!</a:t>
            </a:r>
            <a:endParaRPr b="0" i="0" sz="1400" u="none" cap="none" strike="noStrike">
              <a:solidFill>
                <a:srgbClr val="000000"/>
              </a:solidFill>
              <a:latin typeface="Arial"/>
              <a:ea typeface="Arial"/>
              <a:cs typeface="Arial"/>
              <a:sym typeface="Arial"/>
            </a:endParaRPr>
          </a:p>
        </p:txBody>
      </p:sp>
      <p:cxnSp>
        <p:nvCxnSpPr>
          <p:cNvPr id="227" name="Google Shape;227;p12"/>
          <p:cNvCxnSpPr>
            <a:stCxn id="226" idx="1"/>
          </p:cNvCxnSpPr>
          <p:nvPr/>
        </p:nvCxnSpPr>
        <p:spPr>
          <a:xfrm flipH="1">
            <a:off x="3949532" y="1856697"/>
            <a:ext cx="3193500" cy="293100"/>
          </a:xfrm>
          <a:prstGeom prst="straightConnector1">
            <a:avLst/>
          </a:prstGeom>
          <a:noFill/>
          <a:ln cap="flat" cmpd="sng" w="9525">
            <a:solidFill>
              <a:schemeClr val="accent1"/>
            </a:solidFill>
            <a:prstDash val="solid"/>
            <a:miter lim="800000"/>
            <a:headEnd len="sm" w="sm" type="none"/>
            <a:tailEnd len="med" w="med" type="triangle"/>
          </a:ln>
        </p:spPr>
      </p:cxnSp>
      <p:sp>
        <p:nvSpPr>
          <p:cNvPr id="228" name="Google Shape;228;p12"/>
          <p:cNvSpPr/>
          <p:nvPr/>
        </p:nvSpPr>
        <p:spPr>
          <a:xfrm>
            <a:off x="5259421" y="3822404"/>
            <a:ext cx="1673158" cy="293116"/>
          </a:xfrm>
          <a:prstGeom prst="leftArrow">
            <a:avLst>
              <a:gd fmla="val 50000" name="adj1"/>
              <a:gd fmla="val 50000" name="adj2"/>
            </a:avLst>
          </a:prstGeom>
          <a:solidFill>
            <a:srgbClr val="FF0000"/>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Read a file (r)</a:t>
            </a:r>
            <a:endParaRPr/>
          </a:p>
        </p:txBody>
      </p:sp>
      <p:sp>
        <p:nvSpPr>
          <p:cNvPr id="235" name="Google Shape;235;p13"/>
          <p:cNvSpPr txBox="1"/>
          <p:nvPr/>
        </p:nvSpPr>
        <p:spPr>
          <a:xfrm>
            <a:off x="649406" y="1476680"/>
            <a:ext cx="11121062" cy="102457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Syntax:</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800"/>
              <a:buFont typeface="Arial"/>
              <a:buNone/>
            </a:pPr>
            <a:r>
              <a:rPr b="0" i="0" lang="en-US" sz="1800" u="none" cap="none" strike="noStrike">
                <a:solidFill>
                  <a:srgbClr val="FF0000"/>
                </a:solidFill>
                <a:latin typeface="Century Gothic"/>
                <a:ea typeface="Century Gothic"/>
                <a:cs typeface="Century Gothic"/>
                <a:sym typeface="Century Gothic"/>
              </a:rPr>
              <a:t>file object = open(file_name [, access_mode][, buffering]) </a:t>
            </a:r>
            <a:endParaRPr b="0" i="0" sz="1400" u="none" cap="none" strike="noStrike">
              <a:solidFill>
                <a:srgbClr val="000000"/>
              </a:solidFill>
              <a:latin typeface="Arial"/>
              <a:ea typeface="Arial"/>
              <a:cs typeface="Arial"/>
              <a:sym typeface="Arial"/>
            </a:endParaRPr>
          </a:p>
        </p:txBody>
      </p:sp>
      <p:pic>
        <p:nvPicPr>
          <p:cNvPr descr="Logo&#10;&#10;Description automatically generated" id="236" name="Google Shape;236;p13"/>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37" name="Google Shape;237;p13"/>
          <p:cNvSpPr txBox="1"/>
          <p:nvPr/>
        </p:nvSpPr>
        <p:spPr>
          <a:xfrm>
            <a:off x="649406" y="3182047"/>
            <a:ext cx="5235828" cy="30777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 = </a:t>
            </a:r>
            <a:r>
              <a:rPr b="0" i="0" lang="en-US" sz="1800" u="none" cap="none" strike="noStrike">
                <a:solidFill>
                  <a:srgbClr val="795E26"/>
                </a:solidFill>
                <a:latin typeface="Arial"/>
                <a:ea typeface="Arial"/>
                <a:cs typeface="Arial"/>
                <a:sym typeface="Arial"/>
              </a:rPr>
              <a:t>open</a:t>
            </a:r>
            <a:r>
              <a:rPr b="0" i="0" lang="en-US" sz="1800" u="none" cap="none" strike="noStrike">
                <a:solidFill>
                  <a:srgbClr val="00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a:t>
            </a:r>
            <a:r>
              <a:rPr b="0" i="0" lang="en-US" sz="1800" u="none" cap="none" strike="noStrike">
                <a:solidFill>
                  <a:srgbClr val="EE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foo.txt"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"r"</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795E26"/>
                </a:solidFill>
                <a:latin typeface="Arial"/>
                <a:ea typeface="Arial"/>
                <a:cs typeface="Arial"/>
                <a:sym typeface="Arial"/>
              </a:rPr>
              <a:t>print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"Name of the file: "</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name</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AF00DB"/>
                </a:solidFill>
                <a:latin typeface="Arial"/>
                <a:ea typeface="Arial"/>
                <a:cs typeface="Arial"/>
                <a:sym typeface="Arial"/>
              </a:rPr>
              <a:t>if</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00FF"/>
                </a:solidFill>
                <a:latin typeface="Arial"/>
                <a:ea typeface="Arial"/>
                <a:cs typeface="Arial"/>
                <a:sym typeface="Arial"/>
              </a:rPr>
              <a:t>not</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001080"/>
                </a:solidFill>
                <a:latin typeface="Arial"/>
                <a:ea typeface="Arial"/>
                <a:cs typeface="Arial"/>
                <a:sym typeface="Arial"/>
              </a:rPr>
              <a:t>closed</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str</a:t>
            </a:r>
            <a:r>
              <a:rPr b="0" i="0" lang="en-US" sz="1800" u="none" cap="none" strike="noStrike">
                <a:solidFill>
                  <a:srgbClr val="000000"/>
                </a:solidFill>
                <a:latin typeface="Arial"/>
                <a:ea typeface="Arial"/>
                <a:cs typeface="Arial"/>
                <a:sym typeface="Arial"/>
              </a:rPr>
              <a:t> = </a:t>
            </a: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795E26"/>
                </a:solidFill>
                <a:latin typeface="Arial"/>
                <a:ea typeface="Arial"/>
                <a:cs typeface="Arial"/>
                <a:sym typeface="Arial"/>
              </a:rPr>
              <a:t>read</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    </a:t>
            </a:r>
            <a:r>
              <a:rPr b="0" i="0" lang="en-US" sz="1800" u="none" cap="none" strike="noStrike">
                <a:solidFill>
                  <a:srgbClr val="795E26"/>
                </a:solidFill>
                <a:latin typeface="Arial"/>
                <a:ea typeface="Arial"/>
                <a:cs typeface="Arial"/>
                <a:sym typeface="Arial"/>
              </a:rPr>
              <a:t>print</a:t>
            </a:r>
            <a:r>
              <a:rPr b="0" i="0" lang="en-US" sz="1800" u="none" cap="none" strike="noStrike">
                <a:solidFill>
                  <a:srgbClr val="00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'file content: '</a:t>
            </a:r>
            <a:r>
              <a:rPr b="0" i="0" lang="en-US" sz="1800" u="none" cap="none" strike="noStrike">
                <a:solidFill>
                  <a:srgbClr val="000000"/>
                </a:solidFill>
                <a:latin typeface="Arial"/>
                <a:ea typeface="Arial"/>
                <a:cs typeface="Arial"/>
                <a:sym typeface="Arial"/>
              </a:rPr>
              <a:t>, </a:t>
            </a:r>
            <a:r>
              <a:rPr b="0" i="0" lang="en-US" sz="1800" u="none" cap="none" strike="noStrike">
                <a:solidFill>
                  <a:srgbClr val="001080"/>
                </a:solidFill>
                <a:latin typeface="Arial"/>
                <a:ea typeface="Arial"/>
                <a:cs typeface="Arial"/>
                <a:sym typeface="Arial"/>
              </a:rPr>
              <a:t>str</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br>
              <a:rPr b="0" i="0" lang="en-US" sz="1800" u="none" cap="none" strike="noStrike">
                <a:solidFill>
                  <a:srgbClr val="000000"/>
                </a:solidFill>
                <a:latin typeface="Arial"/>
                <a:ea typeface="Arial"/>
                <a:cs typeface="Arial"/>
                <a:sym typeface="Arial"/>
              </a:rPr>
            </a:br>
            <a:r>
              <a:rPr b="0" i="0" lang="en-US" sz="1800" u="none" cap="none" strike="noStrike">
                <a:solidFill>
                  <a:srgbClr val="001080"/>
                </a:solidFill>
                <a:latin typeface="Arial"/>
                <a:ea typeface="Arial"/>
                <a:cs typeface="Arial"/>
                <a:sym typeface="Arial"/>
              </a:rPr>
              <a:t>fo</a:t>
            </a:r>
            <a:r>
              <a:rPr b="0" i="0" lang="en-US" sz="1800" u="none" cap="none" strike="noStrike">
                <a:solidFill>
                  <a:srgbClr val="000000"/>
                </a:solidFill>
                <a:latin typeface="Arial"/>
                <a:ea typeface="Arial"/>
                <a:cs typeface="Arial"/>
                <a:sym typeface="Arial"/>
              </a:rPr>
              <a:t>.</a:t>
            </a:r>
            <a:r>
              <a:rPr b="0" i="0" lang="en-US" sz="1800" u="none" cap="none" strike="noStrike">
                <a:solidFill>
                  <a:srgbClr val="795E26"/>
                </a:solidFill>
                <a:latin typeface="Arial"/>
                <a:ea typeface="Arial"/>
                <a:cs typeface="Arial"/>
                <a:sym typeface="Arial"/>
              </a:rPr>
              <a:t>close</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8" name="Google Shape;238;p13"/>
          <p:cNvSpPr txBox="1"/>
          <p:nvPr/>
        </p:nvSpPr>
        <p:spPr>
          <a:xfrm>
            <a:off x="7912640" y="4078709"/>
            <a:ext cx="3441160" cy="170168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Name of the file:  F:\foo.txt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content:  Python is a great language.</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Yeah its great!!</a:t>
            </a:r>
            <a:endParaRPr b="0" i="0" sz="1400" u="none" cap="none" strike="noStrike">
              <a:solidFill>
                <a:srgbClr val="000000"/>
              </a:solidFill>
              <a:latin typeface="Arial"/>
              <a:ea typeface="Arial"/>
              <a:cs typeface="Arial"/>
              <a:sym typeface="Arial"/>
            </a:endParaRPr>
          </a:p>
        </p:txBody>
      </p:sp>
      <p:sp>
        <p:nvSpPr>
          <p:cNvPr id="239" name="Google Shape;239;p13"/>
          <p:cNvSpPr txBox="1"/>
          <p:nvPr/>
        </p:nvSpPr>
        <p:spPr>
          <a:xfrm>
            <a:off x="7912640" y="2997381"/>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240" name="Google Shape;240;p13"/>
          <p:cNvSpPr txBox="1"/>
          <p:nvPr/>
        </p:nvSpPr>
        <p:spPr>
          <a:xfrm>
            <a:off x="7912640" y="3551379"/>
            <a:ext cx="27943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56AB9"/>
                </a:solidFill>
                <a:latin typeface="Arial"/>
                <a:ea typeface="Arial"/>
                <a:cs typeface="Arial"/>
                <a:sym typeface="Arial"/>
              </a:rPr>
              <a:t>Check the drive for the file</a:t>
            </a:r>
            <a:endParaRPr b="0" i="0" sz="1400" u="none" cap="none" strike="noStrike">
              <a:solidFill>
                <a:srgbClr val="000000"/>
              </a:solidFill>
              <a:latin typeface="Arial"/>
              <a:ea typeface="Arial"/>
              <a:cs typeface="Arial"/>
              <a:sym typeface="Arial"/>
            </a:endParaRPr>
          </a:p>
        </p:txBody>
      </p:sp>
      <p:cxnSp>
        <p:nvCxnSpPr>
          <p:cNvPr id="241" name="Google Shape;241;p13"/>
          <p:cNvCxnSpPr/>
          <p:nvPr/>
        </p:nvCxnSpPr>
        <p:spPr>
          <a:xfrm>
            <a:off x="6838545" y="2859918"/>
            <a:ext cx="0" cy="3998082"/>
          </a:xfrm>
          <a:prstGeom prst="straightConnector1">
            <a:avLst/>
          </a:prstGeom>
          <a:noFill/>
          <a:ln cap="flat" cmpd="sng" w="28575">
            <a:solidFill>
              <a:schemeClr val="accent1"/>
            </a:solidFill>
            <a:prstDash val="solid"/>
            <a:miter lim="800000"/>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Read a file (r+)</a:t>
            </a:r>
            <a:endParaRPr/>
          </a:p>
        </p:txBody>
      </p:sp>
      <p:pic>
        <p:nvPicPr>
          <p:cNvPr descr="Logo&#10;&#10;Description automatically generated" id="248" name="Google Shape;248;p14"/>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49" name="Google Shape;249;p14"/>
          <p:cNvSpPr txBox="1"/>
          <p:nvPr/>
        </p:nvSpPr>
        <p:spPr>
          <a:xfrm>
            <a:off x="238422" y="2191983"/>
            <a:ext cx="8151476" cy="45550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 = </a:t>
            </a:r>
            <a:r>
              <a:rPr b="0" i="0" lang="en-US" sz="1600" u="none" cap="none" strike="noStrike">
                <a:solidFill>
                  <a:srgbClr val="795E26"/>
                </a:solidFill>
                <a:latin typeface="Arial"/>
                <a:ea typeface="Arial"/>
                <a:cs typeface="Arial"/>
                <a:sym typeface="Arial"/>
              </a:rPr>
              <a:t>open</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a:t>
            </a:r>
            <a:r>
              <a:rPr b="0" i="0" lang="en-US" sz="1600" u="none" cap="none" strike="noStrike">
                <a:solidFill>
                  <a:srgbClr val="EE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foo.txt"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"r+"</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"Name of the file: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name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AF00DB"/>
                </a:solidFill>
                <a:latin typeface="Arial"/>
                <a:ea typeface="Arial"/>
                <a:cs typeface="Arial"/>
                <a:sym typeface="Arial"/>
              </a:rPr>
              <a:t>if</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00FF"/>
                </a:solidFill>
                <a:latin typeface="Arial"/>
                <a:ea typeface="Arial"/>
                <a:cs typeface="Arial"/>
                <a:sym typeface="Arial"/>
              </a:rPr>
              <a:t>not</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closed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str</a:t>
            </a:r>
            <a:r>
              <a:rPr b="0" i="0" lang="en-US" sz="1600" u="none" cap="none" strike="noStrike">
                <a:solidFill>
                  <a:srgbClr val="000000"/>
                </a:solidFill>
                <a:latin typeface="Arial"/>
                <a:ea typeface="Arial"/>
                <a:cs typeface="Arial"/>
                <a:sym typeface="Arial"/>
              </a:rPr>
              <a:t> =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read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'file content: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str</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AF00DB"/>
                </a:solidFill>
                <a:latin typeface="Arial"/>
                <a:ea typeface="Arial"/>
                <a:cs typeface="Arial"/>
                <a:sym typeface="Arial"/>
              </a:rPr>
              <a:t>if</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mode</a:t>
            </a:r>
            <a:r>
              <a:rPr b="0" i="0" lang="en-US" sz="1600" u="none" cap="none" strike="noStrike">
                <a:solidFill>
                  <a:srgbClr val="000000"/>
                </a:solidFill>
                <a:latin typeface="Arial"/>
                <a:ea typeface="Arial"/>
                <a:cs typeface="Arial"/>
                <a:sym typeface="Arial"/>
              </a:rPr>
              <a:t> == </a:t>
            </a:r>
            <a:r>
              <a:rPr b="0" i="0" lang="en-US" sz="1600" u="none" cap="none" strike="noStrike">
                <a:solidFill>
                  <a:srgbClr val="A31515"/>
                </a:solidFill>
                <a:latin typeface="Arial"/>
                <a:ea typeface="Arial"/>
                <a:cs typeface="Arial"/>
                <a:sym typeface="Arial"/>
              </a:rPr>
              <a:t>'r+'</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write</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'I hacked the file!! :)</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    </a:t>
            </a: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'After writing in the file: '</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seek</a:t>
            </a:r>
            <a:r>
              <a:rPr b="0" i="0" lang="en-US" sz="1600" u="none" cap="none" strike="noStrike">
                <a:solidFill>
                  <a:srgbClr val="000000"/>
                </a:solidFill>
                <a:latin typeface="Arial"/>
                <a:ea typeface="Arial"/>
                <a:cs typeface="Arial"/>
                <a:sym typeface="Arial"/>
              </a:rPr>
              <a:t>(</a:t>
            </a:r>
            <a:r>
              <a:rPr b="0" i="0" lang="en-US" sz="1600" u="none" cap="none" strike="noStrike">
                <a:solidFill>
                  <a:srgbClr val="098658"/>
                </a:solidFill>
                <a:latin typeface="Arial"/>
                <a:ea typeface="Arial"/>
                <a:cs typeface="Arial"/>
                <a:sym typeface="Arial"/>
              </a:rPr>
              <a:t>0</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read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close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50" name="Google Shape;250;p14"/>
          <p:cNvSpPr txBox="1"/>
          <p:nvPr/>
        </p:nvSpPr>
        <p:spPr>
          <a:xfrm>
            <a:off x="7957944" y="2809170"/>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251" name="Google Shape;251;p14"/>
          <p:cNvSpPr txBox="1"/>
          <p:nvPr/>
        </p:nvSpPr>
        <p:spPr>
          <a:xfrm>
            <a:off x="7957944" y="3391239"/>
            <a:ext cx="3878902"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Name of the file:  F:\foo.txt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file content:  Python is Great!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I like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After writing in the file: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Python is Great!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I like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Century Gothic"/>
                <a:ea typeface="Century Gothic"/>
                <a:cs typeface="Century Gothic"/>
                <a:sym typeface="Century Gothic"/>
              </a:rPr>
              <a:t>I hacked the file!! :)</a:t>
            </a:r>
            <a:endParaRPr b="1" i="0" sz="1500" u="none" cap="none" strike="noStrike">
              <a:solidFill>
                <a:srgbClr val="FF0000"/>
              </a:solidFill>
              <a:latin typeface="Century Gothic"/>
              <a:ea typeface="Century Gothic"/>
              <a:cs typeface="Century Gothic"/>
              <a:sym typeface="Century Gothic"/>
            </a:endParaRPr>
          </a:p>
        </p:txBody>
      </p:sp>
      <p:cxnSp>
        <p:nvCxnSpPr>
          <p:cNvPr id="252" name="Google Shape;252;p14"/>
          <p:cNvCxnSpPr/>
          <p:nvPr/>
        </p:nvCxnSpPr>
        <p:spPr>
          <a:xfrm>
            <a:off x="7334655" y="2675106"/>
            <a:ext cx="0" cy="4182894"/>
          </a:xfrm>
          <a:prstGeom prst="straightConnector1">
            <a:avLst/>
          </a:prstGeom>
          <a:noFill/>
          <a:ln cap="flat" cmpd="sng" w="28575">
            <a:solidFill>
              <a:schemeClr val="accent1"/>
            </a:solidFill>
            <a:prstDash val="solid"/>
            <a:miter lim="800000"/>
            <a:headEnd len="sm" w="sm" type="none"/>
            <a:tailEnd len="sm" w="sm" type="none"/>
          </a:ln>
        </p:spPr>
      </p:cxnSp>
      <p:sp>
        <p:nvSpPr>
          <p:cNvPr id="253" name="Google Shape;253;p14"/>
          <p:cNvSpPr txBox="1"/>
          <p:nvPr/>
        </p:nvSpPr>
        <p:spPr>
          <a:xfrm>
            <a:off x="7143032" y="1687420"/>
            <a:ext cx="2409634"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0000"/>
                </a:solidFill>
                <a:latin typeface="Century Gothic"/>
                <a:ea typeface="Century Gothic"/>
                <a:cs typeface="Century Gothic"/>
                <a:sym typeface="Century Gothic"/>
              </a:rPr>
              <a:t>In Read + Write mode!</a:t>
            </a:r>
            <a:endParaRPr b="0" i="0" sz="1400" u="none" cap="none" strike="noStrike">
              <a:solidFill>
                <a:srgbClr val="000000"/>
              </a:solidFill>
              <a:latin typeface="Arial"/>
              <a:ea typeface="Arial"/>
              <a:cs typeface="Arial"/>
              <a:sym typeface="Arial"/>
            </a:endParaRPr>
          </a:p>
        </p:txBody>
      </p:sp>
      <p:cxnSp>
        <p:nvCxnSpPr>
          <p:cNvPr id="254" name="Google Shape;254;p14"/>
          <p:cNvCxnSpPr>
            <a:stCxn id="253" idx="1"/>
          </p:cNvCxnSpPr>
          <p:nvPr/>
        </p:nvCxnSpPr>
        <p:spPr>
          <a:xfrm flipH="1">
            <a:off x="3910532" y="1856697"/>
            <a:ext cx="3232500" cy="458400"/>
          </a:xfrm>
          <a:prstGeom prst="straightConnector1">
            <a:avLst/>
          </a:prstGeom>
          <a:noFill/>
          <a:ln cap="flat" cmpd="sng" w="9525">
            <a:solidFill>
              <a:schemeClr val="accent1"/>
            </a:solidFill>
            <a:prstDash val="solid"/>
            <a:miter lim="800000"/>
            <a:headEnd len="sm" w="sm" type="none"/>
            <a:tailEnd len="med" w="med" type="triangle"/>
          </a:ln>
        </p:spPr>
      </p:cxnSp>
      <p:sp>
        <p:nvSpPr>
          <p:cNvPr id="255" name="Google Shape;255;p14"/>
          <p:cNvSpPr/>
          <p:nvPr/>
        </p:nvSpPr>
        <p:spPr>
          <a:xfrm>
            <a:off x="5291487" y="3391239"/>
            <a:ext cx="1673158" cy="293116"/>
          </a:xfrm>
          <a:prstGeom prst="leftArrow">
            <a:avLst>
              <a:gd fmla="val 50000" name="adj1"/>
              <a:gd fmla="val 50000" name="adj2"/>
            </a:avLst>
          </a:prstGeom>
          <a:solidFill>
            <a:srgbClr val="FF0000"/>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6" name="Google Shape;256;p14"/>
          <p:cNvSpPr/>
          <p:nvPr/>
        </p:nvSpPr>
        <p:spPr>
          <a:xfrm>
            <a:off x="5291487" y="4545437"/>
            <a:ext cx="1673158" cy="293116"/>
          </a:xfrm>
          <a:prstGeom prst="leftArrow">
            <a:avLst>
              <a:gd fmla="val 50000" name="adj1"/>
              <a:gd fmla="val 50000" name="adj2"/>
            </a:avLst>
          </a:prstGeom>
          <a:solidFill>
            <a:srgbClr val="FF0000"/>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7" name="Google Shape;257;p14"/>
          <p:cNvSpPr/>
          <p:nvPr/>
        </p:nvSpPr>
        <p:spPr>
          <a:xfrm>
            <a:off x="5291487" y="5553077"/>
            <a:ext cx="1673158" cy="293116"/>
          </a:xfrm>
          <a:prstGeom prst="leftArrow">
            <a:avLst>
              <a:gd fmla="val 50000" name="adj1"/>
              <a:gd fmla="val 50000" name="adj2"/>
            </a:avLst>
          </a:prstGeom>
          <a:solidFill>
            <a:srgbClr val="FF0000"/>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Append to a file (a)</a:t>
            </a:r>
            <a:endParaRPr/>
          </a:p>
        </p:txBody>
      </p:sp>
      <p:pic>
        <p:nvPicPr>
          <p:cNvPr descr="Logo&#10;&#10;Description automatically generated" id="264" name="Google Shape;264;p15"/>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65" name="Google Shape;265;p15"/>
          <p:cNvSpPr txBox="1"/>
          <p:nvPr/>
        </p:nvSpPr>
        <p:spPr>
          <a:xfrm>
            <a:off x="196373" y="2339820"/>
            <a:ext cx="8151476" cy="33855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8000"/>
                </a:solidFill>
                <a:latin typeface="Arial"/>
                <a:ea typeface="Arial"/>
                <a:cs typeface="Arial"/>
                <a:sym typeface="Arial"/>
              </a:rPr>
              <a:t>#open the file in append mode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 = </a:t>
            </a:r>
            <a:r>
              <a:rPr b="0" i="0" lang="en-US" sz="1600" u="none" cap="none" strike="noStrike">
                <a:solidFill>
                  <a:srgbClr val="795E26"/>
                </a:solidFill>
                <a:latin typeface="Arial"/>
                <a:ea typeface="Arial"/>
                <a:cs typeface="Arial"/>
                <a:sym typeface="Arial"/>
              </a:rPr>
              <a:t>open</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a:t>
            </a:r>
            <a:r>
              <a:rPr b="0" i="0" lang="en-US" sz="1600" u="none" cap="none" strike="noStrike">
                <a:solidFill>
                  <a:srgbClr val="EE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foo.txt"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"a+"</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"Name of the file: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name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'file open mode: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mode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AF00DB"/>
                </a:solidFill>
                <a:latin typeface="Arial"/>
                <a:ea typeface="Arial"/>
                <a:cs typeface="Arial"/>
                <a:sym typeface="Arial"/>
              </a:rPr>
              <a:t>if</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mode</a:t>
            </a:r>
            <a:r>
              <a:rPr b="0" i="0" lang="en-US" sz="1600" u="none" cap="none" strike="noStrike">
                <a:solidFill>
                  <a:srgbClr val="000000"/>
                </a:solidFill>
                <a:latin typeface="Arial"/>
                <a:ea typeface="Arial"/>
                <a:cs typeface="Arial"/>
                <a:sym typeface="Arial"/>
              </a:rPr>
              <a:t> == </a:t>
            </a:r>
            <a:r>
              <a:rPr b="0" i="0" lang="en-US" sz="1600" u="none" cap="none" strike="noStrike">
                <a:solidFill>
                  <a:srgbClr val="A31515"/>
                </a:solidFill>
                <a:latin typeface="Arial"/>
                <a:ea typeface="Arial"/>
                <a:cs typeface="Arial"/>
                <a:sym typeface="Arial"/>
              </a:rPr>
              <a:t>'a+'</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write</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'This text is added at the end of the file!</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close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66" name="Google Shape;266;p15"/>
          <p:cNvSpPr txBox="1"/>
          <p:nvPr/>
        </p:nvSpPr>
        <p:spPr>
          <a:xfrm>
            <a:off x="7957944" y="2809170"/>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sp>
        <p:nvSpPr>
          <p:cNvPr id="267" name="Google Shape;267;p15"/>
          <p:cNvSpPr txBox="1"/>
          <p:nvPr/>
        </p:nvSpPr>
        <p:spPr>
          <a:xfrm>
            <a:off x="7750265" y="3418029"/>
            <a:ext cx="4114079" cy="3231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56AB9"/>
                </a:solidFill>
                <a:latin typeface="Century Gothic"/>
                <a:ea typeface="Century Gothic"/>
                <a:cs typeface="Century Gothic"/>
                <a:sym typeface="Century Gothic"/>
              </a:rPr>
              <a:t>Check the file! Data has been appended!</a:t>
            </a:r>
            <a:endParaRPr b="0" i="0" sz="1400" u="none" cap="none" strike="noStrike">
              <a:solidFill>
                <a:srgbClr val="000000"/>
              </a:solidFill>
              <a:latin typeface="Arial"/>
              <a:ea typeface="Arial"/>
              <a:cs typeface="Arial"/>
              <a:sym typeface="Arial"/>
            </a:endParaRPr>
          </a:p>
        </p:txBody>
      </p:sp>
      <p:cxnSp>
        <p:nvCxnSpPr>
          <p:cNvPr id="268" name="Google Shape;268;p15"/>
          <p:cNvCxnSpPr/>
          <p:nvPr/>
        </p:nvCxnSpPr>
        <p:spPr>
          <a:xfrm>
            <a:off x="7334655" y="2675106"/>
            <a:ext cx="0" cy="4182894"/>
          </a:xfrm>
          <a:prstGeom prst="straightConnector1">
            <a:avLst/>
          </a:prstGeom>
          <a:noFill/>
          <a:ln cap="flat" cmpd="sng" w="28575">
            <a:solidFill>
              <a:schemeClr val="accent1"/>
            </a:solidFill>
            <a:prstDash val="solid"/>
            <a:miter lim="800000"/>
            <a:headEnd len="sm" w="sm" type="none"/>
            <a:tailEnd len="sm" w="sm" type="none"/>
          </a:ln>
        </p:spPr>
      </p:cxnSp>
      <p:sp>
        <p:nvSpPr>
          <p:cNvPr id="269" name="Google Shape;269;p15"/>
          <p:cNvSpPr txBox="1"/>
          <p:nvPr/>
        </p:nvSpPr>
        <p:spPr>
          <a:xfrm>
            <a:off x="7143032" y="1687420"/>
            <a:ext cx="2701381"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0000"/>
                </a:solidFill>
                <a:latin typeface="Century Gothic"/>
                <a:ea typeface="Century Gothic"/>
                <a:cs typeface="Century Gothic"/>
                <a:sym typeface="Century Gothic"/>
              </a:rPr>
              <a:t>In Append + Write mode!</a:t>
            </a:r>
            <a:endParaRPr b="0" i="0" sz="1400" u="none" cap="none" strike="noStrike">
              <a:solidFill>
                <a:srgbClr val="000000"/>
              </a:solidFill>
              <a:latin typeface="Arial"/>
              <a:ea typeface="Arial"/>
              <a:cs typeface="Arial"/>
              <a:sym typeface="Arial"/>
            </a:endParaRPr>
          </a:p>
        </p:txBody>
      </p:sp>
      <p:cxnSp>
        <p:nvCxnSpPr>
          <p:cNvPr id="270" name="Google Shape;270;p15"/>
          <p:cNvCxnSpPr>
            <a:stCxn id="269" idx="1"/>
          </p:cNvCxnSpPr>
          <p:nvPr/>
        </p:nvCxnSpPr>
        <p:spPr>
          <a:xfrm flipH="1">
            <a:off x="3861932" y="1856697"/>
            <a:ext cx="3281100" cy="948000"/>
          </a:xfrm>
          <a:prstGeom prst="straightConnector1">
            <a:avLst/>
          </a:prstGeom>
          <a:noFill/>
          <a:ln cap="flat" cmpd="sng" w="9525">
            <a:solidFill>
              <a:schemeClr val="accent1"/>
            </a:solidFill>
            <a:prstDash val="solid"/>
            <a:miter lim="800000"/>
            <a:headEnd len="sm" w="sm" type="none"/>
            <a:tailEnd len="med" w="med" type="triangle"/>
          </a:ln>
        </p:spPr>
      </p:cxnSp>
      <p:sp>
        <p:nvSpPr>
          <p:cNvPr id="271" name="Google Shape;271;p15"/>
          <p:cNvSpPr/>
          <p:nvPr/>
        </p:nvSpPr>
        <p:spPr>
          <a:xfrm>
            <a:off x="3861881" y="4252321"/>
            <a:ext cx="1673158" cy="293116"/>
          </a:xfrm>
          <a:prstGeom prst="leftArrow">
            <a:avLst>
              <a:gd fmla="val 50000" name="adj1"/>
              <a:gd fmla="val 50000" name="adj2"/>
            </a:avLst>
          </a:prstGeom>
          <a:solidFill>
            <a:srgbClr val="FF0000"/>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File head / cursor position</a:t>
            </a:r>
            <a:endParaRPr/>
          </a:p>
        </p:txBody>
      </p:sp>
      <p:pic>
        <p:nvPicPr>
          <p:cNvPr descr="Logo&#10;&#10;Description automatically generated" id="278" name="Google Shape;278;p16"/>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79" name="Google Shape;279;p16"/>
          <p:cNvSpPr txBox="1"/>
          <p:nvPr/>
        </p:nvSpPr>
        <p:spPr>
          <a:xfrm>
            <a:off x="366408" y="2251375"/>
            <a:ext cx="11248417" cy="410368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44444"/>
              </a:lnSpc>
              <a:spcBef>
                <a:spcPts val="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When we perform any file operation, the file head keeps moving forward. </a:t>
            </a:r>
            <a:endParaRPr b="0" i="0" sz="1400" u="none" cap="none" strike="noStrike">
              <a:solidFill>
                <a:srgbClr val="000000"/>
              </a:solidFill>
              <a:latin typeface="Arial"/>
              <a:ea typeface="Arial"/>
              <a:cs typeface="Arial"/>
              <a:sym typeface="Arial"/>
            </a:endParaRPr>
          </a:p>
          <a:p>
            <a:pPr indent="-285750" lvl="0" marL="285750" marR="0" rtl="0" algn="l">
              <a:lnSpc>
                <a:spcPct val="144444"/>
              </a:lnSpc>
              <a:spcBef>
                <a:spcPts val="12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Therefore, it’s a good practice to track the file head and set it accordingly, before carrying out any operation.</a:t>
            </a:r>
            <a:endParaRPr b="0" i="0" sz="1400" u="none" cap="none" strike="noStrike">
              <a:solidFill>
                <a:srgbClr val="000000"/>
              </a:solidFill>
              <a:latin typeface="Arial"/>
              <a:ea typeface="Arial"/>
              <a:cs typeface="Arial"/>
              <a:sym typeface="Arial"/>
            </a:endParaRPr>
          </a:p>
          <a:p>
            <a:pPr indent="-285750" lvl="0" marL="285750" marR="0" rtl="0" algn="l">
              <a:lnSpc>
                <a:spcPct val="144444"/>
              </a:lnSpc>
              <a:spcBef>
                <a:spcPts val="12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Otherwise, unwanted situation might happen!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The tell() method tells you the current position within the file; in other words, the next read or write will occur at that many bytes from the beginning of the file. The seek(offset[, from]) method changes the current file position. The offset argument indicates the number of bytes to be moved. The from argument specifies the reference position from where the bytes are to be moved. If from is set to 0, the beginning of the file is used as the reference position. If it is set to 1, the current position is used as the reference position. If it is set to 2 then the end of the file would be taken as the reference position.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File head / cursor position</a:t>
            </a:r>
            <a:endParaRPr/>
          </a:p>
        </p:txBody>
      </p:sp>
      <p:pic>
        <p:nvPicPr>
          <p:cNvPr descr="Logo&#10;&#10;Description automatically generated" id="286" name="Google Shape;286;p17"/>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87" name="Google Shape;287;p17"/>
          <p:cNvSpPr txBox="1"/>
          <p:nvPr/>
        </p:nvSpPr>
        <p:spPr>
          <a:xfrm>
            <a:off x="471791" y="2076278"/>
            <a:ext cx="11420115" cy="41857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tell()</a:t>
            </a: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method:</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Returns the current position of file head within the file.</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In other words, the next read or write will occur at that many bytes from the beginning of the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t/>
            </a:r>
            <a:endParaRPr b="0" i="0" sz="18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seek(offset[, from]):</a:t>
            </a:r>
            <a:r>
              <a:rPr b="0" i="0" lang="en-US" sz="1800" u="none" cap="none" strike="noStrike">
                <a:solidFill>
                  <a:schemeClr val="dk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Changes the current file head position. </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The </a:t>
            </a:r>
            <a:r>
              <a:rPr b="1" i="0" lang="en-US" sz="1800" u="none" cap="none" strike="noStrike">
                <a:solidFill>
                  <a:schemeClr val="dk1"/>
                </a:solidFill>
                <a:latin typeface="Century Gothic"/>
                <a:ea typeface="Century Gothic"/>
                <a:cs typeface="Century Gothic"/>
                <a:sym typeface="Century Gothic"/>
              </a:rPr>
              <a:t>offset argument </a:t>
            </a:r>
            <a:r>
              <a:rPr b="0" i="0" lang="en-US" sz="1800" u="none" cap="none" strike="noStrike">
                <a:solidFill>
                  <a:schemeClr val="dk1"/>
                </a:solidFill>
                <a:latin typeface="Century Gothic"/>
                <a:ea typeface="Century Gothic"/>
                <a:cs typeface="Century Gothic"/>
                <a:sym typeface="Century Gothic"/>
              </a:rPr>
              <a:t>indicates the number of bytes to be moved. </a:t>
            </a:r>
            <a:endParaRPr b="0" i="0" sz="1400" u="none" cap="none" strike="noStrike">
              <a:solidFill>
                <a:srgbClr val="000000"/>
              </a:solidFill>
              <a:latin typeface="Arial"/>
              <a:ea typeface="Arial"/>
              <a:cs typeface="Arial"/>
              <a:sym typeface="Arial"/>
            </a:endParaRPr>
          </a:p>
          <a:p>
            <a:pPr indent="-285750" lvl="0" marL="574675"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The </a:t>
            </a:r>
            <a:r>
              <a:rPr b="1" i="0" lang="en-US" sz="1800" u="none" cap="none" strike="noStrike">
                <a:solidFill>
                  <a:schemeClr val="dk1"/>
                </a:solidFill>
                <a:latin typeface="Century Gothic"/>
                <a:ea typeface="Century Gothic"/>
                <a:cs typeface="Century Gothic"/>
                <a:sym typeface="Century Gothic"/>
              </a:rPr>
              <a:t>from argument </a:t>
            </a:r>
            <a:r>
              <a:rPr b="0" i="0" lang="en-US" sz="1800" u="none" cap="none" strike="noStrike">
                <a:solidFill>
                  <a:schemeClr val="dk1"/>
                </a:solidFill>
                <a:latin typeface="Century Gothic"/>
                <a:ea typeface="Century Gothic"/>
                <a:cs typeface="Century Gothic"/>
                <a:sym typeface="Century Gothic"/>
              </a:rPr>
              <a:t>specifies the reference position from where the bytes are to be moved. </a:t>
            </a:r>
            <a:endParaRPr b="0" i="0" sz="1400" u="none" cap="none" strike="noStrike">
              <a:solidFill>
                <a:srgbClr val="000000"/>
              </a:solidFill>
              <a:latin typeface="Arial"/>
              <a:ea typeface="Arial"/>
              <a:cs typeface="Arial"/>
              <a:sym typeface="Arial"/>
            </a:endParaRPr>
          </a:p>
          <a:p>
            <a:pPr indent="-285750" lvl="0" marL="973138"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from is </a:t>
            </a:r>
            <a:r>
              <a:rPr b="1" i="0" lang="en-US" sz="1800" u="none" cap="none" strike="noStrike">
                <a:solidFill>
                  <a:schemeClr val="dk1"/>
                </a:solidFill>
                <a:latin typeface="Century Gothic"/>
                <a:ea typeface="Century Gothic"/>
                <a:cs typeface="Century Gothic"/>
                <a:sym typeface="Century Gothic"/>
              </a:rPr>
              <a:t>set to 0</a:t>
            </a:r>
            <a:r>
              <a:rPr b="0" i="0" lang="en-US" sz="1800" u="none" cap="none" strike="noStrike">
                <a:solidFill>
                  <a:schemeClr val="dk1"/>
                </a:solidFill>
                <a:latin typeface="Century Gothic"/>
                <a:ea typeface="Century Gothic"/>
                <a:cs typeface="Century Gothic"/>
                <a:sym typeface="Century Gothic"/>
              </a:rPr>
              <a:t>, the </a:t>
            </a:r>
            <a:r>
              <a:rPr b="1" i="0" lang="en-US" sz="1800" u="none" cap="none" strike="noStrike">
                <a:solidFill>
                  <a:schemeClr val="dk1"/>
                </a:solidFill>
                <a:latin typeface="Century Gothic"/>
                <a:ea typeface="Century Gothic"/>
                <a:cs typeface="Century Gothic"/>
                <a:sym typeface="Century Gothic"/>
              </a:rPr>
              <a:t>beginning</a:t>
            </a:r>
            <a:r>
              <a:rPr b="0" i="0" lang="en-US" sz="1800" u="none" cap="none" strike="noStrike">
                <a:solidFill>
                  <a:schemeClr val="dk1"/>
                </a:solidFill>
                <a:latin typeface="Century Gothic"/>
                <a:ea typeface="Century Gothic"/>
                <a:cs typeface="Century Gothic"/>
                <a:sym typeface="Century Gothic"/>
              </a:rPr>
              <a:t> of the file is used as the reference position. </a:t>
            </a:r>
            <a:endParaRPr b="0" i="0" sz="1400" u="none" cap="none" strike="noStrike">
              <a:solidFill>
                <a:srgbClr val="000000"/>
              </a:solidFill>
              <a:latin typeface="Arial"/>
              <a:ea typeface="Arial"/>
              <a:cs typeface="Arial"/>
              <a:sym typeface="Arial"/>
            </a:endParaRPr>
          </a:p>
          <a:p>
            <a:pPr indent="-285750" lvl="0" marL="973138"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it is </a:t>
            </a:r>
            <a:r>
              <a:rPr b="1" i="0" lang="en-US" sz="1800" u="none" cap="none" strike="noStrike">
                <a:solidFill>
                  <a:schemeClr val="dk1"/>
                </a:solidFill>
                <a:latin typeface="Century Gothic"/>
                <a:ea typeface="Century Gothic"/>
                <a:cs typeface="Century Gothic"/>
                <a:sym typeface="Century Gothic"/>
              </a:rPr>
              <a:t>set to 1</a:t>
            </a:r>
            <a:r>
              <a:rPr b="0" i="0" lang="en-US" sz="1800" u="none" cap="none" strike="noStrike">
                <a:solidFill>
                  <a:schemeClr val="dk1"/>
                </a:solidFill>
                <a:latin typeface="Century Gothic"/>
                <a:ea typeface="Century Gothic"/>
                <a:cs typeface="Century Gothic"/>
                <a:sym typeface="Century Gothic"/>
              </a:rPr>
              <a:t>, the </a:t>
            </a:r>
            <a:r>
              <a:rPr b="1" i="0" lang="en-US" sz="1800" u="none" cap="none" strike="noStrike">
                <a:solidFill>
                  <a:schemeClr val="dk1"/>
                </a:solidFill>
                <a:latin typeface="Century Gothic"/>
                <a:ea typeface="Century Gothic"/>
                <a:cs typeface="Century Gothic"/>
                <a:sym typeface="Century Gothic"/>
              </a:rPr>
              <a:t>current position </a:t>
            </a:r>
            <a:r>
              <a:rPr b="0" i="0" lang="en-US" sz="1800" u="none" cap="none" strike="noStrike">
                <a:solidFill>
                  <a:schemeClr val="dk1"/>
                </a:solidFill>
                <a:latin typeface="Century Gothic"/>
                <a:ea typeface="Century Gothic"/>
                <a:cs typeface="Century Gothic"/>
                <a:sym typeface="Century Gothic"/>
              </a:rPr>
              <a:t>is used as the reference position. </a:t>
            </a:r>
            <a:endParaRPr b="0" i="0" sz="1400" u="none" cap="none" strike="noStrike">
              <a:solidFill>
                <a:srgbClr val="000000"/>
              </a:solidFill>
              <a:latin typeface="Arial"/>
              <a:ea typeface="Arial"/>
              <a:cs typeface="Arial"/>
              <a:sym typeface="Arial"/>
            </a:endParaRPr>
          </a:p>
          <a:p>
            <a:pPr indent="-285750" lvl="0" marL="973138" marR="0" rtl="0" algn="l">
              <a:lnSpc>
                <a:spcPct val="100000"/>
              </a:lnSpc>
              <a:spcBef>
                <a:spcPts val="600"/>
              </a:spcBef>
              <a:spcAft>
                <a:spcPts val="0"/>
              </a:spcAft>
              <a:buClr>
                <a:schemeClr val="dk1"/>
              </a:buClr>
              <a:buSzPts val="1800"/>
              <a:buFont typeface="Noto Sans Symbols"/>
              <a:buChar char="✔"/>
            </a:pPr>
            <a:r>
              <a:rPr b="0" i="0" lang="en-US" sz="1800" u="none" cap="none" strike="noStrike">
                <a:solidFill>
                  <a:schemeClr val="dk1"/>
                </a:solidFill>
                <a:latin typeface="Century Gothic"/>
                <a:ea typeface="Century Gothic"/>
                <a:cs typeface="Century Gothic"/>
                <a:sym typeface="Century Gothic"/>
              </a:rPr>
              <a:t>If it is </a:t>
            </a:r>
            <a:r>
              <a:rPr b="1" i="0" lang="en-US" sz="1800" u="none" cap="none" strike="noStrike">
                <a:solidFill>
                  <a:schemeClr val="dk1"/>
                </a:solidFill>
                <a:latin typeface="Century Gothic"/>
                <a:ea typeface="Century Gothic"/>
                <a:cs typeface="Century Gothic"/>
                <a:sym typeface="Century Gothic"/>
              </a:rPr>
              <a:t>set to 2 </a:t>
            </a:r>
            <a:r>
              <a:rPr b="0" i="0" lang="en-US" sz="1800" u="none" cap="none" strike="noStrike">
                <a:solidFill>
                  <a:schemeClr val="dk1"/>
                </a:solidFill>
                <a:latin typeface="Century Gothic"/>
                <a:ea typeface="Century Gothic"/>
                <a:cs typeface="Century Gothic"/>
                <a:sym typeface="Century Gothic"/>
              </a:rPr>
              <a:t>then the </a:t>
            </a:r>
            <a:r>
              <a:rPr b="1" i="0" lang="en-US" sz="1800" u="none" cap="none" strike="noStrike">
                <a:solidFill>
                  <a:schemeClr val="dk1"/>
                </a:solidFill>
                <a:latin typeface="Century Gothic"/>
                <a:ea typeface="Century Gothic"/>
                <a:cs typeface="Century Gothic"/>
                <a:sym typeface="Century Gothic"/>
              </a:rPr>
              <a:t>end of the file </a:t>
            </a:r>
            <a:r>
              <a:rPr b="0" i="0" lang="en-US" sz="1800" u="none" cap="none" strike="noStrike">
                <a:solidFill>
                  <a:schemeClr val="dk1"/>
                </a:solidFill>
                <a:latin typeface="Century Gothic"/>
                <a:ea typeface="Century Gothic"/>
                <a:cs typeface="Century Gothic"/>
                <a:sym typeface="Century Gothic"/>
              </a:rPr>
              <a:t>would be taken as the reference position.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429638" y="732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File head / cursor position</a:t>
            </a:r>
            <a:endParaRPr/>
          </a:p>
        </p:txBody>
      </p:sp>
      <p:pic>
        <p:nvPicPr>
          <p:cNvPr descr="Logo&#10;&#10;Description automatically generated" id="294" name="Google Shape;294;p18"/>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295" name="Google Shape;295;p18"/>
          <p:cNvSpPr txBox="1"/>
          <p:nvPr/>
        </p:nvSpPr>
        <p:spPr>
          <a:xfrm>
            <a:off x="867383" y="948690"/>
            <a:ext cx="5047034" cy="59093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8000"/>
                </a:solidFill>
                <a:latin typeface="Arial"/>
                <a:ea typeface="Arial"/>
                <a:cs typeface="Arial"/>
                <a:sym typeface="Arial"/>
              </a:rPr>
              <a:t># Create a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 = </a:t>
            </a:r>
            <a:r>
              <a:rPr b="0" i="0" lang="en-US" sz="1400" u="none" cap="none" strike="noStrike">
                <a:solidFill>
                  <a:srgbClr val="795E26"/>
                </a:solidFill>
                <a:latin typeface="Arial"/>
                <a:ea typeface="Arial"/>
                <a:cs typeface="Arial"/>
                <a:sym typeface="Arial"/>
              </a:rPr>
              <a:t>open</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a:t>
            </a:r>
            <a:r>
              <a:rPr b="0" i="0" lang="en-US" sz="1400" u="none" cap="none" strike="noStrike">
                <a:solidFill>
                  <a:srgbClr val="EE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testfile.txt"</a:t>
            </a:r>
            <a:r>
              <a:rPr b="0" i="0" lang="en-US" sz="1400" u="none" cap="none" strike="noStrike">
                <a:solidFill>
                  <a:srgbClr val="000000"/>
                </a:solidFill>
                <a:latin typeface="Arial"/>
                <a:ea typeface="Arial"/>
                <a:cs typeface="Arial"/>
                <a:sym typeface="Arial"/>
              </a:rPr>
              <a:t>, </a:t>
            </a:r>
            <a:r>
              <a:rPr b="0" i="0" lang="en-US" sz="1400" u="none" cap="none" strike="noStrike">
                <a:solidFill>
                  <a:srgbClr val="A31515"/>
                </a:solidFill>
                <a:latin typeface="Arial"/>
                <a:ea typeface="Arial"/>
                <a:cs typeface="Arial"/>
                <a:sym typeface="Arial"/>
              </a:rPr>
              <a:t>"w"</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name: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001080"/>
                </a:solidFill>
                <a:latin typeface="Arial"/>
                <a:ea typeface="Arial"/>
                <a:cs typeface="Arial"/>
                <a:sym typeface="Arial"/>
              </a:rPr>
              <a:t>name</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mode: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001080"/>
                </a:solidFill>
                <a:latin typeface="Arial"/>
                <a:ea typeface="Arial"/>
                <a:cs typeface="Arial"/>
                <a:sym typeface="Arial"/>
              </a:rPr>
              <a:t>mode</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head position: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tell</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r>
              <a:rPr b="0" i="0" lang="en-US" sz="1400" u="none" cap="none" strike="noStrike">
                <a:solidFill>
                  <a:srgbClr val="008000"/>
                </a:solidFill>
                <a:latin typeface="Arial"/>
                <a:ea typeface="Arial"/>
                <a:cs typeface="Arial"/>
                <a:sym typeface="Arial"/>
              </a:rPr>
              <a:t>#check if we can write in the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F00DB"/>
                </a:solidFill>
                <a:latin typeface="Arial"/>
                <a:ea typeface="Arial"/>
                <a:cs typeface="Arial"/>
                <a:sym typeface="Arial"/>
              </a:rPr>
              <a:t>if</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001080"/>
                </a:solidFill>
                <a:latin typeface="Arial"/>
                <a:ea typeface="Arial"/>
                <a:cs typeface="Arial"/>
                <a:sym typeface="Arial"/>
              </a:rPr>
              <a:t>mode</a:t>
            </a:r>
            <a:r>
              <a:rPr b="0" i="0" lang="en-US" sz="1400" u="none" cap="none" strike="noStrike">
                <a:solidFill>
                  <a:srgbClr val="000000"/>
                </a:solidFill>
                <a:latin typeface="Arial"/>
                <a:ea typeface="Arial"/>
                <a:cs typeface="Arial"/>
                <a:sym typeface="Arial"/>
              </a:rPr>
              <a:t> == </a:t>
            </a:r>
            <a:r>
              <a:rPr b="0" i="0" lang="en-US" sz="1400" u="none" cap="none" strike="noStrike">
                <a:solidFill>
                  <a:srgbClr val="A31515"/>
                </a:solidFill>
                <a:latin typeface="Arial"/>
                <a:ea typeface="Arial"/>
                <a:cs typeface="Arial"/>
                <a:sym typeface="Arial"/>
              </a:rPr>
              <a:t>'w'</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write</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'This is file learning class!</a:t>
            </a:r>
            <a:r>
              <a:rPr b="0" i="0" lang="en-US" sz="1400" u="none" cap="none" strike="noStrike">
                <a:solidFill>
                  <a:srgbClr val="EE0000"/>
                </a:solidFill>
                <a:latin typeface="Arial"/>
                <a:ea typeface="Arial"/>
                <a:cs typeface="Arial"/>
                <a:sym typeface="Arial"/>
              </a:rPr>
              <a:t>\n</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head position: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tell</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close</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r>
              <a:rPr b="0" i="0" lang="en-US" sz="1400" u="none" cap="none" strike="noStrike">
                <a:solidFill>
                  <a:srgbClr val="008000"/>
                </a:solidFill>
                <a:latin typeface="Arial"/>
                <a:ea typeface="Arial"/>
                <a:cs typeface="Arial"/>
                <a:sym typeface="Arial"/>
              </a:rPr>
              <a:t># Open the file to 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 = </a:t>
            </a:r>
            <a:r>
              <a:rPr b="0" i="0" lang="en-US" sz="1400" u="none" cap="none" strike="noStrike">
                <a:solidFill>
                  <a:srgbClr val="795E26"/>
                </a:solidFill>
                <a:latin typeface="Arial"/>
                <a:ea typeface="Arial"/>
                <a:cs typeface="Arial"/>
                <a:sym typeface="Arial"/>
              </a:rPr>
              <a:t>open</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a:t>
            </a:r>
            <a:r>
              <a:rPr b="0" i="0" lang="en-US" sz="1400" u="none" cap="none" strike="noStrike">
                <a:solidFill>
                  <a:srgbClr val="EE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testfile.txt"</a:t>
            </a:r>
            <a:r>
              <a:rPr b="0" i="0" lang="en-US" sz="1400" u="none" cap="none" strike="noStrike">
                <a:solidFill>
                  <a:srgbClr val="000000"/>
                </a:solidFill>
                <a:latin typeface="Arial"/>
                <a:ea typeface="Arial"/>
                <a:cs typeface="Arial"/>
                <a:sym typeface="Arial"/>
              </a:rPr>
              <a:t>, </a:t>
            </a:r>
            <a:r>
              <a:rPr b="0" i="0" lang="en-US" sz="1400" u="none" cap="none" strike="noStrike">
                <a:solidFill>
                  <a:srgbClr val="A31515"/>
                </a:solidFill>
                <a:latin typeface="Arial"/>
                <a:ea typeface="Arial"/>
                <a:cs typeface="Arial"/>
                <a:sym typeface="Arial"/>
              </a:rPr>
              <a:t>"r"</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mode: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001080"/>
                </a:solidFill>
                <a:latin typeface="Arial"/>
                <a:ea typeface="Arial"/>
                <a:cs typeface="Arial"/>
                <a:sym typeface="Arial"/>
              </a:rPr>
              <a:t>mode</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r>
              <a:rPr b="0" i="0" lang="en-US" sz="1400" u="none" cap="none" strike="noStrike">
                <a:solidFill>
                  <a:srgbClr val="008000"/>
                </a:solidFill>
                <a:latin typeface="Arial"/>
                <a:ea typeface="Arial"/>
                <a:cs typeface="Arial"/>
                <a:sym typeface="Arial"/>
              </a:rPr>
              <a:t>#check the file head position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head position: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tell</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r>
              <a:rPr b="0" i="0" lang="en-US" sz="1400" u="none" cap="none" strike="noStrike">
                <a:solidFill>
                  <a:srgbClr val="008000"/>
                </a:solidFill>
                <a:latin typeface="Arial"/>
                <a:ea typeface="Arial"/>
                <a:cs typeface="Arial"/>
                <a:sym typeface="Arial"/>
              </a:rPr>
              <a:t>#check if we can write in the file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AF00DB"/>
                </a:solidFill>
                <a:latin typeface="Arial"/>
                <a:ea typeface="Arial"/>
                <a:cs typeface="Arial"/>
                <a:sym typeface="Arial"/>
              </a:rPr>
              <a:t>if</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001080"/>
                </a:solidFill>
                <a:latin typeface="Arial"/>
                <a:ea typeface="Arial"/>
                <a:cs typeface="Arial"/>
                <a:sym typeface="Arial"/>
              </a:rPr>
              <a:t>mode</a:t>
            </a:r>
            <a:r>
              <a:rPr b="0" i="0" lang="en-US" sz="1400" u="none" cap="none" strike="noStrike">
                <a:solidFill>
                  <a:srgbClr val="000000"/>
                </a:solidFill>
                <a:latin typeface="Arial"/>
                <a:ea typeface="Arial"/>
                <a:cs typeface="Arial"/>
                <a:sym typeface="Arial"/>
              </a:rPr>
              <a:t> == </a:t>
            </a:r>
            <a:r>
              <a:rPr b="0" i="0" lang="en-US" sz="1400" u="none" cap="none" strike="noStrike">
                <a:solidFill>
                  <a:srgbClr val="A31515"/>
                </a:solidFill>
                <a:latin typeface="Arial"/>
                <a:ea typeface="Arial"/>
                <a:cs typeface="Arial"/>
                <a:sym typeface="Arial"/>
              </a:rPr>
              <a:t>'r'</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fileData</a:t>
            </a:r>
            <a:r>
              <a:rPr b="0" i="0" lang="en-US" sz="1400" u="none" cap="none" strike="noStrike">
                <a:solidFill>
                  <a:srgbClr val="000000"/>
                </a:solidFill>
                <a:latin typeface="Arial"/>
                <a:ea typeface="Arial"/>
                <a:cs typeface="Arial"/>
                <a:sym typeface="Arial"/>
              </a:rPr>
              <a:t> =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read</a:t>
            </a:r>
            <a:r>
              <a:rPr b="0" i="0" lang="en-US" sz="1400" u="none" cap="none" strike="noStrike">
                <a:solidFill>
                  <a:srgbClr val="000000"/>
                </a:solidFill>
                <a:latin typeface="Arial"/>
                <a:ea typeface="Arial"/>
                <a:cs typeface="Arial"/>
                <a:sym typeface="Arial"/>
              </a:rPr>
              <a:t>(</a:t>
            </a:r>
            <a:r>
              <a:rPr b="0" i="0" lang="en-US" sz="1400" u="none" cap="none" strike="noStrike">
                <a:solidFill>
                  <a:srgbClr val="098658"/>
                </a:solidFill>
                <a:latin typeface="Arial"/>
                <a:ea typeface="Arial"/>
                <a:cs typeface="Arial"/>
                <a:sym typeface="Arial"/>
              </a:rPr>
              <a:t>15</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data: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fileData</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r>
              <a:rPr b="0" i="0" lang="en-US" sz="1400" u="none" cap="none" strike="noStrike">
                <a:solidFill>
                  <a:srgbClr val="795E26"/>
                </a:solidFill>
                <a:latin typeface="Arial"/>
                <a:ea typeface="Arial"/>
                <a:cs typeface="Arial"/>
                <a:sym typeface="Arial"/>
              </a:rPr>
              <a:t>print</a:t>
            </a:r>
            <a:r>
              <a:rPr b="0" i="0" lang="en-US" sz="1400" u="none" cap="none" strike="noStrike">
                <a:solidFill>
                  <a:srgbClr val="000000"/>
                </a:solidFill>
                <a:latin typeface="Arial"/>
                <a:ea typeface="Arial"/>
                <a:cs typeface="Arial"/>
                <a:sym typeface="Arial"/>
              </a:rPr>
              <a:t>(</a:t>
            </a:r>
            <a:r>
              <a:rPr b="0" i="0" lang="en-US" sz="1400" u="none" cap="none" strike="noStrike">
                <a:solidFill>
                  <a:srgbClr val="A31515"/>
                </a:solidFill>
                <a:latin typeface="Arial"/>
                <a:ea typeface="Arial"/>
                <a:cs typeface="Arial"/>
                <a:sym typeface="Arial"/>
              </a:rPr>
              <a:t>'File head position: '</a:t>
            </a:r>
            <a:r>
              <a:rPr b="0" i="0" lang="en-US" sz="1400" u="none" cap="none" strike="noStrike">
                <a:solidFill>
                  <a:srgbClr val="000000"/>
                </a:solidFill>
                <a:latin typeface="Arial"/>
                <a:ea typeface="Arial"/>
                <a:cs typeface="Arial"/>
                <a:sym typeface="Arial"/>
              </a:rPr>
              <a:t>, </a:t>
            </a: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tell</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r>
              <a:rPr b="0" i="0" lang="en-US" sz="1400" u="none" cap="none" strike="noStrike">
                <a:solidFill>
                  <a:srgbClr val="001080"/>
                </a:solidFill>
                <a:latin typeface="Arial"/>
                <a:ea typeface="Arial"/>
                <a:cs typeface="Arial"/>
                <a:sym typeface="Arial"/>
              </a:rPr>
              <a:t>fo</a:t>
            </a:r>
            <a:r>
              <a:rPr b="0" i="0" lang="en-US" sz="1400" u="none" cap="none" strike="noStrike">
                <a:solidFill>
                  <a:srgbClr val="000000"/>
                </a:solidFill>
                <a:latin typeface="Arial"/>
                <a:ea typeface="Arial"/>
                <a:cs typeface="Arial"/>
                <a:sym typeface="Arial"/>
              </a:rPr>
              <a:t>.</a:t>
            </a:r>
            <a:r>
              <a:rPr b="0" i="0" lang="en-US" sz="1400" u="none" cap="none" strike="noStrike">
                <a:solidFill>
                  <a:srgbClr val="795E26"/>
                </a:solidFill>
                <a:latin typeface="Arial"/>
                <a:ea typeface="Arial"/>
                <a:cs typeface="Arial"/>
                <a:sym typeface="Arial"/>
              </a:rPr>
              <a:t>close</a:t>
            </a:r>
            <a:r>
              <a:rPr b="0" i="0" lang="en-US"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96" name="Google Shape;296;p18"/>
          <p:cNvSpPr txBox="1"/>
          <p:nvPr/>
        </p:nvSpPr>
        <p:spPr>
          <a:xfrm>
            <a:off x="8397402" y="3100726"/>
            <a:ext cx="3168785" cy="28469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name:  F:\testfile.txt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mode:  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head position: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head position:  78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mode:  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head position: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data:  This is file 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head position:  15</a:t>
            </a:r>
            <a:endParaRPr b="0" i="0" sz="1400" u="none" cap="none" strike="noStrike">
              <a:solidFill>
                <a:srgbClr val="000000"/>
              </a:solidFill>
              <a:latin typeface="Arial"/>
              <a:ea typeface="Arial"/>
              <a:cs typeface="Arial"/>
              <a:sym typeface="Arial"/>
            </a:endParaRPr>
          </a:p>
        </p:txBody>
      </p:sp>
      <p:sp>
        <p:nvSpPr>
          <p:cNvPr id="297" name="Google Shape;297;p18"/>
          <p:cNvSpPr txBox="1"/>
          <p:nvPr/>
        </p:nvSpPr>
        <p:spPr>
          <a:xfrm>
            <a:off x="8397402" y="2305774"/>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cxnSp>
        <p:nvCxnSpPr>
          <p:cNvPr id="298" name="Google Shape;298;p18"/>
          <p:cNvCxnSpPr/>
          <p:nvPr/>
        </p:nvCxnSpPr>
        <p:spPr>
          <a:xfrm>
            <a:off x="7684850" y="2675106"/>
            <a:ext cx="0" cy="4182894"/>
          </a:xfrm>
          <a:prstGeom prst="straightConnector1">
            <a:avLst/>
          </a:prstGeom>
          <a:noFill/>
          <a:ln cap="flat" cmpd="sng" w="28575">
            <a:solidFill>
              <a:schemeClr val="accent1"/>
            </a:solidFill>
            <a:prstDash val="solid"/>
            <a:miter lim="800000"/>
            <a:headEnd len="sm" w="sm" type="none"/>
            <a:tailEnd len="sm" w="sm" type="none"/>
          </a:ln>
        </p:spPr>
      </p:cxnSp>
      <p:sp>
        <p:nvSpPr>
          <p:cNvPr id="299" name="Google Shape;299;p18"/>
          <p:cNvSpPr txBox="1"/>
          <p:nvPr/>
        </p:nvSpPr>
        <p:spPr>
          <a:xfrm>
            <a:off x="7103623" y="1270174"/>
            <a:ext cx="196255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tell()</a:t>
            </a: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method: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9"/>
          <p:cNvSpPr txBox="1"/>
          <p:nvPr>
            <p:ph type="title"/>
          </p:nvPr>
        </p:nvSpPr>
        <p:spPr>
          <a:xfrm>
            <a:off x="429638" y="732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File head / cursor position</a:t>
            </a:r>
            <a:endParaRPr/>
          </a:p>
        </p:txBody>
      </p:sp>
      <p:pic>
        <p:nvPicPr>
          <p:cNvPr descr="Logo&#10;&#10;Description automatically generated" id="306" name="Google Shape;306;p19"/>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307" name="Google Shape;307;p19"/>
          <p:cNvSpPr txBox="1"/>
          <p:nvPr/>
        </p:nvSpPr>
        <p:spPr>
          <a:xfrm>
            <a:off x="252717" y="1270174"/>
            <a:ext cx="7083763" cy="555536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8000"/>
                </a:solidFill>
                <a:latin typeface="Arial"/>
                <a:ea typeface="Arial"/>
                <a:cs typeface="Arial"/>
                <a:sym typeface="Arial"/>
              </a:rPr>
              <a:t># Create a file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 = </a:t>
            </a:r>
            <a:r>
              <a:rPr b="0" i="0" lang="en-US" sz="1600" u="none" cap="none" strike="noStrike">
                <a:solidFill>
                  <a:srgbClr val="795E26"/>
                </a:solidFill>
                <a:latin typeface="Arial"/>
                <a:ea typeface="Arial"/>
                <a:cs typeface="Arial"/>
                <a:sym typeface="Arial"/>
              </a:rPr>
              <a:t>open</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a:t>
            </a:r>
            <a:r>
              <a:rPr b="0" i="0" lang="en-US" sz="1600" u="none" cap="none" strike="noStrike">
                <a:solidFill>
                  <a:srgbClr val="EE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testfile.txt"</a:t>
            </a:r>
            <a:r>
              <a:rPr b="0" i="0" lang="en-US" sz="1600" u="none" cap="none" strike="noStrike">
                <a:solidFill>
                  <a:srgbClr val="000000"/>
                </a:solidFill>
                <a:latin typeface="Arial"/>
                <a:ea typeface="Arial"/>
                <a:cs typeface="Arial"/>
                <a:sym typeface="Arial"/>
              </a:rPr>
              <a:t>, </a:t>
            </a:r>
            <a:r>
              <a:rPr b="0" i="0" lang="en-US" sz="1600" u="none" cap="none" strike="noStrike">
                <a:solidFill>
                  <a:srgbClr val="A31515"/>
                </a:solidFill>
                <a:latin typeface="Arial"/>
                <a:ea typeface="Arial"/>
                <a:cs typeface="Arial"/>
                <a:sym typeface="Arial"/>
              </a:rPr>
              <a:t>"w+"</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'file mode: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mode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'File head position: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tell</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#check if we can write in the file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AF00DB"/>
                </a:solidFill>
                <a:latin typeface="Arial"/>
                <a:ea typeface="Arial"/>
                <a:cs typeface="Arial"/>
                <a:sym typeface="Arial"/>
              </a:rPr>
              <a:t>if</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mode</a:t>
            </a:r>
            <a:r>
              <a:rPr b="0" i="0" lang="en-US" sz="1600" u="none" cap="none" strike="noStrike">
                <a:solidFill>
                  <a:srgbClr val="000000"/>
                </a:solidFill>
                <a:latin typeface="Arial"/>
                <a:ea typeface="Arial"/>
                <a:cs typeface="Arial"/>
                <a:sym typeface="Arial"/>
              </a:rPr>
              <a:t> == </a:t>
            </a:r>
            <a:r>
              <a:rPr b="0" i="0" lang="en-US" sz="1600" u="none" cap="none" strike="noStrike">
                <a:solidFill>
                  <a:srgbClr val="A31515"/>
                </a:solidFill>
                <a:latin typeface="Arial"/>
                <a:ea typeface="Arial"/>
                <a:cs typeface="Arial"/>
                <a:sym typeface="Arial"/>
              </a:rPr>
              <a:t>'w+'</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write</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'This is file learning class!</a:t>
            </a:r>
            <a:r>
              <a:rPr b="0" i="0" lang="en-US" sz="1600" u="none" cap="none" strike="noStrike">
                <a:solidFill>
                  <a:srgbClr val="EE0000"/>
                </a:solidFill>
                <a:latin typeface="Arial"/>
                <a:ea typeface="Arial"/>
                <a:cs typeface="Arial"/>
                <a:sym typeface="Arial"/>
              </a:rPr>
              <a:t>\n</a:t>
            </a:r>
            <a:r>
              <a:rPr b="0" i="0" lang="en-US" sz="1600" u="none" cap="none" strike="noStrike">
                <a:solidFill>
                  <a:srgbClr val="A31515"/>
                </a:solidFill>
                <a:latin typeface="Arial"/>
                <a:ea typeface="Arial"/>
                <a:cs typeface="Arial"/>
                <a:sym typeface="Arial"/>
              </a:rPr>
              <a:t>'</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'File head position: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tell</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 =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read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'Reading the content: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0000"/>
                </a:solidFill>
                <a:latin typeface="Arial"/>
                <a:ea typeface="Arial"/>
                <a:cs typeface="Arial"/>
                <a:sym typeface="Arial"/>
              </a:rPr>
              <a:t>    </a:t>
            </a:r>
            <a:r>
              <a:rPr b="0" i="0" lang="en-US" sz="1600" u="none" cap="none" strike="noStrike">
                <a:solidFill>
                  <a:srgbClr val="008000"/>
                </a:solidFill>
                <a:latin typeface="Arial"/>
                <a:ea typeface="Arial"/>
                <a:cs typeface="Arial"/>
                <a:sym typeface="Arial"/>
              </a:rPr>
              <a:t>#move the file head in the beginning to read</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seek</a:t>
            </a:r>
            <a:r>
              <a:rPr b="0" i="0" lang="en-US" sz="1600" u="none" cap="none" strike="noStrike">
                <a:solidFill>
                  <a:srgbClr val="000000"/>
                </a:solidFill>
                <a:latin typeface="Arial"/>
                <a:ea typeface="Arial"/>
                <a:cs typeface="Arial"/>
                <a:sym typeface="Arial"/>
              </a:rPr>
              <a:t>(</a:t>
            </a:r>
            <a:r>
              <a:rPr b="0" i="0" lang="en-US" sz="1600" u="none" cap="none" strike="noStrike">
                <a:solidFill>
                  <a:srgbClr val="098658"/>
                </a:solidFill>
                <a:latin typeface="Arial"/>
                <a:ea typeface="Arial"/>
                <a:cs typeface="Arial"/>
                <a:sym typeface="Arial"/>
              </a:rPr>
              <a:t>0</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 = </a:t>
            </a: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read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    </a:t>
            </a: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'After moving the head: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fileData</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1080"/>
                </a:solidFill>
                <a:latin typeface="Arial"/>
                <a:ea typeface="Arial"/>
                <a:cs typeface="Arial"/>
                <a:sym typeface="Arial"/>
              </a:rPr>
              <a:t>fo</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close</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08" name="Google Shape;308;p19"/>
          <p:cNvSpPr txBox="1"/>
          <p:nvPr/>
        </p:nvSpPr>
        <p:spPr>
          <a:xfrm>
            <a:off x="7461116" y="3151843"/>
            <a:ext cx="4430790"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mode:  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head position: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File head position:  30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Reading the content: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800"/>
              <a:buFont typeface="Arial"/>
              <a:buNone/>
            </a:pPr>
            <a:r>
              <a:rPr b="0" i="0" lang="en-US" sz="1800" u="none" cap="none" strike="noStrike">
                <a:solidFill>
                  <a:schemeClr val="dk1"/>
                </a:solidFill>
                <a:latin typeface="Century Gothic"/>
                <a:ea typeface="Century Gothic"/>
                <a:cs typeface="Century Gothic"/>
                <a:sym typeface="Century Gothic"/>
              </a:rPr>
              <a:t>After moving the head:  This is file learning class!</a:t>
            </a:r>
            <a:endParaRPr b="0" i="0" sz="1400" u="none" cap="none" strike="noStrike">
              <a:solidFill>
                <a:srgbClr val="000000"/>
              </a:solidFill>
              <a:latin typeface="Arial"/>
              <a:ea typeface="Arial"/>
              <a:cs typeface="Arial"/>
              <a:sym typeface="Arial"/>
            </a:endParaRPr>
          </a:p>
        </p:txBody>
      </p:sp>
      <p:sp>
        <p:nvSpPr>
          <p:cNvPr id="309" name="Google Shape;309;p19"/>
          <p:cNvSpPr txBox="1"/>
          <p:nvPr/>
        </p:nvSpPr>
        <p:spPr>
          <a:xfrm>
            <a:off x="8397402" y="2305774"/>
            <a:ext cx="104547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Output:</a:t>
            </a:r>
            <a:endParaRPr b="0" i="0" sz="1400" u="none" cap="none" strike="noStrike">
              <a:solidFill>
                <a:srgbClr val="000000"/>
              </a:solidFill>
              <a:latin typeface="Arial"/>
              <a:ea typeface="Arial"/>
              <a:cs typeface="Arial"/>
              <a:sym typeface="Arial"/>
            </a:endParaRPr>
          </a:p>
        </p:txBody>
      </p:sp>
      <p:cxnSp>
        <p:nvCxnSpPr>
          <p:cNvPr id="310" name="Google Shape;310;p19"/>
          <p:cNvCxnSpPr/>
          <p:nvPr/>
        </p:nvCxnSpPr>
        <p:spPr>
          <a:xfrm>
            <a:off x="7103623" y="2675106"/>
            <a:ext cx="0" cy="4182894"/>
          </a:xfrm>
          <a:prstGeom prst="straightConnector1">
            <a:avLst/>
          </a:prstGeom>
          <a:noFill/>
          <a:ln cap="flat" cmpd="sng" w="28575">
            <a:solidFill>
              <a:schemeClr val="accent1"/>
            </a:solidFill>
            <a:prstDash val="solid"/>
            <a:miter lim="800000"/>
            <a:headEnd len="sm" w="sm" type="none"/>
            <a:tailEnd len="sm" w="sm" type="none"/>
          </a:ln>
        </p:spPr>
      </p:cxnSp>
      <p:sp>
        <p:nvSpPr>
          <p:cNvPr id="311" name="Google Shape;311;p19"/>
          <p:cNvSpPr txBox="1"/>
          <p:nvPr/>
        </p:nvSpPr>
        <p:spPr>
          <a:xfrm>
            <a:off x="7103623" y="1270174"/>
            <a:ext cx="196255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seek()</a:t>
            </a:r>
            <a:r>
              <a:rPr b="0" i="0" lang="en-US" sz="1800" u="none" cap="none" strike="noStrike">
                <a:solidFill>
                  <a:schemeClr val="dk1"/>
                </a:solidFill>
                <a:latin typeface="Century Gothic"/>
                <a:ea typeface="Century Gothic"/>
                <a:cs typeface="Century Gothic"/>
                <a:sym typeface="Century Gothic"/>
              </a:rPr>
              <a:t> </a:t>
            </a:r>
            <a:r>
              <a:rPr b="1" i="0" lang="en-US" sz="1800" u="none" cap="none" strike="noStrike">
                <a:solidFill>
                  <a:schemeClr val="dk1"/>
                </a:solidFill>
                <a:latin typeface="Century Gothic"/>
                <a:ea typeface="Century Gothic"/>
                <a:cs typeface="Century Gothic"/>
                <a:sym typeface="Century Gothic"/>
              </a:rPr>
              <a:t>method: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0"/>
          <p:cNvSpPr txBox="1"/>
          <p:nvPr>
            <p:ph type="title"/>
          </p:nvPr>
        </p:nvSpPr>
        <p:spPr>
          <a:xfrm>
            <a:off x="429638" y="732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Rename and Delete</a:t>
            </a:r>
            <a:endParaRPr/>
          </a:p>
        </p:txBody>
      </p:sp>
      <p:pic>
        <p:nvPicPr>
          <p:cNvPr descr="Logo&#10;&#10;Description automatically generated" id="318" name="Google Shape;318;p20"/>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319" name="Google Shape;319;p20"/>
          <p:cNvSpPr txBox="1"/>
          <p:nvPr/>
        </p:nvSpPr>
        <p:spPr>
          <a:xfrm>
            <a:off x="791994" y="2413337"/>
            <a:ext cx="7083763"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AF00DB"/>
                </a:solidFill>
                <a:latin typeface="Arial"/>
                <a:ea typeface="Arial"/>
                <a:cs typeface="Arial"/>
                <a:sym typeface="Arial"/>
              </a:rPr>
              <a:t>import</a:t>
            </a:r>
            <a:r>
              <a:rPr b="0" i="0" lang="en-US" sz="1800" u="none" cap="none" strike="noStrike">
                <a:solidFill>
                  <a:srgbClr val="000000"/>
                </a:solidFill>
                <a:latin typeface="Arial"/>
                <a:ea typeface="Arial"/>
                <a:cs typeface="Arial"/>
                <a:sym typeface="Arial"/>
              </a:rPr>
              <a:t> </a:t>
            </a:r>
            <a:r>
              <a:rPr b="0" i="0" lang="en-US" sz="1800" u="none" cap="none" strike="noStrike">
                <a:solidFill>
                  <a:srgbClr val="267F99"/>
                </a:solidFill>
                <a:latin typeface="Arial"/>
                <a:ea typeface="Arial"/>
                <a:cs typeface="Arial"/>
                <a:sym typeface="Arial"/>
              </a:rPr>
              <a:t>os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67F9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67F99"/>
                </a:solidFill>
                <a:latin typeface="Arial"/>
                <a:ea typeface="Arial"/>
                <a:cs typeface="Arial"/>
                <a:sym typeface="Arial"/>
              </a:rPr>
              <a:t>os</a:t>
            </a:r>
            <a:r>
              <a:rPr b="0" i="0" lang="en-US" sz="1800" u="none" cap="none" strike="noStrike">
                <a:solidFill>
                  <a:srgbClr val="000000"/>
                </a:solidFill>
                <a:latin typeface="Arial"/>
                <a:ea typeface="Arial"/>
                <a:cs typeface="Arial"/>
                <a:sym typeface="Arial"/>
              </a:rPr>
              <a:t>.</a:t>
            </a:r>
            <a:r>
              <a:rPr b="0" i="0" lang="en-US" sz="1800" u="none" cap="none" strike="noStrike">
                <a:solidFill>
                  <a:srgbClr val="795E26"/>
                </a:solidFill>
                <a:latin typeface="Arial"/>
                <a:ea typeface="Arial"/>
                <a:cs typeface="Arial"/>
                <a:sym typeface="Arial"/>
              </a:rPr>
              <a:t>rename</a:t>
            </a:r>
            <a:r>
              <a:rPr b="0" i="0" lang="en-US" sz="1800" u="none" cap="none" strike="noStrike">
                <a:solidFill>
                  <a:srgbClr val="00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a:t>
            </a:r>
            <a:r>
              <a:rPr b="0" i="0" lang="en-US" sz="1800" u="none" cap="none" strike="noStrike">
                <a:solidFill>
                  <a:srgbClr val="EE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testfile.txt"</a:t>
            </a:r>
            <a:r>
              <a:rPr b="0" i="0" lang="en-US" sz="1800" u="none" cap="none" strike="noStrike">
                <a:solidFill>
                  <a:srgbClr val="000000"/>
                </a:solidFill>
                <a:latin typeface="Arial"/>
                <a:ea typeface="Arial"/>
                <a:cs typeface="Arial"/>
                <a:sym typeface="Arial"/>
              </a:rPr>
              <a:t>, </a:t>
            </a:r>
            <a:r>
              <a:rPr b="0" i="0" lang="en-US" sz="1800" u="none" cap="none" strike="noStrike">
                <a:solidFill>
                  <a:srgbClr val="A31515"/>
                </a:solidFill>
                <a:latin typeface="Arial"/>
                <a:ea typeface="Arial"/>
                <a:cs typeface="Arial"/>
                <a:sym typeface="Arial"/>
              </a:rPr>
              <a:t>"F:</a:t>
            </a:r>
            <a:r>
              <a:rPr b="0" i="0" lang="en-US" sz="1800" u="none" cap="none" strike="noStrike">
                <a:solidFill>
                  <a:srgbClr val="EE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testfile2.txt"</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rgbClr val="000000"/>
                </a:solidFill>
                <a:latin typeface="Arial"/>
                <a:ea typeface="Arial"/>
                <a:cs typeface="Arial"/>
                <a:sym typeface="Arial"/>
              </a:rPr>
            </a:b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67F99"/>
                </a:solidFill>
                <a:latin typeface="Arial"/>
                <a:ea typeface="Arial"/>
                <a:cs typeface="Arial"/>
                <a:sym typeface="Arial"/>
              </a:rPr>
              <a:t>os</a:t>
            </a:r>
            <a:r>
              <a:rPr b="0" i="0" lang="en-US" sz="1800" u="none" cap="none" strike="noStrike">
                <a:solidFill>
                  <a:srgbClr val="000000"/>
                </a:solidFill>
                <a:latin typeface="Arial"/>
                <a:ea typeface="Arial"/>
                <a:cs typeface="Arial"/>
                <a:sym typeface="Arial"/>
              </a:rPr>
              <a:t>.</a:t>
            </a:r>
            <a:r>
              <a:rPr b="0" i="0" lang="en-US" sz="1800" u="none" cap="none" strike="noStrike">
                <a:solidFill>
                  <a:srgbClr val="795E26"/>
                </a:solidFill>
                <a:latin typeface="Arial"/>
                <a:ea typeface="Arial"/>
                <a:cs typeface="Arial"/>
                <a:sym typeface="Arial"/>
              </a:rPr>
              <a:t>remove</a:t>
            </a:r>
            <a:r>
              <a:rPr b="0" i="0" lang="en-US" sz="1800" u="none" cap="none" strike="noStrike">
                <a:solidFill>
                  <a:srgbClr val="00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a:t>
            </a:r>
            <a:r>
              <a:rPr b="0" i="0" lang="en-US" sz="1800" u="none" cap="none" strike="noStrike">
                <a:solidFill>
                  <a:srgbClr val="EE0000"/>
                </a:solidFill>
                <a:latin typeface="Arial"/>
                <a:ea typeface="Arial"/>
                <a:cs typeface="Arial"/>
                <a:sym typeface="Arial"/>
              </a:rPr>
              <a:t>\\</a:t>
            </a:r>
            <a:r>
              <a:rPr b="0" i="0" lang="en-US" sz="1800" u="none" cap="none" strike="noStrike">
                <a:solidFill>
                  <a:srgbClr val="A31515"/>
                </a:solidFill>
                <a:latin typeface="Arial"/>
                <a:ea typeface="Arial"/>
                <a:cs typeface="Arial"/>
                <a:sym typeface="Arial"/>
              </a:rPr>
              <a:t>foo.txt"</a:t>
            </a:r>
            <a:r>
              <a:rPr b="0" i="0" lang="en-US" sz="18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320" name="Google Shape;320;p20"/>
          <p:cNvSpPr txBox="1"/>
          <p:nvPr/>
        </p:nvSpPr>
        <p:spPr>
          <a:xfrm>
            <a:off x="3329290" y="1398858"/>
            <a:ext cx="28477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Required Module</a:t>
            </a:r>
            <a:endParaRPr b="0" i="0" sz="1400" u="none" cap="none" strike="noStrike">
              <a:solidFill>
                <a:srgbClr val="000000"/>
              </a:solidFill>
              <a:latin typeface="Arial"/>
              <a:ea typeface="Arial"/>
              <a:cs typeface="Arial"/>
              <a:sym typeface="Arial"/>
            </a:endParaRPr>
          </a:p>
        </p:txBody>
      </p:sp>
      <p:sp>
        <p:nvSpPr>
          <p:cNvPr id="321" name="Google Shape;321;p20"/>
          <p:cNvSpPr txBox="1"/>
          <p:nvPr/>
        </p:nvSpPr>
        <p:spPr>
          <a:xfrm>
            <a:off x="5687438" y="2228671"/>
            <a:ext cx="414479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Old file name     New file name</a:t>
            </a:r>
            <a:endParaRPr b="0" i="0" sz="1400" u="none" cap="none" strike="noStrike">
              <a:solidFill>
                <a:srgbClr val="000000"/>
              </a:solidFill>
              <a:latin typeface="Arial"/>
              <a:ea typeface="Arial"/>
              <a:cs typeface="Arial"/>
              <a:sym typeface="Arial"/>
            </a:endParaRPr>
          </a:p>
        </p:txBody>
      </p:sp>
      <p:sp>
        <p:nvSpPr>
          <p:cNvPr id="322" name="Google Shape;322;p20"/>
          <p:cNvSpPr txBox="1"/>
          <p:nvPr/>
        </p:nvSpPr>
        <p:spPr>
          <a:xfrm>
            <a:off x="6014936" y="3572852"/>
            <a:ext cx="220493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File to remove</a:t>
            </a:r>
            <a:endParaRPr b="0" i="0" sz="1400" u="none" cap="none" strike="noStrike">
              <a:solidFill>
                <a:srgbClr val="000000"/>
              </a:solidFill>
              <a:latin typeface="Arial"/>
              <a:ea typeface="Arial"/>
              <a:cs typeface="Arial"/>
              <a:sym typeface="Arial"/>
            </a:endParaRPr>
          </a:p>
        </p:txBody>
      </p:sp>
      <p:cxnSp>
        <p:nvCxnSpPr>
          <p:cNvPr id="323" name="Google Shape;323;p20"/>
          <p:cNvCxnSpPr>
            <a:stCxn id="320" idx="1"/>
          </p:cNvCxnSpPr>
          <p:nvPr/>
        </p:nvCxnSpPr>
        <p:spPr>
          <a:xfrm flipH="1">
            <a:off x="2110990" y="1583524"/>
            <a:ext cx="1218300" cy="923400"/>
          </a:xfrm>
          <a:prstGeom prst="straightConnector1">
            <a:avLst/>
          </a:prstGeom>
          <a:noFill/>
          <a:ln cap="flat" cmpd="sng" w="9525">
            <a:solidFill>
              <a:schemeClr val="accent1"/>
            </a:solidFill>
            <a:prstDash val="solid"/>
            <a:miter lim="800000"/>
            <a:headEnd len="sm" w="sm" type="none"/>
            <a:tailEnd len="med" w="med" type="triangle"/>
          </a:ln>
        </p:spPr>
      </p:cxnSp>
      <p:cxnSp>
        <p:nvCxnSpPr>
          <p:cNvPr id="324" name="Google Shape;324;p20"/>
          <p:cNvCxnSpPr/>
          <p:nvPr/>
        </p:nvCxnSpPr>
        <p:spPr>
          <a:xfrm flipH="1">
            <a:off x="3988340" y="2598003"/>
            <a:ext cx="2107660" cy="378661"/>
          </a:xfrm>
          <a:prstGeom prst="straightConnector1">
            <a:avLst/>
          </a:prstGeom>
          <a:noFill/>
          <a:ln cap="flat" cmpd="sng" w="9525">
            <a:solidFill>
              <a:schemeClr val="accent1"/>
            </a:solidFill>
            <a:prstDash val="solid"/>
            <a:miter lim="800000"/>
            <a:headEnd len="sm" w="sm" type="none"/>
            <a:tailEnd len="med" w="med" type="triangle"/>
          </a:ln>
        </p:spPr>
      </p:cxnSp>
      <p:cxnSp>
        <p:nvCxnSpPr>
          <p:cNvPr id="325" name="Google Shape;325;p20"/>
          <p:cNvCxnSpPr/>
          <p:nvPr/>
        </p:nvCxnSpPr>
        <p:spPr>
          <a:xfrm flipH="1">
            <a:off x="6799634" y="2598003"/>
            <a:ext cx="1420239" cy="370612"/>
          </a:xfrm>
          <a:prstGeom prst="straightConnector1">
            <a:avLst/>
          </a:prstGeom>
          <a:noFill/>
          <a:ln cap="flat" cmpd="sng" w="9525">
            <a:solidFill>
              <a:schemeClr val="accent1"/>
            </a:solidFill>
            <a:prstDash val="solid"/>
            <a:miter lim="800000"/>
            <a:headEnd len="sm" w="sm" type="none"/>
            <a:tailEnd len="med" w="med" type="triangle"/>
          </a:ln>
        </p:spPr>
      </p:cxnSp>
      <p:cxnSp>
        <p:nvCxnSpPr>
          <p:cNvPr id="326" name="Google Shape;326;p20"/>
          <p:cNvCxnSpPr>
            <a:stCxn id="322" idx="2"/>
          </p:cNvCxnSpPr>
          <p:nvPr/>
        </p:nvCxnSpPr>
        <p:spPr>
          <a:xfrm flipH="1">
            <a:off x="4127905" y="3942184"/>
            <a:ext cx="2989500" cy="3177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1"/>
          <p:cNvSpPr txBox="1"/>
          <p:nvPr>
            <p:ph type="title"/>
          </p:nvPr>
        </p:nvSpPr>
        <p:spPr>
          <a:xfrm>
            <a:off x="429638" y="7329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entury Gothic"/>
              <a:buNone/>
            </a:pPr>
            <a:r>
              <a:rPr lang="en-US"/>
              <a:t>File – Working with directories</a:t>
            </a:r>
            <a:endParaRPr/>
          </a:p>
        </p:txBody>
      </p:sp>
      <p:pic>
        <p:nvPicPr>
          <p:cNvPr descr="Logo&#10;&#10;Description automatically generated" id="333" name="Google Shape;333;p21"/>
          <p:cNvPicPr preferRelativeResize="0"/>
          <p:nvPr/>
        </p:nvPicPr>
        <p:blipFill rotWithShape="1">
          <a:blip r:embed="rId3">
            <a:alphaModFix/>
          </a:blip>
          <a:srcRect b="0" l="0" r="0" t="0"/>
          <a:stretch/>
        </p:blipFill>
        <p:spPr>
          <a:xfrm>
            <a:off x="10535383" y="154634"/>
            <a:ext cx="1356523" cy="390116"/>
          </a:xfrm>
          <a:custGeom>
            <a:rect b="b" l="l" r="r" t="t"/>
            <a:pathLst>
              <a:path extrusionOk="0" fill="none" h="390116" w="1356523">
                <a:moveTo>
                  <a:pt x="0" y="0"/>
                </a:moveTo>
                <a:cubicBezTo>
                  <a:pt x="118827" y="-34589"/>
                  <a:pt x="330422" y="30000"/>
                  <a:pt x="425044" y="0"/>
                </a:cubicBezTo>
                <a:cubicBezTo>
                  <a:pt x="519666" y="-30000"/>
                  <a:pt x="758120" y="5730"/>
                  <a:pt x="850088" y="0"/>
                </a:cubicBezTo>
                <a:cubicBezTo>
                  <a:pt x="942056" y="-5730"/>
                  <a:pt x="1207515" y="27858"/>
                  <a:pt x="1356523" y="0"/>
                </a:cubicBezTo>
                <a:cubicBezTo>
                  <a:pt x="1384736" y="134729"/>
                  <a:pt x="1334998" y="241196"/>
                  <a:pt x="1356523" y="390116"/>
                </a:cubicBezTo>
                <a:cubicBezTo>
                  <a:pt x="1142280" y="437097"/>
                  <a:pt x="1110910" y="382837"/>
                  <a:pt x="917914" y="390116"/>
                </a:cubicBezTo>
                <a:cubicBezTo>
                  <a:pt x="724918" y="397395"/>
                  <a:pt x="575342" y="340271"/>
                  <a:pt x="438609" y="390116"/>
                </a:cubicBezTo>
                <a:cubicBezTo>
                  <a:pt x="301877" y="439961"/>
                  <a:pt x="97680" y="385748"/>
                  <a:pt x="0" y="390116"/>
                </a:cubicBezTo>
                <a:cubicBezTo>
                  <a:pt x="-39969" y="303919"/>
                  <a:pt x="38502" y="98939"/>
                  <a:pt x="0" y="0"/>
                </a:cubicBezTo>
                <a:close/>
              </a:path>
              <a:path extrusionOk="0" h="390116" w="1356523">
                <a:moveTo>
                  <a:pt x="0" y="0"/>
                </a:moveTo>
                <a:cubicBezTo>
                  <a:pt x="97217" y="-22886"/>
                  <a:pt x="349642" y="57265"/>
                  <a:pt x="479305" y="0"/>
                </a:cubicBezTo>
                <a:cubicBezTo>
                  <a:pt x="608969" y="-57265"/>
                  <a:pt x="739563" y="12802"/>
                  <a:pt x="931479" y="0"/>
                </a:cubicBezTo>
                <a:cubicBezTo>
                  <a:pt x="1123395" y="-12802"/>
                  <a:pt x="1229081" y="39263"/>
                  <a:pt x="1356523" y="0"/>
                </a:cubicBezTo>
                <a:cubicBezTo>
                  <a:pt x="1401789" y="96152"/>
                  <a:pt x="1329724" y="224390"/>
                  <a:pt x="1356523" y="390116"/>
                </a:cubicBezTo>
                <a:cubicBezTo>
                  <a:pt x="1144042" y="390922"/>
                  <a:pt x="1086450" y="381022"/>
                  <a:pt x="904349" y="390116"/>
                </a:cubicBezTo>
                <a:cubicBezTo>
                  <a:pt x="722248" y="399210"/>
                  <a:pt x="681121" y="341113"/>
                  <a:pt x="465740" y="390116"/>
                </a:cubicBezTo>
                <a:cubicBezTo>
                  <a:pt x="250359" y="439119"/>
                  <a:pt x="103790" y="387598"/>
                  <a:pt x="0" y="390116"/>
                </a:cubicBezTo>
                <a:cubicBezTo>
                  <a:pt x="-25731" y="225233"/>
                  <a:pt x="32357" y="171897"/>
                  <a:pt x="0" y="0"/>
                </a:cubicBezTo>
                <a:close/>
              </a:path>
            </a:pathLst>
          </a:custGeom>
          <a:noFill/>
          <a:ln cap="sq" cmpd="thickThin" w="28575">
            <a:solidFill>
              <a:srgbClr val="000000"/>
            </a:solidFill>
            <a:prstDash val="solid"/>
            <a:miter lim="800000"/>
            <a:headEnd len="sm" w="sm" type="none"/>
            <a:tailEnd len="sm" w="sm" type="none"/>
          </a:ln>
        </p:spPr>
      </p:pic>
      <p:sp>
        <p:nvSpPr>
          <p:cNvPr id="334" name="Google Shape;334;p21"/>
          <p:cNvSpPr txBox="1"/>
          <p:nvPr/>
        </p:nvSpPr>
        <p:spPr>
          <a:xfrm>
            <a:off x="303179" y="1398858"/>
            <a:ext cx="6846652" cy="47705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AF00DB"/>
                </a:solidFill>
                <a:latin typeface="Arial"/>
                <a:ea typeface="Arial"/>
                <a:cs typeface="Arial"/>
                <a:sym typeface="Arial"/>
              </a:rPr>
              <a:t>import</a:t>
            </a:r>
            <a:r>
              <a:rPr b="0" i="0" lang="en-US" sz="1600" u="none" cap="none" strike="noStrike">
                <a:solidFill>
                  <a:srgbClr val="000000"/>
                </a:solidFill>
                <a:latin typeface="Arial"/>
                <a:ea typeface="Arial"/>
                <a:cs typeface="Arial"/>
                <a:sym typeface="Arial"/>
              </a:rPr>
              <a:t> </a:t>
            </a:r>
            <a:r>
              <a:rPr b="0" i="0" lang="en-US" sz="1600" u="none" cap="none" strike="noStrike">
                <a:solidFill>
                  <a:srgbClr val="267F99"/>
                </a:solidFill>
                <a:latin typeface="Arial"/>
                <a:ea typeface="Arial"/>
                <a:cs typeface="Arial"/>
                <a:sym typeface="Arial"/>
              </a:rPr>
              <a:t>os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#get the current directory location</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currentDirectory</a:t>
            </a:r>
            <a:r>
              <a:rPr b="0" i="0" lang="en-US" sz="1600" u="none" cap="none" strike="noStrike">
                <a:solidFill>
                  <a:srgbClr val="000000"/>
                </a:solidFill>
                <a:latin typeface="Arial"/>
                <a:ea typeface="Arial"/>
                <a:cs typeface="Arial"/>
                <a:sym typeface="Arial"/>
              </a:rPr>
              <a:t> = </a:t>
            </a:r>
            <a:r>
              <a:rPr b="0" i="0" lang="en-US" sz="1600" u="none" cap="none" strike="noStrike">
                <a:solidFill>
                  <a:srgbClr val="267F99"/>
                </a:solidFill>
                <a:latin typeface="Arial"/>
                <a:ea typeface="Arial"/>
                <a:cs typeface="Arial"/>
                <a:sym typeface="Arial"/>
              </a:rPr>
              <a:t>os</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getcwd</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'Current directory locaiton: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currentDirectory</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#change the directory to a new one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path</a:t>
            </a:r>
            <a:r>
              <a:rPr b="0" i="0" lang="en-US" sz="1600" u="none" cap="none" strike="noStrike">
                <a:solidFill>
                  <a:srgbClr val="000000"/>
                </a:solidFill>
                <a:latin typeface="Arial"/>
                <a:ea typeface="Arial"/>
                <a:cs typeface="Arial"/>
                <a:sym typeface="Arial"/>
              </a:rPr>
              <a:t> = </a:t>
            </a:r>
            <a:r>
              <a:rPr b="0" i="0" lang="en-US" sz="1600" u="none" cap="none" strike="noStrike">
                <a:solidFill>
                  <a:srgbClr val="A31515"/>
                </a:solidFill>
                <a:latin typeface="Arial"/>
                <a:ea typeface="Arial"/>
                <a:cs typeface="Arial"/>
                <a:sym typeface="Arial"/>
              </a:rPr>
              <a:t>'F:'</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67F99"/>
                </a:solidFill>
                <a:latin typeface="Arial"/>
                <a:ea typeface="Arial"/>
                <a:cs typeface="Arial"/>
                <a:sym typeface="Arial"/>
              </a:rPr>
              <a:t>os</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chdir</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path</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1080"/>
                </a:solidFill>
                <a:latin typeface="Arial"/>
                <a:ea typeface="Arial"/>
                <a:cs typeface="Arial"/>
                <a:sym typeface="Arial"/>
              </a:rPr>
              <a:t>currentDirectory</a:t>
            </a:r>
            <a:r>
              <a:rPr b="0" i="0" lang="en-US" sz="1600" u="none" cap="none" strike="noStrike">
                <a:solidFill>
                  <a:srgbClr val="000000"/>
                </a:solidFill>
                <a:latin typeface="Arial"/>
                <a:ea typeface="Arial"/>
                <a:cs typeface="Arial"/>
                <a:sym typeface="Arial"/>
              </a:rPr>
              <a:t> = </a:t>
            </a:r>
            <a:r>
              <a:rPr b="0" i="0" lang="en-US" sz="1600" u="none" cap="none" strike="noStrike">
                <a:solidFill>
                  <a:srgbClr val="267F99"/>
                </a:solidFill>
                <a:latin typeface="Arial"/>
                <a:ea typeface="Arial"/>
                <a:cs typeface="Arial"/>
                <a:sym typeface="Arial"/>
              </a:rPr>
              <a:t>os</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getcwd</a:t>
            </a:r>
            <a:r>
              <a:rPr b="0" i="0" lang="en-US" sz="16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795E26"/>
                </a:solidFill>
                <a:latin typeface="Arial"/>
                <a:ea typeface="Arial"/>
                <a:cs typeface="Arial"/>
                <a:sym typeface="Arial"/>
              </a:rPr>
              <a:t>print</a:t>
            </a:r>
            <a:r>
              <a:rPr b="0" i="0" lang="en-US" sz="1600" u="none" cap="none" strike="noStrike">
                <a:solidFill>
                  <a:srgbClr val="000000"/>
                </a:solidFill>
                <a:latin typeface="Arial"/>
                <a:ea typeface="Arial"/>
                <a:cs typeface="Arial"/>
                <a:sym typeface="Arial"/>
              </a:rPr>
              <a:t>(</a:t>
            </a:r>
            <a:r>
              <a:rPr b="0" i="0" lang="en-US" sz="1600" u="none" cap="none" strike="noStrike">
                <a:solidFill>
                  <a:srgbClr val="A31515"/>
                </a:solidFill>
                <a:latin typeface="Arial"/>
                <a:ea typeface="Arial"/>
                <a:cs typeface="Arial"/>
                <a:sym typeface="Arial"/>
              </a:rPr>
              <a:t>'Current directory locaiton: '</a:t>
            </a:r>
            <a:r>
              <a:rPr b="0" i="0" lang="en-US" sz="1600" u="none" cap="none" strike="noStrike">
                <a:solidFill>
                  <a:srgbClr val="000000"/>
                </a:solidFill>
                <a:latin typeface="Arial"/>
                <a:ea typeface="Arial"/>
                <a:cs typeface="Arial"/>
                <a:sym typeface="Arial"/>
              </a:rPr>
              <a:t>, </a:t>
            </a:r>
            <a:r>
              <a:rPr b="0" i="0" lang="en-US" sz="1600" u="none" cap="none" strike="noStrike">
                <a:solidFill>
                  <a:srgbClr val="001080"/>
                </a:solidFill>
                <a:latin typeface="Arial"/>
                <a:ea typeface="Arial"/>
                <a:cs typeface="Arial"/>
                <a:sym typeface="Arial"/>
              </a:rPr>
              <a:t>currentDirectory</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#create a directory</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1080"/>
                </a:solidFill>
                <a:latin typeface="Arial"/>
                <a:ea typeface="Arial"/>
                <a:cs typeface="Arial"/>
                <a:sym typeface="Arial"/>
              </a:rPr>
              <a:t>path</a:t>
            </a:r>
            <a:r>
              <a:rPr b="0" i="0" lang="en-US" sz="1600" u="none" cap="none" strike="noStrike">
                <a:solidFill>
                  <a:srgbClr val="000000"/>
                </a:solidFill>
                <a:latin typeface="Arial"/>
                <a:ea typeface="Arial"/>
                <a:cs typeface="Arial"/>
                <a:sym typeface="Arial"/>
              </a:rPr>
              <a:t> = </a:t>
            </a:r>
            <a:r>
              <a:rPr b="0" i="0" lang="en-US" sz="1600" u="none" cap="none" strike="noStrike">
                <a:solidFill>
                  <a:srgbClr val="A31515"/>
                </a:solidFill>
                <a:latin typeface="Arial"/>
                <a:ea typeface="Arial"/>
                <a:cs typeface="Arial"/>
                <a:sym typeface="Arial"/>
              </a:rPr>
              <a:t>'/testfile'</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267F99"/>
                </a:solidFill>
                <a:latin typeface="Arial"/>
                <a:ea typeface="Arial"/>
                <a:cs typeface="Arial"/>
                <a:sym typeface="Arial"/>
              </a:rPr>
              <a:t>os</a:t>
            </a:r>
            <a:r>
              <a:rPr b="0" i="0" lang="en-US" sz="1600" u="none" cap="none" strike="noStrike">
                <a:solidFill>
                  <a:srgbClr val="000000"/>
                </a:solidFill>
                <a:latin typeface="Arial"/>
                <a:ea typeface="Arial"/>
                <a:cs typeface="Arial"/>
                <a:sym typeface="Arial"/>
              </a:rPr>
              <a:t>.</a:t>
            </a:r>
            <a:r>
              <a:rPr b="0" i="0" lang="en-US" sz="1600" u="none" cap="none" strike="noStrike">
                <a:solidFill>
                  <a:srgbClr val="795E26"/>
                </a:solidFill>
                <a:latin typeface="Arial"/>
                <a:ea typeface="Arial"/>
                <a:cs typeface="Arial"/>
                <a:sym typeface="Arial"/>
              </a:rPr>
              <a:t>mkdir</a:t>
            </a:r>
            <a:r>
              <a:rPr b="0" i="0" lang="en-US" sz="1600" u="none" cap="none" strike="noStrike">
                <a:solidFill>
                  <a:srgbClr val="000000"/>
                </a:solidFill>
                <a:latin typeface="Arial"/>
                <a:ea typeface="Arial"/>
                <a:cs typeface="Arial"/>
                <a:sym typeface="Arial"/>
              </a:rPr>
              <a:t>(</a:t>
            </a:r>
            <a:r>
              <a:rPr b="0" i="0" lang="en-US" sz="1600" u="none" cap="none" strike="noStrike">
                <a:solidFill>
                  <a:srgbClr val="001080"/>
                </a:solidFill>
                <a:latin typeface="Arial"/>
                <a:ea typeface="Arial"/>
                <a:cs typeface="Arial"/>
                <a:sym typeface="Arial"/>
              </a:rPr>
              <a:t>path</a:t>
            </a:r>
            <a:r>
              <a:rPr b="0" i="0" lang="en-US" sz="16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br>
              <a:rPr b="0" i="0" lang="en-US" sz="1600" u="none" cap="none" strike="noStrike">
                <a:solidFill>
                  <a:srgbClr val="000000"/>
                </a:solidFill>
                <a:latin typeface="Arial"/>
                <a:ea typeface="Arial"/>
                <a:cs typeface="Arial"/>
                <a:sym typeface="Arial"/>
              </a:rPr>
            </a:br>
            <a:r>
              <a:rPr b="0" i="0" lang="en-US" sz="1600" u="none" cap="none" strike="noStrike">
                <a:solidFill>
                  <a:srgbClr val="008000"/>
                </a:solidFill>
                <a:latin typeface="Arial"/>
                <a:ea typeface="Arial"/>
                <a:cs typeface="Arial"/>
                <a:sym typeface="Arial"/>
              </a:rPr>
              <a:t># to remove the given directory</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8000"/>
                </a:solidFill>
                <a:latin typeface="Arial"/>
                <a:ea typeface="Arial"/>
                <a:cs typeface="Arial"/>
                <a:sym typeface="Arial"/>
              </a:rPr>
              <a:t>#os.rmdir( "/testfile" )</a:t>
            </a:r>
            <a:endParaRPr b="0" i="0" sz="1600" u="none" cap="none" strike="noStrike">
              <a:solidFill>
                <a:srgbClr val="000000"/>
              </a:solidFill>
              <a:latin typeface="Arial"/>
              <a:ea typeface="Arial"/>
              <a:cs typeface="Arial"/>
              <a:sym typeface="Arial"/>
            </a:endParaRPr>
          </a:p>
        </p:txBody>
      </p:sp>
      <p:sp>
        <p:nvSpPr>
          <p:cNvPr id="335" name="Google Shape;335;p21"/>
          <p:cNvSpPr txBox="1"/>
          <p:nvPr/>
        </p:nvSpPr>
        <p:spPr>
          <a:xfrm>
            <a:off x="8572499" y="2082037"/>
            <a:ext cx="29306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Get the current directory</a:t>
            </a:r>
            <a:endParaRPr b="0" i="0" sz="1400" u="none" cap="none" strike="noStrike">
              <a:solidFill>
                <a:srgbClr val="000000"/>
              </a:solidFill>
              <a:latin typeface="Arial"/>
              <a:ea typeface="Arial"/>
              <a:cs typeface="Arial"/>
              <a:sym typeface="Arial"/>
            </a:endParaRPr>
          </a:p>
        </p:txBody>
      </p:sp>
      <p:sp>
        <p:nvSpPr>
          <p:cNvPr id="336" name="Google Shape;336;p21"/>
          <p:cNvSpPr txBox="1"/>
          <p:nvPr/>
        </p:nvSpPr>
        <p:spPr>
          <a:xfrm>
            <a:off x="8572499" y="3414794"/>
            <a:ext cx="297228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Change to new directory</a:t>
            </a:r>
            <a:endParaRPr b="0" i="0" sz="1400" u="none" cap="none" strike="noStrike">
              <a:solidFill>
                <a:srgbClr val="000000"/>
              </a:solidFill>
              <a:latin typeface="Arial"/>
              <a:ea typeface="Arial"/>
              <a:cs typeface="Arial"/>
              <a:sym typeface="Arial"/>
            </a:endParaRPr>
          </a:p>
        </p:txBody>
      </p:sp>
      <p:sp>
        <p:nvSpPr>
          <p:cNvPr id="337" name="Google Shape;337;p21"/>
          <p:cNvSpPr txBox="1"/>
          <p:nvPr/>
        </p:nvSpPr>
        <p:spPr>
          <a:xfrm>
            <a:off x="8572499" y="4747551"/>
            <a:ext cx="223651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Create a directory</a:t>
            </a:r>
            <a:endParaRPr b="0" i="0" sz="1400" u="none" cap="none" strike="noStrike">
              <a:solidFill>
                <a:srgbClr val="000000"/>
              </a:solidFill>
              <a:latin typeface="Arial"/>
              <a:ea typeface="Arial"/>
              <a:cs typeface="Arial"/>
              <a:sym typeface="Arial"/>
            </a:endParaRPr>
          </a:p>
        </p:txBody>
      </p:sp>
      <p:sp>
        <p:nvSpPr>
          <p:cNvPr id="338" name="Google Shape;338;p21"/>
          <p:cNvSpPr txBox="1"/>
          <p:nvPr/>
        </p:nvSpPr>
        <p:spPr>
          <a:xfrm>
            <a:off x="8572499" y="5532249"/>
            <a:ext cx="219643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entury Gothic"/>
                <a:ea typeface="Century Gothic"/>
                <a:cs typeface="Century Gothic"/>
                <a:sym typeface="Century Gothic"/>
              </a:rPr>
              <a:t>Delete a directory</a:t>
            </a:r>
            <a:endParaRPr b="0" i="0" sz="1400" u="none" cap="none" strike="noStrike">
              <a:solidFill>
                <a:srgbClr val="000000"/>
              </a:solidFill>
              <a:latin typeface="Arial"/>
              <a:ea typeface="Arial"/>
              <a:cs typeface="Arial"/>
              <a:sym typeface="Arial"/>
            </a:endParaRPr>
          </a:p>
        </p:txBody>
      </p:sp>
      <p:sp>
        <p:nvSpPr>
          <p:cNvPr id="339" name="Google Shape;339;p21"/>
          <p:cNvSpPr/>
          <p:nvPr/>
        </p:nvSpPr>
        <p:spPr>
          <a:xfrm>
            <a:off x="7548664" y="2159540"/>
            <a:ext cx="924127" cy="155643"/>
          </a:xfrm>
          <a:prstGeom prst="leftArrow">
            <a:avLst>
              <a:gd fmla="val 50000" name="adj1"/>
              <a:gd fmla="val 50000" name="adj2"/>
            </a:avLst>
          </a:prstGeom>
          <a:solidFill>
            <a:schemeClr val="accent1"/>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0" name="Google Shape;340;p21"/>
          <p:cNvSpPr/>
          <p:nvPr/>
        </p:nvSpPr>
        <p:spPr>
          <a:xfrm>
            <a:off x="7548663" y="3521638"/>
            <a:ext cx="924127" cy="155643"/>
          </a:xfrm>
          <a:prstGeom prst="leftArrow">
            <a:avLst>
              <a:gd fmla="val 50000" name="adj1"/>
              <a:gd fmla="val 50000" name="adj2"/>
            </a:avLst>
          </a:prstGeom>
          <a:solidFill>
            <a:schemeClr val="accent1"/>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1" name="Google Shape;341;p21"/>
          <p:cNvSpPr/>
          <p:nvPr/>
        </p:nvSpPr>
        <p:spPr>
          <a:xfrm>
            <a:off x="7548662" y="4854395"/>
            <a:ext cx="924127" cy="155643"/>
          </a:xfrm>
          <a:prstGeom prst="leftArrow">
            <a:avLst>
              <a:gd fmla="val 50000" name="adj1"/>
              <a:gd fmla="val 50000" name="adj2"/>
            </a:avLst>
          </a:prstGeom>
          <a:solidFill>
            <a:schemeClr val="accent1"/>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342" name="Google Shape;342;p21"/>
          <p:cNvSpPr/>
          <p:nvPr/>
        </p:nvSpPr>
        <p:spPr>
          <a:xfrm>
            <a:off x="7548662" y="5615077"/>
            <a:ext cx="924127" cy="155643"/>
          </a:xfrm>
          <a:prstGeom prst="leftArrow">
            <a:avLst>
              <a:gd fmla="val 50000" name="adj1"/>
              <a:gd fmla="val 50000" name="adj2"/>
            </a:avLst>
          </a:prstGeom>
          <a:solidFill>
            <a:schemeClr val="accent1"/>
          </a:solidFill>
          <a:ln cap="flat" cmpd="sng" w="12700">
            <a:solidFill>
              <a:srgbClr val="107E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2"/>
          <p:cNvSpPr txBox="1"/>
          <p:nvPr>
            <p:ph type="title"/>
          </p:nvPr>
        </p:nvSpPr>
        <p:spPr>
          <a:xfrm>
            <a:off x="831850" y="1078991"/>
            <a:ext cx="5266944" cy="3136392"/>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entury Gothic"/>
              <a:buNone/>
            </a:pPr>
            <a:r>
              <a:rPr b="1" lang="en-US"/>
              <a:t>File </a:t>
            </a:r>
            <a:br>
              <a:rPr b="1" lang="en-US"/>
            </a:br>
            <a:r>
              <a:rPr b="1" lang="en-US"/>
              <a:t>Exercises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rushVTI">
  <a:themeElements>
    <a:clrScheme name="AnalogousFromDarkSeed_2SEEDS">
      <a:dk1>
        <a:srgbClr val="000000"/>
      </a:dk1>
      <a:lt1>
        <a:srgbClr val="FFFFFF"/>
      </a:lt1>
      <a:dk2>
        <a:srgbClr val="1B2C30"/>
      </a:dk2>
      <a:lt2>
        <a:srgbClr val="F3F1F0"/>
      </a:lt2>
      <a:accent1>
        <a:srgbClr val="17AED5"/>
      </a:accent1>
      <a:accent2>
        <a:srgbClr val="20B596"/>
      </a:accent2>
      <a:accent3>
        <a:srgbClr val="2971E7"/>
      </a:accent3>
      <a:accent4>
        <a:srgbClr val="D51731"/>
      </a:accent4>
      <a:accent5>
        <a:srgbClr val="E75E29"/>
      </a:accent5>
      <a:accent6>
        <a:srgbClr val="D19817"/>
      </a:accent6>
      <a:hlink>
        <a:srgbClr val="A14EC4"/>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2021-11-24T14:43:08Z</dcterms:created>
  <dc:creator>M.M. Mahbubul Syeed</dc:creator>
</cp:coreProperties>
</file>