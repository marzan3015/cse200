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Century Gothic"/>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7BkA6eNWEPnUmgxdeX88LNVvz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CenturyGothic-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CenturyGothic-bold.fntdata"/><Relationship Id="rId6" Type="http://schemas.openxmlformats.org/officeDocument/2006/relationships/slide" Target="slides/slide2.xml"/><Relationship Id="rId18" Type="http://schemas.openxmlformats.org/officeDocument/2006/relationships/font" Target="fonts/CenturyGothic-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descr="Tag=AccentColor&#10;Flavor=Light&#10;Target=Fill" id="12" name="Google Shape;12;p15"/>
          <p:cNvSpPr/>
          <p:nvPr/>
        </p:nvSpPr>
        <p:spPr>
          <a:xfrm flipH="1">
            <a:off x="2599854" y="527562"/>
            <a:ext cx="6992292" cy="5102484"/>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3" name="Google Shape;13;p15"/>
          <p:cNvSpPr txBox="1"/>
          <p:nvPr>
            <p:ph type="ctrTitle"/>
          </p:nvPr>
        </p:nvSpPr>
        <p:spPr>
          <a:xfrm>
            <a:off x="1508760" y="1591056"/>
            <a:ext cx="5705856" cy="32644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 type="subTitle"/>
          </p:nvPr>
        </p:nvSpPr>
        <p:spPr>
          <a:xfrm>
            <a:off x="1524000" y="4928616"/>
            <a:ext cx="5705856" cy="99669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dk1"/>
              </a:buClr>
              <a:buSzPts val="2400"/>
              <a:buNone/>
              <a:defRPr sz="2400" cap="none"/>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descr="Tag=AccentColor&#10;Flavor=Light&#10;Target=Fill" id="19" name="Google Shape;19;p16"/>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0" name="Google Shape;2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body"/>
          </p:nvPr>
        </p:nvSpPr>
        <p:spPr>
          <a:xfrm>
            <a:off x="838200" y="2011680"/>
            <a:ext cx="1051560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type="blank">
  <p:cSld name="BLANK">
    <p:spTree>
      <p:nvGrpSpPr>
        <p:cNvPr id="25" name="Shape 25"/>
        <p:cNvGrpSpPr/>
        <p:nvPr/>
      </p:nvGrpSpPr>
      <p:grpSpPr>
        <a:xfrm>
          <a:off x="0" y="0"/>
          <a:ext cx="0" cy="0"/>
          <a:chOff x="0" y="0"/>
          <a:chExt cx="0" cy="0"/>
        </a:xfrm>
      </p:grpSpPr>
      <p:sp>
        <p:nvSpPr>
          <p:cNvPr descr="Mask ID=&#10;Mask position=bottom, center&#10;Mask family= brushstroke, landscape, wide" id="26" name="Google Shape;26;p18"/>
          <p:cNvSpPr/>
          <p:nvPr/>
        </p:nvSpPr>
        <p:spPr>
          <a:xfrm>
            <a:off x="1768100" y="-1"/>
            <a:ext cx="10423900" cy="5920155"/>
          </a:xfrm>
          <a:custGeom>
            <a:rect b="b" l="l" r="r" t="t"/>
            <a:pathLst>
              <a:path extrusionOk="0" h="5491534" w="10423900">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7" name="Google Shape;2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descr="Tag=AccentColor&#10;Flavor=Light&#10;Target=Fill" id="31" name="Google Shape;31;p17"/>
          <p:cNvSpPr/>
          <p:nvPr/>
        </p:nvSpPr>
        <p:spPr>
          <a:xfrm>
            <a:off x="7209816" y="0"/>
            <a:ext cx="4143984" cy="5747660"/>
          </a:xfrm>
          <a:custGeom>
            <a:rect b="b" l="l" r="r" t="t"/>
            <a:pathLst>
              <a:path extrusionOk="0" h="5956080" w="384375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17"/>
          <p:cNvSpPr txBox="1"/>
          <p:nvPr>
            <p:ph type="title"/>
          </p:nvPr>
        </p:nvSpPr>
        <p:spPr>
          <a:xfrm>
            <a:off x="831850" y="1078991"/>
            <a:ext cx="5266944" cy="31363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831850" y="4279392"/>
            <a:ext cx="526694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cap="none">
                <a:solidFill>
                  <a:schemeClr val="dk1"/>
                </a:solidFil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100000"/>
              </a:lnSpc>
              <a:spcBef>
                <a:spcPts val="500"/>
              </a:spcBef>
              <a:spcAft>
                <a:spcPts val="0"/>
              </a:spcAft>
              <a:buClr>
                <a:srgbClr val="888888"/>
              </a:buClr>
              <a:buSzPts val="1600"/>
              <a:buNone/>
              <a:defRPr sz="1600">
                <a:solidFill>
                  <a:srgbClr val="888888"/>
                </a:solidFill>
              </a:defRPr>
            </a:lvl4pPr>
            <a:lvl5pPr indent="-228600" lvl="4" marL="2286000" algn="l">
              <a:lnSpc>
                <a:spcPct val="10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descr="Tag=AccentColor&#10;Flavor=Light&#10;Target=Fill" id="38" name="Google Shape;38;p19"/>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9" name="Google Shape;3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9"/>
          <p:cNvSpPr txBox="1"/>
          <p:nvPr>
            <p:ph idx="1" type="body"/>
          </p:nvPr>
        </p:nvSpPr>
        <p:spPr>
          <a:xfrm>
            <a:off x="838200"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9"/>
          <p:cNvSpPr txBox="1"/>
          <p:nvPr>
            <p:ph idx="2" type="body"/>
          </p:nvPr>
        </p:nvSpPr>
        <p:spPr>
          <a:xfrm>
            <a:off x="6419088"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descr="Tag=AccentColor&#10;Flavor=Light&#10;Target=Fill" id="46" name="Google Shape;46;p20"/>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47" name="Google Shape;47;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 type="body"/>
          </p:nvPr>
        </p:nvSpPr>
        <p:spPr>
          <a:xfrm>
            <a:off x="8397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0"/>
          <p:cNvSpPr txBox="1"/>
          <p:nvPr>
            <p:ph idx="2" type="body"/>
          </p:nvPr>
        </p:nvSpPr>
        <p:spPr>
          <a:xfrm>
            <a:off x="8397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0"/>
          <p:cNvSpPr txBox="1"/>
          <p:nvPr>
            <p:ph idx="3" type="body"/>
          </p:nvPr>
        </p:nvSpPr>
        <p:spPr>
          <a:xfrm>
            <a:off x="64190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0"/>
          <p:cNvSpPr txBox="1"/>
          <p:nvPr>
            <p:ph idx="4" type="body"/>
          </p:nvPr>
        </p:nvSpPr>
        <p:spPr>
          <a:xfrm>
            <a:off x="64190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descr="Tag=AccentColor&#10;Flavor=Light&#10;Target=Fill" id="56" name="Google Shape;56;p21"/>
          <p:cNvSpPr/>
          <p:nvPr/>
        </p:nvSpPr>
        <p:spPr>
          <a:xfrm flipH="1">
            <a:off x="1969639" y="181596"/>
            <a:ext cx="8252722" cy="6022258"/>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57" name="Google Shape;57;p21"/>
          <p:cNvSpPr txBox="1"/>
          <p:nvPr>
            <p:ph type="title"/>
          </p:nvPr>
        </p:nvSpPr>
        <p:spPr>
          <a:xfrm>
            <a:off x="2843784" y="1572768"/>
            <a:ext cx="6501384" cy="40965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1">
    <p:spTree>
      <p:nvGrpSpPr>
        <p:cNvPr id="61" name="Shape 61"/>
        <p:cNvGrpSpPr/>
        <p:nvPr/>
      </p:nvGrpSpPr>
      <p:grpSpPr>
        <a:xfrm>
          <a:off x="0" y="0"/>
          <a:ext cx="0" cy="0"/>
          <a:chOff x="0" y="0"/>
          <a:chExt cx="0" cy="0"/>
        </a:xfrm>
      </p:grpSpPr>
      <p:sp>
        <p:nvSpPr>
          <p:cNvPr id="62" name="Google Shape;6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descr="Tag=AccentColor&#10;Flavor=Light&#10;Target=Fill" id="66" name="Google Shape;66;p23"/>
          <p:cNvSpPr/>
          <p:nvPr/>
        </p:nvSpPr>
        <p:spPr>
          <a:xfrm>
            <a:off x="4726728" y="0"/>
            <a:ext cx="7472381" cy="6858000"/>
          </a:xfrm>
          <a:custGeom>
            <a:rect b="b" l="l" r="r" t="t"/>
            <a:pathLst>
              <a:path extrusionOk="0" h="6886575" w="7472381">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67" name="Google Shape;67;p23"/>
          <p:cNvSpPr txBox="1"/>
          <p:nvPr>
            <p:ph type="title"/>
          </p:nvPr>
        </p:nvSpPr>
        <p:spPr>
          <a:xfrm>
            <a:off x="839788" y="640080"/>
            <a:ext cx="3886200" cy="29535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 type="body"/>
          </p:nvPr>
        </p:nvSpPr>
        <p:spPr>
          <a:xfrm>
            <a:off x="7059168" y="640080"/>
            <a:ext cx="4489704" cy="5596128"/>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1000"/>
              </a:spcBef>
              <a:spcAft>
                <a:spcPts val="0"/>
              </a:spcAft>
              <a:buClr>
                <a:schemeClr val="dk1"/>
              </a:buClr>
              <a:buSzPts val="3200"/>
              <a:buChar char="•"/>
              <a:defRPr sz="3200"/>
            </a:lvl1pPr>
            <a:lvl2pPr indent="-406400" lvl="1" marL="914400" algn="l">
              <a:lnSpc>
                <a:spcPct val="100000"/>
              </a:lnSpc>
              <a:spcBef>
                <a:spcPts val="500"/>
              </a:spcBef>
              <a:spcAft>
                <a:spcPts val="0"/>
              </a:spcAft>
              <a:buClr>
                <a:schemeClr val="dk1"/>
              </a:buClr>
              <a:buSzPts val="2800"/>
              <a:buChar char="•"/>
              <a:defRPr sz="2800"/>
            </a:lvl2pPr>
            <a:lvl3pPr indent="-381000" lvl="2" marL="1371600" algn="l">
              <a:lnSpc>
                <a:spcPct val="100000"/>
              </a:lnSpc>
              <a:spcBef>
                <a:spcPts val="500"/>
              </a:spcBef>
              <a:spcAft>
                <a:spcPts val="0"/>
              </a:spcAft>
              <a:buClr>
                <a:schemeClr val="dk1"/>
              </a:buClr>
              <a:buSzPts val="2400"/>
              <a:buChar char="•"/>
              <a:defRPr sz="2400"/>
            </a:lvl3pPr>
            <a:lvl4pPr indent="-355600" lvl="3" marL="1828800" algn="l">
              <a:lnSpc>
                <a:spcPct val="100000"/>
              </a:lnSpc>
              <a:spcBef>
                <a:spcPts val="500"/>
              </a:spcBef>
              <a:spcAft>
                <a:spcPts val="0"/>
              </a:spcAft>
              <a:buClr>
                <a:schemeClr val="dk1"/>
              </a:buClr>
              <a:buSzPts val="2000"/>
              <a:buChar char="•"/>
              <a:defRPr sz="2000"/>
            </a:lvl4pPr>
            <a:lvl5pPr indent="-355600" lvl="4" marL="2286000" algn="l">
              <a:lnSpc>
                <a:spcPct val="10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23"/>
          <p:cNvSpPr txBox="1"/>
          <p:nvPr>
            <p:ph idx="2" type="body"/>
          </p:nvPr>
        </p:nvSpPr>
        <p:spPr>
          <a:xfrm>
            <a:off x="839788" y="3776472"/>
            <a:ext cx="3886200" cy="24688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600"/>
              <a:buNone/>
              <a:defRPr sz="16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descr="Tag=AccentColor&#10;Flavor=Light&#10;Target=Fill" id="74" name="Google Shape;74;p24"/>
          <p:cNvSpPr/>
          <p:nvPr/>
        </p:nvSpPr>
        <p:spPr>
          <a:xfrm>
            <a:off x="684965" y="1332237"/>
            <a:ext cx="5263732" cy="3841102"/>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75" name="Google Shape;75;p24"/>
          <p:cNvSpPr txBox="1"/>
          <p:nvPr>
            <p:ph type="title"/>
          </p:nvPr>
        </p:nvSpPr>
        <p:spPr>
          <a:xfrm>
            <a:off x="1399032" y="2523744"/>
            <a:ext cx="3831336" cy="145389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p:nvPr>
            <p:ph idx="2" type="pic"/>
          </p:nvPr>
        </p:nvSpPr>
        <p:spPr>
          <a:xfrm>
            <a:off x="6711696" y="640079"/>
            <a:ext cx="4837176" cy="5568696"/>
          </a:xfrm>
          <a:prstGeom prst="rect">
            <a:avLst/>
          </a:prstGeom>
          <a:noFill/>
          <a:ln>
            <a:noFill/>
          </a:ln>
        </p:spPr>
      </p:sp>
      <p:sp>
        <p:nvSpPr>
          <p:cNvPr id="77" name="Google Shape;77;p24"/>
          <p:cNvSpPr txBox="1"/>
          <p:nvPr>
            <p:ph idx="1" type="body"/>
          </p:nvPr>
        </p:nvSpPr>
        <p:spPr>
          <a:xfrm>
            <a:off x="1655064" y="4087368"/>
            <a:ext cx="3319272" cy="649224"/>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2000"/>
              <a:buNone/>
              <a:defRPr sz="2000" cap="none"/>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entury Gothic"/>
              <a:buNone/>
              <a:defRPr b="0" i="0" sz="40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100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1pPr>
            <a:lvl2pPr indent="-381000" lvl="1" marL="9144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2pPr>
            <a:lvl3pPr indent="-355600" lvl="2" marL="1371600" marR="0" rtl="0" algn="l">
              <a:lnSpc>
                <a:spcPct val="100000"/>
              </a:lnSpc>
              <a:spcBef>
                <a:spcPts val="5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3pPr>
            <a:lvl4pPr indent="-342900" lvl="3" marL="18288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9pPr>
          </a:lstStyle>
          <a:p/>
        </p:txBody>
      </p:sp>
      <p:sp>
        <p:nvSpPr>
          <p:cNvPr id="8" name="Google Shape;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9" name="Google Shape;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0" name="Google Shape;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1"/>
          <p:cNvSpPr txBox="1"/>
          <p:nvPr>
            <p:ph type="ctrTitle"/>
          </p:nvPr>
        </p:nvSpPr>
        <p:spPr>
          <a:xfrm>
            <a:off x="1524000" y="3851974"/>
            <a:ext cx="9144000" cy="1152663"/>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700"/>
              <a:buFont typeface="Century Gothic"/>
              <a:buNone/>
            </a:pPr>
            <a:r>
              <a:rPr b="1" lang="en-US" sz="3700"/>
              <a:t>Python – Exception Handling</a:t>
            </a:r>
            <a:endParaRPr/>
          </a:p>
        </p:txBody>
      </p:sp>
      <p:pic>
        <p:nvPicPr>
          <p:cNvPr descr="Aerial view of beach and waves" id="99" name="Google Shape;99;p1"/>
          <p:cNvPicPr preferRelativeResize="0"/>
          <p:nvPr/>
        </p:nvPicPr>
        <p:blipFill rotWithShape="1">
          <a:blip r:embed="rId3">
            <a:alphaModFix/>
          </a:blip>
          <a:srcRect b="32796" l="0" r="0" t="29137"/>
          <a:stretch/>
        </p:blipFill>
        <p:spPr>
          <a:xfrm>
            <a:off x="838201" y="10"/>
            <a:ext cx="10484412" cy="3811394"/>
          </a:xfrm>
          <a:custGeom>
            <a:rect b="b" l="l" r="r" t="t"/>
            <a:pathLst>
              <a:path extrusionOk="0" h="3811404" w="10484412">
                <a:moveTo>
                  <a:pt x="0" y="3811403"/>
                </a:moveTo>
                <a:lnTo>
                  <a:pt x="10484412" y="3811403"/>
                </a:lnTo>
                <a:lnTo>
                  <a:pt x="10484412" y="3811404"/>
                </a:lnTo>
                <a:lnTo>
                  <a:pt x="0" y="3811404"/>
                </a:lnTo>
                <a:close/>
                <a:moveTo>
                  <a:pt x="181717" y="0"/>
                </a:moveTo>
                <a:lnTo>
                  <a:pt x="10224015" y="0"/>
                </a:lnTo>
                <a:cubicBezTo>
                  <a:pt x="10261561" y="45054"/>
                  <a:pt x="10301611" y="85103"/>
                  <a:pt x="10369193" y="110134"/>
                </a:cubicBezTo>
                <a:cubicBezTo>
                  <a:pt x="10321635" y="167704"/>
                  <a:pt x="10236530" y="182722"/>
                  <a:pt x="10173954" y="222771"/>
                </a:cubicBezTo>
                <a:cubicBezTo>
                  <a:pt x="10168948" y="255310"/>
                  <a:pt x="10269071" y="245298"/>
                  <a:pt x="10241537" y="317887"/>
                </a:cubicBezTo>
                <a:cubicBezTo>
                  <a:pt x="10206494" y="418008"/>
                  <a:pt x="10241537" y="528142"/>
                  <a:pt x="10071328" y="573196"/>
                </a:cubicBezTo>
                <a:cubicBezTo>
                  <a:pt x="10023770" y="668312"/>
                  <a:pt x="10008751" y="820997"/>
                  <a:pt x="10113880" y="913610"/>
                </a:cubicBezTo>
                <a:cubicBezTo>
                  <a:pt x="10271573" y="1048774"/>
                  <a:pt x="10244040" y="1138885"/>
                  <a:pt x="10036285" y="1216478"/>
                </a:cubicBezTo>
                <a:cubicBezTo>
                  <a:pt x="10011255" y="1226491"/>
                  <a:pt x="9978715" y="1231497"/>
                  <a:pt x="9966200" y="1256528"/>
                </a:cubicBezTo>
                <a:cubicBezTo>
                  <a:pt x="9986224" y="1289067"/>
                  <a:pt x="10031280" y="1281557"/>
                  <a:pt x="10063819" y="1289067"/>
                </a:cubicBezTo>
                <a:cubicBezTo>
                  <a:pt x="10211500" y="1324110"/>
                  <a:pt x="10214003" y="1324110"/>
                  <a:pt x="10176457" y="1441752"/>
                </a:cubicBezTo>
                <a:cubicBezTo>
                  <a:pt x="10163942" y="1476795"/>
                  <a:pt x="10188972" y="1491813"/>
                  <a:pt x="10211500" y="1511838"/>
                </a:cubicBezTo>
                <a:cubicBezTo>
                  <a:pt x="10296604" y="1591936"/>
                  <a:pt x="10296604" y="1594439"/>
                  <a:pt x="10206494" y="1664523"/>
                </a:cubicBezTo>
                <a:cubicBezTo>
                  <a:pt x="10181463" y="1684547"/>
                  <a:pt x="10163942" y="1704572"/>
                  <a:pt x="10151426" y="1732106"/>
                </a:cubicBezTo>
                <a:cubicBezTo>
                  <a:pt x="10128899" y="1782166"/>
                  <a:pt x="10128899" y="1822216"/>
                  <a:pt x="10208996" y="1847246"/>
                </a:cubicBezTo>
                <a:cubicBezTo>
                  <a:pt x="10266568" y="1864767"/>
                  <a:pt x="10296604" y="1884791"/>
                  <a:pt x="10299107" y="1939858"/>
                </a:cubicBezTo>
                <a:cubicBezTo>
                  <a:pt x="10299107" y="1987416"/>
                  <a:pt x="10306617" y="2017452"/>
                  <a:pt x="10244040" y="2037477"/>
                </a:cubicBezTo>
                <a:cubicBezTo>
                  <a:pt x="10193979" y="2054998"/>
                  <a:pt x="10178960" y="2090041"/>
                  <a:pt x="10183966" y="2130089"/>
                </a:cubicBezTo>
                <a:cubicBezTo>
                  <a:pt x="10193979" y="2230211"/>
                  <a:pt x="10126396" y="2287781"/>
                  <a:pt x="10013758" y="2335339"/>
                </a:cubicBezTo>
                <a:cubicBezTo>
                  <a:pt x="9908629" y="2377890"/>
                  <a:pt x="9813513" y="2437963"/>
                  <a:pt x="9715893" y="2493030"/>
                </a:cubicBezTo>
                <a:cubicBezTo>
                  <a:pt x="9605758" y="2553103"/>
                  <a:pt x="9480605" y="2590649"/>
                  <a:pt x="9347942" y="2623189"/>
                </a:cubicBezTo>
                <a:cubicBezTo>
                  <a:pt x="9370469" y="2665740"/>
                  <a:pt x="9453071" y="2640710"/>
                  <a:pt x="9460580" y="2700783"/>
                </a:cubicBezTo>
                <a:cubicBezTo>
                  <a:pt x="9255329" y="2753346"/>
                  <a:pt x="9060089" y="2833444"/>
                  <a:pt x="8827305" y="2855971"/>
                </a:cubicBezTo>
                <a:cubicBezTo>
                  <a:pt x="9015035" y="2843456"/>
                  <a:pt x="9182740" y="2908535"/>
                  <a:pt x="9360458" y="2926056"/>
                </a:cubicBezTo>
                <a:cubicBezTo>
                  <a:pt x="9377980" y="2961099"/>
                  <a:pt x="9337930" y="2951087"/>
                  <a:pt x="9322912" y="2958595"/>
                </a:cubicBezTo>
                <a:cubicBezTo>
                  <a:pt x="9307893" y="2963602"/>
                  <a:pt x="9287869" y="2966105"/>
                  <a:pt x="9285366" y="2991135"/>
                </a:cubicBezTo>
                <a:cubicBezTo>
                  <a:pt x="9370469" y="3023675"/>
                  <a:pt x="9478102" y="2998644"/>
                  <a:pt x="9565709" y="3033687"/>
                </a:cubicBezTo>
                <a:cubicBezTo>
                  <a:pt x="9543182" y="3083748"/>
                  <a:pt x="9468090" y="3056214"/>
                  <a:pt x="9435550" y="3096263"/>
                </a:cubicBezTo>
                <a:cubicBezTo>
                  <a:pt x="9518151" y="3101269"/>
                  <a:pt x="9593243" y="3103772"/>
                  <a:pt x="9668335" y="3113784"/>
                </a:cubicBezTo>
                <a:cubicBezTo>
                  <a:pt x="9725905" y="3121294"/>
                  <a:pt x="9740924" y="3163845"/>
                  <a:pt x="9700875" y="3193882"/>
                </a:cubicBezTo>
                <a:cubicBezTo>
                  <a:pt x="9665832" y="3221415"/>
                  <a:pt x="9613268" y="3223918"/>
                  <a:pt x="9565709" y="3236434"/>
                </a:cubicBezTo>
                <a:cubicBezTo>
                  <a:pt x="9232801" y="3319034"/>
                  <a:pt x="8882372" y="3351573"/>
                  <a:pt x="8529440" y="3364088"/>
                </a:cubicBezTo>
                <a:cubicBezTo>
                  <a:pt x="7961245" y="3386616"/>
                  <a:pt x="7393049" y="3394125"/>
                  <a:pt x="6827357" y="3419155"/>
                </a:cubicBezTo>
                <a:cubicBezTo>
                  <a:pt x="6481933" y="3434173"/>
                  <a:pt x="6136510" y="3456701"/>
                  <a:pt x="5788584" y="3456701"/>
                </a:cubicBezTo>
                <a:cubicBezTo>
                  <a:pt x="5415628" y="3456701"/>
                  <a:pt x="5042671" y="3464210"/>
                  <a:pt x="4669714" y="3411646"/>
                </a:cubicBezTo>
                <a:cubicBezTo>
                  <a:pt x="4479481" y="3384113"/>
                  <a:pt x="4279236" y="3396628"/>
                  <a:pt x="4086500" y="3376603"/>
                </a:cubicBezTo>
                <a:cubicBezTo>
                  <a:pt x="3793641" y="3346568"/>
                  <a:pt x="3500782" y="3306518"/>
                  <a:pt x="3210426" y="3256458"/>
                </a:cubicBezTo>
                <a:cubicBezTo>
                  <a:pt x="3117813" y="3241439"/>
                  <a:pt x="3007678" y="3231428"/>
                  <a:pt x="2937592" y="3166348"/>
                </a:cubicBezTo>
                <a:cubicBezTo>
                  <a:pt x="2824954" y="3211403"/>
                  <a:pt x="2757372" y="3131305"/>
                  <a:pt x="2669765" y="3106275"/>
                </a:cubicBezTo>
                <a:cubicBezTo>
                  <a:pt x="2634722" y="3096263"/>
                  <a:pt x="2592169" y="3081245"/>
                  <a:pt x="2597176" y="3048705"/>
                </a:cubicBezTo>
                <a:cubicBezTo>
                  <a:pt x="2604685" y="3006154"/>
                  <a:pt x="2654746" y="2978620"/>
                  <a:pt x="2702304" y="2986130"/>
                </a:cubicBezTo>
                <a:cubicBezTo>
                  <a:pt x="2849986" y="3011160"/>
                  <a:pt x="2985150" y="2948584"/>
                  <a:pt x="3137838" y="2956093"/>
                </a:cubicBezTo>
                <a:cubicBezTo>
                  <a:pt x="3005175" y="2933565"/>
                  <a:pt x="2872513" y="2908535"/>
                  <a:pt x="2739850" y="2886007"/>
                </a:cubicBezTo>
                <a:cubicBezTo>
                  <a:pt x="2940095" y="2863480"/>
                  <a:pt x="3132831" y="2896020"/>
                  <a:pt x="3328071" y="2913541"/>
                </a:cubicBezTo>
                <a:cubicBezTo>
                  <a:pt x="3390647" y="2921050"/>
                  <a:pt x="3485763" y="2968608"/>
                  <a:pt x="3503285" y="2898523"/>
                </a:cubicBezTo>
                <a:cubicBezTo>
                  <a:pt x="3513297" y="2850965"/>
                  <a:pt x="3410671" y="2850965"/>
                  <a:pt x="3350598" y="2838450"/>
                </a:cubicBezTo>
                <a:cubicBezTo>
                  <a:pt x="3090279" y="2785886"/>
                  <a:pt x="2824954" y="2758353"/>
                  <a:pt x="2562133" y="2725813"/>
                </a:cubicBezTo>
                <a:cubicBezTo>
                  <a:pt x="2537102" y="2723310"/>
                  <a:pt x="2504562" y="2725813"/>
                  <a:pt x="2487041" y="2715801"/>
                </a:cubicBezTo>
                <a:cubicBezTo>
                  <a:pt x="2354378" y="2633200"/>
                  <a:pt x="2184170" y="2608170"/>
                  <a:pt x="1998943" y="2548097"/>
                </a:cubicBezTo>
                <a:cubicBezTo>
                  <a:pt x="2116587" y="2515558"/>
                  <a:pt x="2196685" y="2575630"/>
                  <a:pt x="2294304" y="2560612"/>
                </a:cubicBezTo>
                <a:cubicBezTo>
                  <a:pt x="2196685" y="2498036"/>
                  <a:pt x="2079041" y="2488024"/>
                  <a:pt x="1978918" y="2455485"/>
                </a:cubicBezTo>
                <a:cubicBezTo>
                  <a:pt x="1906330" y="2430454"/>
                  <a:pt x="1635999" y="2357866"/>
                  <a:pt x="1595950" y="2335339"/>
                </a:cubicBezTo>
                <a:cubicBezTo>
                  <a:pt x="1473299" y="2267756"/>
                  <a:pt x="1315606" y="2237720"/>
                  <a:pt x="1215483" y="2145108"/>
                </a:cubicBezTo>
                <a:cubicBezTo>
                  <a:pt x="1145398" y="2080028"/>
                  <a:pt x="1025251" y="2095047"/>
                  <a:pt x="942649" y="2049992"/>
                </a:cubicBezTo>
                <a:cubicBezTo>
                  <a:pt x="912613" y="2004937"/>
                  <a:pt x="972686" y="1994925"/>
                  <a:pt x="992711" y="1969894"/>
                </a:cubicBezTo>
                <a:cubicBezTo>
                  <a:pt x="1020244" y="1939858"/>
                  <a:pt x="972686" y="1922337"/>
                  <a:pt x="960170" y="1884791"/>
                </a:cubicBezTo>
                <a:cubicBezTo>
                  <a:pt x="1117863" y="1922337"/>
                  <a:pt x="1268048" y="1944864"/>
                  <a:pt x="1448268" y="1957380"/>
                </a:cubicBezTo>
                <a:cubicBezTo>
                  <a:pt x="1390698" y="1897306"/>
                  <a:pt x="1318109" y="1927343"/>
                  <a:pt x="1270551" y="1904815"/>
                </a:cubicBezTo>
                <a:cubicBezTo>
                  <a:pt x="1238011" y="1889797"/>
                  <a:pt x="1190453" y="1884791"/>
                  <a:pt x="1200466" y="1849749"/>
                </a:cubicBezTo>
                <a:cubicBezTo>
                  <a:pt x="1207974" y="1822216"/>
                  <a:pt x="1248023" y="1824718"/>
                  <a:pt x="1278060" y="1827221"/>
                </a:cubicBezTo>
                <a:cubicBezTo>
                  <a:pt x="1393201" y="1834730"/>
                  <a:pt x="1503336" y="1834730"/>
                  <a:pt x="1615974" y="1764645"/>
                </a:cubicBezTo>
                <a:cubicBezTo>
                  <a:pt x="1338134" y="1669530"/>
                  <a:pt x="1015238" y="1717087"/>
                  <a:pt x="767434" y="1576917"/>
                </a:cubicBezTo>
                <a:cubicBezTo>
                  <a:pt x="802477" y="1531862"/>
                  <a:pt x="852539" y="1554390"/>
                  <a:pt x="890085" y="1559396"/>
                </a:cubicBezTo>
                <a:cubicBezTo>
                  <a:pt x="1132882" y="1591936"/>
                  <a:pt x="2003949" y="1514341"/>
                  <a:pt x="2129102" y="1556893"/>
                </a:cubicBezTo>
                <a:cubicBezTo>
                  <a:pt x="2204195" y="1584426"/>
                  <a:pt x="2286796" y="1594439"/>
                  <a:pt x="2369396" y="1576917"/>
                </a:cubicBezTo>
                <a:cubicBezTo>
                  <a:pt x="2469519" y="1554390"/>
                  <a:pt x="1881298" y="1519347"/>
                  <a:pt x="1746133" y="1421728"/>
                </a:cubicBezTo>
                <a:cubicBezTo>
                  <a:pt x="1678551" y="1374170"/>
                  <a:pt x="1082821" y="1146394"/>
                  <a:pt x="819999" y="1083817"/>
                </a:cubicBezTo>
                <a:cubicBezTo>
                  <a:pt x="857545" y="1041266"/>
                  <a:pt x="952662" y="1066296"/>
                  <a:pt x="940146" y="993707"/>
                </a:cubicBezTo>
                <a:cubicBezTo>
                  <a:pt x="794969" y="956162"/>
                  <a:pt x="627263" y="961168"/>
                  <a:pt x="459558" y="903598"/>
                </a:cubicBezTo>
                <a:cubicBezTo>
                  <a:pt x="537153" y="858543"/>
                  <a:pt x="622257" y="883573"/>
                  <a:pt x="699852" y="868556"/>
                </a:cubicBezTo>
                <a:cubicBezTo>
                  <a:pt x="657300" y="813489"/>
                  <a:pt x="582208" y="823500"/>
                  <a:pt x="522134" y="813489"/>
                </a:cubicBezTo>
                <a:cubicBezTo>
                  <a:pt x="464564" y="803476"/>
                  <a:pt x="349423" y="708360"/>
                  <a:pt x="374453" y="713367"/>
                </a:cubicBezTo>
                <a:cubicBezTo>
                  <a:pt x="607238" y="750912"/>
                  <a:pt x="842526" y="735895"/>
                  <a:pt x="1075312" y="773440"/>
                </a:cubicBezTo>
                <a:cubicBezTo>
                  <a:pt x="1152907" y="785955"/>
                  <a:pt x="1238011" y="810986"/>
                  <a:pt x="1275557" y="728385"/>
                </a:cubicBezTo>
                <a:cubicBezTo>
                  <a:pt x="1285569" y="703355"/>
                  <a:pt x="1278060" y="695846"/>
                  <a:pt x="1385692" y="725882"/>
                </a:cubicBezTo>
                <a:cubicBezTo>
                  <a:pt x="1425741" y="738397"/>
                  <a:pt x="1483311" y="750912"/>
                  <a:pt x="1525863" y="718373"/>
                </a:cubicBezTo>
                <a:cubicBezTo>
                  <a:pt x="1498330" y="678325"/>
                  <a:pt x="1445765" y="690839"/>
                  <a:pt x="1408219" y="680828"/>
                </a:cubicBezTo>
                <a:cubicBezTo>
                  <a:pt x="1305594" y="653294"/>
                  <a:pt x="922624" y="548166"/>
                  <a:pt x="825005" y="518129"/>
                </a:cubicBezTo>
                <a:cubicBezTo>
                  <a:pt x="619754" y="453051"/>
                  <a:pt x="492098" y="475578"/>
                  <a:pt x="286846" y="405492"/>
                </a:cubicBezTo>
                <a:cubicBezTo>
                  <a:pt x="356932" y="407995"/>
                  <a:pt x="336907" y="380462"/>
                  <a:pt x="406993" y="380462"/>
                </a:cubicBezTo>
                <a:cubicBezTo>
                  <a:pt x="437030" y="380462"/>
                  <a:pt x="472073" y="372954"/>
                  <a:pt x="472073" y="342917"/>
                </a:cubicBezTo>
                <a:cubicBezTo>
                  <a:pt x="472073" y="315384"/>
                  <a:pt x="104123" y="170207"/>
                  <a:pt x="156686" y="155188"/>
                </a:cubicBezTo>
                <a:cubicBezTo>
                  <a:pt x="301865" y="115140"/>
                  <a:pt x="667312" y="227777"/>
                  <a:pt x="579705" y="175213"/>
                </a:cubicBezTo>
                <a:cubicBezTo>
                  <a:pt x="447042" y="92613"/>
                  <a:pt x="427018" y="77594"/>
                  <a:pt x="326895" y="67583"/>
                </a:cubicBezTo>
                <a:cubicBezTo>
                  <a:pt x="296858" y="62576"/>
                  <a:pt x="244294" y="35043"/>
                  <a:pt x="181717" y="0"/>
                </a:cubicBezTo>
                <a:close/>
              </a:path>
            </a:pathLst>
          </a:custGeom>
          <a:noFill/>
          <a:ln>
            <a:noFill/>
          </a:ln>
        </p:spPr>
      </p:pic>
      <p:pic>
        <p:nvPicPr>
          <p:cNvPr descr="Logo&#10;&#10;Description automatically generated" id="100" name="Google Shape;100;p1"/>
          <p:cNvPicPr preferRelativeResize="0"/>
          <p:nvPr/>
        </p:nvPicPr>
        <p:blipFill rotWithShape="1">
          <a:blip r:embed="rId4">
            <a:alphaModFix/>
          </a:blip>
          <a:srcRect b="0" l="0" r="0" t="0"/>
          <a:stretch/>
        </p:blipFill>
        <p:spPr>
          <a:xfrm>
            <a:off x="567830" y="359076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Highlights!</a:t>
            </a:r>
            <a:endParaRPr/>
          </a:p>
        </p:txBody>
      </p:sp>
      <p:sp>
        <p:nvSpPr>
          <p:cNvPr id="106" name="Google Shape;106;p2"/>
          <p:cNvSpPr txBox="1"/>
          <p:nvPr>
            <p:ph idx="1" type="body"/>
          </p:nvPr>
        </p:nvSpPr>
        <p:spPr>
          <a:xfrm>
            <a:off x="838200" y="1999979"/>
            <a:ext cx="4205288" cy="307497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8108"/>
              <a:buChar char="•"/>
            </a:pPr>
            <a:r>
              <a:rPr lang="en-US" sz="2000"/>
              <a:t>Error Vs Exceptions</a:t>
            </a:r>
            <a:endParaRPr/>
          </a:p>
          <a:p>
            <a:pPr indent="-228600" lvl="0" marL="228600" rtl="0" algn="l">
              <a:lnSpc>
                <a:spcPct val="100000"/>
              </a:lnSpc>
              <a:spcBef>
                <a:spcPts val="1000"/>
              </a:spcBef>
              <a:spcAft>
                <a:spcPts val="0"/>
              </a:spcAft>
              <a:buClr>
                <a:schemeClr val="dk1"/>
              </a:buClr>
              <a:buSzPct val="108108"/>
              <a:buChar char="•"/>
            </a:pPr>
            <a:r>
              <a:rPr lang="en-US" sz="2000"/>
              <a:t>Try and Except Statements</a:t>
            </a:r>
            <a:endParaRPr/>
          </a:p>
          <a:p>
            <a:pPr indent="-228600" lvl="0" marL="228600" rtl="0" algn="l">
              <a:lnSpc>
                <a:spcPct val="100000"/>
              </a:lnSpc>
              <a:spcBef>
                <a:spcPts val="1000"/>
              </a:spcBef>
              <a:spcAft>
                <a:spcPts val="0"/>
              </a:spcAft>
              <a:buClr>
                <a:schemeClr val="dk1"/>
              </a:buClr>
              <a:buSzPct val="108108"/>
              <a:buChar char="•"/>
            </a:pPr>
            <a:r>
              <a:rPr lang="en-US" sz="2000"/>
              <a:t>Built-in Exceptions</a:t>
            </a:r>
            <a:endParaRPr/>
          </a:p>
          <a:p>
            <a:pPr indent="-228600" lvl="0" marL="228600" rtl="0" algn="l">
              <a:lnSpc>
                <a:spcPct val="100000"/>
              </a:lnSpc>
              <a:spcBef>
                <a:spcPts val="1000"/>
              </a:spcBef>
              <a:spcAft>
                <a:spcPts val="0"/>
              </a:spcAft>
              <a:buClr>
                <a:schemeClr val="dk1"/>
              </a:buClr>
              <a:buSzPct val="108108"/>
              <a:buChar char="•"/>
            </a:pPr>
            <a:r>
              <a:rPr lang="en-US" sz="2000"/>
              <a:t>Multiple catch</a:t>
            </a:r>
            <a:endParaRPr/>
          </a:p>
          <a:p>
            <a:pPr indent="-228600" lvl="0" marL="228600" rtl="0" algn="l">
              <a:lnSpc>
                <a:spcPct val="100000"/>
              </a:lnSpc>
              <a:spcBef>
                <a:spcPts val="1000"/>
              </a:spcBef>
              <a:spcAft>
                <a:spcPts val="0"/>
              </a:spcAft>
              <a:buClr>
                <a:schemeClr val="dk1"/>
              </a:buClr>
              <a:buSzPct val="108108"/>
              <a:buChar char="•"/>
            </a:pPr>
            <a:r>
              <a:rPr lang="en-US" sz="2000"/>
              <a:t>Else</a:t>
            </a:r>
            <a:endParaRPr/>
          </a:p>
          <a:p>
            <a:pPr indent="-228600" lvl="0" marL="228600" rtl="0" algn="l">
              <a:lnSpc>
                <a:spcPct val="100000"/>
              </a:lnSpc>
              <a:spcBef>
                <a:spcPts val="1000"/>
              </a:spcBef>
              <a:spcAft>
                <a:spcPts val="0"/>
              </a:spcAft>
              <a:buClr>
                <a:schemeClr val="dk1"/>
              </a:buClr>
              <a:buSzPct val="108108"/>
              <a:buChar char="•"/>
            </a:pPr>
            <a:r>
              <a:rPr lang="en-US" sz="2000"/>
              <a:t>Finally</a:t>
            </a:r>
            <a:endParaRPr/>
          </a:p>
          <a:p>
            <a:pPr indent="-228600" lvl="0" marL="228600" rtl="0" algn="l">
              <a:lnSpc>
                <a:spcPct val="100000"/>
              </a:lnSpc>
              <a:spcBef>
                <a:spcPts val="1000"/>
              </a:spcBef>
              <a:spcAft>
                <a:spcPts val="0"/>
              </a:spcAft>
              <a:buClr>
                <a:schemeClr val="dk1"/>
              </a:buClr>
              <a:buSzPct val="108108"/>
              <a:buChar char="•"/>
            </a:pPr>
            <a:r>
              <a:rPr lang="en-US" sz="2000"/>
              <a:t>Assert</a:t>
            </a:r>
            <a:endParaRPr/>
          </a:p>
          <a:p>
            <a:pPr indent="-228600" lvl="0" marL="228600" rtl="0" algn="l">
              <a:lnSpc>
                <a:spcPct val="100000"/>
              </a:lnSpc>
              <a:spcBef>
                <a:spcPts val="1000"/>
              </a:spcBef>
              <a:spcAft>
                <a:spcPts val="0"/>
              </a:spcAft>
              <a:buClr>
                <a:schemeClr val="dk1"/>
              </a:buClr>
              <a:buSzPct val="108108"/>
              <a:buChar char="•"/>
            </a:pPr>
            <a:r>
              <a:rPr lang="en-US" sz="2000"/>
              <a:t>Raise</a:t>
            </a:r>
            <a:endParaRPr/>
          </a:p>
        </p:txBody>
      </p:sp>
      <p:pic>
        <p:nvPicPr>
          <p:cNvPr descr="Logo&#10;&#10;Description automatically generated" id="107" name="Google Shape;107;p2"/>
          <p:cNvPicPr preferRelativeResize="0"/>
          <p:nvPr/>
        </p:nvPicPr>
        <p:blipFill rotWithShape="1">
          <a:blip r:embed="rId3">
            <a:alphaModFix/>
          </a:blip>
          <a:srcRect b="0" l="0" r="0" t="0"/>
          <a:stretch/>
        </p:blipFill>
        <p:spPr>
          <a:xfrm>
            <a:off x="8495872" y="3087546"/>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Error and Exceptions</a:t>
            </a:r>
            <a:endParaRPr/>
          </a:p>
        </p:txBody>
      </p:sp>
      <p:sp>
        <p:nvSpPr>
          <p:cNvPr id="113" name="Google Shape;113;p27"/>
          <p:cNvSpPr txBox="1"/>
          <p:nvPr>
            <p:ph idx="1" type="body"/>
          </p:nvPr>
        </p:nvSpPr>
        <p:spPr>
          <a:xfrm>
            <a:off x="838199" y="1954753"/>
            <a:ext cx="10515599" cy="330304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000"/>
              <a:buNone/>
            </a:pPr>
            <a:r>
              <a:rPr lang="en-US" sz="2000"/>
              <a:t>Two types of them:</a:t>
            </a:r>
            <a:endParaRPr/>
          </a:p>
          <a:p>
            <a:pPr indent="-342900" lvl="0" marL="457200" rtl="0" algn="l">
              <a:lnSpc>
                <a:spcPct val="100000"/>
              </a:lnSpc>
              <a:spcBef>
                <a:spcPts val="1000"/>
              </a:spcBef>
              <a:spcAft>
                <a:spcPts val="0"/>
              </a:spcAft>
              <a:buClr>
                <a:schemeClr val="dk1"/>
              </a:buClr>
              <a:buSzPts val="1800"/>
              <a:buChar char="•"/>
            </a:pPr>
            <a:r>
              <a:rPr lang="en-US" sz="2000"/>
              <a:t>Syntax errors: </a:t>
            </a:r>
            <a:r>
              <a:rPr lang="en-US" sz="1600"/>
              <a:t>Syntax error occurs when the programmer did not follow the predefined syntax rules of a particular entity in the code. If the compiler finds a syntax mistake, it terminates the program and raises the error. We need to fix it. </a:t>
            </a:r>
            <a:endParaRPr/>
          </a:p>
          <a:p>
            <a:pPr indent="0" lvl="0" marL="0" rtl="0" algn="l">
              <a:lnSpc>
                <a:spcPct val="100000"/>
              </a:lnSpc>
              <a:spcBef>
                <a:spcPts val="0"/>
              </a:spcBef>
              <a:spcAft>
                <a:spcPts val="0"/>
              </a:spcAft>
              <a:buClr>
                <a:schemeClr val="dk1"/>
              </a:buClr>
              <a:buSzPts val="2000"/>
              <a:buNone/>
            </a:pPr>
            <a:r>
              <a:rPr lang="en-US" sz="2000"/>
              <a:t> </a:t>
            </a:r>
            <a:endParaRPr/>
          </a:p>
          <a:p>
            <a:pPr indent="-285750" lvl="0" marL="412750" rtl="0" algn="l">
              <a:lnSpc>
                <a:spcPct val="100000"/>
              </a:lnSpc>
              <a:spcBef>
                <a:spcPts val="0"/>
              </a:spcBef>
              <a:spcAft>
                <a:spcPts val="0"/>
              </a:spcAft>
              <a:buSzPts val="2000"/>
              <a:buChar char="•"/>
            </a:pPr>
            <a:r>
              <a:rPr lang="en-US" sz="2000"/>
              <a:t>Logical errors: </a:t>
            </a:r>
            <a:r>
              <a:rPr lang="en-US" sz="1600"/>
              <a:t>Logical errors are the mistakes the programmer makes in the logic of the code.   These are not raised; instead, the mistake is to be understood when the code does not meet the purpose or problem. These are to be searched, found, and edited by the programmer and are hard to find.</a:t>
            </a:r>
            <a:endParaRPr sz="1600"/>
          </a:p>
        </p:txBody>
      </p:sp>
      <p:pic>
        <p:nvPicPr>
          <p:cNvPr descr="Logo&#10;&#10;Description automatically generated" id="114" name="Google Shape;114;p27"/>
          <p:cNvPicPr preferRelativeResize="0"/>
          <p:nvPr/>
        </p:nvPicPr>
        <p:blipFill rotWithShape="1">
          <a:blip r:embed="rId3">
            <a:alphaModFix/>
          </a:blip>
          <a:srcRect b="0" l="0" r="0" t="0"/>
          <a:stretch/>
        </p:blipFill>
        <p:spPr>
          <a:xfrm>
            <a:off x="9210247" y="580996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nvSpPr>
        <p:spPr>
          <a:xfrm>
            <a:off x="657220" y="428622"/>
            <a:ext cx="10948831"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Century Gothic"/>
                <a:ea typeface="Century Gothic"/>
                <a:cs typeface="Century Gothic"/>
                <a:sym typeface="Century Gothic"/>
              </a:rPr>
              <a:t>Now coming to the concept of exceptions:</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An </a:t>
            </a:r>
            <a:r>
              <a:rPr b="1" i="0" lang="en-US" sz="1600" u="none" cap="none" strike="noStrike">
                <a:solidFill>
                  <a:srgbClr val="000000"/>
                </a:solidFill>
                <a:latin typeface="Century Gothic"/>
                <a:ea typeface="Century Gothic"/>
                <a:cs typeface="Century Gothic"/>
                <a:sym typeface="Century Gothic"/>
              </a:rPr>
              <a:t>exception</a:t>
            </a:r>
            <a:r>
              <a:rPr b="0" i="0" lang="en-US" sz="1600" u="none" cap="none" strike="noStrike">
                <a:solidFill>
                  <a:srgbClr val="000000"/>
                </a:solidFill>
                <a:latin typeface="Century Gothic"/>
                <a:ea typeface="Century Gothic"/>
                <a:cs typeface="Century Gothic"/>
                <a:sym typeface="Century Gothic"/>
              </a:rPr>
              <a:t> is an unexpected error raised at the time of execution (not at compilation).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These are not dangerous to the code; there are methods in python to handle these exceptions.</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1" i="0" lang="en-US" sz="1600" u="none" cap="none" strike="noStrike">
                <a:solidFill>
                  <a:srgbClr val="000000"/>
                </a:solidFill>
                <a:latin typeface="Century Gothic"/>
                <a:ea typeface="Century Gothic"/>
                <a:cs typeface="Century Gothic"/>
                <a:sym typeface="Century Gothic"/>
              </a:rPr>
              <a:t>Example:</a:t>
            </a:r>
            <a:r>
              <a:rPr b="0" i="0" lang="en-US" sz="1600" u="none" cap="none" strike="noStrike">
                <a:solidFill>
                  <a:srgbClr val="000000"/>
                </a:solidFill>
                <a:latin typeface="Century Gothic"/>
                <a:ea typeface="Century Gothic"/>
                <a:cs typeface="Century Gothic"/>
                <a:sym typeface="Century Gothic"/>
              </a:rPr>
              <a:t> If we try to divide a number by 0, the compiler won't detect it as the syntax is correct.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At the time of execution, the exception will be raised.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entury Gothic"/>
              <a:ea typeface="Century Gothic"/>
              <a:cs typeface="Century Gothic"/>
              <a:sym typeface="Century Gothic"/>
            </a:endParaRPr>
          </a:p>
        </p:txBody>
      </p:sp>
      <p:sp>
        <p:nvSpPr>
          <p:cNvPr id="120" name="Google Shape;120;p28"/>
          <p:cNvSpPr/>
          <p:nvPr/>
        </p:nvSpPr>
        <p:spPr>
          <a:xfrm>
            <a:off x="1143004" y="2700339"/>
            <a:ext cx="2028821" cy="85725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20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b="0" i="0" sz="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2000" u="none" cap="none" strike="noStrike">
                <a:solidFill>
                  <a:schemeClr val="dk1"/>
                </a:solidFill>
                <a:latin typeface="Century Gothic"/>
                <a:ea typeface="Century Gothic"/>
                <a:cs typeface="Century Gothic"/>
                <a:sym typeface="Century Gothic"/>
              </a:rPr>
              <a:t>1. a = 3  </a:t>
            </a:r>
            <a:endParaRPr/>
          </a:p>
          <a:p>
            <a:pPr indent="0" lvl="0" marL="0" marR="0" rtl="0" algn="l">
              <a:lnSpc>
                <a:spcPct val="100000"/>
              </a:lnSpc>
              <a:spcBef>
                <a:spcPts val="0"/>
              </a:spcBef>
              <a:spcAft>
                <a:spcPts val="0"/>
              </a:spcAft>
              <a:buNone/>
            </a:pPr>
            <a:r>
              <a:rPr b="0" i="0" lang="en-US" sz="2000" u="none" cap="none" strike="noStrike">
                <a:solidFill>
                  <a:schemeClr val="dk1"/>
                </a:solidFill>
                <a:latin typeface="Century Gothic"/>
                <a:ea typeface="Century Gothic"/>
                <a:cs typeface="Century Gothic"/>
                <a:sym typeface="Century Gothic"/>
              </a:rPr>
              <a:t>2. print(a/0)  </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21" name="Google Shape;121;p28"/>
          <p:cNvSpPr/>
          <p:nvPr/>
        </p:nvSpPr>
        <p:spPr>
          <a:xfrm>
            <a:off x="1143004" y="4407457"/>
            <a:ext cx="5386388" cy="118586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Traceback (most recent call last): File "D:\Programs\python\exception_ex.py", line 2, in print(a/0) ZeroDivisionError: division by zero </a:t>
            </a:r>
            <a:endParaRPr/>
          </a:p>
        </p:txBody>
      </p:sp>
      <p:sp>
        <p:nvSpPr>
          <p:cNvPr id="122" name="Google Shape;122;p28"/>
          <p:cNvSpPr txBox="1"/>
          <p:nvPr/>
        </p:nvSpPr>
        <p:spPr>
          <a:xfrm>
            <a:off x="685796" y="5892989"/>
            <a:ext cx="9533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last line of the message indicates the type of exception raised which is ”ZeroDivisionErro</a:t>
            </a:r>
            <a:r>
              <a:rPr lang="en-US" sz="1600">
                <a:latin typeface="Century Gothic"/>
                <a:ea typeface="Century Gothic"/>
                <a:cs typeface="Century Gothic"/>
                <a:sym typeface="Century Gothic"/>
              </a:rPr>
              <a:t>r</a:t>
            </a:r>
            <a:r>
              <a:rPr b="0" i="0" lang="en-US" sz="1600" u="none" cap="none" strike="noStrike">
                <a:solidFill>
                  <a:srgbClr val="000000"/>
                </a:solidFill>
                <a:latin typeface="Century Gothic"/>
                <a:ea typeface="Century Gothic"/>
                <a:cs typeface="Century Gothic"/>
                <a:sym typeface="Century Gothic"/>
              </a:rPr>
              <a:t>”.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There are a lot of exceptions built-in in python.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
          <p:cNvSpPr txBox="1"/>
          <p:nvPr>
            <p:ph type="title"/>
          </p:nvPr>
        </p:nvSpPr>
        <p:spPr>
          <a:xfrm>
            <a:off x="739200" y="5080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Try and Except Statement – </a:t>
            </a:r>
            <a:br>
              <a:rPr lang="en-US"/>
            </a:br>
            <a:r>
              <a:rPr lang="en-US"/>
              <a:t>Catching Exceptions</a:t>
            </a:r>
            <a:endParaRPr/>
          </a:p>
        </p:txBody>
      </p:sp>
      <p:sp>
        <p:nvSpPr>
          <p:cNvPr id="128" name="Google Shape;128;p3"/>
          <p:cNvSpPr txBox="1"/>
          <p:nvPr/>
        </p:nvSpPr>
        <p:spPr>
          <a:xfrm>
            <a:off x="723897" y="1504944"/>
            <a:ext cx="10913963" cy="47089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The "Exception" is the base class for all the exceptions. Exceptions usually occur unexpectedly and disturb the execution of the whole code. Hence, we catch these exceptions and handle them for the execution to go smoothly.</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Steps:</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Century Gothic"/>
              <a:ea typeface="Century Gothic"/>
              <a:cs typeface="Century Gothic"/>
              <a:sym typeface="Century Gothic"/>
            </a:endParaRPr>
          </a:p>
          <a:p>
            <a:pPr indent="-241300" lvl="0" marL="2413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entury Gothic"/>
                <a:ea typeface="Century Gothic"/>
                <a:cs typeface="Century Gothic"/>
                <a:sym typeface="Century Gothic"/>
              </a:rPr>
              <a:t>The part of the code on which the programmer doubts that it may cause an exception is kept  in the “try” block.</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Century Gothic"/>
              <a:ea typeface="Century Gothic"/>
              <a:cs typeface="Century Gothic"/>
              <a:sym typeface="Century Gothic"/>
            </a:endParaRPr>
          </a:p>
          <a:p>
            <a:pPr indent="-184150" lvl="0" marL="1841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entury Gothic"/>
                <a:ea typeface="Century Gothic"/>
                <a:cs typeface="Century Gothic"/>
                <a:sym typeface="Century Gothic"/>
              </a:rPr>
              <a:t> If the doubt comes true and an exception is found, we write the handling code inside the "except" block. </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Century Gothic"/>
              <a:ea typeface="Century Gothic"/>
              <a:cs typeface="Century Gothic"/>
              <a:sym typeface="Century Gothic"/>
            </a:endParaRPr>
          </a:p>
          <a:p>
            <a:pPr indent="-184150" lvl="0" marL="18415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entury Gothic"/>
                <a:ea typeface="Century Gothic"/>
                <a:cs typeface="Century Gothic"/>
                <a:sym typeface="Century Gothic"/>
              </a:rPr>
              <a:t> Code we write inside the "except" block replaces the exception/error message that usually gets printed when the exception is found.</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Century Gothic"/>
              <a:ea typeface="Century Gothic"/>
              <a:cs typeface="Century Gothic"/>
              <a:sym typeface="Century Gothic"/>
            </a:endParaRPr>
          </a:p>
          <a:p>
            <a:pPr indent="-127000" lvl="0" marL="1270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Century Gothic"/>
                <a:ea typeface="Century Gothic"/>
                <a:cs typeface="Century Gothic"/>
                <a:sym typeface="Century Gothic"/>
              </a:rPr>
              <a:t> In this way, the execution flow is not disturbed, and the exception is handled.</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pic>
        <p:nvPicPr>
          <p:cNvPr descr="Logo&#10;&#10;Description automatically generated" id="129" name="Google Shape;129;p3"/>
          <p:cNvPicPr preferRelativeResize="0"/>
          <p:nvPr/>
        </p:nvPicPr>
        <p:blipFill rotWithShape="1">
          <a:blip r:embed="rId3">
            <a:alphaModFix/>
          </a:blip>
          <a:srcRect b="0" l="0" r="0" t="0"/>
          <a:stretch/>
        </p:blipFill>
        <p:spPr>
          <a:xfrm>
            <a:off x="9245859" y="5916940"/>
            <a:ext cx="2549168" cy="733103"/>
          </a:xfrm>
          <a:custGeom>
            <a:rect b="b" l="l" r="r" t="t"/>
            <a:pathLst>
              <a:path extrusionOk="0" fill="none" h="733103" w="2549168">
                <a:moveTo>
                  <a:pt x="0" y="0"/>
                </a:moveTo>
                <a:cubicBezTo>
                  <a:pt x="123056" y="-42753"/>
                  <a:pt x="250689" y="18116"/>
                  <a:pt x="433359" y="0"/>
                </a:cubicBezTo>
                <a:cubicBezTo>
                  <a:pt x="616029" y="-18116"/>
                  <a:pt x="696722" y="13866"/>
                  <a:pt x="917700" y="0"/>
                </a:cubicBezTo>
                <a:cubicBezTo>
                  <a:pt x="1138678" y="-13866"/>
                  <a:pt x="1210459" y="54377"/>
                  <a:pt x="1376551" y="0"/>
                </a:cubicBezTo>
                <a:cubicBezTo>
                  <a:pt x="1542643" y="-54377"/>
                  <a:pt x="1658106" y="45184"/>
                  <a:pt x="1911876" y="0"/>
                </a:cubicBezTo>
                <a:cubicBezTo>
                  <a:pt x="2165647" y="-45184"/>
                  <a:pt x="2404250" y="43649"/>
                  <a:pt x="2549168" y="0"/>
                </a:cubicBezTo>
                <a:cubicBezTo>
                  <a:pt x="2572448" y="84001"/>
                  <a:pt x="2514907" y="267360"/>
                  <a:pt x="2549168" y="351889"/>
                </a:cubicBezTo>
                <a:cubicBezTo>
                  <a:pt x="2583429" y="436418"/>
                  <a:pt x="2520926" y="615145"/>
                  <a:pt x="2549168" y="733103"/>
                </a:cubicBezTo>
                <a:cubicBezTo>
                  <a:pt x="2367838" y="776315"/>
                  <a:pt x="2106169" y="672226"/>
                  <a:pt x="1988351" y="733103"/>
                </a:cubicBezTo>
                <a:cubicBezTo>
                  <a:pt x="1870533" y="793980"/>
                  <a:pt x="1622125" y="694765"/>
                  <a:pt x="1529501" y="733103"/>
                </a:cubicBezTo>
                <a:cubicBezTo>
                  <a:pt x="1436877" y="771441"/>
                  <a:pt x="1194001" y="699985"/>
                  <a:pt x="1096142" y="733103"/>
                </a:cubicBezTo>
                <a:cubicBezTo>
                  <a:pt x="998283" y="766221"/>
                  <a:pt x="731001" y="727894"/>
                  <a:pt x="586309" y="733103"/>
                </a:cubicBezTo>
                <a:cubicBezTo>
                  <a:pt x="441617" y="738312"/>
                  <a:pt x="274918" y="693198"/>
                  <a:pt x="0" y="733103"/>
                </a:cubicBezTo>
                <a:cubicBezTo>
                  <a:pt x="-25339" y="628722"/>
                  <a:pt x="36966" y="450770"/>
                  <a:pt x="0" y="373883"/>
                </a:cubicBezTo>
                <a:cubicBezTo>
                  <a:pt x="-36966" y="296996"/>
                  <a:pt x="31886" y="101005"/>
                  <a:pt x="0" y="0"/>
                </a:cubicBezTo>
                <a:close/>
              </a:path>
              <a:path extrusionOk="0" h="733103" w="2549168">
                <a:moveTo>
                  <a:pt x="0" y="0"/>
                </a:moveTo>
                <a:cubicBezTo>
                  <a:pt x="176868" y="-42534"/>
                  <a:pt x="406779" y="35878"/>
                  <a:pt x="560817" y="0"/>
                </a:cubicBezTo>
                <a:cubicBezTo>
                  <a:pt x="714855" y="-35878"/>
                  <a:pt x="844236" y="12618"/>
                  <a:pt x="1070651" y="0"/>
                </a:cubicBezTo>
                <a:cubicBezTo>
                  <a:pt x="1297066" y="-12618"/>
                  <a:pt x="1312044" y="21951"/>
                  <a:pt x="1529501" y="0"/>
                </a:cubicBezTo>
                <a:cubicBezTo>
                  <a:pt x="1746958" y="-21951"/>
                  <a:pt x="1930965" y="20063"/>
                  <a:pt x="2064826" y="0"/>
                </a:cubicBezTo>
                <a:cubicBezTo>
                  <a:pt x="2198687" y="-20063"/>
                  <a:pt x="2343921" y="48444"/>
                  <a:pt x="2549168" y="0"/>
                </a:cubicBezTo>
                <a:cubicBezTo>
                  <a:pt x="2581517" y="135103"/>
                  <a:pt x="2538382" y="219099"/>
                  <a:pt x="2549168" y="381214"/>
                </a:cubicBezTo>
                <a:cubicBezTo>
                  <a:pt x="2559954" y="543329"/>
                  <a:pt x="2539626" y="616198"/>
                  <a:pt x="2549168" y="733103"/>
                </a:cubicBezTo>
                <a:cubicBezTo>
                  <a:pt x="2414650" y="754115"/>
                  <a:pt x="2267882" y="727809"/>
                  <a:pt x="2013843" y="733103"/>
                </a:cubicBezTo>
                <a:cubicBezTo>
                  <a:pt x="1759805" y="738397"/>
                  <a:pt x="1741730" y="721693"/>
                  <a:pt x="1554992" y="733103"/>
                </a:cubicBezTo>
                <a:cubicBezTo>
                  <a:pt x="1368254" y="744513"/>
                  <a:pt x="1231504" y="698095"/>
                  <a:pt x="1096142" y="733103"/>
                </a:cubicBezTo>
                <a:cubicBezTo>
                  <a:pt x="960780" y="768111"/>
                  <a:pt x="754296" y="705724"/>
                  <a:pt x="662784" y="733103"/>
                </a:cubicBezTo>
                <a:cubicBezTo>
                  <a:pt x="571272" y="760482"/>
                  <a:pt x="264963" y="670620"/>
                  <a:pt x="0" y="733103"/>
                </a:cubicBezTo>
                <a:cubicBezTo>
                  <a:pt x="-36668" y="656887"/>
                  <a:pt x="28482" y="465047"/>
                  <a:pt x="0" y="388545"/>
                </a:cubicBezTo>
                <a:cubicBezTo>
                  <a:pt x="-28482" y="312043"/>
                  <a:pt x="13983" y="110366"/>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p:nvPr/>
        </p:nvSpPr>
        <p:spPr>
          <a:xfrm>
            <a:off x="1357313" y="871537"/>
            <a:ext cx="4057650" cy="214312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a:t>
            </a:r>
            <a:r>
              <a:rPr b="0" i="0" lang="en-US" sz="2000" u="none" cap="none" strike="noStrike">
                <a:solidFill>
                  <a:srgbClr val="FF0000"/>
                </a:solidFill>
                <a:latin typeface="Arial"/>
                <a:ea typeface="Arial"/>
                <a:cs typeface="Arial"/>
                <a:sym typeface="Arial"/>
              </a:rPr>
              <a:t>try: </a:t>
            </a:r>
            <a:r>
              <a:rPr b="0" i="0" lang="en-US" sz="2000" u="none" cap="none" strike="noStrike">
                <a:solidFill>
                  <a:schemeClr val="dk1"/>
                </a:solidFill>
                <a:latin typeface="Arial"/>
                <a:ea typeface="Arial"/>
                <a:cs typeface="Arial"/>
                <a:sym typeface="Arial"/>
              </a:rPr>
              <a:t>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a = 3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print (a/0)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a:t>
            </a:r>
            <a:r>
              <a:rPr b="0" i="0" lang="en-US" sz="2000" u="none" cap="none" strike="noStrike">
                <a:solidFill>
                  <a:srgbClr val="FF0000"/>
                </a:solidFill>
                <a:latin typeface="Arial"/>
                <a:ea typeface="Arial"/>
                <a:cs typeface="Arial"/>
                <a:sym typeface="Arial"/>
              </a:rPr>
              <a:t>except: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print ("An error occurred") </a:t>
            </a:r>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descr="Logo&#10;&#10;Description automatically generated" id="135" name="Google Shape;135;p4"/>
          <p:cNvPicPr preferRelativeResize="0"/>
          <p:nvPr/>
        </p:nvPicPr>
        <p:blipFill rotWithShape="1">
          <a:blip r:embed="rId3">
            <a:alphaModFix/>
          </a:blip>
          <a:srcRect b="0" l="0" r="0" t="0"/>
          <a:stretch/>
        </p:blipFill>
        <p:spPr>
          <a:xfrm>
            <a:off x="9269378" y="46495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36" name="Google Shape;136;p4"/>
          <p:cNvSpPr txBox="1"/>
          <p:nvPr/>
        </p:nvSpPr>
        <p:spPr>
          <a:xfrm>
            <a:off x="1300161" y="3371850"/>
            <a:ext cx="9159880"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In the output, instead of the exception, the print statement in the "except" block </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will be printed:</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“An error occurred”</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type="title"/>
          </p:nvPr>
        </p:nvSpPr>
        <p:spPr>
          <a:xfrm>
            <a:off x="852488" y="279398"/>
            <a:ext cx="5243512" cy="782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Another Example</a:t>
            </a:r>
            <a:endParaRPr/>
          </a:p>
        </p:txBody>
      </p:sp>
      <p:pic>
        <p:nvPicPr>
          <p:cNvPr descr="Logo&#10;&#10;Description automatically generated" id="142" name="Google Shape;142;p5"/>
          <p:cNvPicPr preferRelativeResize="0"/>
          <p:nvPr/>
        </p:nvPicPr>
        <p:blipFill rotWithShape="1">
          <a:blip r:embed="rId3">
            <a:alphaModFix/>
          </a:blip>
          <a:srcRect b="0" l="0" r="0" t="0"/>
          <a:stretch/>
        </p:blipFill>
        <p:spPr>
          <a:xfrm>
            <a:off x="9269378" y="46495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43" name="Google Shape;143;p5"/>
          <p:cNvSpPr/>
          <p:nvPr/>
        </p:nvSpPr>
        <p:spPr>
          <a:xfrm>
            <a:off x="1028700" y="1214434"/>
            <a:ext cx="7429500" cy="238601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355600" lvl="0" marL="3556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FF0000"/>
                </a:solidFill>
                <a:latin typeface="Arial"/>
                <a:ea typeface="Arial"/>
                <a:cs typeface="Arial"/>
                <a:sym typeface="Arial"/>
              </a:rPr>
              <a:t>try:</a:t>
            </a:r>
            <a:r>
              <a:rPr b="0" i="0" lang="en-US" sz="2000" u="none" cap="none" strike="noStrike">
                <a:solidFill>
                  <a:schemeClr val="dk1"/>
                </a:solidFill>
                <a:latin typeface="Arial"/>
                <a:ea typeface="Arial"/>
                <a:cs typeface="Arial"/>
                <a:sym typeface="Arial"/>
              </a:rPr>
              <a:t>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array = [2,3,5,6]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print (array)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for i in range (0,5):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print ("The element in", i ,"index is:", array[i])  </a:t>
            </a:r>
            <a:endParaRPr/>
          </a:p>
          <a:p>
            <a:pPr indent="-355600" lvl="0" marL="3556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FF0000"/>
                </a:solidFill>
                <a:latin typeface="Arial"/>
                <a:ea typeface="Arial"/>
                <a:cs typeface="Arial"/>
                <a:sym typeface="Arial"/>
              </a:rPr>
              <a:t>except:</a:t>
            </a:r>
            <a:r>
              <a:rPr b="0" i="0" lang="en-US" sz="2000" u="none" cap="none" strike="noStrike">
                <a:solidFill>
                  <a:schemeClr val="dk1"/>
                </a:solidFill>
                <a:latin typeface="Arial"/>
                <a:ea typeface="Arial"/>
                <a:cs typeface="Arial"/>
                <a:sym typeface="Arial"/>
              </a:rPr>
              <a:t>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Arial"/>
                <a:ea typeface="Arial"/>
                <a:cs typeface="Arial"/>
                <a:sym typeface="Arial"/>
              </a:rPr>
              <a:t>    	 print ("Tried to access an out of bound index-check it") </a:t>
            </a:r>
            <a:r>
              <a:rPr b="0" i="0" lang="en-US" sz="1400" u="none" cap="none" strike="noStrike">
                <a:solidFill>
                  <a:schemeClr val="dk1"/>
                </a:solidFill>
                <a:latin typeface="Arial"/>
                <a:ea typeface="Arial"/>
                <a:cs typeface="Arial"/>
                <a:sym typeface="Arial"/>
              </a:rPr>
              <a:t> </a:t>
            </a:r>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44" name="Google Shape;144;p5"/>
          <p:cNvSpPr txBox="1"/>
          <p:nvPr/>
        </p:nvSpPr>
        <p:spPr>
          <a:xfrm>
            <a:off x="1903810" y="3944246"/>
            <a:ext cx="609361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Century Gothic"/>
                <a:ea typeface="Century Gothic"/>
                <a:cs typeface="Century Gothic"/>
                <a:sym typeface="Century Gothic"/>
              </a:rPr>
              <a:t>Output</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entury Gothic"/>
              <a:ea typeface="Century Gothic"/>
              <a:cs typeface="Century Gothic"/>
              <a:sym typeface="Century Gothic"/>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[2, 3, 5, 6]  </a:t>
            </a:r>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The element in 0 indexes is: 2  </a:t>
            </a:r>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The element in 1 index is: 3  </a:t>
            </a:r>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The element in 2 index is: 5  </a:t>
            </a:r>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The element in 3 index is: 6  </a:t>
            </a:r>
            <a:endParaRPr/>
          </a:p>
          <a:p>
            <a:pPr indent="0" lvl="0" marL="35560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	Tried to access an out of bound index-check it </a:t>
            </a:r>
            <a:r>
              <a:rPr b="0" i="0" lang="en-US" sz="1400" u="none" cap="none" strike="noStrike">
                <a:solidFill>
                  <a:srgbClr val="000000"/>
                </a:solidFill>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Logo&#10;&#10;Description automatically generated" id="149" name="Google Shape;149;p6"/>
          <p:cNvPicPr preferRelativeResize="0"/>
          <p:nvPr/>
        </p:nvPicPr>
        <p:blipFill rotWithShape="1">
          <a:blip r:embed="rId3">
            <a:alphaModFix/>
          </a:blip>
          <a:srcRect b="0" l="0" r="0" t="0"/>
          <a:stretch/>
        </p:blipFill>
        <p:spPr>
          <a:xfrm>
            <a:off x="9497978" y="5987908"/>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pic>
        <p:nvPicPr>
          <p:cNvPr id="150" name="Google Shape;150;p6"/>
          <p:cNvPicPr preferRelativeResize="0"/>
          <p:nvPr/>
        </p:nvPicPr>
        <p:blipFill rotWithShape="1">
          <a:blip r:embed="rId4">
            <a:alphaModFix/>
          </a:blip>
          <a:srcRect b="0" l="0" r="0" t="0"/>
          <a:stretch/>
        </p:blipFill>
        <p:spPr>
          <a:xfrm>
            <a:off x="1995475" y="1203225"/>
            <a:ext cx="7986725" cy="4451550"/>
          </a:xfrm>
          <a:prstGeom prst="rect">
            <a:avLst/>
          </a:prstGeom>
          <a:noFill/>
          <a:ln>
            <a:noFill/>
          </a:ln>
        </p:spPr>
      </p:pic>
      <p:sp>
        <p:nvSpPr>
          <p:cNvPr id="151" name="Google Shape;151;p6"/>
          <p:cNvSpPr txBox="1"/>
          <p:nvPr/>
        </p:nvSpPr>
        <p:spPr>
          <a:xfrm>
            <a:off x="1995487" y="328771"/>
            <a:ext cx="7986713"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000" u="none" cap="none" strike="noStrike">
                <a:solidFill>
                  <a:srgbClr val="000000"/>
                </a:solidFill>
                <a:latin typeface="Century Gothic"/>
                <a:ea typeface="Century Gothic"/>
                <a:cs typeface="Century Gothic"/>
                <a:sym typeface="Century Gothic"/>
              </a:rPr>
              <a:t>Common built-in exceptions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ph type="title"/>
          </p:nvPr>
        </p:nvSpPr>
        <p:spPr>
          <a:xfrm>
            <a:off x="838200" y="365126"/>
            <a:ext cx="10515600" cy="782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Multiple catch statements</a:t>
            </a:r>
            <a:endParaRPr/>
          </a:p>
        </p:txBody>
      </p:sp>
      <p:pic>
        <p:nvPicPr>
          <p:cNvPr descr="Logo&#10;&#10;Description automatically generated" id="157" name="Google Shape;157;p7"/>
          <p:cNvPicPr preferRelativeResize="0"/>
          <p:nvPr/>
        </p:nvPicPr>
        <p:blipFill rotWithShape="1">
          <a:blip r:embed="rId3">
            <a:alphaModFix/>
          </a:blip>
          <a:srcRect b="0" l="0" r="0" t="0"/>
          <a:stretch/>
        </p:blipFill>
        <p:spPr>
          <a:xfrm>
            <a:off x="9269378" y="46495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58" name="Google Shape;158;p7"/>
          <p:cNvSpPr/>
          <p:nvPr/>
        </p:nvSpPr>
        <p:spPr>
          <a:xfrm>
            <a:off x="614362" y="1457326"/>
            <a:ext cx="6286500" cy="47148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try: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array = [2,3,5,6,7]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print(array)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for i in range(0,5):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print("The element in" , i , "index is:", array[i])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for i in reversed(range(-1,3)):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print(array[0]/0)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except IndexError: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print("Tried to access an out of bound index-check it")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a:t>
            </a:r>
            <a:r>
              <a:rPr b="0" i="0" lang="en-US" sz="1800" u="none" cap="none" strike="noStrike">
                <a:solidFill>
                  <a:srgbClr val="FF0000"/>
                </a:solidFill>
                <a:latin typeface="Arial"/>
                <a:ea typeface="Arial"/>
                <a:cs typeface="Arial"/>
                <a:sym typeface="Arial"/>
              </a:rPr>
              <a:t>except ZeroDivisionError:  </a:t>
            </a:r>
            <a:endParaRPr/>
          </a:p>
          <a:p>
            <a:pPr indent="-114300" lvl="0" marL="0" marR="0" rtl="0" algn="l">
              <a:lnSpc>
                <a:spcPct val="15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Arial"/>
                <a:ea typeface="Arial"/>
                <a:cs typeface="Arial"/>
                <a:sym typeface="Arial"/>
              </a:rPr>
              <a:t>    print("Oops! Division by zero")  </a:t>
            </a:r>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59" name="Google Shape;159;p7"/>
          <p:cNvSpPr txBox="1"/>
          <p:nvPr/>
        </p:nvSpPr>
        <p:spPr>
          <a:xfrm>
            <a:off x="7195900" y="1457326"/>
            <a:ext cx="4804500" cy="4032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600" u="none" cap="none" strike="noStrike">
                <a:solidFill>
                  <a:schemeClr val="dk1"/>
                </a:solidFill>
                <a:latin typeface="Century Gothic"/>
                <a:ea typeface="Century Gothic"/>
                <a:cs typeface="Century Gothic"/>
                <a:sym typeface="Century Gothic"/>
              </a:rPr>
              <a:t>Output:</a:t>
            </a:r>
            <a:endParaRPr/>
          </a:p>
          <a:p>
            <a:pPr indent="0" lvl="0" marL="0" marR="0" rtl="0" algn="l">
              <a:lnSpc>
                <a:spcPct val="150000"/>
              </a:lnSpc>
              <a:spcBef>
                <a:spcPts val="0"/>
              </a:spcBef>
              <a:spcAft>
                <a:spcPts val="0"/>
              </a:spcAft>
              <a:buNone/>
            </a:pPr>
            <a:r>
              <a:rPr b="1" i="0" lang="en-US" sz="1600" u="none" cap="none" strike="noStrike">
                <a:solidFill>
                  <a:srgbClr val="00B0F0"/>
                </a:solidFill>
                <a:latin typeface="Century Gothic"/>
                <a:ea typeface="Century Gothic"/>
                <a:cs typeface="Century Gothic"/>
                <a:sym typeface="Century Gothic"/>
              </a:rPr>
              <a:t># Zero division error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 3, 5, 6, 7]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Oops! Division by zero </a:t>
            </a:r>
            <a:endParaRPr/>
          </a:p>
          <a:p>
            <a:pPr indent="0" lvl="0" marL="0" marR="0" rtl="0" algn="l">
              <a:lnSpc>
                <a:spcPct val="150000"/>
              </a:lnSpc>
              <a:spcBef>
                <a:spcPts val="0"/>
              </a:spcBef>
              <a:spcAft>
                <a:spcPts val="0"/>
              </a:spcAft>
              <a:buNone/>
            </a:pPr>
            <a:r>
              <a:rPr b="1" i="0" lang="en-US" sz="1600" u="none" cap="none" strike="noStrike">
                <a:solidFill>
                  <a:srgbClr val="00B0F0"/>
                </a:solidFill>
                <a:latin typeface="Century Gothic"/>
                <a:ea typeface="Century Gothic"/>
                <a:cs typeface="Century Gothic"/>
                <a:sym typeface="Century Gothic"/>
              </a:rPr>
              <a:t>#Index error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 3, 5, 6]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0 index is: 2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1 index is: 3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2 index is: 5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3 index is: 6 </a:t>
            </a:r>
            <a:endParaRPr/>
          </a:p>
          <a:p>
            <a:pPr indent="0" lvl="0" marL="0" marR="0" rtl="0" algn="l">
              <a:lnSpc>
                <a:spcPct val="15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Tried to access an out of bound index-check 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ph type="title"/>
          </p:nvPr>
        </p:nvSpPr>
        <p:spPr>
          <a:xfrm>
            <a:off x="838200" y="365126"/>
            <a:ext cx="4133850" cy="782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Try with else </a:t>
            </a:r>
            <a:endParaRPr/>
          </a:p>
        </p:txBody>
      </p:sp>
      <p:sp>
        <p:nvSpPr>
          <p:cNvPr id="165" name="Google Shape;165;p8"/>
          <p:cNvSpPr txBox="1"/>
          <p:nvPr/>
        </p:nvSpPr>
        <p:spPr>
          <a:xfrm>
            <a:off x="838200" y="1248793"/>
            <a:ext cx="11253281"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rgbClr val="000000"/>
                </a:solidFill>
                <a:latin typeface="Century Gothic"/>
                <a:ea typeface="Century Gothic"/>
                <a:cs typeface="Century Gothic"/>
                <a:sym typeface="Century Gothic"/>
              </a:rPr>
              <a:t>According to the syntax, the else block must be placed after all the "except" blocks. </a:t>
            </a:r>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rgbClr val="000000"/>
                </a:solidFill>
                <a:latin typeface="Century Gothic"/>
                <a:ea typeface="Century Gothic"/>
                <a:cs typeface="Century Gothic"/>
                <a:sym typeface="Century Gothic"/>
              </a:rPr>
              <a:t>If the code in the try block is successfully executed without raising any exceptions, else block will be executed.</a:t>
            </a:r>
            <a:endParaRPr b="0" i="0" sz="2000" u="none" cap="none" strike="noStrike">
              <a:solidFill>
                <a:srgbClr val="000000"/>
              </a:solidFill>
              <a:latin typeface="Century Gothic"/>
              <a:ea typeface="Century Gothic"/>
              <a:cs typeface="Century Gothic"/>
              <a:sym typeface="Century Gothic"/>
            </a:endParaRPr>
          </a:p>
        </p:txBody>
      </p:sp>
      <p:pic>
        <p:nvPicPr>
          <p:cNvPr descr="Logo&#10;&#10;Description automatically generated" id="166" name="Google Shape;166;p8"/>
          <p:cNvPicPr preferRelativeResize="0"/>
          <p:nvPr/>
        </p:nvPicPr>
        <p:blipFill rotWithShape="1">
          <a:blip r:embed="rId3">
            <a:alphaModFix/>
          </a:blip>
          <a:srcRect b="0" l="0" r="0" t="0"/>
          <a:stretch/>
        </p:blipFill>
        <p:spPr>
          <a:xfrm>
            <a:off x="9269378" y="46495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67" name="Google Shape;167;p8"/>
          <p:cNvSpPr/>
          <p:nvPr/>
        </p:nvSpPr>
        <p:spPr>
          <a:xfrm>
            <a:off x="871536" y="2500313"/>
            <a:ext cx="6086478" cy="328612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num = int (input ("Enter the numerator: "))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den = int (input ("Enter the denominator: "))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FF0000"/>
                </a:solidFill>
                <a:latin typeface="Century Gothic"/>
                <a:ea typeface="Century Gothic"/>
                <a:cs typeface="Century Gothic"/>
                <a:sym typeface="Century Gothic"/>
              </a:rPr>
              <a:t> try: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res = num/den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a:t>
            </a:r>
            <a:r>
              <a:rPr b="0" i="0" lang="en-US" sz="2000" u="none" cap="none" strike="noStrike">
                <a:solidFill>
                  <a:srgbClr val="FF0000"/>
                </a:solidFill>
                <a:latin typeface="Century Gothic"/>
                <a:ea typeface="Century Gothic"/>
                <a:cs typeface="Century Gothic"/>
                <a:sym typeface="Century Gothic"/>
              </a:rPr>
              <a:t>except ZeroDivisionError: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print ("The denominator cannot be zero")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a:t>
            </a:r>
            <a:r>
              <a:rPr b="0" i="0" lang="en-US" sz="2000" u="none" cap="none" strike="noStrike">
                <a:solidFill>
                  <a:srgbClr val="FF0000"/>
                </a:solidFill>
                <a:latin typeface="Century Gothic"/>
                <a:ea typeface="Century Gothic"/>
                <a:cs typeface="Century Gothic"/>
                <a:sym typeface="Century Gothic"/>
              </a:rPr>
              <a:t>else:  </a:t>
            </a:r>
            <a:endParaRPr/>
          </a:p>
          <a:p>
            <a:pPr indent="-127000" lvl="0" marL="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chemeClr val="dk1"/>
                </a:solidFill>
                <a:latin typeface="Century Gothic"/>
                <a:ea typeface="Century Gothic"/>
                <a:cs typeface="Century Gothic"/>
                <a:sym typeface="Century Gothic"/>
              </a:rPr>
              <a:t>    print ("The result of the division:", res)  </a:t>
            </a:r>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68" name="Google Shape;168;p8"/>
          <p:cNvSpPr txBox="1"/>
          <p:nvPr/>
        </p:nvSpPr>
        <p:spPr>
          <a:xfrm>
            <a:off x="7329486" y="2471734"/>
            <a:ext cx="4397358" cy="33636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rgbClr val="00B0F0"/>
                </a:solidFill>
                <a:latin typeface="Century Gothic"/>
                <a:ea typeface="Century Gothic"/>
                <a:cs typeface="Century Gothic"/>
                <a:sym typeface="Century Gothic"/>
              </a:rPr>
              <a:t>#Sample output-1-No exception rose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Enter the numerator: 3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Enter the denominator: 4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The result of the division: 0.75 </a:t>
            </a:r>
            <a:endParaRPr/>
          </a:p>
          <a:p>
            <a:pPr indent="0" lvl="0" marL="0" marR="0" rtl="0" algn="l">
              <a:lnSpc>
                <a:spcPct val="150000"/>
              </a:lnSpc>
              <a:spcBef>
                <a:spcPts val="0"/>
              </a:spcBef>
              <a:spcAft>
                <a:spcPts val="0"/>
              </a:spcAft>
              <a:buNone/>
            </a:pPr>
            <a:r>
              <a:rPr b="0" i="0" lang="en-US" sz="1800" u="none" cap="none" strike="noStrike">
                <a:solidFill>
                  <a:srgbClr val="00B0F0"/>
                </a:solidFill>
                <a:latin typeface="Century Gothic"/>
                <a:ea typeface="Century Gothic"/>
                <a:cs typeface="Century Gothic"/>
                <a:sym typeface="Century Gothic"/>
              </a:rPr>
              <a:t>#Sample output-2-Exception rose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Enter the numerator: 3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Enter the denominator: 0 </a:t>
            </a:r>
            <a:endParaRPr/>
          </a:p>
          <a:p>
            <a:pPr indent="0" lvl="0" marL="0" marR="0" rtl="0" algn="l">
              <a:lnSpc>
                <a:spcPct val="15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The denominator cannot be zero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ph type="title"/>
          </p:nvPr>
        </p:nvSpPr>
        <p:spPr>
          <a:xfrm>
            <a:off x="838200" y="365126"/>
            <a:ext cx="10515600" cy="7827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"finally" keyword</a:t>
            </a:r>
            <a:endParaRPr/>
          </a:p>
        </p:txBody>
      </p:sp>
      <p:sp>
        <p:nvSpPr>
          <p:cNvPr id="174" name="Google Shape;174;p9"/>
          <p:cNvSpPr txBox="1"/>
          <p:nvPr/>
        </p:nvSpPr>
        <p:spPr>
          <a:xfrm>
            <a:off x="640913" y="931609"/>
            <a:ext cx="9619744" cy="147728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2000" u="none" cap="none" strike="noStrike">
                <a:solidFill>
                  <a:srgbClr val="000000"/>
                </a:solidFill>
                <a:latin typeface="Arial"/>
                <a:ea typeface="Arial"/>
                <a:cs typeface="Arial"/>
                <a:sym typeface="Arial"/>
              </a:rPr>
              <a:t>“finally" is a keyword in python that we can use in exception handling by placing </a:t>
            </a:r>
            <a:endParaRPr/>
          </a:p>
          <a:p>
            <a:pPr indent="0" lvl="0" marL="0" marR="0" rtl="0" algn="l">
              <a:lnSpc>
                <a:spcPct val="150000"/>
              </a:lnSpc>
              <a:spcBef>
                <a:spcPts val="0"/>
              </a:spcBef>
              <a:spcAft>
                <a:spcPts val="0"/>
              </a:spcAft>
              <a:buClr>
                <a:srgbClr val="000000"/>
              </a:buClr>
              <a:buSzPts val="1800"/>
              <a:buFont typeface="Arial"/>
              <a:buNone/>
            </a:pPr>
            <a:r>
              <a:rPr b="0" i="0" lang="en-US" sz="2000" u="none" cap="none" strike="noStrike">
                <a:solidFill>
                  <a:srgbClr val="000000"/>
                </a:solidFill>
                <a:latin typeface="Arial"/>
                <a:ea typeface="Arial"/>
                <a:cs typeface="Arial"/>
                <a:sym typeface="Arial"/>
              </a:rPr>
              <a:t>it after the else block if any. The code in the finally block is executed irrespective of </a:t>
            </a:r>
            <a:endParaRPr/>
          </a:p>
          <a:p>
            <a:pPr indent="0" lvl="0" marL="0" marR="0" rtl="0" algn="l">
              <a:lnSpc>
                <a:spcPct val="150000"/>
              </a:lnSpc>
              <a:spcBef>
                <a:spcPts val="0"/>
              </a:spcBef>
              <a:spcAft>
                <a:spcPts val="0"/>
              </a:spcAft>
              <a:buClr>
                <a:srgbClr val="000000"/>
              </a:buClr>
              <a:buSzPts val="1800"/>
              <a:buFont typeface="Arial"/>
              <a:buNone/>
            </a:pPr>
            <a:r>
              <a:rPr b="0" i="0" lang="en-US" sz="2000" u="none" cap="none" strike="noStrike">
                <a:solidFill>
                  <a:srgbClr val="000000"/>
                </a:solidFill>
                <a:latin typeface="Arial"/>
                <a:ea typeface="Arial"/>
                <a:cs typeface="Arial"/>
                <a:sym typeface="Arial"/>
              </a:rPr>
              <a:t>any other blocks.</a:t>
            </a:r>
            <a:endParaRPr b="0" i="0" sz="2000" u="none" cap="none" strike="noStrike">
              <a:solidFill>
                <a:srgbClr val="000000"/>
              </a:solidFill>
              <a:latin typeface="Arial"/>
              <a:ea typeface="Arial"/>
              <a:cs typeface="Arial"/>
              <a:sym typeface="Arial"/>
            </a:endParaRPr>
          </a:p>
        </p:txBody>
      </p:sp>
      <p:pic>
        <p:nvPicPr>
          <p:cNvPr descr="Logo&#10;&#10;Description automatically generated" id="175" name="Google Shape;175;p9"/>
          <p:cNvPicPr preferRelativeResize="0"/>
          <p:nvPr/>
        </p:nvPicPr>
        <p:blipFill rotWithShape="1">
          <a:blip r:embed="rId3">
            <a:alphaModFix/>
          </a:blip>
          <a:srcRect b="0" l="0" r="0" t="0"/>
          <a:stretch/>
        </p:blipFill>
        <p:spPr>
          <a:xfrm>
            <a:off x="9269378" y="46495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76" name="Google Shape;176;p9"/>
          <p:cNvSpPr/>
          <p:nvPr/>
        </p:nvSpPr>
        <p:spPr>
          <a:xfrm>
            <a:off x="300024" y="2566059"/>
            <a:ext cx="7672395" cy="4049054"/>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FF0000"/>
                </a:solidFill>
                <a:latin typeface="Century Gothic"/>
                <a:ea typeface="Century Gothic"/>
                <a:cs typeface="Century Gothic"/>
                <a:sym typeface="Century Gothic"/>
              </a:rPr>
              <a:t>  try: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array = [2,3,5,6]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print (array)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for i in range (0,5):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print ("The element in", i ,"index is:", array[i])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except:</a:t>
            </a:r>
            <a:r>
              <a:rPr b="0" i="0" lang="en-US" sz="1800" u="none" cap="none" strike="noStrike">
                <a:solidFill>
                  <a:schemeClr val="dk1"/>
                </a:solidFill>
                <a:latin typeface="Century Gothic"/>
                <a:ea typeface="Century Gothic"/>
                <a:cs typeface="Century Gothic"/>
                <a:sym typeface="Century Gothic"/>
              </a:rPr>
              <a:t>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print ("Tried to access an out of bound index-check it")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else: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print("No exceptions. Well done")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a:t>
            </a:r>
            <a:r>
              <a:rPr b="0" i="0" lang="en-US" sz="1800" u="none" cap="none" strike="noStrike">
                <a:solidFill>
                  <a:srgbClr val="FF0000"/>
                </a:solidFill>
                <a:latin typeface="Century Gothic"/>
                <a:ea typeface="Century Gothic"/>
                <a:cs typeface="Century Gothic"/>
                <a:sym typeface="Century Gothic"/>
              </a:rPr>
              <a:t>finally:  </a:t>
            </a:r>
            <a:endParaRPr/>
          </a:p>
          <a:p>
            <a:pPr indent="-114300" lvl="0" marL="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chemeClr val="dk1"/>
                </a:solidFill>
                <a:latin typeface="Century Gothic"/>
                <a:ea typeface="Century Gothic"/>
                <a:cs typeface="Century Gothic"/>
                <a:sym typeface="Century Gothic"/>
              </a:rPr>
              <a:t>      print("You are now looking at the code in the finally block")  </a:t>
            </a:r>
            <a:endParaRPr/>
          </a:p>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177" name="Google Shape;177;p9"/>
          <p:cNvSpPr txBox="1"/>
          <p:nvPr/>
        </p:nvSpPr>
        <p:spPr>
          <a:xfrm>
            <a:off x="8258173" y="2600322"/>
            <a:ext cx="3518912"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Century Gothic"/>
                <a:ea typeface="Century Gothic"/>
                <a:cs typeface="Century Gothic"/>
                <a:sym typeface="Century Gothic"/>
              </a:rPr>
              <a:t>Output</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[2, 3, 5, 6]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0 index is: 2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1 index is: 3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2 index is: 5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The element in 3 index is: 6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Tried to access an out of bound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index-check it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You are now looking at the code </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Century Gothic"/>
                <a:ea typeface="Century Gothic"/>
                <a:cs typeface="Century Gothic"/>
                <a:sym typeface="Century Gothic"/>
              </a:rPr>
              <a:t>in the finally block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nvSpPr>
        <p:spPr>
          <a:xfrm>
            <a:off x="3429001" y="242887"/>
            <a:ext cx="485742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Century Gothic"/>
                <a:ea typeface="Century Gothic"/>
                <a:cs typeface="Century Gothic"/>
                <a:sym typeface="Century Gothic"/>
              </a:rPr>
              <a:t>“Assert” Statement</a:t>
            </a:r>
            <a:endParaRPr/>
          </a:p>
        </p:txBody>
      </p:sp>
      <p:sp>
        <p:nvSpPr>
          <p:cNvPr id="183" name="Google Shape;183;p11"/>
          <p:cNvSpPr/>
          <p:nvPr/>
        </p:nvSpPr>
        <p:spPr>
          <a:xfrm>
            <a:off x="671512" y="1728787"/>
            <a:ext cx="7272337" cy="362902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rgbClr val="00B0F0"/>
                </a:solidFill>
                <a:latin typeface="Century Gothic"/>
                <a:ea typeface="Century Gothic"/>
                <a:cs typeface="Century Gothic"/>
                <a:sym typeface="Century Gothic"/>
              </a:rPr>
              <a:t>1. # defining a function  </a:t>
            </a:r>
            <a:endParaRPr/>
          </a:p>
          <a:p>
            <a:pPr indent="0" lvl="0" marL="0" marR="0" rtl="0" algn="l">
              <a:lnSpc>
                <a:spcPct val="100000"/>
              </a:lnSpc>
              <a:spcBef>
                <a:spcPts val="0"/>
              </a:spcBef>
              <a:spcAft>
                <a:spcPts val="0"/>
              </a:spcAft>
              <a:buNone/>
            </a:pPr>
            <a:r>
              <a:rPr b="0" i="0" lang="en-US" sz="2000" u="none" cap="none" strike="noStrike">
                <a:solidFill>
                  <a:schemeClr val="dk1"/>
                </a:solidFill>
                <a:latin typeface="Century Gothic"/>
                <a:ea typeface="Century Gothic"/>
                <a:cs typeface="Century Gothic"/>
                <a:sym typeface="Century Gothic"/>
              </a:rPr>
              <a:t>2. def square_root( number ):      </a:t>
            </a:r>
            <a:endParaRPr/>
          </a:p>
          <a:p>
            <a:pPr indent="-457200" lvl="0" marL="457200" marR="0" rtl="0" algn="l">
              <a:lnSpc>
                <a:spcPct val="100000"/>
              </a:lnSpc>
              <a:spcBef>
                <a:spcPts val="0"/>
              </a:spcBef>
              <a:spcAft>
                <a:spcPts val="0"/>
              </a:spcAft>
              <a:buClr>
                <a:srgbClr val="000000"/>
              </a:buClr>
              <a:buSzPts val="2000"/>
              <a:buFont typeface="Arial"/>
              <a:buAutoNum type="arabicPeriod" startAt="3"/>
            </a:pPr>
            <a:r>
              <a:rPr b="0" i="0" lang="en-US" sz="2000" u="none" cap="none" strike="noStrike">
                <a:solidFill>
                  <a:schemeClr val="dk1"/>
                </a:solidFill>
                <a:latin typeface="Century Gothic"/>
                <a:ea typeface="Century Gothic"/>
                <a:cs typeface="Century Gothic"/>
                <a:sym typeface="Century Gothic"/>
              </a:rPr>
              <a:t>assert ( number </a:t>
            </a:r>
            <a:r>
              <a:rPr lang="en-US" sz="2000">
                <a:solidFill>
                  <a:schemeClr val="dk1"/>
                </a:solidFill>
                <a:latin typeface="Century Gothic"/>
                <a:ea typeface="Century Gothic"/>
                <a:cs typeface="Century Gothic"/>
                <a:sym typeface="Century Gothic"/>
              </a:rPr>
              <a:t>&gt;</a:t>
            </a:r>
            <a:r>
              <a:rPr b="0" i="0" lang="en-US" sz="2000" u="none" cap="none" strike="noStrike">
                <a:solidFill>
                  <a:schemeClr val="dk1"/>
                </a:solidFill>
                <a:latin typeface="Century Gothic"/>
                <a:ea typeface="Century Gothic"/>
                <a:cs typeface="Century Gothic"/>
                <a:sym typeface="Century Gothic"/>
              </a:rPr>
              <a:t> 0), "Give a positive integer"     </a:t>
            </a:r>
            <a:endParaRPr/>
          </a:p>
          <a:p>
            <a:pPr indent="-457200" lvl="0" marL="457200" marR="0" rtl="0" algn="l">
              <a:lnSpc>
                <a:spcPct val="100000"/>
              </a:lnSpc>
              <a:spcBef>
                <a:spcPts val="0"/>
              </a:spcBef>
              <a:spcAft>
                <a:spcPts val="0"/>
              </a:spcAft>
              <a:buClr>
                <a:srgbClr val="000000"/>
              </a:buClr>
              <a:buSzPts val="2000"/>
              <a:buFont typeface="Arial"/>
              <a:buAutoNum type="arabicPeriod" startAt="3"/>
            </a:pPr>
            <a:r>
              <a:rPr b="0" i="0" lang="en-US" sz="2000" u="none" cap="none" strike="noStrike">
                <a:solidFill>
                  <a:schemeClr val="dk1"/>
                </a:solidFill>
                <a:latin typeface="Century Gothic"/>
                <a:ea typeface="Century Gothic"/>
                <a:cs typeface="Century Gothic"/>
                <a:sym typeface="Century Gothic"/>
              </a:rPr>
              <a:t>return number**(1/2)   </a:t>
            </a:r>
            <a:endParaRPr/>
          </a:p>
          <a:p>
            <a:pPr indent="0" lvl="0" marL="0" marR="0" rtl="0" algn="l">
              <a:lnSpc>
                <a:spcPct val="100000"/>
              </a:lnSpc>
              <a:spcBef>
                <a:spcPts val="0"/>
              </a:spcBef>
              <a:spcAft>
                <a:spcPts val="0"/>
              </a:spcAft>
              <a:buNone/>
            </a:pPr>
            <a:r>
              <a:t/>
            </a:r>
            <a:endParaRPr b="0" i="0" sz="2000" u="none" cap="none" strike="noStrike">
              <a:solidFill>
                <a:srgbClr val="00B0F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rPr b="0" i="0" lang="en-US" sz="2000" u="none" cap="none" strike="noStrike">
                <a:solidFill>
                  <a:srgbClr val="00B0F0"/>
                </a:solidFill>
                <a:latin typeface="Century Gothic"/>
                <a:ea typeface="Century Gothic"/>
                <a:cs typeface="Century Gothic"/>
                <a:sym typeface="Century Gothic"/>
              </a:rPr>
              <a:t>5. #Calling function and passing the values  </a:t>
            </a:r>
            <a:endParaRPr/>
          </a:p>
          <a:p>
            <a:pPr indent="0" lvl="0" marL="0" marR="0" rtl="0" algn="l">
              <a:lnSpc>
                <a:spcPct val="100000"/>
              </a:lnSpc>
              <a:spcBef>
                <a:spcPts val="0"/>
              </a:spcBef>
              <a:spcAft>
                <a:spcPts val="0"/>
              </a:spcAft>
              <a:buNone/>
            </a:pPr>
            <a:r>
              <a:rPr b="0" i="0" lang="en-US" sz="2000" u="none" cap="none" strike="noStrike">
                <a:solidFill>
                  <a:schemeClr val="dk1"/>
                </a:solidFill>
                <a:latin typeface="Century Gothic"/>
                <a:ea typeface="Century Gothic"/>
                <a:cs typeface="Century Gothic"/>
                <a:sym typeface="Century Gothic"/>
              </a:rPr>
              <a:t>6. print( square_root( 36 ) )  </a:t>
            </a:r>
            <a:endParaRPr/>
          </a:p>
          <a:p>
            <a:pPr indent="0" lvl="0" marL="0" marR="0" rtl="0" algn="l">
              <a:lnSpc>
                <a:spcPct val="100000"/>
              </a:lnSpc>
              <a:spcBef>
                <a:spcPts val="0"/>
              </a:spcBef>
              <a:spcAft>
                <a:spcPts val="0"/>
              </a:spcAft>
              <a:buNone/>
            </a:pPr>
            <a:r>
              <a:rPr b="0" i="0" lang="en-US" sz="2000" u="none" cap="none" strike="noStrike">
                <a:solidFill>
                  <a:schemeClr val="dk1"/>
                </a:solidFill>
                <a:latin typeface="Century Gothic"/>
                <a:ea typeface="Century Gothic"/>
                <a:cs typeface="Century Gothic"/>
                <a:sym typeface="Century Gothic"/>
              </a:rPr>
              <a:t>7. print( square_root( -36 ) )  </a:t>
            </a:r>
            <a:endParaRPr/>
          </a:p>
        </p:txBody>
      </p:sp>
      <p:sp>
        <p:nvSpPr>
          <p:cNvPr id="184" name="Google Shape;184;p11"/>
          <p:cNvSpPr txBox="1"/>
          <p:nvPr/>
        </p:nvSpPr>
        <p:spPr>
          <a:xfrm>
            <a:off x="728663" y="1157288"/>
            <a:ext cx="1080295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Python uses ArgumentException, if the assertion fails, as the argument for the AssertionError.</a:t>
            </a:r>
            <a:endParaRPr/>
          </a:p>
        </p:txBody>
      </p:sp>
      <p:sp>
        <p:nvSpPr>
          <p:cNvPr id="185" name="Google Shape;185;p11"/>
          <p:cNvSpPr txBox="1"/>
          <p:nvPr/>
        </p:nvSpPr>
        <p:spPr>
          <a:xfrm>
            <a:off x="1014413" y="5757863"/>
            <a:ext cx="364074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Output</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AssertionError: Give a positive integer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nvSpPr>
        <p:spPr>
          <a:xfrm>
            <a:off x="865762" y="265794"/>
            <a:ext cx="7078088"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Century Gothic"/>
                <a:ea typeface="Century Gothic"/>
                <a:cs typeface="Century Gothic"/>
                <a:sym typeface="Century Gothic"/>
              </a:rPr>
              <a:t>Raising our own exceptions</a:t>
            </a:r>
            <a:endParaRPr/>
          </a:p>
        </p:txBody>
      </p:sp>
      <p:sp>
        <p:nvSpPr>
          <p:cNvPr id="191" name="Google Shape;191;p12"/>
          <p:cNvSpPr txBox="1"/>
          <p:nvPr/>
        </p:nvSpPr>
        <p:spPr>
          <a:xfrm>
            <a:off x="865762" y="1185862"/>
            <a:ext cx="10064176"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"raise" is a keyword in python, and by using a raise statement, we can raise our exceptions to stop the next statements from getting executed. "raise" statement without any arguments by its side is invalid and raises an error.</a:t>
            </a:r>
            <a:endParaRPr b="0" i="0" sz="1800" u="none" cap="none" strike="noStrike">
              <a:solidFill>
                <a:srgbClr val="000000"/>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Logo&#10;&#10;Description automatically generated" id="192" name="Google Shape;192;p12"/>
          <p:cNvPicPr preferRelativeResize="0"/>
          <p:nvPr/>
        </p:nvPicPr>
        <p:blipFill rotWithShape="1">
          <a:blip r:embed="rId3">
            <a:alphaModFix/>
          </a:blip>
          <a:srcRect b="0" l="0" r="0" t="0"/>
          <a:stretch/>
        </p:blipFill>
        <p:spPr>
          <a:xfrm>
            <a:off x="9430849" y="290732"/>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
        <p:nvSpPr>
          <p:cNvPr id="193" name="Google Shape;193;p12"/>
          <p:cNvSpPr/>
          <p:nvPr/>
        </p:nvSpPr>
        <p:spPr>
          <a:xfrm>
            <a:off x="628650" y="2443165"/>
            <a:ext cx="5681663" cy="162877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entury Gothic"/>
                <a:ea typeface="Century Gothic"/>
                <a:cs typeface="Century Gothic"/>
                <a:sym typeface="Century Gothic"/>
              </a:rPr>
              <a:t>1. x = -</a:t>
            </a:r>
            <a:r>
              <a:rPr b="0" i="0" lang="en-US" sz="1800" u="none" cap="none" strike="noStrike">
                <a:solidFill>
                  <a:srgbClr val="FF0000"/>
                </a:solidFill>
                <a:latin typeface="Century Gothic"/>
                <a:ea typeface="Century Gothic"/>
                <a:cs typeface="Century Gothic"/>
                <a:sym typeface="Century Gothic"/>
              </a:rPr>
              <a:t>1</a:t>
            </a:r>
            <a:br>
              <a:rPr b="0" i="0" lang="en-US" sz="1800" u="none" cap="none" strike="noStrike">
                <a:solidFill>
                  <a:srgbClr val="000000"/>
                </a:solidFill>
                <a:latin typeface="Century Gothic"/>
                <a:ea typeface="Century Gothic"/>
                <a:cs typeface="Century Gothic"/>
                <a:sym typeface="Century Gothic"/>
              </a:rPr>
            </a:br>
            <a:br>
              <a:rPr b="0" i="0" lang="en-US" sz="1800" u="none" cap="none" strike="noStrike">
                <a:solidFill>
                  <a:srgbClr val="000000"/>
                </a:solidFill>
                <a:latin typeface="Century Gothic"/>
                <a:ea typeface="Century Gothic"/>
                <a:cs typeface="Century Gothic"/>
                <a:sym typeface="Century Gothic"/>
              </a:rPr>
            </a:br>
            <a:r>
              <a:rPr b="0" i="0" lang="en-US" sz="1800" u="none" cap="none" strike="noStrike">
                <a:solidFill>
                  <a:srgbClr val="0000CD"/>
                </a:solidFill>
                <a:latin typeface="Century Gothic"/>
                <a:ea typeface="Century Gothic"/>
                <a:cs typeface="Century Gothic"/>
                <a:sym typeface="Century Gothic"/>
              </a:rPr>
              <a:t>2. if</a:t>
            </a:r>
            <a:r>
              <a:rPr b="0" i="0" lang="en-US" sz="1800" u="none" cap="none" strike="noStrike">
                <a:solidFill>
                  <a:srgbClr val="000000"/>
                </a:solidFill>
                <a:latin typeface="Century Gothic"/>
                <a:ea typeface="Century Gothic"/>
                <a:cs typeface="Century Gothic"/>
                <a:sym typeface="Century Gothic"/>
              </a:rPr>
              <a:t> x &lt; </a:t>
            </a:r>
            <a:r>
              <a:rPr b="0" i="0" lang="en-US" sz="1800" u="none" cap="none" strike="noStrike">
                <a:solidFill>
                  <a:srgbClr val="FF0000"/>
                </a:solidFill>
                <a:latin typeface="Century Gothic"/>
                <a:ea typeface="Century Gothic"/>
                <a:cs typeface="Century Gothic"/>
                <a:sym typeface="Century Gothic"/>
              </a:rPr>
              <a:t>0</a:t>
            </a:r>
            <a:r>
              <a:rPr b="0" i="0" lang="en-US" sz="1800" u="none" cap="none" strike="noStrike">
                <a:solidFill>
                  <a:srgbClr val="000000"/>
                </a:solidFill>
                <a:latin typeface="Century Gothic"/>
                <a:ea typeface="Century Gothic"/>
                <a:cs typeface="Century Gothic"/>
                <a:sym typeface="Century Gothic"/>
              </a:rPr>
              <a:t>:</a:t>
            </a:r>
            <a:br>
              <a:rPr b="0" i="0" lang="en-US" sz="1800" u="none" cap="none" strike="noStrike">
                <a:solidFill>
                  <a:srgbClr val="000000"/>
                </a:solidFill>
                <a:latin typeface="Century Gothic"/>
                <a:ea typeface="Century Gothic"/>
                <a:cs typeface="Century Gothic"/>
                <a:sym typeface="Century Gothic"/>
              </a:rPr>
            </a:br>
            <a:r>
              <a:rPr b="0" i="0" lang="en-US" sz="1800" u="none" cap="none" strike="noStrike">
                <a:solidFill>
                  <a:srgbClr val="000000"/>
                </a:solidFill>
                <a:latin typeface="Century Gothic"/>
                <a:ea typeface="Century Gothic"/>
                <a:cs typeface="Century Gothic"/>
                <a:sym typeface="Century Gothic"/>
              </a:rPr>
              <a:t>3. 	</a:t>
            </a:r>
            <a:r>
              <a:rPr b="0" i="0" lang="en-US" sz="1800" u="none" cap="none" strike="noStrike">
                <a:solidFill>
                  <a:srgbClr val="FF0000"/>
                </a:solidFill>
                <a:latin typeface="Century Gothic"/>
                <a:ea typeface="Century Gothic"/>
                <a:cs typeface="Century Gothic"/>
                <a:sym typeface="Century Gothic"/>
              </a:rPr>
              <a:t>raise Exception</a:t>
            </a:r>
            <a:r>
              <a:rPr b="0" i="0" lang="en-US" sz="1800" u="none" cap="none" strike="noStrike">
                <a:solidFill>
                  <a:schemeClr val="dk1"/>
                </a:solidFill>
                <a:latin typeface="Century Gothic"/>
                <a:ea typeface="Century Gothic"/>
                <a:cs typeface="Century Gothic"/>
                <a:sym typeface="Century Gothic"/>
              </a:rPr>
              <a:t>("Sorry, no numbers below      zero") </a:t>
            </a:r>
            <a:endParaRPr b="0" i="0" sz="1800" u="none" cap="none" strike="noStrike">
              <a:solidFill>
                <a:schemeClr val="dk1"/>
              </a:solidFill>
              <a:latin typeface="Century Gothic"/>
              <a:ea typeface="Century Gothic"/>
              <a:cs typeface="Century Gothic"/>
              <a:sym typeface="Century Gothic"/>
            </a:endParaRPr>
          </a:p>
        </p:txBody>
      </p:sp>
      <p:sp>
        <p:nvSpPr>
          <p:cNvPr id="194" name="Google Shape;194;p12"/>
          <p:cNvSpPr txBox="1"/>
          <p:nvPr/>
        </p:nvSpPr>
        <p:spPr>
          <a:xfrm>
            <a:off x="614359" y="4200525"/>
            <a:ext cx="345799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Exception: Sorry, no numbers below zero</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a:off x="6696079" y="2414590"/>
            <a:ext cx="4729162" cy="1628775"/>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01600" lvl="0" marL="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chemeClr val="dk1"/>
                </a:solidFill>
                <a:latin typeface="Century Gothic"/>
                <a:ea typeface="Century Gothic"/>
                <a:cs typeface="Century Gothic"/>
                <a:sym typeface="Century Gothic"/>
              </a:rPr>
              <a:t>   </a:t>
            </a:r>
            <a:r>
              <a:rPr b="0" i="0" lang="en-US" sz="1600" u="none" cap="none" strike="noStrike">
                <a:solidFill>
                  <a:srgbClr val="FF0000"/>
                </a:solidFill>
                <a:latin typeface="Century Gothic"/>
                <a:ea typeface="Century Gothic"/>
                <a:cs typeface="Century Gothic"/>
                <a:sym typeface="Century Gothic"/>
              </a:rPr>
              <a:t>try:  </a:t>
            </a:r>
            <a:endParaRPr/>
          </a:p>
          <a:p>
            <a:pPr indent="-101600" lvl="0" marL="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FF0000"/>
                </a:solidFill>
                <a:latin typeface="Century Gothic"/>
                <a:ea typeface="Century Gothic"/>
                <a:cs typeface="Century Gothic"/>
                <a:sym typeface="Century Gothic"/>
              </a:rPr>
              <a:t>      raise   </a:t>
            </a:r>
            <a:endParaRPr/>
          </a:p>
          <a:p>
            <a:pPr indent="-101600" lvl="0" marL="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rgbClr val="FF0000"/>
                </a:solidFill>
                <a:latin typeface="Century Gothic"/>
                <a:ea typeface="Century Gothic"/>
                <a:cs typeface="Century Gothic"/>
                <a:sym typeface="Century Gothic"/>
              </a:rPr>
              <a:t>   except</a:t>
            </a:r>
            <a:r>
              <a:rPr b="0" i="0" lang="en-US" sz="1600" u="none" cap="none" strike="noStrike">
                <a:solidFill>
                  <a:schemeClr val="dk1"/>
                </a:solidFill>
                <a:latin typeface="Century Gothic"/>
                <a:ea typeface="Century Gothic"/>
                <a:cs typeface="Century Gothic"/>
                <a:sym typeface="Century Gothic"/>
              </a:rPr>
              <a:t> ZeroDivisionError:  </a:t>
            </a:r>
            <a:endParaRPr/>
          </a:p>
          <a:p>
            <a:pPr indent="-101600" lvl="0" marL="0" marR="0" rtl="0" algn="l">
              <a:lnSpc>
                <a:spcPct val="100000"/>
              </a:lnSpc>
              <a:spcBef>
                <a:spcPts val="0"/>
              </a:spcBef>
              <a:spcAft>
                <a:spcPts val="0"/>
              </a:spcAft>
              <a:buClr>
                <a:srgbClr val="000000"/>
              </a:buClr>
              <a:buSzPts val="1600"/>
              <a:buFont typeface="Arial"/>
              <a:buAutoNum type="arabicPeriod"/>
            </a:pPr>
            <a:r>
              <a:rPr b="0" i="0" lang="en-US" sz="1600" u="none" cap="none" strike="noStrike">
                <a:solidFill>
                  <a:schemeClr val="dk1"/>
                </a:solidFill>
                <a:latin typeface="Century Gothic"/>
                <a:ea typeface="Century Gothic"/>
                <a:cs typeface="Century Gothic"/>
                <a:sym typeface="Century Gothic"/>
              </a:rPr>
              <a:t>      print ("Don't divide by zero-check it") </a:t>
            </a:r>
            <a:r>
              <a:rPr b="0" i="0" lang="en-US" sz="1400" u="none" cap="none" strike="noStrike">
                <a:solidFill>
                  <a:schemeClr val="dk1"/>
                </a:solidFill>
                <a:latin typeface="Arial"/>
                <a:ea typeface="Arial"/>
                <a:cs typeface="Arial"/>
                <a:sym typeface="Arial"/>
              </a:rPr>
              <a:t> </a:t>
            </a:r>
            <a:endParaRPr/>
          </a:p>
        </p:txBody>
      </p:sp>
      <p:sp>
        <p:nvSpPr>
          <p:cNvPr id="196" name="Google Shape;196;p12"/>
          <p:cNvSpPr txBox="1"/>
          <p:nvPr/>
        </p:nvSpPr>
        <p:spPr>
          <a:xfrm>
            <a:off x="6615116" y="4143374"/>
            <a:ext cx="3706464"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Output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RuntimeError: No active exception to reraise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ushVTI">
  <a:themeElements>
    <a:clrScheme name="AnalogousFromDarkSeed_2SEEDS">
      <a:dk1>
        <a:srgbClr val="000000"/>
      </a:dk1>
      <a:lt1>
        <a:srgbClr val="FFFFFF"/>
      </a:lt1>
      <a:dk2>
        <a:srgbClr val="1B2C30"/>
      </a:dk2>
      <a:lt2>
        <a:srgbClr val="F3F1F0"/>
      </a:lt2>
      <a:accent1>
        <a:srgbClr val="17AED5"/>
      </a:accent1>
      <a:accent2>
        <a:srgbClr val="20B596"/>
      </a:accent2>
      <a:accent3>
        <a:srgbClr val="2971E7"/>
      </a:accent3>
      <a:accent4>
        <a:srgbClr val="D51731"/>
      </a:accent4>
      <a:accent5>
        <a:srgbClr val="E75E29"/>
      </a:accent5>
      <a:accent6>
        <a:srgbClr val="D19817"/>
      </a:accent6>
      <a:hlink>
        <a:srgbClr val="A14EC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2021-11-24T14:43:08Z</dcterms:created>
  <dc:creator>M.M. Mahbubul Syeed</dc:creator>
</cp:coreProperties>
</file>