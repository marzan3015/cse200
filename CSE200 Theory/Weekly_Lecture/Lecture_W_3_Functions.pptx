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6858000" cx="12192000"/>
  <p:notesSz cx="6858000" cy="9144000"/>
  <p:embeddedFontLst>
    <p:embeddedFont>
      <p:font typeface="Century Gothic"/>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hySXaB2N/h3xJwZuT7AK7BZ8aL7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CenturyGothic-regular.fntdata"/><Relationship Id="rId20" Type="http://schemas.openxmlformats.org/officeDocument/2006/relationships/slide" Target="slides/slide16.xml"/><Relationship Id="rId42" Type="http://schemas.openxmlformats.org/officeDocument/2006/relationships/font" Target="fonts/CenturyGothic-italic.fntdata"/><Relationship Id="rId41" Type="http://schemas.openxmlformats.org/officeDocument/2006/relationships/font" Target="fonts/CenturyGothic-bold.fntdata"/><Relationship Id="rId22" Type="http://schemas.openxmlformats.org/officeDocument/2006/relationships/slide" Target="slides/slide18.xml"/><Relationship Id="rId44" Type="http://customschemas.google.com/relationships/presentationmetadata" Target="metadata"/><Relationship Id="rId21" Type="http://schemas.openxmlformats.org/officeDocument/2006/relationships/slide" Target="slides/slide17.xml"/><Relationship Id="rId43" Type="http://schemas.openxmlformats.org/officeDocument/2006/relationships/font" Target="fonts/CenturyGothic-boldItalic.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 name="Google Shape;11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8" name="Google Shape;31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6" name="Google Shape;35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6" name="Google Shape;366;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1" name="Google Shape;371;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7" name="Google Shape;377;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0" name="Google Shape;39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9" name="Google Shape;419;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5" name="Google Shape;425;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0" name="Google Shape;430;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descr="Tag=AccentColor&#10;Flavor=Light&#10;Target=Fill" id="12" name="Google Shape;12;p34"/>
          <p:cNvSpPr/>
          <p:nvPr/>
        </p:nvSpPr>
        <p:spPr>
          <a:xfrm flipH="1">
            <a:off x="2599854" y="527562"/>
            <a:ext cx="6992292" cy="5102484"/>
          </a:xfrm>
          <a:custGeom>
            <a:rect b="b" l="l" r="r" t="t"/>
            <a:pathLst>
              <a:path extrusionOk="0" h="5025119" w="6886274">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13" name="Google Shape;13;p34"/>
          <p:cNvSpPr txBox="1"/>
          <p:nvPr>
            <p:ph type="ctrTitle"/>
          </p:nvPr>
        </p:nvSpPr>
        <p:spPr>
          <a:xfrm>
            <a:off x="1508760" y="1591056"/>
            <a:ext cx="5705856" cy="326440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34"/>
          <p:cNvSpPr txBox="1"/>
          <p:nvPr>
            <p:ph idx="1" type="subTitle"/>
          </p:nvPr>
        </p:nvSpPr>
        <p:spPr>
          <a:xfrm>
            <a:off x="1524000" y="4928616"/>
            <a:ext cx="5705856" cy="99669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Clr>
                <a:schemeClr val="dk1"/>
              </a:buClr>
              <a:buSzPts val="2400"/>
              <a:buNone/>
              <a:defRPr sz="2400" cap="none"/>
            </a:lvl1pPr>
            <a:lvl2pPr lvl="1" algn="ctr">
              <a:lnSpc>
                <a:spcPct val="100000"/>
              </a:lnSpc>
              <a:spcBef>
                <a:spcPts val="500"/>
              </a:spcBef>
              <a:spcAft>
                <a:spcPts val="0"/>
              </a:spcAft>
              <a:buClr>
                <a:schemeClr val="dk1"/>
              </a:buClr>
              <a:buSzPts val="2000"/>
              <a:buNone/>
              <a:defRPr sz="2000"/>
            </a:lvl2pPr>
            <a:lvl3pPr lvl="2" algn="ctr">
              <a:lnSpc>
                <a:spcPct val="100000"/>
              </a:lnSpc>
              <a:spcBef>
                <a:spcPts val="500"/>
              </a:spcBef>
              <a:spcAft>
                <a:spcPts val="0"/>
              </a:spcAft>
              <a:buClr>
                <a:schemeClr val="dk1"/>
              </a:buClr>
              <a:buSzPts val="1800"/>
              <a:buNone/>
              <a:defRPr sz="1800"/>
            </a:lvl3pPr>
            <a:lvl4pPr lvl="3" algn="ctr">
              <a:lnSpc>
                <a:spcPct val="100000"/>
              </a:lnSpc>
              <a:spcBef>
                <a:spcPts val="500"/>
              </a:spcBef>
              <a:spcAft>
                <a:spcPts val="0"/>
              </a:spcAft>
              <a:buClr>
                <a:schemeClr val="dk1"/>
              </a:buClr>
              <a:buSzPts val="1600"/>
              <a:buNone/>
              <a:defRPr sz="1600"/>
            </a:lvl4pPr>
            <a:lvl5pPr lvl="4" algn="ctr">
              <a:lnSpc>
                <a:spcPct val="10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 name="Google Shape;1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descr="Tag=AccentColor&#10;Flavor=Light&#10;Target=Fill" id="19" name="Google Shape;19;p35"/>
          <p:cNvSpPr/>
          <p:nvPr/>
        </p:nvSpPr>
        <p:spPr>
          <a:xfrm flipH="1">
            <a:off x="1" y="315111"/>
            <a:ext cx="3021543" cy="1435442"/>
          </a:xfrm>
          <a:custGeom>
            <a:rect b="b" l="l" r="r" t="t"/>
            <a:pathLst>
              <a:path extrusionOk="0" h="1435442" w="3021543">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20" name="Google Shape;20;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5"/>
          <p:cNvSpPr txBox="1"/>
          <p:nvPr>
            <p:ph idx="1" type="body"/>
          </p:nvPr>
        </p:nvSpPr>
        <p:spPr>
          <a:xfrm>
            <a:off x="838200" y="2011680"/>
            <a:ext cx="10515600" cy="41605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descr="Tag=AccentColor&#10;Flavor=Light&#10;Target=Fill" id="26" name="Google Shape;26;p36"/>
          <p:cNvSpPr/>
          <p:nvPr/>
        </p:nvSpPr>
        <p:spPr>
          <a:xfrm>
            <a:off x="7209816" y="0"/>
            <a:ext cx="4143984" cy="5747660"/>
          </a:xfrm>
          <a:custGeom>
            <a:rect b="b" l="l" r="r" t="t"/>
            <a:pathLst>
              <a:path extrusionOk="0" h="5956080" w="384375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27" name="Google Shape;27;p36"/>
          <p:cNvSpPr txBox="1"/>
          <p:nvPr>
            <p:ph type="title"/>
          </p:nvPr>
        </p:nvSpPr>
        <p:spPr>
          <a:xfrm>
            <a:off x="831850" y="1078991"/>
            <a:ext cx="5266944" cy="313639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6"/>
          <p:cNvSpPr txBox="1"/>
          <p:nvPr>
            <p:ph idx="1" type="body"/>
          </p:nvPr>
        </p:nvSpPr>
        <p:spPr>
          <a:xfrm>
            <a:off x="831850" y="4279392"/>
            <a:ext cx="5266944"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400"/>
              <a:buNone/>
              <a:defRPr sz="2400" cap="none">
                <a:solidFill>
                  <a:schemeClr val="dk1"/>
                </a:solidFill>
              </a:defRPr>
            </a:lvl1pPr>
            <a:lvl2pPr indent="-228600" lvl="1" marL="914400" algn="l">
              <a:lnSpc>
                <a:spcPct val="100000"/>
              </a:lnSpc>
              <a:spcBef>
                <a:spcPts val="500"/>
              </a:spcBef>
              <a:spcAft>
                <a:spcPts val="0"/>
              </a:spcAft>
              <a:buClr>
                <a:srgbClr val="888888"/>
              </a:buClr>
              <a:buSzPts val="2000"/>
              <a:buNone/>
              <a:defRPr sz="2000">
                <a:solidFill>
                  <a:srgbClr val="888888"/>
                </a:solidFill>
              </a:defRPr>
            </a:lvl2pPr>
            <a:lvl3pPr indent="-228600" lvl="2" marL="1371600" algn="l">
              <a:lnSpc>
                <a:spcPct val="100000"/>
              </a:lnSpc>
              <a:spcBef>
                <a:spcPts val="500"/>
              </a:spcBef>
              <a:spcAft>
                <a:spcPts val="0"/>
              </a:spcAft>
              <a:buClr>
                <a:srgbClr val="888888"/>
              </a:buClr>
              <a:buSzPts val="1800"/>
              <a:buNone/>
              <a:defRPr sz="1800">
                <a:solidFill>
                  <a:srgbClr val="888888"/>
                </a:solidFill>
              </a:defRPr>
            </a:lvl3pPr>
            <a:lvl4pPr indent="-228600" lvl="3" marL="1828800" algn="l">
              <a:lnSpc>
                <a:spcPct val="100000"/>
              </a:lnSpc>
              <a:spcBef>
                <a:spcPts val="500"/>
              </a:spcBef>
              <a:spcAft>
                <a:spcPts val="0"/>
              </a:spcAft>
              <a:buClr>
                <a:srgbClr val="888888"/>
              </a:buClr>
              <a:buSzPts val="1600"/>
              <a:buNone/>
              <a:defRPr sz="1600">
                <a:solidFill>
                  <a:srgbClr val="888888"/>
                </a:solidFill>
              </a:defRPr>
            </a:lvl4pPr>
            <a:lvl5pPr indent="-228600" lvl="4" marL="2286000" algn="l">
              <a:lnSpc>
                <a:spcPct val="10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9" name="Google Shape;29;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type="blank">
  <p:cSld name="BLANK">
    <p:spTree>
      <p:nvGrpSpPr>
        <p:cNvPr id="32" name="Shape 32"/>
        <p:cNvGrpSpPr/>
        <p:nvPr/>
      </p:nvGrpSpPr>
      <p:grpSpPr>
        <a:xfrm>
          <a:off x="0" y="0"/>
          <a:ext cx="0" cy="0"/>
          <a:chOff x="0" y="0"/>
          <a:chExt cx="0" cy="0"/>
        </a:xfrm>
      </p:grpSpPr>
      <p:sp>
        <p:nvSpPr>
          <p:cNvPr descr="Mask ID=&#10;Mask position=bottom, center&#10;Mask family= brushstroke, landscape, wide" id="33" name="Google Shape;33;p37"/>
          <p:cNvSpPr/>
          <p:nvPr/>
        </p:nvSpPr>
        <p:spPr>
          <a:xfrm>
            <a:off x="1768100" y="-1"/>
            <a:ext cx="10423900" cy="5920155"/>
          </a:xfrm>
          <a:custGeom>
            <a:rect b="b" l="l" r="r" t="t"/>
            <a:pathLst>
              <a:path extrusionOk="0" h="5491534" w="10423900">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34" name="Google Shape;34;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descr="Tag=AccentColor&#10;Flavor=Light&#10;Target=Fill" id="38" name="Google Shape;38;p38"/>
          <p:cNvSpPr/>
          <p:nvPr/>
        </p:nvSpPr>
        <p:spPr>
          <a:xfrm flipH="1">
            <a:off x="1" y="315111"/>
            <a:ext cx="3021543" cy="1435442"/>
          </a:xfrm>
          <a:custGeom>
            <a:rect b="b" l="l" r="r" t="t"/>
            <a:pathLst>
              <a:path extrusionOk="0" h="1435442" w="3021543">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39" name="Google Shape;39;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8"/>
          <p:cNvSpPr txBox="1"/>
          <p:nvPr>
            <p:ph idx="1" type="body"/>
          </p:nvPr>
        </p:nvSpPr>
        <p:spPr>
          <a:xfrm>
            <a:off x="838200" y="2011680"/>
            <a:ext cx="4937760" cy="41605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8"/>
          <p:cNvSpPr txBox="1"/>
          <p:nvPr>
            <p:ph idx="2" type="body"/>
          </p:nvPr>
        </p:nvSpPr>
        <p:spPr>
          <a:xfrm>
            <a:off x="6419088" y="2011680"/>
            <a:ext cx="4937760" cy="41605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descr="Tag=AccentColor&#10;Flavor=Light&#10;Target=Fill" id="46" name="Google Shape;46;p39"/>
          <p:cNvSpPr/>
          <p:nvPr/>
        </p:nvSpPr>
        <p:spPr>
          <a:xfrm flipH="1">
            <a:off x="1" y="315111"/>
            <a:ext cx="3021543" cy="1435442"/>
          </a:xfrm>
          <a:custGeom>
            <a:rect b="b" l="l" r="r" t="t"/>
            <a:pathLst>
              <a:path extrusionOk="0" h="1435442" w="3021543">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47" name="Google Shape;47;p3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9"/>
          <p:cNvSpPr txBox="1"/>
          <p:nvPr>
            <p:ph idx="1" type="body"/>
          </p:nvPr>
        </p:nvSpPr>
        <p:spPr>
          <a:xfrm>
            <a:off x="839788" y="2011680"/>
            <a:ext cx="4937760" cy="950976"/>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800"/>
              <a:buNone/>
              <a:defRPr b="1" sz="2800"/>
            </a:lvl1pPr>
            <a:lvl2pPr indent="-228600" lvl="1" marL="914400" algn="l">
              <a:lnSpc>
                <a:spcPct val="100000"/>
              </a:lnSpc>
              <a:spcBef>
                <a:spcPts val="500"/>
              </a:spcBef>
              <a:spcAft>
                <a:spcPts val="0"/>
              </a:spcAft>
              <a:buClr>
                <a:schemeClr val="dk1"/>
              </a:buClr>
              <a:buSzPts val="2000"/>
              <a:buNone/>
              <a:defRPr b="1" sz="2000"/>
            </a:lvl2pPr>
            <a:lvl3pPr indent="-228600" lvl="2" marL="1371600" algn="l">
              <a:lnSpc>
                <a:spcPct val="100000"/>
              </a:lnSpc>
              <a:spcBef>
                <a:spcPts val="500"/>
              </a:spcBef>
              <a:spcAft>
                <a:spcPts val="0"/>
              </a:spcAft>
              <a:buClr>
                <a:schemeClr val="dk1"/>
              </a:buClr>
              <a:buSzPts val="1800"/>
              <a:buNone/>
              <a:defRPr b="1" sz="1800"/>
            </a:lvl3pPr>
            <a:lvl4pPr indent="-228600" lvl="3" marL="1828800" algn="l">
              <a:lnSpc>
                <a:spcPct val="100000"/>
              </a:lnSpc>
              <a:spcBef>
                <a:spcPts val="500"/>
              </a:spcBef>
              <a:spcAft>
                <a:spcPts val="0"/>
              </a:spcAft>
              <a:buClr>
                <a:schemeClr val="dk1"/>
              </a:buClr>
              <a:buSzPts val="1600"/>
              <a:buNone/>
              <a:defRPr b="1" sz="1600"/>
            </a:lvl4pPr>
            <a:lvl5pPr indent="-228600" lvl="4" marL="2286000" algn="l">
              <a:lnSpc>
                <a:spcPct val="10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39"/>
          <p:cNvSpPr txBox="1"/>
          <p:nvPr>
            <p:ph idx="2" type="body"/>
          </p:nvPr>
        </p:nvSpPr>
        <p:spPr>
          <a:xfrm>
            <a:off x="839788" y="3127248"/>
            <a:ext cx="4937760" cy="30632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39"/>
          <p:cNvSpPr txBox="1"/>
          <p:nvPr>
            <p:ph idx="3" type="body"/>
          </p:nvPr>
        </p:nvSpPr>
        <p:spPr>
          <a:xfrm>
            <a:off x="6419088" y="2011680"/>
            <a:ext cx="4937760" cy="950976"/>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800"/>
              <a:buNone/>
              <a:defRPr b="1" sz="2800"/>
            </a:lvl1pPr>
            <a:lvl2pPr indent="-228600" lvl="1" marL="914400" algn="l">
              <a:lnSpc>
                <a:spcPct val="100000"/>
              </a:lnSpc>
              <a:spcBef>
                <a:spcPts val="500"/>
              </a:spcBef>
              <a:spcAft>
                <a:spcPts val="0"/>
              </a:spcAft>
              <a:buClr>
                <a:schemeClr val="dk1"/>
              </a:buClr>
              <a:buSzPts val="2000"/>
              <a:buNone/>
              <a:defRPr b="1" sz="2000"/>
            </a:lvl2pPr>
            <a:lvl3pPr indent="-228600" lvl="2" marL="1371600" algn="l">
              <a:lnSpc>
                <a:spcPct val="100000"/>
              </a:lnSpc>
              <a:spcBef>
                <a:spcPts val="500"/>
              </a:spcBef>
              <a:spcAft>
                <a:spcPts val="0"/>
              </a:spcAft>
              <a:buClr>
                <a:schemeClr val="dk1"/>
              </a:buClr>
              <a:buSzPts val="1800"/>
              <a:buNone/>
              <a:defRPr b="1" sz="1800"/>
            </a:lvl3pPr>
            <a:lvl4pPr indent="-228600" lvl="3" marL="1828800" algn="l">
              <a:lnSpc>
                <a:spcPct val="100000"/>
              </a:lnSpc>
              <a:spcBef>
                <a:spcPts val="500"/>
              </a:spcBef>
              <a:spcAft>
                <a:spcPts val="0"/>
              </a:spcAft>
              <a:buClr>
                <a:schemeClr val="dk1"/>
              </a:buClr>
              <a:buSzPts val="1600"/>
              <a:buNone/>
              <a:defRPr b="1" sz="1600"/>
            </a:lvl4pPr>
            <a:lvl5pPr indent="-228600" lvl="4" marL="2286000" algn="l">
              <a:lnSpc>
                <a:spcPct val="10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39"/>
          <p:cNvSpPr txBox="1"/>
          <p:nvPr>
            <p:ph idx="4" type="body"/>
          </p:nvPr>
        </p:nvSpPr>
        <p:spPr>
          <a:xfrm>
            <a:off x="6419088" y="3127248"/>
            <a:ext cx="4937760" cy="30632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descr="Tag=AccentColor&#10;Flavor=Light&#10;Target=Fill" id="56" name="Google Shape;56;p40"/>
          <p:cNvSpPr/>
          <p:nvPr/>
        </p:nvSpPr>
        <p:spPr>
          <a:xfrm flipH="1">
            <a:off x="1969639" y="181596"/>
            <a:ext cx="8252722" cy="6022258"/>
          </a:xfrm>
          <a:custGeom>
            <a:rect b="b" l="l" r="r" t="t"/>
            <a:pathLst>
              <a:path extrusionOk="0" h="5025119" w="6886274">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57" name="Google Shape;57;p40"/>
          <p:cNvSpPr txBox="1"/>
          <p:nvPr>
            <p:ph type="title"/>
          </p:nvPr>
        </p:nvSpPr>
        <p:spPr>
          <a:xfrm>
            <a:off x="2843784" y="1572768"/>
            <a:ext cx="6501384" cy="409651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1">
    <p:spTree>
      <p:nvGrpSpPr>
        <p:cNvPr id="61" name="Shape 61"/>
        <p:cNvGrpSpPr/>
        <p:nvPr/>
      </p:nvGrpSpPr>
      <p:grpSpPr>
        <a:xfrm>
          <a:off x="0" y="0"/>
          <a:ext cx="0" cy="0"/>
          <a:chOff x="0" y="0"/>
          <a:chExt cx="0" cy="0"/>
        </a:xfrm>
      </p:grpSpPr>
      <p:sp>
        <p:nvSpPr>
          <p:cNvPr id="62" name="Google Shape;62;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descr="Tag=AccentColor&#10;Flavor=Light&#10;Target=Fill" id="66" name="Google Shape;66;p42"/>
          <p:cNvSpPr/>
          <p:nvPr/>
        </p:nvSpPr>
        <p:spPr>
          <a:xfrm>
            <a:off x="4726728" y="0"/>
            <a:ext cx="7472381" cy="6858000"/>
          </a:xfrm>
          <a:custGeom>
            <a:rect b="b" l="l" r="r" t="t"/>
            <a:pathLst>
              <a:path extrusionOk="0" h="6886575" w="7472381">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67" name="Google Shape;67;p42"/>
          <p:cNvSpPr txBox="1"/>
          <p:nvPr>
            <p:ph type="title"/>
          </p:nvPr>
        </p:nvSpPr>
        <p:spPr>
          <a:xfrm>
            <a:off x="839788" y="640080"/>
            <a:ext cx="3886200" cy="295351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42"/>
          <p:cNvSpPr txBox="1"/>
          <p:nvPr>
            <p:ph idx="1" type="body"/>
          </p:nvPr>
        </p:nvSpPr>
        <p:spPr>
          <a:xfrm>
            <a:off x="7059168" y="640080"/>
            <a:ext cx="4489704" cy="5596128"/>
          </a:xfrm>
          <a:prstGeom prst="rect">
            <a:avLst/>
          </a:prstGeom>
          <a:noFill/>
          <a:ln>
            <a:noFill/>
          </a:ln>
        </p:spPr>
        <p:txBody>
          <a:bodyPr anchorCtr="0" anchor="ctr" bIns="45700" lIns="91425" spcFirstLastPara="1" rIns="91425" wrap="square" tIns="45700">
            <a:normAutofit/>
          </a:bodyPr>
          <a:lstStyle>
            <a:lvl1pPr indent="-431800" lvl="0" marL="457200" algn="l">
              <a:lnSpc>
                <a:spcPct val="100000"/>
              </a:lnSpc>
              <a:spcBef>
                <a:spcPts val="1000"/>
              </a:spcBef>
              <a:spcAft>
                <a:spcPts val="0"/>
              </a:spcAft>
              <a:buClr>
                <a:schemeClr val="dk1"/>
              </a:buClr>
              <a:buSzPts val="3200"/>
              <a:buChar char="•"/>
              <a:defRPr sz="3200"/>
            </a:lvl1pPr>
            <a:lvl2pPr indent="-406400" lvl="1" marL="914400" algn="l">
              <a:lnSpc>
                <a:spcPct val="100000"/>
              </a:lnSpc>
              <a:spcBef>
                <a:spcPts val="500"/>
              </a:spcBef>
              <a:spcAft>
                <a:spcPts val="0"/>
              </a:spcAft>
              <a:buClr>
                <a:schemeClr val="dk1"/>
              </a:buClr>
              <a:buSzPts val="2800"/>
              <a:buChar char="•"/>
              <a:defRPr sz="2800"/>
            </a:lvl2pPr>
            <a:lvl3pPr indent="-381000" lvl="2" marL="1371600" algn="l">
              <a:lnSpc>
                <a:spcPct val="100000"/>
              </a:lnSpc>
              <a:spcBef>
                <a:spcPts val="500"/>
              </a:spcBef>
              <a:spcAft>
                <a:spcPts val="0"/>
              </a:spcAft>
              <a:buClr>
                <a:schemeClr val="dk1"/>
              </a:buClr>
              <a:buSzPts val="2400"/>
              <a:buChar char="•"/>
              <a:defRPr sz="2400"/>
            </a:lvl3pPr>
            <a:lvl4pPr indent="-355600" lvl="3" marL="1828800" algn="l">
              <a:lnSpc>
                <a:spcPct val="100000"/>
              </a:lnSpc>
              <a:spcBef>
                <a:spcPts val="500"/>
              </a:spcBef>
              <a:spcAft>
                <a:spcPts val="0"/>
              </a:spcAft>
              <a:buClr>
                <a:schemeClr val="dk1"/>
              </a:buClr>
              <a:buSzPts val="2000"/>
              <a:buChar char="•"/>
              <a:defRPr sz="2000"/>
            </a:lvl4pPr>
            <a:lvl5pPr indent="-355600" lvl="4" marL="2286000" algn="l">
              <a:lnSpc>
                <a:spcPct val="10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9" name="Google Shape;69;p42"/>
          <p:cNvSpPr txBox="1"/>
          <p:nvPr>
            <p:ph idx="2" type="body"/>
          </p:nvPr>
        </p:nvSpPr>
        <p:spPr>
          <a:xfrm>
            <a:off x="839788" y="3776472"/>
            <a:ext cx="3886200" cy="246888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600"/>
              <a:buNone/>
              <a:defRPr sz="16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200"/>
              <a:buNone/>
              <a:defRPr sz="1200"/>
            </a:lvl3pPr>
            <a:lvl4pPr indent="-228600" lvl="3" marL="1828800" algn="l">
              <a:lnSpc>
                <a:spcPct val="100000"/>
              </a:lnSpc>
              <a:spcBef>
                <a:spcPts val="500"/>
              </a:spcBef>
              <a:spcAft>
                <a:spcPts val="0"/>
              </a:spcAft>
              <a:buClr>
                <a:schemeClr val="dk1"/>
              </a:buClr>
              <a:buSzPts val="1000"/>
              <a:buNone/>
              <a:defRPr sz="1000"/>
            </a:lvl4pPr>
            <a:lvl5pPr indent="-228600" lvl="4" marL="2286000" algn="l">
              <a:lnSpc>
                <a:spcPct val="10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descr="Tag=AccentColor&#10;Flavor=Light&#10;Target=Fill" id="74" name="Google Shape;74;p43"/>
          <p:cNvSpPr/>
          <p:nvPr/>
        </p:nvSpPr>
        <p:spPr>
          <a:xfrm>
            <a:off x="684965" y="1332237"/>
            <a:ext cx="5263732" cy="3841102"/>
          </a:xfrm>
          <a:custGeom>
            <a:rect b="b" l="l" r="r" t="t"/>
            <a:pathLst>
              <a:path extrusionOk="0" h="5025119" w="6886274">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75" name="Google Shape;75;p43"/>
          <p:cNvSpPr txBox="1"/>
          <p:nvPr>
            <p:ph type="title"/>
          </p:nvPr>
        </p:nvSpPr>
        <p:spPr>
          <a:xfrm>
            <a:off x="1399032" y="2523744"/>
            <a:ext cx="3831336" cy="145389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3"/>
          <p:cNvSpPr/>
          <p:nvPr>
            <p:ph idx="2" type="pic"/>
          </p:nvPr>
        </p:nvSpPr>
        <p:spPr>
          <a:xfrm>
            <a:off x="6711696" y="640079"/>
            <a:ext cx="4837176" cy="5568696"/>
          </a:xfrm>
          <a:prstGeom prst="rect">
            <a:avLst/>
          </a:prstGeom>
          <a:noFill/>
          <a:ln>
            <a:noFill/>
          </a:ln>
        </p:spPr>
      </p:sp>
      <p:sp>
        <p:nvSpPr>
          <p:cNvPr id="77" name="Google Shape;77;p43"/>
          <p:cNvSpPr txBox="1"/>
          <p:nvPr>
            <p:ph idx="1" type="body"/>
          </p:nvPr>
        </p:nvSpPr>
        <p:spPr>
          <a:xfrm>
            <a:off x="1655064" y="4087368"/>
            <a:ext cx="3319272" cy="649224"/>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2000"/>
              <a:buNone/>
              <a:defRPr sz="2000" cap="none"/>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200"/>
              <a:buNone/>
              <a:defRPr sz="1200"/>
            </a:lvl3pPr>
            <a:lvl4pPr indent="-228600" lvl="3" marL="1828800" algn="l">
              <a:lnSpc>
                <a:spcPct val="100000"/>
              </a:lnSpc>
              <a:spcBef>
                <a:spcPts val="500"/>
              </a:spcBef>
              <a:spcAft>
                <a:spcPts val="0"/>
              </a:spcAft>
              <a:buClr>
                <a:schemeClr val="dk1"/>
              </a:buClr>
              <a:buSzPts val="1000"/>
              <a:buNone/>
              <a:defRPr sz="1000"/>
            </a:lvl4pPr>
            <a:lvl5pPr indent="-228600" lvl="4" marL="2286000" algn="l">
              <a:lnSpc>
                <a:spcPct val="10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8" name="Google Shape;78;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4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4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Century Gothic"/>
              <a:buNone/>
              <a:defRPr b="0" i="0" sz="400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100000"/>
              </a:lnSpc>
              <a:spcBef>
                <a:spcPts val="1000"/>
              </a:spcBef>
              <a:spcAft>
                <a:spcPts val="0"/>
              </a:spcAft>
              <a:buClr>
                <a:schemeClr val="dk1"/>
              </a:buClr>
              <a:buSzPts val="2800"/>
              <a:buFont typeface="Arial"/>
              <a:buChar char="•"/>
              <a:defRPr b="0" i="0" sz="2800" u="none" cap="none" strike="noStrike">
                <a:solidFill>
                  <a:schemeClr val="dk1"/>
                </a:solidFill>
                <a:latin typeface="Century Gothic"/>
                <a:ea typeface="Century Gothic"/>
                <a:cs typeface="Century Gothic"/>
                <a:sym typeface="Century Gothic"/>
              </a:defRPr>
            </a:lvl1pPr>
            <a:lvl2pPr indent="-381000" lvl="1" marL="9144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Century Gothic"/>
                <a:ea typeface="Century Gothic"/>
                <a:cs typeface="Century Gothic"/>
                <a:sym typeface="Century Gothic"/>
              </a:defRPr>
            </a:lvl2pPr>
            <a:lvl3pPr indent="-355600" lvl="2" marL="1371600" marR="0" rtl="0" algn="l">
              <a:lnSpc>
                <a:spcPct val="100000"/>
              </a:lnSpc>
              <a:spcBef>
                <a:spcPts val="500"/>
              </a:spcBef>
              <a:spcAft>
                <a:spcPts val="0"/>
              </a:spcAft>
              <a:buClr>
                <a:schemeClr val="dk1"/>
              </a:buClr>
              <a:buSzPts val="2000"/>
              <a:buFont typeface="Arial"/>
              <a:buChar char="•"/>
              <a:defRPr b="0" i="0" sz="2000" u="none" cap="none" strike="noStrike">
                <a:solidFill>
                  <a:schemeClr val="dk1"/>
                </a:solidFill>
                <a:latin typeface="Century Gothic"/>
                <a:ea typeface="Century Gothic"/>
                <a:cs typeface="Century Gothic"/>
                <a:sym typeface="Century Gothic"/>
              </a:defRPr>
            </a:lvl3pPr>
            <a:lvl4pPr indent="-342900" lvl="3" marL="1828800" marR="0" rtl="0" algn="l">
              <a:lnSpc>
                <a:spcPct val="10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indent="-342900" lvl="4" marL="2286000" marR="0" rtl="0" algn="l">
              <a:lnSpc>
                <a:spcPct val="10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9pPr>
          </a:lstStyle>
          <a:p/>
        </p:txBody>
      </p:sp>
      <p:sp>
        <p:nvSpPr>
          <p:cNvPr id="8" name="Google Shape;8;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9" name="Google Shape;9;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10" name="Google Shape;10;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sp>
        <p:nvSpPr>
          <p:cNvPr id="97" name="Google Shape;97;p1"/>
          <p:cNvSpPr txBox="1"/>
          <p:nvPr>
            <p:ph type="ctrTitle"/>
          </p:nvPr>
        </p:nvSpPr>
        <p:spPr>
          <a:xfrm>
            <a:off x="1329446" y="4331242"/>
            <a:ext cx="10100170" cy="682908"/>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3700"/>
              <a:buFont typeface="Century Gothic"/>
              <a:buNone/>
            </a:pPr>
            <a:r>
              <a:rPr b="1" lang="en-US" sz="3700"/>
              <a:t>Python – Functions (Modularization)</a:t>
            </a:r>
            <a:endParaRPr b="1" sz="3700"/>
          </a:p>
        </p:txBody>
      </p:sp>
      <p:pic>
        <p:nvPicPr>
          <p:cNvPr descr="Aerial view of beach and waves" id="98" name="Google Shape;98;p1"/>
          <p:cNvPicPr preferRelativeResize="0"/>
          <p:nvPr/>
        </p:nvPicPr>
        <p:blipFill rotWithShape="1">
          <a:blip r:embed="rId3">
            <a:alphaModFix/>
          </a:blip>
          <a:srcRect b="32796" l="0" r="0" t="29137"/>
          <a:stretch/>
        </p:blipFill>
        <p:spPr>
          <a:xfrm>
            <a:off x="838201" y="10"/>
            <a:ext cx="10484412" cy="3811394"/>
          </a:xfrm>
          <a:custGeom>
            <a:rect b="b" l="l" r="r" t="t"/>
            <a:pathLst>
              <a:path extrusionOk="0" h="3811404" w="10484412">
                <a:moveTo>
                  <a:pt x="0" y="3811403"/>
                </a:moveTo>
                <a:lnTo>
                  <a:pt x="10484412" y="3811403"/>
                </a:lnTo>
                <a:lnTo>
                  <a:pt x="10484412" y="3811404"/>
                </a:lnTo>
                <a:lnTo>
                  <a:pt x="0" y="3811404"/>
                </a:lnTo>
                <a:close/>
                <a:moveTo>
                  <a:pt x="181717" y="0"/>
                </a:moveTo>
                <a:lnTo>
                  <a:pt x="10224015" y="0"/>
                </a:lnTo>
                <a:cubicBezTo>
                  <a:pt x="10261561" y="45054"/>
                  <a:pt x="10301611" y="85103"/>
                  <a:pt x="10369193" y="110134"/>
                </a:cubicBezTo>
                <a:cubicBezTo>
                  <a:pt x="10321635" y="167704"/>
                  <a:pt x="10236530" y="182722"/>
                  <a:pt x="10173954" y="222771"/>
                </a:cubicBezTo>
                <a:cubicBezTo>
                  <a:pt x="10168948" y="255310"/>
                  <a:pt x="10269071" y="245298"/>
                  <a:pt x="10241537" y="317887"/>
                </a:cubicBezTo>
                <a:cubicBezTo>
                  <a:pt x="10206494" y="418008"/>
                  <a:pt x="10241537" y="528142"/>
                  <a:pt x="10071328" y="573196"/>
                </a:cubicBezTo>
                <a:cubicBezTo>
                  <a:pt x="10023770" y="668312"/>
                  <a:pt x="10008751" y="820997"/>
                  <a:pt x="10113880" y="913610"/>
                </a:cubicBezTo>
                <a:cubicBezTo>
                  <a:pt x="10271573" y="1048774"/>
                  <a:pt x="10244040" y="1138885"/>
                  <a:pt x="10036285" y="1216478"/>
                </a:cubicBezTo>
                <a:cubicBezTo>
                  <a:pt x="10011255" y="1226491"/>
                  <a:pt x="9978715" y="1231497"/>
                  <a:pt x="9966200" y="1256528"/>
                </a:cubicBezTo>
                <a:cubicBezTo>
                  <a:pt x="9986224" y="1289067"/>
                  <a:pt x="10031280" y="1281557"/>
                  <a:pt x="10063819" y="1289067"/>
                </a:cubicBezTo>
                <a:cubicBezTo>
                  <a:pt x="10211500" y="1324110"/>
                  <a:pt x="10214003" y="1324110"/>
                  <a:pt x="10176457" y="1441752"/>
                </a:cubicBezTo>
                <a:cubicBezTo>
                  <a:pt x="10163942" y="1476795"/>
                  <a:pt x="10188972" y="1491813"/>
                  <a:pt x="10211500" y="1511838"/>
                </a:cubicBezTo>
                <a:cubicBezTo>
                  <a:pt x="10296604" y="1591936"/>
                  <a:pt x="10296604" y="1594439"/>
                  <a:pt x="10206494" y="1664523"/>
                </a:cubicBezTo>
                <a:cubicBezTo>
                  <a:pt x="10181463" y="1684547"/>
                  <a:pt x="10163942" y="1704572"/>
                  <a:pt x="10151426" y="1732106"/>
                </a:cubicBezTo>
                <a:cubicBezTo>
                  <a:pt x="10128899" y="1782166"/>
                  <a:pt x="10128899" y="1822216"/>
                  <a:pt x="10208996" y="1847246"/>
                </a:cubicBezTo>
                <a:cubicBezTo>
                  <a:pt x="10266568" y="1864767"/>
                  <a:pt x="10296604" y="1884791"/>
                  <a:pt x="10299107" y="1939858"/>
                </a:cubicBezTo>
                <a:cubicBezTo>
                  <a:pt x="10299107" y="1987416"/>
                  <a:pt x="10306617" y="2017452"/>
                  <a:pt x="10244040" y="2037477"/>
                </a:cubicBezTo>
                <a:cubicBezTo>
                  <a:pt x="10193979" y="2054998"/>
                  <a:pt x="10178960" y="2090041"/>
                  <a:pt x="10183966" y="2130089"/>
                </a:cubicBezTo>
                <a:cubicBezTo>
                  <a:pt x="10193979" y="2230211"/>
                  <a:pt x="10126396" y="2287781"/>
                  <a:pt x="10013758" y="2335339"/>
                </a:cubicBezTo>
                <a:cubicBezTo>
                  <a:pt x="9908629" y="2377890"/>
                  <a:pt x="9813513" y="2437963"/>
                  <a:pt x="9715893" y="2493030"/>
                </a:cubicBezTo>
                <a:cubicBezTo>
                  <a:pt x="9605758" y="2553103"/>
                  <a:pt x="9480605" y="2590649"/>
                  <a:pt x="9347942" y="2623189"/>
                </a:cubicBezTo>
                <a:cubicBezTo>
                  <a:pt x="9370469" y="2665740"/>
                  <a:pt x="9453071" y="2640710"/>
                  <a:pt x="9460580" y="2700783"/>
                </a:cubicBezTo>
                <a:cubicBezTo>
                  <a:pt x="9255329" y="2753346"/>
                  <a:pt x="9060089" y="2833444"/>
                  <a:pt x="8827305" y="2855971"/>
                </a:cubicBezTo>
                <a:cubicBezTo>
                  <a:pt x="9015035" y="2843456"/>
                  <a:pt x="9182740" y="2908535"/>
                  <a:pt x="9360458" y="2926056"/>
                </a:cubicBezTo>
                <a:cubicBezTo>
                  <a:pt x="9377980" y="2961099"/>
                  <a:pt x="9337930" y="2951087"/>
                  <a:pt x="9322912" y="2958595"/>
                </a:cubicBezTo>
                <a:cubicBezTo>
                  <a:pt x="9307893" y="2963602"/>
                  <a:pt x="9287869" y="2966105"/>
                  <a:pt x="9285366" y="2991135"/>
                </a:cubicBezTo>
                <a:cubicBezTo>
                  <a:pt x="9370469" y="3023675"/>
                  <a:pt x="9478102" y="2998644"/>
                  <a:pt x="9565709" y="3033687"/>
                </a:cubicBezTo>
                <a:cubicBezTo>
                  <a:pt x="9543182" y="3083748"/>
                  <a:pt x="9468090" y="3056214"/>
                  <a:pt x="9435550" y="3096263"/>
                </a:cubicBezTo>
                <a:cubicBezTo>
                  <a:pt x="9518151" y="3101269"/>
                  <a:pt x="9593243" y="3103772"/>
                  <a:pt x="9668335" y="3113784"/>
                </a:cubicBezTo>
                <a:cubicBezTo>
                  <a:pt x="9725905" y="3121294"/>
                  <a:pt x="9740924" y="3163845"/>
                  <a:pt x="9700875" y="3193882"/>
                </a:cubicBezTo>
                <a:cubicBezTo>
                  <a:pt x="9665832" y="3221415"/>
                  <a:pt x="9613268" y="3223918"/>
                  <a:pt x="9565709" y="3236434"/>
                </a:cubicBezTo>
                <a:cubicBezTo>
                  <a:pt x="9232801" y="3319034"/>
                  <a:pt x="8882372" y="3351573"/>
                  <a:pt x="8529440" y="3364088"/>
                </a:cubicBezTo>
                <a:cubicBezTo>
                  <a:pt x="7961245" y="3386616"/>
                  <a:pt x="7393049" y="3394125"/>
                  <a:pt x="6827357" y="3419155"/>
                </a:cubicBezTo>
                <a:cubicBezTo>
                  <a:pt x="6481933" y="3434173"/>
                  <a:pt x="6136510" y="3456701"/>
                  <a:pt x="5788584" y="3456701"/>
                </a:cubicBezTo>
                <a:cubicBezTo>
                  <a:pt x="5415628" y="3456701"/>
                  <a:pt x="5042671" y="3464210"/>
                  <a:pt x="4669714" y="3411646"/>
                </a:cubicBezTo>
                <a:cubicBezTo>
                  <a:pt x="4479481" y="3384113"/>
                  <a:pt x="4279236" y="3396628"/>
                  <a:pt x="4086500" y="3376603"/>
                </a:cubicBezTo>
                <a:cubicBezTo>
                  <a:pt x="3793641" y="3346568"/>
                  <a:pt x="3500782" y="3306518"/>
                  <a:pt x="3210426" y="3256458"/>
                </a:cubicBezTo>
                <a:cubicBezTo>
                  <a:pt x="3117813" y="3241439"/>
                  <a:pt x="3007678" y="3231428"/>
                  <a:pt x="2937592" y="3166348"/>
                </a:cubicBezTo>
                <a:cubicBezTo>
                  <a:pt x="2824954" y="3211403"/>
                  <a:pt x="2757372" y="3131305"/>
                  <a:pt x="2669765" y="3106275"/>
                </a:cubicBezTo>
                <a:cubicBezTo>
                  <a:pt x="2634722" y="3096263"/>
                  <a:pt x="2592169" y="3081245"/>
                  <a:pt x="2597176" y="3048705"/>
                </a:cubicBezTo>
                <a:cubicBezTo>
                  <a:pt x="2604685" y="3006154"/>
                  <a:pt x="2654746" y="2978620"/>
                  <a:pt x="2702304" y="2986130"/>
                </a:cubicBezTo>
                <a:cubicBezTo>
                  <a:pt x="2849986" y="3011160"/>
                  <a:pt x="2985150" y="2948584"/>
                  <a:pt x="3137838" y="2956093"/>
                </a:cubicBezTo>
                <a:cubicBezTo>
                  <a:pt x="3005175" y="2933565"/>
                  <a:pt x="2872513" y="2908535"/>
                  <a:pt x="2739850" y="2886007"/>
                </a:cubicBezTo>
                <a:cubicBezTo>
                  <a:pt x="2940095" y="2863480"/>
                  <a:pt x="3132831" y="2896020"/>
                  <a:pt x="3328071" y="2913541"/>
                </a:cubicBezTo>
                <a:cubicBezTo>
                  <a:pt x="3390647" y="2921050"/>
                  <a:pt x="3485763" y="2968608"/>
                  <a:pt x="3503285" y="2898523"/>
                </a:cubicBezTo>
                <a:cubicBezTo>
                  <a:pt x="3513297" y="2850965"/>
                  <a:pt x="3410671" y="2850965"/>
                  <a:pt x="3350598" y="2838450"/>
                </a:cubicBezTo>
                <a:cubicBezTo>
                  <a:pt x="3090279" y="2785886"/>
                  <a:pt x="2824954" y="2758353"/>
                  <a:pt x="2562133" y="2725813"/>
                </a:cubicBezTo>
                <a:cubicBezTo>
                  <a:pt x="2537102" y="2723310"/>
                  <a:pt x="2504562" y="2725813"/>
                  <a:pt x="2487041" y="2715801"/>
                </a:cubicBezTo>
                <a:cubicBezTo>
                  <a:pt x="2354378" y="2633200"/>
                  <a:pt x="2184170" y="2608170"/>
                  <a:pt x="1998943" y="2548097"/>
                </a:cubicBezTo>
                <a:cubicBezTo>
                  <a:pt x="2116587" y="2515558"/>
                  <a:pt x="2196685" y="2575630"/>
                  <a:pt x="2294304" y="2560612"/>
                </a:cubicBezTo>
                <a:cubicBezTo>
                  <a:pt x="2196685" y="2498036"/>
                  <a:pt x="2079041" y="2488024"/>
                  <a:pt x="1978918" y="2455485"/>
                </a:cubicBezTo>
                <a:cubicBezTo>
                  <a:pt x="1906330" y="2430454"/>
                  <a:pt x="1635999" y="2357866"/>
                  <a:pt x="1595950" y="2335339"/>
                </a:cubicBezTo>
                <a:cubicBezTo>
                  <a:pt x="1473299" y="2267756"/>
                  <a:pt x="1315606" y="2237720"/>
                  <a:pt x="1215483" y="2145108"/>
                </a:cubicBezTo>
                <a:cubicBezTo>
                  <a:pt x="1145398" y="2080028"/>
                  <a:pt x="1025251" y="2095047"/>
                  <a:pt x="942649" y="2049992"/>
                </a:cubicBezTo>
                <a:cubicBezTo>
                  <a:pt x="912613" y="2004937"/>
                  <a:pt x="972686" y="1994925"/>
                  <a:pt x="992711" y="1969894"/>
                </a:cubicBezTo>
                <a:cubicBezTo>
                  <a:pt x="1020244" y="1939858"/>
                  <a:pt x="972686" y="1922337"/>
                  <a:pt x="960170" y="1884791"/>
                </a:cubicBezTo>
                <a:cubicBezTo>
                  <a:pt x="1117863" y="1922337"/>
                  <a:pt x="1268048" y="1944864"/>
                  <a:pt x="1448268" y="1957380"/>
                </a:cubicBezTo>
                <a:cubicBezTo>
                  <a:pt x="1390698" y="1897306"/>
                  <a:pt x="1318109" y="1927343"/>
                  <a:pt x="1270551" y="1904815"/>
                </a:cubicBezTo>
                <a:cubicBezTo>
                  <a:pt x="1238011" y="1889797"/>
                  <a:pt x="1190453" y="1884791"/>
                  <a:pt x="1200466" y="1849749"/>
                </a:cubicBezTo>
                <a:cubicBezTo>
                  <a:pt x="1207974" y="1822216"/>
                  <a:pt x="1248023" y="1824718"/>
                  <a:pt x="1278060" y="1827221"/>
                </a:cubicBezTo>
                <a:cubicBezTo>
                  <a:pt x="1393201" y="1834730"/>
                  <a:pt x="1503336" y="1834730"/>
                  <a:pt x="1615974" y="1764645"/>
                </a:cubicBezTo>
                <a:cubicBezTo>
                  <a:pt x="1338134" y="1669530"/>
                  <a:pt x="1015238" y="1717087"/>
                  <a:pt x="767434" y="1576917"/>
                </a:cubicBezTo>
                <a:cubicBezTo>
                  <a:pt x="802477" y="1531862"/>
                  <a:pt x="852539" y="1554390"/>
                  <a:pt x="890085" y="1559396"/>
                </a:cubicBezTo>
                <a:cubicBezTo>
                  <a:pt x="1132882" y="1591936"/>
                  <a:pt x="2003949" y="1514341"/>
                  <a:pt x="2129102" y="1556893"/>
                </a:cubicBezTo>
                <a:cubicBezTo>
                  <a:pt x="2204195" y="1584426"/>
                  <a:pt x="2286796" y="1594439"/>
                  <a:pt x="2369396" y="1576917"/>
                </a:cubicBezTo>
                <a:cubicBezTo>
                  <a:pt x="2469519" y="1554390"/>
                  <a:pt x="1881298" y="1519347"/>
                  <a:pt x="1746133" y="1421728"/>
                </a:cubicBezTo>
                <a:cubicBezTo>
                  <a:pt x="1678551" y="1374170"/>
                  <a:pt x="1082821" y="1146394"/>
                  <a:pt x="819999" y="1083817"/>
                </a:cubicBezTo>
                <a:cubicBezTo>
                  <a:pt x="857545" y="1041266"/>
                  <a:pt x="952662" y="1066296"/>
                  <a:pt x="940146" y="993707"/>
                </a:cubicBezTo>
                <a:cubicBezTo>
                  <a:pt x="794969" y="956162"/>
                  <a:pt x="627263" y="961168"/>
                  <a:pt x="459558" y="903598"/>
                </a:cubicBezTo>
                <a:cubicBezTo>
                  <a:pt x="537153" y="858543"/>
                  <a:pt x="622257" y="883573"/>
                  <a:pt x="699852" y="868556"/>
                </a:cubicBezTo>
                <a:cubicBezTo>
                  <a:pt x="657300" y="813489"/>
                  <a:pt x="582208" y="823500"/>
                  <a:pt x="522134" y="813489"/>
                </a:cubicBezTo>
                <a:cubicBezTo>
                  <a:pt x="464564" y="803476"/>
                  <a:pt x="349423" y="708360"/>
                  <a:pt x="374453" y="713367"/>
                </a:cubicBezTo>
                <a:cubicBezTo>
                  <a:pt x="607238" y="750912"/>
                  <a:pt x="842526" y="735895"/>
                  <a:pt x="1075312" y="773440"/>
                </a:cubicBezTo>
                <a:cubicBezTo>
                  <a:pt x="1152907" y="785955"/>
                  <a:pt x="1238011" y="810986"/>
                  <a:pt x="1275557" y="728385"/>
                </a:cubicBezTo>
                <a:cubicBezTo>
                  <a:pt x="1285569" y="703355"/>
                  <a:pt x="1278060" y="695846"/>
                  <a:pt x="1385692" y="725882"/>
                </a:cubicBezTo>
                <a:cubicBezTo>
                  <a:pt x="1425741" y="738397"/>
                  <a:pt x="1483311" y="750912"/>
                  <a:pt x="1525863" y="718373"/>
                </a:cubicBezTo>
                <a:cubicBezTo>
                  <a:pt x="1498330" y="678325"/>
                  <a:pt x="1445765" y="690839"/>
                  <a:pt x="1408219" y="680828"/>
                </a:cubicBezTo>
                <a:cubicBezTo>
                  <a:pt x="1305594" y="653294"/>
                  <a:pt x="922624" y="548166"/>
                  <a:pt x="825005" y="518129"/>
                </a:cubicBezTo>
                <a:cubicBezTo>
                  <a:pt x="619754" y="453051"/>
                  <a:pt x="492098" y="475578"/>
                  <a:pt x="286846" y="405492"/>
                </a:cubicBezTo>
                <a:cubicBezTo>
                  <a:pt x="356932" y="407995"/>
                  <a:pt x="336907" y="380462"/>
                  <a:pt x="406993" y="380462"/>
                </a:cubicBezTo>
                <a:cubicBezTo>
                  <a:pt x="437030" y="380462"/>
                  <a:pt x="472073" y="372954"/>
                  <a:pt x="472073" y="342917"/>
                </a:cubicBezTo>
                <a:cubicBezTo>
                  <a:pt x="472073" y="315384"/>
                  <a:pt x="104123" y="170207"/>
                  <a:pt x="156686" y="155188"/>
                </a:cubicBezTo>
                <a:cubicBezTo>
                  <a:pt x="301865" y="115140"/>
                  <a:pt x="667312" y="227777"/>
                  <a:pt x="579705" y="175213"/>
                </a:cubicBezTo>
                <a:cubicBezTo>
                  <a:pt x="447042" y="92613"/>
                  <a:pt x="427018" y="77594"/>
                  <a:pt x="326895" y="67583"/>
                </a:cubicBezTo>
                <a:cubicBezTo>
                  <a:pt x="296858" y="62576"/>
                  <a:pt x="244294" y="35043"/>
                  <a:pt x="181717" y="0"/>
                </a:cubicBezTo>
                <a:close/>
              </a:path>
            </a:pathLst>
          </a:custGeom>
          <a:noFill/>
          <a:ln>
            <a:noFill/>
          </a:ln>
        </p:spPr>
      </p:pic>
      <p:pic>
        <p:nvPicPr>
          <p:cNvPr descr="Logo&#10;&#10;Description automatically generated" id="99" name="Google Shape;99;p1"/>
          <p:cNvPicPr preferRelativeResize="0"/>
          <p:nvPr/>
        </p:nvPicPr>
        <p:blipFill rotWithShape="1">
          <a:blip r:embed="rId4">
            <a:alphaModFix/>
          </a:blip>
          <a:srcRect b="0" l="0" r="0" t="0"/>
          <a:stretch/>
        </p:blipFill>
        <p:spPr>
          <a:xfrm>
            <a:off x="567830" y="3590767"/>
            <a:ext cx="2374629" cy="682908"/>
          </a:xfrm>
          <a:custGeom>
            <a:rect b="b" l="l" r="r" t="t"/>
            <a:pathLst>
              <a:path extrusionOk="0" fill="none" h="682908" w="2374629">
                <a:moveTo>
                  <a:pt x="0" y="0"/>
                </a:moveTo>
                <a:cubicBezTo>
                  <a:pt x="131428" y="-36206"/>
                  <a:pt x="429568" y="49038"/>
                  <a:pt x="593657" y="0"/>
                </a:cubicBezTo>
                <a:cubicBezTo>
                  <a:pt x="757746" y="-49038"/>
                  <a:pt x="1097918" y="53842"/>
                  <a:pt x="1234807" y="0"/>
                </a:cubicBezTo>
                <a:cubicBezTo>
                  <a:pt x="1371696" y="-53842"/>
                  <a:pt x="2054204" y="66126"/>
                  <a:pt x="2374629" y="0"/>
                </a:cubicBezTo>
                <a:cubicBezTo>
                  <a:pt x="2405002" y="162524"/>
                  <a:pt x="2371205" y="264958"/>
                  <a:pt x="2374629" y="334625"/>
                </a:cubicBezTo>
                <a:cubicBezTo>
                  <a:pt x="2378053" y="404292"/>
                  <a:pt x="2347794" y="576645"/>
                  <a:pt x="2374629" y="682908"/>
                </a:cubicBezTo>
                <a:cubicBezTo>
                  <a:pt x="2238559" y="706138"/>
                  <a:pt x="2022244" y="650700"/>
                  <a:pt x="1757225" y="682908"/>
                </a:cubicBezTo>
                <a:cubicBezTo>
                  <a:pt x="1492206" y="715116"/>
                  <a:pt x="1476653" y="629947"/>
                  <a:pt x="1234807" y="682908"/>
                </a:cubicBezTo>
                <a:cubicBezTo>
                  <a:pt x="992961" y="735869"/>
                  <a:pt x="919868" y="629849"/>
                  <a:pt x="712389" y="682908"/>
                </a:cubicBezTo>
                <a:cubicBezTo>
                  <a:pt x="504910" y="735967"/>
                  <a:pt x="305855" y="663304"/>
                  <a:pt x="0" y="682908"/>
                </a:cubicBezTo>
                <a:cubicBezTo>
                  <a:pt x="-18065" y="557586"/>
                  <a:pt x="6995" y="450320"/>
                  <a:pt x="0" y="348283"/>
                </a:cubicBezTo>
                <a:cubicBezTo>
                  <a:pt x="-6995" y="246247"/>
                  <a:pt x="2488" y="107054"/>
                  <a:pt x="0" y="0"/>
                </a:cubicBezTo>
                <a:close/>
              </a:path>
              <a:path extrusionOk="0" h="682908" w="2374629">
                <a:moveTo>
                  <a:pt x="0" y="0"/>
                </a:moveTo>
                <a:cubicBezTo>
                  <a:pt x="311661" y="-61020"/>
                  <a:pt x="325144" y="53203"/>
                  <a:pt x="641150" y="0"/>
                </a:cubicBezTo>
                <a:cubicBezTo>
                  <a:pt x="957156" y="-53203"/>
                  <a:pt x="959195" y="19220"/>
                  <a:pt x="1234807" y="0"/>
                </a:cubicBezTo>
                <a:cubicBezTo>
                  <a:pt x="1510419" y="-19220"/>
                  <a:pt x="1584655" y="38722"/>
                  <a:pt x="1780972" y="0"/>
                </a:cubicBezTo>
                <a:cubicBezTo>
                  <a:pt x="1977289" y="-38722"/>
                  <a:pt x="2190607" y="69537"/>
                  <a:pt x="2374629" y="0"/>
                </a:cubicBezTo>
                <a:cubicBezTo>
                  <a:pt x="2385325" y="132255"/>
                  <a:pt x="2363129" y="182532"/>
                  <a:pt x="2374629" y="341454"/>
                </a:cubicBezTo>
                <a:cubicBezTo>
                  <a:pt x="2386129" y="500376"/>
                  <a:pt x="2370081" y="556976"/>
                  <a:pt x="2374629" y="682908"/>
                </a:cubicBezTo>
                <a:cubicBezTo>
                  <a:pt x="2124574" y="704019"/>
                  <a:pt x="1976947" y="673626"/>
                  <a:pt x="1780972" y="682908"/>
                </a:cubicBezTo>
                <a:cubicBezTo>
                  <a:pt x="1584997" y="692190"/>
                  <a:pt x="1379907" y="658257"/>
                  <a:pt x="1258553" y="682908"/>
                </a:cubicBezTo>
                <a:cubicBezTo>
                  <a:pt x="1137199" y="707559"/>
                  <a:pt x="917106" y="632366"/>
                  <a:pt x="712389" y="682908"/>
                </a:cubicBezTo>
                <a:cubicBezTo>
                  <a:pt x="507672" y="733450"/>
                  <a:pt x="205418" y="628160"/>
                  <a:pt x="0" y="682908"/>
                </a:cubicBezTo>
                <a:cubicBezTo>
                  <a:pt x="-31526" y="607460"/>
                  <a:pt x="16314" y="448776"/>
                  <a:pt x="0" y="361941"/>
                </a:cubicBezTo>
                <a:cubicBezTo>
                  <a:pt x="-16314" y="275106"/>
                  <a:pt x="37469" y="142419"/>
                  <a:pt x="0" y="0"/>
                </a:cubicBezTo>
                <a:close/>
              </a:path>
            </a:pathLst>
          </a:custGeom>
          <a:noFill/>
          <a:ln cap="sq" cmpd="thickThin" w="28575">
            <a:solidFill>
              <a:srgbClr val="000000"/>
            </a:solidFill>
            <a:prstDash val="solid"/>
            <a:miter lim="800000"/>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Highlights!</a:t>
            </a:r>
            <a:endParaRPr/>
          </a:p>
        </p:txBody>
      </p:sp>
      <p:sp>
        <p:nvSpPr>
          <p:cNvPr id="105" name="Google Shape;105;p2"/>
          <p:cNvSpPr txBox="1"/>
          <p:nvPr>
            <p:ph idx="1" type="body"/>
          </p:nvPr>
        </p:nvSpPr>
        <p:spPr>
          <a:xfrm>
            <a:off x="838200" y="2115779"/>
            <a:ext cx="6584005" cy="330935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000"/>
              <a:buChar char="•"/>
            </a:pPr>
            <a:r>
              <a:rPr lang="en-US" sz="2000"/>
              <a:t>Function – Definition, example.</a:t>
            </a:r>
            <a:endParaRPr/>
          </a:p>
          <a:p>
            <a:pPr indent="-228600" lvl="0" marL="228600" rtl="0" algn="l">
              <a:lnSpc>
                <a:spcPct val="100000"/>
              </a:lnSpc>
              <a:spcBef>
                <a:spcPts val="2200"/>
              </a:spcBef>
              <a:spcAft>
                <a:spcPts val="0"/>
              </a:spcAft>
              <a:buClr>
                <a:schemeClr val="dk1"/>
              </a:buClr>
              <a:buSzPts val="2000"/>
              <a:buChar char="•"/>
            </a:pPr>
            <a:r>
              <a:rPr lang="en-US" sz="2000"/>
              <a:t>Why using Functions??!!</a:t>
            </a:r>
            <a:endParaRPr/>
          </a:p>
          <a:p>
            <a:pPr indent="-228600" lvl="0" marL="228600" rtl="0" algn="l">
              <a:lnSpc>
                <a:spcPct val="100000"/>
              </a:lnSpc>
              <a:spcBef>
                <a:spcPts val="2200"/>
              </a:spcBef>
              <a:spcAft>
                <a:spcPts val="0"/>
              </a:spcAft>
              <a:buClr>
                <a:schemeClr val="dk1"/>
              </a:buClr>
              <a:buSzPts val="2000"/>
              <a:buChar char="•"/>
            </a:pPr>
            <a:r>
              <a:rPr lang="en-US" sz="2000"/>
              <a:t>Function arguments / parameters.</a:t>
            </a:r>
            <a:endParaRPr/>
          </a:p>
          <a:p>
            <a:pPr indent="-228600" lvl="0" marL="228600" rtl="0" algn="l">
              <a:lnSpc>
                <a:spcPct val="100000"/>
              </a:lnSpc>
              <a:spcBef>
                <a:spcPts val="2200"/>
              </a:spcBef>
              <a:spcAft>
                <a:spcPts val="0"/>
              </a:spcAft>
              <a:buClr>
                <a:schemeClr val="dk1"/>
              </a:buClr>
              <a:buSzPts val="2000"/>
              <a:buChar char="•"/>
            </a:pPr>
            <a:r>
              <a:rPr lang="en-US" sz="2000"/>
              <a:t>Function return value.</a:t>
            </a:r>
            <a:endParaRPr/>
          </a:p>
          <a:p>
            <a:pPr indent="-228600" lvl="0" marL="228600" rtl="0" algn="l">
              <a:lnSpc>
                <a:spcPct val="100000"/>
              </a:lnSpc>
              <a:spcBef>
                <a:spcPts val="2200"/>
              </a:spcBef>
              <a:spcAft>
                <a:spcPts val="0"/>
              </a:spcAft>
              <a:buClr>
                <a:schemeClr val="dk1"/>
              </a:buClr>
              <a:buSzPts val="2000"/>
              <a:buChar char="•"/>
            </a:pPr>
            <a:r>
              <a:rPr lang="en-US" sz="2000"/>
              <a:t>Scope of variables - Local and global variables.</a:t>
            </a:r>
            <a:endParaRPr/>
          </a:p>
          <a:p>
            <a:pPr indent="-228600" lvl="0" marL="228600" rtl="0" algn="l">
              <a:lnSpc>
                <a:spcPct val="100000"/>
              </a:lnSpc>
              <a:spcBef>
                <a:spcPts val="2200"/>
              </a:spcBef>
              <a:spcAft>
                <a:spcPts val="0"/>
              </a:spcAft>
              <a:buClr>
                <a:schemeClr val="dk1"/>
              </a:buClr>
              <a:buSzPts val="2000"/>
              <a:buChar char="•"/>
            </a:pPr>
            <a:r>
              <a:rPr lang="en-US" sz="2000"/>
              <a:t>generators</a:t>
            </a:r>
            <a:endParaRPr/>
          </a:p>
        </p:txBody>
      </p:sp>
      <p:pic>
        <p:nvPicPr>
          <p:cNvPr descr="Logo&#10;&#10;Description automatically generated" id="106" name="Google Shape;106;p2"/>
          <p:cNvPicPr preferRelativeResize="0"/>
          <p:nvPr/>
        </p:nvPicPr>
        <p:blipFill rotWithShape="1">
          <a:blip r:embed="rId3">
            <a:alphaModFix/>
          </a:blip>
          <a:srcRect b="0" l="0" r="0" t="0"/>
          <a:stretch/>
        </p:blipFill>
        <p:spPr>
          <a:xfrm>
            <a:off x="8495872" y="3087546"/>
            <a:ext cx="2374629" cy="682908"/>
          </a:xfrm>
          <a:custGeom>
            <a:rect b="b" l="l" r="r" t="t"/>
            <a:pathLst>
              <a:path extrusionOk="0" fill="none" h="682908" w="2374629">
                <a:moveTo>
                  <a:pt x="0" y="0"/>
                </a:moveTo>
                <a:cubicBezTo>
                  <a:pt x="131428" y="-36206"/>
                  <a:pt x="429568" y="49038"/>
                  <a:pt x="593657" y="0"/>
                </a:cubicBezTo>
                <a:cubicBezTo>
                  <a:pt x="757746" y="-49038"/>
                  <a:pt x="1097918" y="53842"/>
                  <a:pt x="1234807" y="0"/>
                </a:cubicBezTo>
                <a:cubicBezTo>
                  <a:pt x="1371696" y="-53842"/>
                  <a:pt x="2054204" y="66126"/>
                  <a:pt x="2374629" y="0"/>
                </a:cubicBezTo>
                <a:cubicBezTo>
                  <a:pt x="2405002" y="162524"/>
                  <a:pt x="2371205" y="264958"/>
                  <a:pt x="2374629" y="334625"/>
                </a:cubicBezTo>
                <a:cubicBezTo>
                  <a:pt x="2378053" y="404292"/>
                  <a:pt x="2347794" y="576645"/>
                  <a:pt x="2374629" y="682908"/>
                </a:cubicBezTo>
                <a:cubicBezTo>
                  <a:pt x="2238559" y="706138"/>
                  <a:pt x="2022244" y="650700"/>
                  <a:pt x="1757225" y="682908"/>
                </a:cubicBezTo>
                <a:cubicBezTo>
                  <a:pt x="1492206" y="715116"/>
                  <a:pt x="1476653" y="629947"/>
                  <a:pt x="1234807" y="682908"/>
                </a:cubicBezTo>
                <a:cubicBezTo>
                  <a:pt x="992961" y="735869"/>
                  <a:pt x="919868" y="629849"/>
                  <a:pt x="712389" y="682908"/>
                </a:cubicBezTo>
                <a:cubicBezTo>
                  <a:pt x="504910" y="735967"/>
                  <a:pt x="305855" y="663304"/>
                  <a:pt x="0" y="682908"/>
                </a:cubicBezTo>
                <a:cubicBezTo>
                  <a:pt x="-18065" y="557586"/>
                  <a:pt x="6995" y="450320"/>
                  <a:pt x="0" y="348283"/>
                </a:cubicBezTo>
                <a:cubicBezTo>
                  <a:pt x="-6995" y="246247"/>
                  <a:pt x="2488" y="107054"/>
                  <a:pt x="0" y="0"/>
                </a:cubicBezTo>
                <a:close/>
              </a:path>
              <a:path extrusionOk="0" h="682908" w="2374629">
                <a:moveTo>
                  <a:pt x="0" y="0"/>
                </a:moveTo>
                <a:cubicBezTo>
                  <a:pt x="311661" y="-61020"/>
                  <a:pt x="325144" y="53203"/>
                  <a:pt x="641150" y="0"/>
                </a:cubicBezTo>
                <a:cubicBezTo>
                  <a:pt x="957156" y="-53203"/>
                  <a:pt x="959195" y="19220"/>
                  <a:pt x="1234807" y="0"/>
                </a:cubicBezTo>
                <a:cubicBezTo>
                  <a:pt x="1510419" y="-19220"/>
                  <a:pt x="1584655" y="38722"/>
                  <a:pt x="1780972" y="0"/>
                </a:cubicBezTo>
                <a:cubicBezTo>
                  <a:pt x="1977289" y="-38722"/>
                  <a:pt x="2190607" y="69537"/>
                  <a:pt x="2374629" y="0"/>
                </a:cubicBezTo>
                <a:cubicBezTo>
                  <a:pt x="2385325" y="132255"/>
                  <a:pt x="2363129" y="182532"/>
                  <a:pt x="2374629" y="341454"/>
                </a:cubicBezTo>
                <a:cubicBezTo>
                  <a:pt x="2386129" y="500376"/>
                  <a:pt x="2370081" y="556976"/>
                  <a:pt x="2374629" y="682908"/>
                </a:cubicBezTo>
                <a:cubicBezTo>
                  <a:pt x="2124574" y="704019"/>
                  <a:pt x="1976947" y="673626"/>
                  <a:pt x="1780972" y="682908"/>
                </a:cubicBezTo>
                <a:cubicBezTo>
                  <a:pt x="1584997" y="692190"/>
                  <a:pt x="1379907" y="658257"/>
                  <a:pt x="1258553" y="682908"/>
                </a:cubicBezTo>
                <a:cubicBezTo>
                  <a:pt x="1137199" y="707559"/>
                  <a:pt x="917106" y="632366"/>
                  <a:pt x="712389" y="682908"/>
                </a:cubicBezTo>
                <a:cubicBezTo>
                  <a:pt x="507672" y="733450"/>
                  <a:pt x="205418" y="628160"/>
                  <a:pt x="0" y="682908"/>
                </a:cubicBezTo>
                <a:cubicBezTo>
                  <a:pt x="-31526" y="607460"/>
                  <a:pt x="16314" y="448776"/>
                  <a:pt x="0" y="361941"/>
                </a:cubicBezTo>
                <a:cubicBezTo>
                  <a:pt x="-16314" y="275106"/>
                  <a:pt x="37469" y="142419"/>
                  <a:pt x="0" y="0"/>
                </a:cubicBezTo>
                <a:close/>
              </a:path>
            </a:pathLst>
          </a:custGeom>
          <a:noFill/>
          <a:ln cap="sq" cmpd="thickThin" w="28575">
            <a:solidFill>
              <a:srgbClr val="000000"/>
            </a:solidFill>
            <a:prstDash val="solid"/>
            <a:miter lim="800000"/>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txBox="1"/>
          <p:nvPr>
            <p:ph type="title"/>
          </p:nvPr>
        </p:nvSpPr>
        <p:spPr>
          <a:xfrm>
            <a:off x="831850" y="1078991"/>
            <a:ext cx="5266944" cy="313639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Font typeface="Century Gothic"/>
              <a:buNone/>
            </a:pPr>
            <a:r>
              <a:rPr lang="en-US"/>
              <a:t>Function</a:t>
            </a:r>
            <a:endParaRPr/>
          </a:p>
        </p:txBody>
      </p:sp>
      <p:sp>
        <p:nvSpPr>
          <p:cNvPr id="112" name="Google Shape;112;p3"/>
          <p:cNvSpPr txBox="1"/>
          <p:nvPr>
            <p:ph idx="1" type="body"/>
          </p:nvPr>
        </p:nvSpPr>
        <p:spPr>
          <a:xfrm>
            <a:off x="831850" y="4279392"/>
            <a:ext cx="5266944" cy="1500187"/>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dk1"/>
              </a:buClr>
              <a:buSzPts val="2400"/>
              <a:buNone/>
            </a:pPr>
            <a:r>
              <a:rPr lang="en-US"/>
              <a:t>DEFINITION</a:t>
            </a:r>
            <a:endParaRPr/>
          </a:p>
        </p:txBody>
      </p:sp>
      <p:pic>
        <p:nvPicPr>
          <p:cNvPr descr="Logo&#10;&#10;Description automatically generated" id="113" name="Google Shape;113;p3"/>
          <p:cNvPicPr preferRelativeResize="0"/>
          <p:nvPr/>
        </p:nvPicPr>
        <p:blipFill rotWithShape="1">
          <a:blip r:embed="rId3">
            <a:alphaModFix/>
          </a:blip>
          <a:srcRect b="0" l="0" r="0" t="0"/>
          <a:stretch/>
        </p:blipFill>
        <p:spPr>
          <a:xfrm>
            <a:off x="1737326" y="2876637"/>
            <a:ext cx="1611264" cy="463376"/>
          </a:xfrm>
          <a:custGeom>
            <a:rect b="b" l="l" r="r" t="t"/>
            <a:pathLst>
              <a:path extrusionOk="0" fill="none" h="463376" w="1611264">
                <a:moveTo>
                  <a:pt x="0" y="0"/>
                </a:moveTo>
                <a:cubicBezTo>
                  <a:pt x="124880" y="-4825"/>
                  <a:pt x="255052" y="18735"/>
                  <a:pt x="504863" y="0"/>
                </a:cubicBezTo>
                <a:cubicBezTo>
                  <a:pt x="754674" y="-18735"/>
                  <a:pt x="864140" y="35260"/>
                  <a:pt x="1009725" y="0"/>
                </a:cubicBezTo>
                <a:cubicBezTo>
                  <a:pt x="1155310" y="-35260"/>
                  <a:pt x="1330447" y="57283"/>
                  <a:pt x="1611264" y="0"/>
                </a:cubicBezTo>
                <a:cubicBezTo>
                  <a:pt x="1622303" y="108444"/>
                  <a:pt x="1575953" y="327440"/>
                  <a:pt x="1611264" y="463376"/>
                </a:cubicBezTo>
                <a:cubicBezTo>
                  <a:pt x="1404313" y="518831"/>
                  <a:pt x="1293297" y="431466"/>
                  <a:pt x="1090289" y="463376"/>
                </a:cubicBezTo>
                <a:cubicBezTo>
                  <a:pt x="887281" y="495286"/>
                  <a:pt x="696714" y="423793"/>
                  <a:pt x="520975" y="463376"/>
                </a:cubicBezTo>
                <a:cubicBezTo>
                  <a:pt x="345236" y="502959"/>
                  <a:pt x="177054" y="448912"/>
                  <a:pt x="0" y="463376"/>
                </a:cubicBezTo>
                <a:cubicBezTo>
                  <a:pt x="-17984" y="275307"/>
                  <a:pt x="44481" y="138826"/>
                  <a:pt x="0" y="0"/>
                </a:cubicBezTo>
                <a:close/>
              </a:path>
              <a:path extrusionOk="0" h="463376" w="1611264">
                <a:moveTo>
                  <a:pt x="0" y="0"/>
                </a:moveTo>
                <a:cubicBezTo>
                  <a:pt x="223226" y="-1358"/>
                  <a:pt x="339035" y="67745"/>
                  <a:pt x="569313" y="0"/>
                </a:cubicBezTo>
                <a:cubicBezTo>
                  <a:pt x="799591" y="-67745"/>
                  <a:pt x="990235" y="3431"/>
                  <a:pt x="1106401" y="0"/>
                </a:cubicBezTo>
                <a:cubicBezTo>
                  <a:pt x="1222567" y="-3431"/>
                  <a:pt x="1488541" y="4672"/>
                  <a:pt x="1611264" y="0"/>
                </a:cubicBezTo>
                <a:cubicBezTo>
                  <a:pt x="1627954" y="127862"/>
                  <a:pt x="1574745" y="247044"/>
                  <a:pt x="1611264" y="463376"/>
                </a:cubicBezTo>
                <a:cubicBezTo>
                  <a:pt x="1436768" y="477149"/>
                  <a:pt x="1340396" y="408017"/>
                  <a:pt x="1074176" y="463376"/>
                </a:cubicBezTo>
                <a:cubicBezTo>
                  <a:pt x="807956" y="518735"/>
                  <a:pt x="707838" y="456230"/>
                  <a:pt x="553201" y="463376"/>
                </a:cubicBezTo>
                <a:cubicBezTo>
                  <a:pt x="398564" y="470522"/>
                  <a:pt x="270333" y="416090"/>
                  <a:pt x="0" y="463376"/>
                </a:cubicBezTo>
                <a:cubicBezTo>
                  <a:pt x="-54951" y="349910"/>
                  <a:pt x="28269" y="123897"/>
                  <a:pt x="0" y="0"/>
                </a:cubicBezTo>
                <a:close/>
              </a:path>
            </a:pathLst>
          </a:custGeom>
          <a:noFill/>
          <a:ln cap="sq" cmpd="thickThin" w="28575">
            <a:solidFill>
              <a:srgbClr val="000000"/>
            </a:solidFill>
            <a:prstDash val="solid"/>
            <a:miter lim="800000"/>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Function</a:t>
            </a:r>
            <a:endParaRPr/>
          </a:p>
        </p:txBody>
      </p:sp>
      <p:pic>
        <p:nvPicPr>
          <p:cNvPr descr="Logo&#10;&#10;Description automatically generated" id="119" name="Google Shape;119;p4"/>
          <p:cNvPicPr preferRelativeResize="0"/>
          <p:nvPr/>
        </p:nvPicPr>
        <p:blipFill rotWithShape="1">
          <a:blip r:embed="rId3">
            <a:alphaModFix/>
          </a:blip>
          <a:srcRect b="0" l="0" r="0" t="0"/>
          <a:stretch/>
        </p:blipFill>
        <p:spPr>
          <a:xfrm>
            <a:off x="10423001" y="133437"/>
            <a:ext cx="1611264" cy="463376"/>
          </a:xfrm>
          <a:custGeom>
            <a:rect b="b" l="l" r="r" t="t"/>
            <a:pathLst>
              <a:path extrusionOk="0" fill="none" h="463376" w="1611264">
                <a:moveTo>
                  <a:pt x="0" y="0"/>
                </a:moveTo>
                <a:cubicBezTo>
                  <a:pt x="124880" y="-4825"/>
                  <a:pt x="255052" y="18735"/>
                  <a:pt x="504863" y="0"/>
                </a:cubicBezTo>
                <a:cubicBezTo>
                  <a:pt x="754674" y="-18735"/>
                  <a:pt x="864140" y="35260"/>
                  <a:pt x="1009725" y="0"/>
                </a:cubicBezTo>
                <a:cubicBezTo>
                  <a:pt x="1155310" y="-35260"/>
                  <a:pt x="1330447" y="57283"/>
                  <a:pt x="1611264" y="0"/>
                </a:cubicBezTo>
                <a:cubicBezTo>
                  <a:pt x="1622303" y="108444"/>
                  <a:pt x="1575953" y="327440"/>
                  <a:pt x="1611264" y="463376"/>
                </a:cubicBezTo>
                <a:cubicBezTo>
                  <a:pt x="1404313" y="518831"/>
                  <a:pt x="1293297" y="431466"/>
                  <a:pt x="1090289" y="463376"/>
                </a:cubicBezTo>
                <a:cubicBezTo>
                  <a:pt x="887281" y="495286"/>
                  <a:pt x="696714" y="423793"/>
                  <a:pt x="520975" y="463376"/>
                </a:cubicBezTo>
                <a:cubicBezTo>
                  <a:pt x="345236" y="502959"/>
                  <a:pt x="177054" y="448912"/>
                  <a:pt x="0" y="463376"/>
                </a:cubicBezTo>
                <a:cubicBezTo>
                  <a:pt x="-17984" y="275307"/>
                  <a:pt x="44481" y="138826"/>
                  <a:pt x="0" y="0"/>
                </a:cubicBezTo>
                <a:close/>
              </a:path>
              <a:path extrusionOk="0" h="463376" w="1611264">
                <a:moveTo>
                  <a:pt x="0" y="0"/>
                </a:moveTo>
                <a:cubicBezTo>
                  <a:pt x="223226" y="-1358"/>
                  <a:pt x="339035" y="67745"/>
                  <a:pt x="569313" y="0"/>
                </a:cubicBezTo>
                <a:cubicBezTo>
                  <a:pt x="799591" y="-67745"/>
                  <a:pt x="990235" y="3431"/>
                  <a:pt x="1106401" y="0"/>
                </a:cubicBezTo>
                <a:cubicBezTo>
                  <a:pt x="1222567" y="-3431"/>
                  <a:pt x="1488541" y="4672"/>
                  <a:pt x="1611264" y="0"/>
                </a:cubicBezTo>
                <a:cubicBezTo>
                  <a:pt x="1627954" y="127862"/>
                  <a:pt x="1574745" y="247044"/>
                  <a:pt x="1611264" y="463376"/>
                </a:cubicBezTo>
                <a:cubicBezTo>
                  <a:pt x="1436768" y="477149"/>
                  <a:pt x="1340396" y="408017"/>
                  <a:pt x="1074176" y="463376"/>
                </a:cubicBezTo>
                <a:cubicBezTo>
                  <a:pt x="807956" y="518735"/>
                  <a:pt x="707838" y="456230"/>
                  <a:pt x="553201" y="463376"/>
                </a:cubicBezTo>
                <a:cubicBezTo>
                  <a:pt x="398564" y="470522"/>
                  <a:pt x="270333" y="416090"/>
                  <a:pt x="0" y="463376"/>
                </a:cubicBezTo>
                <a:cubicBezTo>
                  <a:pt x="-54951" y="349910"/>
                  <a:pt x="28269" y="123897"/>
                  <a:pt x="0" y="0"/>
                </a:cubicBezTo>
                <a:close/>
              </a:path>
            </a:pathLst>
          </a:custGeom>
          <a:noFill/>
          <a:ln cap="sq" cmpd="thickThin" w="28575">
            <a:solidFill>
              <a:srgbClr val="000000"/>
            </a:solidFill>
            <a:prstDash val="solid"/>
            <a:miter lim="800000"/>
            <a:headEnd len="sm" w="sm" type="none"/>
            <a:tailEnd len="sm" w="sm" type="none"/>
          </a:ln>
        </p:spPr>
      </p:pic>
      <p:sp>
        <p:nvSpPr>
          <p:cNvPr id="120" name="Google Shape;120;p4"/>
          <p:cNvSpPr txBox="1"/>
          <p:nvPr/>
        </p:nvSpPr>
        <p:spPr>
          <a:xfrm>
            <a:off x="624191" y="1612879"/>
            <a:ext cx="10951724" cy="284045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A </a:t>
            </a:r>
            <a:r>
              <a:rPr b="1" i="0" lang="en-US" sz="1800" u="none" cap="none" strike="noStrike">
                <a:solidFill>
                  <a:schemeClr val="dk1"/>
                </a:solidFill>
                <a:latin typeface="Century Gothic"/>
                <a:ea typeface="Century Gothic"/>
                <a:cs typeface="Century Gothic"/>
                <a:sym typeface="Century Gothic"/>
              </a:rPr>
              <a:t>function</a:t>
            </a:r>
            <a:r>
              <a:rPr b="0" i="0" lang="en-US" sz="1800" u="none" cap="none" strike="noStrike">
                <a:solidFill>
                  <a:schemeClr val="dk1"/>
                </a:solidFill>
                <a:latin typeface="Century Gothic"/>
                <a:ea typeface="Century Gothic"/>
                <a:cs typeface="Century Gothic"/>
                <a:sym typeface="Century Gothic"/>
              </a:rPr>
              <a:t> is a block of </a:t>
            </a:r>
            <a:r>
              <a:rPr b="0" i="0" lang="en-US" sz="1800" u="sng" cap="none" strike="noStrike">
                <a:solidFill>
                  <a:srgbClr val="FF0000"/>
                </a:solidFill>
                <a:latin typeface="Century Gothic"/>
                <a:ea typeface="Century Gothic"/>
                <a:cs typeface="Century Gothic"/>
                <a:sym typeface="Century Gothic"/>
              </a:rPr>
              <a:t>organized, reusable code</a:t>
            </a:r>
            <a:r>
              <a:rPr b="0" i="0" lang="en-US" sz="1800" u="none" cap="none" strike="noStrike">
                <a:solidFill>
                  <a:schemeClr val="dk1"/>
                </a:solidFill>
                <a:latin typeface="Century Gothic"/>
                <a:ea typeface="Century Gothic"/>
                <a:cs typeface="Century Gothic"/>
                <a:sym typeface="Century Gothic"/>
              </a:rPr>
              <a:t> that is used to perform a </a:t>
            </a:r>
            <a:r>
              <a:rPr b="0" i="0" lang="en-US" sz="1800" u="sng" cap="none" strike="noStrike">
                <a:solidFill>
                  <a:srgbClr val="FF0000"/>
                </a:solidFill>
                <a:latin typeface="Century Gothic"/>
                <a:ea typeface="Century Gothic"/>
                <a:cs typeface="Century Gothic"/>
                <a:sym typeface="Century Gothic"/>
              </a:rPr>
              <a:t>single, related action / task</a:t>
            </a:r>
            <a:r>
              <a:rPr b="0" i="0" lang="en-US" sz="1800" u="none" cap="none" strike="noStrike">
                <a:solidFill>
                  <a:schemeClr val="dk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285750" lvl="0" marL="457200" marR="0" rtl="0" algn="l">
              <a:lnSpc>
                <a:spcPct val="150000"/>
              </a:lnSpc>
              <a:spcBef>
                <a:spcPts val="60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Functions provide </a:t>
            </a:r>
            <a:r>
              <a:rPr b="0" i="0" lang="en-US" sz="1800" u="sng" cap="none" strike="noStrike">
                <a:solidFill>
                  <a:srgbClr val="FF0000"/>
                </a:solidFill>
                <a:latin typeface="Century Gothic"/>
                <a:ea typeface="Century Gothic"/>
                <a:cs typeface="Century Gothic"/>
                <a:sym typeface="Century Gothic"/>
              </a:rPr>
              <a:t>better</a:t>
            </a:r>
            <a:r>
              <a:rPr b="0" i="0" lang="en-US" sz="1800" u="sng" cap="none" strike="noStrike">
                <a:solidFill>
                  <a:schemeClr val="dk1"/>
                </a:solidFill>
                <a:latin typeface="Century Gothic"/>
                <a:ea typeface="Century Gothic"/>
                <a:cs typeface="Century Gothic"/>
                <a:sym typeface="Century Gothic"/>
              </a:rPr>
              <a:t> </a:t>
            </a:r>
            <a:r>
              <a:rPr b="0" i="0" lang="en-US" sz="1800" u="sng" cap="none" strike="noStrike">
                <a:solidFill>
                  <a:srgbClr val="FF0000"/>
                </a:solidFill>
                <a:latin typeface="Century Gothic"/>
                <a:ea typeface="Century Gothic"/>
                <a:cs typeface="Century Gothic"/>
                <a:sym typeface="Century Gothic"/>
              </a:rPr>
              <a:t>modularity</a:t>
            </a:r>
            <a:r>
              <a:rPr b="0" i="0" lang="en-US" sz="1800" u="none" cap="none" strike="noStrike">
                <a:solidFill>
                  <a:schemeClr val="dk1"/>
                </a:solidFill>
                <a:latin typeface="Century Gothic"/>
                <a:ea typeface="Century Gothic"/>
                <a:cs typeface="Century Gothic"/>
                <a:sym typeface="Century Gothic"/>
              </a:rPr>
              <a:t> for your application and a high degree of </a:t>
            </a:r>
            <a:r>
              <a:rPr b="0" i="0" lang="en-US" sz="1800" u="sng" cap="none" strike="noStrike">
                <a:solidFill>
                  <a:srgbClr val="FF0000"/>
                </a:solidFill>
                <a:latin typeface="Century Gothic"/>
                <a:ea typeface="Century Gothic"/>
                <a:cs typeface="Century Gothic"/>
                <a:sym typeface="Century Gothic"/>
              </a:rPr>
              <a:t>code reusing</a:t>
            </a:r>
            <a:r>
              <a:rPr b="0" i="0" lang="en-US" sz="1800" u="none" cap="none" strike="noStrike">
                <a:solidFill>
                  <a:schemeClr val="dk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a:p>
            <a:pPr indent="-171450" lvl="0" marL="457200" marR="0" rtl="0" algn="l">
              <a:lnSpc>
                <a:spcPct val="150000"/>
              </a:lnSpc>
              <a:spcBef>
                <a:spcPts val="600"/>
              </a:spcBef>
              <a:spcAft>
                <a:spcPts val="0"/>
              </a:spcAft>
              <a:buClr>
                <a:schemeClr val="dk1"/>
              </a:buClr>
              <a:buSzPts val="1800"/>
              <a:buFont typeface="Noto Sans Symbols"/>
              <a:buNone/>
            </a:pPr>
            <a:r>
              <a:t/>
            </a:r>
            <a:endParaRPr b="0" i="0" sz="1800" u="none" cap="none" strike="noStrike">
              <a:solidFill>
                <a:schemeClr val="dk1"/>
              </a:solidFill>
              <a:latin typeface="Century Gothic"/>
              <a:ea typeface="Century Gothic"/>
              <a:cs typeface="Century Gothic"/>
              <a:sym typeface="Century Gothic"/>
            </a:endParaRPr>
          </a:p>
          <a:p>
            <a:pPr indent="-285750" lvl="0" marL="457200" marR="0" rtl="0" algn="l">
              <a:lnSpc>
                <a:spcPct val="150000"/>
              </a:lnSpc>
              <a:spcBef>
                <a:spcPts val="600"/>
              </a:spcBef>
              <a:spcAft>
                <a:spcPts val="0"/>
              </a:spcAft>
              <a:buClr>
                <a:schemeClr val="dk1"/>
              </a:buClr>
              <a:buSzPts val="1800"/>
              <a:buFont typeface="Noto Sans Symbols"/>
              <a:buChar char="✔"/>
            </a:pPr>
            <a:r>
              <a:rPr b="1" i="0" lang="en-US" sz="1800" u="none" cap="none" strike="noStrike">
                <a:solidFill>
                  <a:schemeClr val="dk1"/>
                </a:solidFill>
                <a:latin typeface="Century Gothic"/>
                <a:ea typeface="Century Gothic"/>
                <a:cs typeface="Century Gothic"/>
                <a:sym typeface="Century Gothic"/>
              </a:rPr>
              <a:t>Built-in functions </a:t>
            </a:r>
            <a:r>
              <a:rPr b="0" i="0" lang="en-US" sz="1800" u="none" cap="none" strike="noStrike">
                <a:solidFill>
                  <a:schemeClr val="dk1"/>
                </a:solidFill>
                <a:latin typeface="Century Gothic"/>
                <a:ea typeface="Century Gothic"/>
                <a:cs typeface="Century Gothic"/>
                <a:sym typeface="Century Gothic"/>
              </a:rPr>
              <a:t>in Python: print(), input(), type(), bin(), and many many more …. </a:t>
            </a:r>
            <a:endParaRPr b="0" i="0" sz="1400" u="none" cap="none" strike="noStrike">
              <a:solidFill>
                <a:srgbClr val="000000"/>
              </a:solidFill>
              <a:latin typeface="Arial"/>
              <a:ea typeface="Arial"/>
              <a:cs typeface="Arial"/>
              <a:sym typeface="Arial"/>
            </a:endParaRPr>
          </a:p>
          <a:p>
            <a:pPr indent="-285750" lvl="0" marL="457200" marR="0" rtl="0" algn="l">
              <a:lnSpc>
                <a:spcPct val="150000"/>
              </a:lnSpc>
              <a:spcBef>
                <a:spcPts val="600"/>
              </a:spcBef>
              <a:spcAft>
                <a:spcPts val="0"/>
              </a:spcAft>
              <a:buClr>
                <a:schemeClr val="dk1"/>
              </a:buClr>
              <a:buSzPts val="1800"/>
              <a:buFont typeface="Noto Sans Symbols"/>
              <a:buChar char="✔"/>
            </a:pPr>
            <a:r>
              <a:rPr b="1" i="0" lang="en-US" sz="1800" u="none" cap="none" strike="noStrike">
                <a:solidFill>
                  <a:schemeClr val="dk1"/>
                </a:solidFill>
                <a:latin typeface="Century Gothic"/>
                <a:ea typeface="Century Gothic"/>
                <a:cs typeface="Century Gothic"/>
                <a:sym typeface="Century Gothic"/>
              </a:rPr>
              <a:t>User-defined functions</a:t>
            </a:r>
            <a:r>
              <a:rPr b="0" i="0" lang="en-US" sz="1800" u="none" cap="none" strike="noStrike">
                <a:solidFill>
                  <a:schemeClr val="dk1"/>
                </a:solidFill>
                <a:latin typeface="Century Gothic"/>
                <a:ea typeface="Century Gothic"/>
                <a:cs typeface="Century Gothic"/>
                <a:sym typeface="Century Gothic"/>
              </a:rPr>
              <a:t>: you can define a function as per the need.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Function - Syntax</a:t>
            </a:r>
            <a:endParaRPr/>
          </a:p>
        </p:txBody>
      </p:sp>
      <p:pic>
        <p:nvPicPr>
          <p:cNvPr descr="Logo&#10;&#10;Description automatically generated" id="126" name="Google Shape;126;p5"/>
          <p:cNvPicPr preferRelativeResize="0"/>
          <p:nvPr/>
        </p:nvPicPr>
        <p:blipFill rotWithShape="1">
          <a:blip r:embed="rId3">
            <a:alphaModFix/>
          </a:blip>
          <a:srcRect b="0" l="0" r="0" t="0"/>
          <a:stretch/>
        </p:blipFill>
        <p:spPr>
          <a:xfrm>
            <a:off x="10423001" y="133437"/>
            <a:ext cx="1611264" cy="463376"/>
          </a:xfrm>
          <a:custGeom>
            <a:rect b="b" l="l" r="r" t="t"/>
            <a:pathLst>
              <a:path extrusionOk="0" fill="none" h="463376" w="1611264">
                <a:moveTo>
                  <a:pt x="0" y="0"/>
                </a:moveTo>
                <a:cubicBezTo>
                  <a:pt x="124880" y="-4825"/>
                  <a:pt x="255052" y="18735"/>
                  <a:pt x="504863" y="0"/>
                </a:cubicBezTo>
                <a:cubicBezTo>
                  <a:pt x="754674" y="-18735"/>
                  <a:pt x="864140" y="35260"/>
                  <a:pt x="1009725" y="0"/>
                </a:cubicBezTo>
                <a:cubicBezTo>
                  <a:pt x="1155310" y="-35260"/>
                  <a:pt x="1330447" y="57283"/>
                  <a:pt x="1611264" y="0"/>
                </a:cubicBezTo>
                <a:cubicBezTo>
                  <a:pt x="1622303" y="108444"/>
                  <a:pt x="1575953" y="327440"/>
                  <a:pt x="1611264" y="463376"/>
                </a:cubicBezTo>
                <a:cubicBezTo>
                  <a:pt x="1404313" y="518831"/>
                  <a:pt x="1293297" y="431466"/>
                  <a:pt x="1090289" y="463376"/>
                </a:cubicBezTo>
                <a:cubicBezTo>
                  <a:pt x="887281" y="495286"/>
                  <a:pt x="696714" y="423793"/>
                  <a:pt x="520975" y="463376"/>
                </a:cubicBezTo>
                <a:cubicBezTo>
                  <a:pt x="345236" y="502959"/>
                  <a:pt x="177054" y="448912"/>
                  <a:pt x="0" y="463376"/>
                </a:cubicBezTo>
                <a:cubicBezTo>
                  <a:pt x="-17984" y="275307"/>
                  <a:pt x="44481" y="138826"/>
                  <a:pt x="0" y="0"/>
                </a:cubicBezTo>
                <a:close/>
              </a:path>
              <a:path extrusionOk="0" h="463376" w="1611264">
                <a:moveTo>
                  <a:pt x="0" y="0"/>
                </a:moveTo>
                <a:cubicBezTo>
                  <a:pt x="223226" y="-1358"/>
                  <a:pt x="339035" y="67745"/>
                  <a:pt x="569313" y="0"/>
                </a:cubicBezTo>
                <a:cubicBezTo>
                  <a:pt x="799591" y="-67745"/>
                  <a:pt x="990235" y="3431"/>
                  <a:pt x="1106401" y="0"/>
                </a:cubicBezTo>
                <a:cubicBezTo>
                  <a:pt x="1222567" y="-3431"/>
                  <a:pt x="1488541" y="4672"/>
                  <a:pt x="1611264" y="0"/>
                </a:cubicBezTo>
                <a:cubicBezTo>
                  <a:pt x="1627954" y="127862"/>
                  <a:pt x="1574745" y="247044"/>
                  <a:pt x="1611264" y="463376"/>
                </a:cubicBezTo>
                <a:cubicBezTo>
                  <a:pt x="1436768" y="477149"/>
                  <a:pt x="1340396" y="408017"/>
                  <a:pt x="1074176" y="463376"/>
                </a:cubicBezTo>
                <a:cubicBezTo>
                  <a:pt x="807956" y="518735"/>
                  <a:pt x="707838" y="456230"/>
                  <a:pt x="553201" y="463376"/>
                </a:cubicBezTo>
                <a:cubicBezTo>
                  <a:pt x="398564" y="470522"/>
                  <a:pt x="270333" y="416090"/>
                  <a:pt x="0" y="463376"/>
                </a:cubicBezTo>
                <a:cubicBezTo>
                  <a:pt x="-54951" y="349910"/>
                  <a:pt x="28269" y="123897"/>
                  <a:pt x="0" y="0"/>
                </a:cubicBezTo>
                <a:close/>
              </a:path>
            </a:pathLst>
          </a:custGeom>
          <a:noFill/>
          <a:ln cap="sq" cmpd="thickThin" w="28575">
            <a:solidFill>
              <a:srgbClr val="000000"/>
            </a:solidFill>
            <a:prstDash val="solid"/>
            <a:miter lim="800000"/>
            <a:headEnd len="sm" w="sm" type="none"/>
            <a:tailEnd len="sm" w="sm" type="none"/>
          </a:ln>
        </p:spPr>
      </p:pic>
      <p:sp>
        <p:nvSpPr>
          <p:cNvPr id="127" name="Google Shape;127;p5"/>
          <p:cNvSpPr txBox="1"/>
          <p:nvPr/>
        </p:nvSpPr>
        <p:spPr>
          <a:xfrm>
            <a:off x="3345503" y="3198486"/>
            <a:ext cx="4491748" cy="1985118"/>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def </a:t>
            </a:r>
            <a:r>
              <a:rPr b="0" i="1" lang="en-US" sz="1800" u="none" cap="none" strike="noStrike">
                <a:solidFill>
                  <a:schemeClr val="dk1"/>
                </a:solidFill>
                <a:latin typeface="Arial"/>
                <a:ea typeface="Arial"/>
                <a:cs typeface="Arial"/>
                <a:sym typeface="Arial"/>
              </a:rPr>
              <a:t>functionname </a:t>
            </a:r>
            <a:r>
              <a:rPr b="0" i="0" lang="en-US" sz="1800" u="none" cap="none" strike="noStrike">
                <a:solidFill>
                  <a:schemeClr val="dk1"/>
                </a:solidFill>
                <a:latin typeface="Arial"/>
                <a:ea typeface="Arial"/>
                <a:cs typeface="Arial"/>
                <a:sym typeface="Arial"/>
              </a:rPr>
              <a:t>( parameters ):</a:t>
            </a:r>
            <a:endParaRPr b="0" i="0" sz="1400" u="none" cap="none" strike="noStrike">
              <a:solidFill>
                <a:srgbClr val="000000"/>
              </a:solidFill>
              <a:latin typeface="Arial"/>
              <a:ea typeface="Arial"/>
              <a:cs typeface="Arial"/>
              <a:sym typeface="Arial"/>
            </a:endParaRPr>
          </a:p>
          <a:p>
            <a:pPr indent="0" lvl="0" marL="739775"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"function_docstring"</a:t>
            </a:r>
            <a:endParaRPr b="0" i="0" sz="1400" u="none" cap="none" strike="noStrike">
              <a:solidFill>
                <a:srgbClr val="000000"/>
              </a:solidFill>
              <a:latin typeface="Arial"/>
              <a:ea typeface="Arial"/>
              <a:cs typeface="Arial"/>
              <a:sym typeface="Arial"/>
            </a:endParaRPr>
          </a:p>
          <a:p>
            <a:pPr indent="0" lvl="0" marL="739775"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function_suite</a:t>
            </a:r>
            <a:endParaRPr b="0" i="0" sz="1800" u="none" cap="none" strike="noStrike">
              <a:solidFill>
                <a:schemeClr val="dk1"/>
              </a:solidFill>
              <a:latin typeface="Arial"/>
              <a:ea typeface="Arial"/>
              <a:cs typeface="Arial"/>
              <a:sym typeface="Arial"/>
            </a:endParaRPr>
          </a:p>
          <a:p>
            <a:pPr indent="0" lvl="0" marL="739775"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return [expression]</a:t>
            </a:r>
            <a:endParaRPr b="0" i="0" sz="1400" u="none" cap="none" strike="noStrike">
              <a:solidFill>
                <a:srgbClr val="000000"/>
              </a:solidFill>
              <a:latin typeface="Arial"/>
              <a:ea typeface="Arial"/>
              <a:cs typeface="Arial"/>
              <a:sym typeface="Arial"/>
            </a:endParaRPr>
          </a:p>
        </p:txBody>
      </p:sp>
      <p:grpSp>
        <p:nvGrpSpPr>
          <p:cNvPr id="128" name="Google Shape;128;p5"/>
          <p:cNvGrpSpPr/>
          <p:nvPr/>
        </p:nvGrpSpPr>
        <p:grpSpPr>
          <a:xfrm>
            <a:off x="586091" y="1839479"/>
            <a:ext cx="5221322" cy="1468054"/>
            <a:chOff x="586091" y="1839479"/>
            <a:chExt cx="5221322" cy="1468054"/>
          </a:xfrm>
        </p:grpSpPr>
        <p:sp>
          <p:nvSpPr>
            <p:cNvPr id="129" name="Google Shape;129;p5"/>
            <p:cNvSpPr txBox="1"/>
            <p:nvPr/>
          </p:nvSpPr>
          <p:spPr>
            <a:xfrm>
              <a:off x="586091" y="1839479"/>
              <a:ext cx="5221322" cy="3385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Function blocks begin with the keyword </a:t>
              </a:r>
              <a:r>
                <a:rPr b="1" i="0" lang="en-US" sz="1600" u="none" cap="none" strike="noStrike">
                  <a:solidFill>
                    <a:schemeClr val="dk1"/>
                  </a:solidFill>
                  <a:latin typeface="Century Gothic"/>
                  <a:ea typeface="Century Gothic"/>
                  <a:cs typeface="Century Gothic"/>
                  <a:sym typeface="Century Gothic"/>
                </a:rPr>
                <a:t>def</a:t>
              </a:r>
              <a:endParaRPr b="0" i="0" sz="1400" u="none" cap="none" strike="noStrike">
                <a:solidFill>
                  <a:srgbClr val="000000"/>
                </a:solidFill>
                <a:latin typeface="Arial"/>
                <a:ea typeface="Arial"/>
                <a:cs typeface="Arial"/>
                <a:sym typeface="Arial"/>
              </a:endParaRPr>
            </a:p>
          </p:txBody>
        </p:sp>
        <p:cxnSp>
          <p:nvCxnSpPr>
            <p:cNvPr id="130" name="Google Shape;130;p5"/>
            <p:cNvCxnSpPr>
              <a:stCxn id="129" idx="2"/>
            </p:cNvCxnSpPr>
            <p:nvPr/>
          </p:nvCxnSpPr>
          <p:spPr>
            <a:xfrm>
              <a:off x="3196752" y="2178033"/>
              <a:ext cx="402600" cy="1129500"/>
            </a:xfrm>
            <a:prstGeom prst="straightConnector1">
              <a:avLst/>
            </a:prstGeom>
            <a:noFill/>
            <a:ln cap="flat" cmpd="sng" w="9525">
              <a:solidFill>
                <a:schemeClr val="accent1"/>
              </a:solidFill>
              <a:prstDash val="solid"/>
              <a:miter lim="800000"/>
              <a:headEnd len="sm" w="sm" type="none"/>
              <a:tailEnd len="med" w="med" type="triangle"/>
            </a:ln>
          </p:spPr>
        </p:cxnSp>
      </p:grpSp>
      <p:grpSp>
        <p:nvGrpSpPr>
          <p:cNvPr id="131" name="Google Shape;131;p5"/>
          <p:cNvGrpSpPr/>
          <p:nvPr/>
        </p:nvGrpSpPr>
        <p:grpSpPr>
          <a:xfrm>
            <a:off x="5009640" y="1839479"/>
            <a:ext cx="2641774" cy="1467975"/>
            <a:chOff x="5009640" y="1839479"/>
            <a:chExt cx="2641774" cy="1467975"/>
          </a:xfrm>
        </p:grpSpPr>
        <p:sp>
          <p:nvSpPr>
            <p:cNvPr id="132" name="Google Shape;132;p5"/>
            <p:cNvSpPr txBox="1"/>
            <p:nvPr/>
          </p:nvSpPr>
          <p:spPr>
            <a:xfrm>
              <a:off x="6177266" y="1839479"/>
              <a:ext cx="1474147" cy="58477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Function name</a:t>
              </a:r>
              <a:endParaRPr b="1" i="0" sz="1600" u="none" cap="none" strike="noStrike">
                <a:solidFill>
                  <a:schemeClr val="dk1"/>
                </a:solidFill>
                <a:latin typeface="Century Gothic"/>
                <a:ea typeface="Century Gothic"/>
                <a:cs typeface="Century Gothic"/>
                <a:sym typeface="Century Gothic"/>
              </a:endParaRPr>
            </a:p>
          </p:txBody>
        </p:sp>
        <p:cxnSp>
          <p:nvCxnSpPr>
            <p:cNvPr id="133" name="Google Shape;133;p5"/>
            <p:cNvCxnSpPr>
              <a:stCxn id="132" idx="2"/>
            </p:cNvCxnSpPr>
            <p:nvPr/>
          </p:nvCxnSpPr>
          <p:spPr>
            <a:xfrm flipH="1">
              <a:off x="5009640" y="2424254"/>
              <a:ext cx="1904700" cy="883200"/>
            </a:xfrm>
            <a:prstGeom prst="straightConnector1">
              <a:avLst/>
            </a:prstGeom>
            <a:noFill/>
            <a:ln cap="flat" cmpd="sng" w="9525">
              <a:solidFill>
                <a:schemeClr val="accent1"/>
              </a:solidFill>
              <a:prstDash val="solid"/>
              <a:miter lim="800000"/>
              <a:headEnd len="sm" w="sm" type="none"/>
              <a:tailEnd len="med" w="med" type="triangle"/>
            </a:ln>
          </p:spPr>
        </p:cxnSp>
      </p:grpSp>
      <p:grpSp>
        <p:nvGrpSpPr>
          <p:cNvPr id="134" name="Google Shape;134;p5"/>
          <p:cNvGrpSpPr/>
          <p:nvPr/>
        </p:nvGrpSpPr>
        <p:grpSpPr>
          <a:xfrm>
            <a:off x="6503099" y="1978029"/>
            <a:ext cx="5263141" cy="1325862"/>
            <a:chOff x="6503099" y="1978029"/>
            <a:chExt cx="5263141" cy="1325862"/>
          </a:xfrm>
        </p:grpSpPr>
        <p:sp>
          <p:nvSpPr>
            <p:cNvPr id="135" name="Google Shape;135;p5"/>
            <p:cNvSpPr txBox="1"/>
            <p:nvPr/>
          </p:nvSpPr>
          <p:spPr>
            <a:xfrm>
              <a:off x="8125849" y="1978029"/>
              <a:ext cx="3640391" cy="58477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Passing inputs / parameters (Any input parameters) to the function</a:t>
              </a:r>
              <a:endParaRPr b="0" i="0" sz="1400" u="none" cap="none" strike="noStrike">
                <a:solidFill>
                  <a:srgbClr val="000000"/>
                </a:solidFill>
                <a:latin typeface="Arial"/>
                <a:ea typeface="Arial"/>
                <a:cs typeface="Arial"/>
                <a:sym typeface="Arial"/>
              </a:endParaRPr>
            </a:p>
          </p:txBody>
        </p:sp>
        <p:cxnSp>
          <p:nvCxnSpPr>
            <p:cNvPr id="136" name="Google Shape;136;p5"/>
            <p:cNvCxnSpPr/>
            <p:nvPr/>
          </p:nvCxnSpPr>
          <p:spPr>
            <a:xfrm flipH="1">
              <a:off x="6503099" y="2492091"/>
              <a:ext cx="1608900" cy="811800"/>
            </a:xfrm>
            <a:prstGeom prst="straightConnector1">
              <a:avLst/>
            </a:prstGeom>
            <a:noFill/>
            <a:ln cap="flat" cmpd="sng" w="9525">
              <a:solidFill>
                <a:schemeClr val="accent1"/>
              </a:solidFill>
              <a:prstDash val="solid"/>
              <a:miter lim="800000"/>
              <a:headEnd len="sm" w="sm" type="none"/>
              <a:tailEnd len="med" w="med" type="triangle"/>
            </a:ln>
          </p:spPr>
        </p:cxnSp>
      </p:grpSp>
      <p:grpSp>
        <p:nvGrpSpPr>
          <p:cNvPr id="137" name="Google Shape;137;p5"/>
          <p:cNvGrpSpPr/>
          <p:nvPr/>
        </p:nvGrpSpPr>
        <p:grpSpPr>
          <a:xfrm>
            <a:off x="6878734" y="3183284"/>
            <a:ext cx="4178821" cy="830997"/>
            <a:chOff x="6878734" y="3183284"/>
            <a:chExt cx="4178821" cy="830997"/>
          </a:xfrm>
        </p:grpSpPr>
        <p:sp>
          <p:nvSpPr>
            <p:cNvPr id="138" name="Google Shape;138;p5"/>
            <p:cNvSpPr txBox="1"/>
            <p:nvPr/>
          </p:nvSpPr>
          <p:spPr>
            <a:xfrm>
              <a:off x="8125883" y="3183284"/>
              <a:ext cx="2931672" cy="830997"/>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The code block within every function starts with a colon (:)</a:t>
              </a:r>
              <a:endParaRPr b="0" i="0" sz="1400" u="none" cap="none" strike="noStrike">
                <a:solidFill>
                  <a:srgbClr val="000000"/>
                </a:solidFill>
                <a:latin typeface="Arial"/>
                <a:ea typeface="Arial"/>
                <a:cs typeface="Arial"/>
                <a:sym typeface="Arial"/>
              </a:endParaRPr>
            </a:p>
          </p:txBody>
        </p:sp>
        <p:cxnSp>
          <p:nvCxnSpPr>
            <p:cNvPr id="139" name="Google Shape;139;p5"/>
            <p:cNvCxnSpPr/>
            <p:nvPr/>
          </p:nvCxnSpPr>
          <p:spPr>
            <a:xfrm rot="10800000">
              <a:off x="6878734" y="3501882"/>
              <a:ext cx="1233300" cy="96900"/>
            </a:xfrm>
            <a:prstGeom prst="straightConnector1">
              <a:avLst/>
            </a:prstGeom>
            <a:noFill/>
            <a:ln cap="flat" cmpd="sng" w="9525">
              <a:solidFill>
                <a:schemeClr val="accent1"/>
              </a:solidFill>
              <a:prstDash val="solid"/>
              <a:miter lim="800000"/>
              <a:headEnd len="sm" w="sm" type="none"/>
              <a:tailEnd len="med" w="med" type="triangle"/>
            </a:ln>
          </p:spPr>
        </p:cxnSp>
      </p:grpSp>
      <p:grpSp>
        <p:nvGrpSpPr>
          <p:cNvPr id="140" name="Google Shape;140;p5"/>
          <p:cNvGrpSpPr/>
          <p:nvPr/>
        </p:nvGrpSpPr>
        <p:grpSpPr>
          <a:xfrm>
            <a:off x="169846" y="4425960"/>
            <a:ext cx="3808836" cy="1420575"/>
            <a:chOff x="169846" y="4425960"/>
            <a:chExt cx="3808836" cy="1420575"/>
          </a:xfrm>
        </p:grpSpPr>
        <p:sp>
          <p:nvSpPr>
            <p:cNvPr id="141" name="Google Shape;141;p5"/>
            <p:cNvSpPr txBox="1"/>
            <p:nvPr/>
          </p:nvSpPr>
          <p:spPr>
            <a:xfrm>
              <a:off x="169846" y="5261760"/>
              <a:ext cx="2931672" cy="58477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The code block inside function must be </a:t>
              </a:r>
              <a:r>
                <a:rPr b="1" i="0" lang="en-US" sz="1600" u="none" cap="none" strike="noStrike">
                  <a:solidFill>
                    <a:schemeClr val="dk1"/>
                  </a:solidFill>
                  <a:latin typeface="Century Gothic"/>
                  <a:ea typeface="Century Gothic"/>
                  <a:cs typeface="Century Gothic"/>
                  <a:sym typeface="Century Gothic"/>
                </a:rPr>
                <a:t>indented</a:t>
              </a:r>
              <a:endParaRPr b="0" i="0" sz="1400" u="none" cap="none" strike="noStrike">
                <a:solidFill>
                  <a:srgbClr val="000000"/>
                </a:solidFill>
                <a:latin typeface="Arial"/>
                <a:ea typeface="Arial"/>
                <a:cs typeface="Arial"/>
                <a:sym typeface="Arial"/>
              </a:endParaRPr>
            </a:p>
          </p:txBody>
        </p:sp>
        <p:cxnSp>
          <p:nvCxnSpPr>
            <p:cNvPr id="142" name="Google Shape;142;p5"/>
            <p:cNvCxnSpPr>
              <a:stCxn id="141" idx="0"/>
            </p:cNvCxnSpPr>
            <p:nvPr/>
          </p:nvCxnSpPr>
          <p:spPr>
            <a:xfrm flipH="1" rot="10800000">
              <a:off x="1635682" y="4425960"/>
              <a:ext cx="2343000" cy="835800"/>
            </a:xfrm>
            <a:prstGeom prst="straightConnector1">
              <a:avLst/>
            </a:prstGeom>
            <a:noFill/>
            <a:ln cap="flat" cmpd="sng" w="9525">
              <a:solidFill>
                <a:schemeClr val="accent1"/>
              </a:solidFill>
              <a:prstDash val="solid"/>
              <a:miter lim="800000"/>
              <a:headEnd len="sm" w="sm" type="none"/>
              <a:tailEnd len="med" w="med" type="triangle"/>
            </a:ln>
          </p:spPr>
        </p:cxnSp>
      </p:grpSp>
      <p:grpSp>
        <p:nvGrpSpPr>
          <p:cNvPr id="143" name="Google Shape;143;p5"/>
          <p:cNvGrpSpPr/>
          <p:nvPr/>
        </p:nvGrpSpPr>
        <p:grpSpPr>
          <a:xfrm>
            <a:off x="5448503" y="5080303"/>
            <a:ext cx="2388748" cy="1493097"/>
            <a:chOff x="5448503" y="5080303"/>
            <a:chExt cx="2388748" cy="1493097"/>
          </a:xfrm>
        </p:grpSpPr>
        <p:sp>
          <p:nvSpPr>
            <p:cNvPr id="144" name="Google Shape;144;p5"/>
            <p:cNvSpPr txBox="1"/>
            <p:nvPr/>
          </p:nvSpPr>
          <p:spPr>
            <a:xfrm>
              <a:off x="5448503" y="5742403"/>
              <a:ext cx="2388748" cy="830997"/>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Returning value from function when it ends [Optional]</a:t>
              </a:r>
              <a:endParaRPr b="0" i="0" sz="1400" u="none" cap="none" strike="noStrike">
                <a:solidFill>
                  <a:srgbClr val="000000"/>
                </a:solidFill>
                <a:latin typeface="Arial"/>
                <a:ea typeface="Arial"/>
                <a:cs typeface="Arial"/>
                <a:sym typeface="Arial"/>
              </a:endParaRPr>
            </a:p>
          </p:txBody>
        </p:sp>
        <p:cxnSp>
          <p:nvCxnSpPr>
            <p:cNvPr id="145" name="Google Shape;145;p5"/>
            <p:cNvCxnSpPr/>
            <p:nvPr/>
          </p:nvCxnSpPr>
          <p:spPr>
            <a:xfrm rot="10800000">
              <a:off x="6095977" y="5080303"/>
              <a:ext cx="546900" cy="662100"/>
            </a:xfrm>
            <a:prstGeom prst="straightConnector1">
              <a:avLst/>
            </a:prstGeom>
            <a:noFill/>
            <a:ln cap="flat" cmpd="sng" w="9525">
              <a:solidFill>
                <a:schemeClr val="accent1"/>
              </a:solidFill>
              <a:prstDash val="solid"/>
              <a:miter lim="800000"/>
              <a:headEnd len="sm" w="sm" type="none"/>
              <a:tailEnd len="med" w="med" type="triangle"/>
            </a:ln>
          </p:spPr>
        </p:cxnSp>
      </p:grpSp>
      <p:grpSp>
        <p:nvGrpSpPr>
          <p:cNvPr id="146" name="Google Shape;146;p5"/>
          <p:cNvGrpSpPr/>
          <p:nvPr/>
        </p:nvGrpSpPr>
        <p:grpSpPr>
          <a:xfrm>
            <a:off x="6484744" y="4074713"/>
            <a:ext cx="5137178" cy="1039087"/>
            <a:chOff x="6484744" y="4074713"/>
            <a:chExt cx="5137178" cy="1039087"/>
          </a:xfrm>
        </p:grpSpPr>
        <p:sp>
          <p:nvSpPr>
            <p:cNvPr id="147" name="Google Shape;147;p5"/>
            <p:cNvSpPr txBox="1"/>
            <p:nvPr/>
          </p:nvSpPr>
          <p:spPr>
            <a:xfrm>
              <a:off x="8392795" y="4529025"/>
              <a:ext cx="3229127" cy="58477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[Optional] the documentation string of the function</a:t>
              </a:r>
              <a:endParaRPr b="0" i="0" sz="1400" u="none" cap="none" strike="noStrike">
                <a:solidFill>
                  <a:srgbClr val="000000"/>
                </a:solidFill>
                <a:latin typeface="Arial"/>
                <a:ea typeface="Arial"/>
                <a:cs typeface="Arial"/>
                <a:sym typeface="Arial"/>
              </a:endParaRPr>
            </a:p>
          </p:txBody>
        </p:sp>
        <p:cxnSp>
          <p:nvCxnSpPr>
            <p:cNvPr id="148" name="Google Shape;148;p5"/>
            <p:cNvCxnSpPr/>
            <p:nvPr/>
          </p:nvCxnSpPr>
          <p:spPr>
            <a:xfrm rot="10800000">
              <a:off x="6484744" y="4074713"/>
              <a:ext cx="1894200" cy="746700"/>
            </a:xfrm>
            <a:prstGeom prst="straightConnector1">
              <a:avLst/>
            </a:prstGeom>
            <a:noFill/>
            <a:ln cap="flat" cmpd="sng" w="9525">
              <a:solidFill>
                <a:schemeClr val="accent1"/>
              </a:solidFill>
              <a:prstDash val="solid"/>
              <a:miter lim="800000"/>
              <a:headEnd len="sm" w="sm"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Function - Example</a:t>
            </a:r>
            <a:endParaRPr/>
          </a:p>
        </p:txBody>
      </p:sp>
      <p:pic>
        <p:nvPicPr>
          <p:cNvPr descr="Logo&#10;&#10;Description automatically generated" id="154" name="Google Shape;154;p6"/>
          <p:cNvPicPr preferRelativeResize="0"/>
          <p:nvPr/>
        </p:nvPicPr>
        <p:blipFill rotWithShape="1">
          <a:blip r:embed="rId3">
            <a:alphaModFix/>
          </a:blip>
          <a:srcRect b="0" l="0" r="0" t="0"/>
          <a:stretch/>
        </p:blipFill>
        <p:spPr>
          <a:xfrm>
            <a:off x="10423001" y="133437"/>
            <a:ext cx="1611264" cy="463376"/>
          </a:xfrm>
          <a:custGeom>
            <a:rect b="b" l="l" r="r" t="t"/>
            <a:pathLst>
              <a:path extrusionOk="0" fill="none" h="463376" w="1611264">
                <a:moveTo>
                  <a:pt x="0" y="0"/>
                </a:moveTo>
                <a:cubicBezTo>
                  <a:pt x="124880" y="-4825"/>
                  <a:pt x="255052" y="18735"/>
                  <a:pt x="504863" y="0"/>
                </a:cubicBezTo>
                <a:cubicBezTo>
                  <a:pt x="754674" y="-18735"/>
                  <a:pt x="864140" y="35260"/>
                  <a:pt x="1009725" y="0"/>
                </a:cubicBezTo>
                <a:cubicBezTo>
                  <a:pt x="1155310" y="-35260"/>
                  <a:pt x="1330447" y="57283"/>
                  <a:pt x="1611264" y="0"/>
                </a:cubicBezTo>
                <a:cubicBezTo>
                  <a:pt x="1622303" y="108444"/>
                  <a:pt x="1575953" y="327440"/>
                  <a:pt x="1611264" y="463376"/>
                </a:cubicBezTo>
                <a:cubicBezTo>
                  <a:pt x="1404313" y="518831"/>
                  <a:pt x="1293297" y="431466"/>
                  <a:pt x="1090289" y="463376"/>
                </a:cubicBezTo>
                <a:cubicBezTo>
                  <a:pt x="887281" y="495286"/>
                  <a:pt x="696714" y="423793"/>
                  <a:pt x="520975" y="463376"/>
                </a:cubicBezTo>
                <a:cubicBezTo>
                  <a:pt x="345236" y="502959"/>
                  <a:pt x="177054" y="448912"/>
                  <a:pt x="0" y="463376"/>
                </a:cubicBezTo>
                <a:cubicBezTo>
                  <a:pt x="-17984" y="275307"/>
                  <a:pt x="44481" y="138826"/>
                  <a:pt x="0" y="0"/>
                </a:cubicBezTo>
                <a:close/>
              </a:path>
              <a:path extrusionOk="0" h="463376" w="1611264">
                <a:moveTo>
                  <a:pt x="0" y="0"/>
                </a:moveTo>
                <a:cubicBezTo>
                  <a:pt x="223226" y="-1358"/>
                  <a:pt x="339035" y="67745"/>
                  <a:pt x="569313" y="0"/>
                </a:cubicBezTo>
                <a:cubicBezTo>
                  <a:pt x="799591" y="-67745"/>
                  <a:pt x="990235" y="3431"/>
                  <a:pt x="1106401" y="0"/>
                </a:cubicBezTo>
                <a:cubicBezTo>
                  <a:pt x="1222567" y="-3431"/>
                  <a:pt x="1488541" y="4672"/>
                  <a:pt x="1611264" y="0"/>
                </a:cubicBezTo>
                <a:cubicBezTo>
                  <a:pt x="1627954" y="127862"/>
                  <a:pt x="1574745" y="247044"/>
                  <a:pt x="1611264" y="463376"/>
                </a:cubicBezTo>
                <a:cubicBezTo>
                  <a:pt x="1436768" y="477149"/>
                  <a:pt x="1340396" y="408017"/>
                  <a:pt x="1074176" y="463376"/>
                </a:cubicBezTo>
                <a:cubicBezTo>
                  <a:pt x="807956" y="518735"/>
                  <a:pt x="707838" y="456230"/>
                  <a:pt x="553201" y="463376"/>
                </a:cubicBezTo>
                <a:cubicBezTo>
                  <a:pt x="398564" y="470522"/>
                  <a:pt x="270333" y="416090"/>
                  <a:pt x="0" y="463376"/>
                </a:cubicBezTo>
                <a:cubicBezTo>
                  <a:pt x="-54951" y="349910"/>
                  <a:pt x="28269" y="123897"/>
                  <a:pt x="0" y="0"/>
                </a:cubicBezTo>
                <a:close/>
              </a:path>
            </a:pathLst>
          </a:custGeom>
          <a:noFill/>
          <a:ln cap="sq" cmpd="thickThin" w="28575">
            <a:solidFill>
              <a:srgbClr val="000000"/>
            </a:solidFill>
            <a:prstDash val="solid"/>
            <a:miter lim="800000"/>
            <a:headEnd len="sm" w="sm" type="none"/>
            <a:tailEnd len="sm" w="sm" type="none"/>
          </a:ln>
        </p:spPr>
      </p:pic>
      <p:sp>
        <p:nvSpPr>
          <p:cNvPr id="155" name="Google Shape;155;p6"/>
          <p:cNvSpPr txBox="1"/>
          <p:nvPr/>
        </p:nvSpPr>
        <p:spPr>
          <a:xfrm>
            <a:off x="157735" y="1655312"/>
            <a:ext cx="4491748" cy="1937133"/>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FF0000"/>
                </a:solidFill>
                <a:latin typeface="Arial"/>
                <a:ea typeface="Arial"/>
                <a:cs typeface="Arial"/>
                <a:sym typeface="Arial"/>
              </a:rPr>
              <a:t>def</a:t>
            </a:r>
            <a:r>
              <a:rPr b="0" i="0" lang="en-US" sz="1800" u="none" cap="none" strike="noStrike">
                <a:solidFill>
                  <a:schemeClr val="dk1"/>
                </a:solidFill>
                <a:latin typeface="Arial"/>
                <a:ea typeface="Arial"/>
                <a:cs typeface="Arial"/>
                <a:sym typeface="Arial"/>
              </a:rPr>
              <a:t> </a:t>
            </a:r>
            <a:r>
              <a:rPr b="0" i="1" lang="en-US" sz="1800" u="none" cap="none" strike="noStrike">
                <a:solidFill>
                  <a:srgbClr val="056AB9"/>
                </a:solidFill>
                <a:latin typeface="Arial"/>
                <a:ea typeface="Arial"/>
                <a:cs typeface="Arial"/>
                <a:sym typeface="Arial"/>
              </a:rPr>
              <a:t>functionname</a:t>
            </a:r>
            <a:r>
              <a:rPr b="0" i="1" lang="en-US" sz="1800" u="none" cap="none" strike="noStrike">
                <a:solidFill>
                  <a:schemeClr val="dk1"/>
                </a:solidFill>
                <a:latin typeface="Arial"/>
                <a:ea typeface="Arial"/>
                <a:cs typeface="Arial"/>
                <a:sym typeface="Arial"/>
              </a:rPr>
              <a:t> </a:t>
            </a:r>
            <a:r>
              <a:rPr b="0" i="0" lang="en-US" sz="1800" u="none" cap="none" strike="noStrike">
                <a:solidFill>
                  <a:schemeClr val="dk1"/>
                </a:solidFill>
                <a:latin typeface="Arial"/>
                <a:ea typeface="Arial"/>
                <a:cs typeface="Arial"/>
                <a:sym typeface="Arial"/>
              </a:rPr>
              <a:t>( </a:t>
            </a:r>
            <a:r>
              <a:rPr b="0" i="0" lang="en-US" sz="1800" u="none" cap="none" strike="noStrike">
                <a:solidFill>
                  <a:srgbClr val="9F1124"/>
                </a:solidFill>
                <a:latin typeface="Arial"/>
                <a:ea typeface="Arial"/>
                <a:cs typeface="Arial"/>
                <a:sym typeface="Arial"/>
              </a:rPr>
              <a:t>parameters</a:t>
            </a:r>
            <a:r>
              <a:rPr b="0" i="0" lang="en-US" sz="18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739775"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"function_docstring"</a:t>
            </a:r>
            <a:endParaRPr b="0" i="0" sz="1400" u="none" cap="none" strike="noStrike">
              <a:solidFill>
                <a:srgbClr val="000000"/>
              </a:solidFill>
              <a:latin typeface="Arial"/>
              <a:ea typeface="Arial"/>
              <a:cs typeface="Arial"/>
              <a:sym typeface="Arial"/>
            </a:endParaRPr>
          </a:p>
          <a:p>
            <a:pPr indent="0" lvl="0" marL="739775"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function_suite</a:t>
            </a:r>
            <a:endParaRPr b="0" i="0" sz="1800" u="none" cap="none" strike="noStrike">
              <a:solidFill>
                <a:schemeClr val="dk1"/>
              </a:solidFill>
              <a:latin typeface="Arial"/>
              <a:ea typeface="Arial"/>
              <a:cs typeface="Arial"/>
              <a:sym typeface="Arial"/>
            </a:endParaRPr>
          </a:p>
          <a:p>
            <a:pPr indent="0" lvl="0" marL="739775"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return [expression]</a:t>
            </a:r>
            <a:endParaRPr b="0" i="0" sz="1400" u="none" cap="none" strike="noStrike">
              <a:solidFill>
                <a:srgbClr val="000000"/>
              </a:solidFill>
              <a:latin typeface="Arial"/>
              <a:ea typeface="Arial"/>
              <a:cs typeface="Arial"/>
              <a:sym typeface="Arial"/>
            </a:endParaRPr>
          </a:p>
        </p:txBody>
      </p:sp>
      <p:sp>
        <p:nvSpPr>
          <p:cNvPr id="156" name="Google Shape;156;p6"/>
          <p:cNvSpPr txBox="1"/>
          <p:nvPr/>
        </p:nvSpPr>
        <p:spPr>
          <a:xfrm>
            <a:off x="3608962" y="3798397"/>
            <a:ext cx="8083686" cy="2922018"/>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FF0000"/>
                </a:solidFill>
                <a:latin typeface="Arial"/>
                <a:ea typeface="Arial"/>
                <a:cs typeface="Arial"/>
                <a:sym typeface="Arial"/>
              </a:rPr>
              <a:t>def</a:t>
            </a:r>
            <a:r>
              <a:rPr b="0" i="0" lang="en-US" sz="1800" u="none" cap="none" strike="noStrike">
                <a:solidFill>
                  <a:schemeClr val="dk1"/>
                </a:solidFill>
                <a:latin typeface="Arial"/>
                <a:ea typeface="Arial"/>
                <a:cs typeface="Arial"/>
                <a:sym typeface="Arial"/>
              </a:rPr>
              <a:t> </a:t>
            </a:r>
            <a:r>
              <a:rPr b="0" i="0" lang="en-US" sz="1800" u="none" cap="none" strike="noStrike">
                <a:solidFill>
                  <a:srgbClr val="056AB9"/>
                </a:solidFill>
                <a:latin typeface="Arial"/>
                <a:ea typeface="Arial"/>
                <a:cs typeface="Arial"/>
                <a:sym typeface="Arial"/>
              </a:rPr>
              <a:t>addition</a:t>
            </a:r>
            <a:r>
              <a:rPr b="0" i="0" lang="en-US" sz="1800" u="none" cap="none" strike="noStrike">
                <a:solidFill>
                  <a:schemeClr val="dk1"/>
                </a:solidFill>
                <a:latin typeface="Arial"/>
                <a:ea typeface="Arial"/>
                <a:cs typeface="Arial"/>
                <a:sym typeface="Arial"/>
              </a:rPr>
              <a:t>(</a:t>
            </a:r>
            <a:r>
              <a:rPr b="0" i="0" lang="en-US" sz="1800" u="none" cap="none" strike="noStrike">
                <a:solidFill>
                  <a:srgbClr val="9F1124"/>
                </a:solidFill>
                <a:latin typeface="Arial"/>
                <a:ea typeface="Arial"/>
                <a:cs typeface="Arial"/>
                <a:sym typeface="Arial"/>
              </a:rPr>
              <a:t>num1, num2</a:t>
            </a:r>
            <a:r>
              <a:rPr b="0" i="0" lang="en-US" sz="1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    "This function adds two numbers and returns the value"</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    num1 = int(num1)</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    num2 = int(num2)</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    result = num1 + num2</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    return result</a:t>
            </a:r>
            <a:endParaRPr b="0" i="0" sz="1400" u="none" cap="none" strike="noStrike">
              <a:solidFill>
                <a:srgbClr val="000000"/>
              </a:solidFill>
              <a:latin typeface="Arial"/>
              <a:ea typeface="Arial"/>
              <a:cs typeface="Arial"/>
              <a:sym typeface="Arial"/>
            </a:endParaRPr>
          </a:p>
        </p:txBody>
      </p:sp>
      <p:cxnSp>
        <p:nvCxnSpPr>
          <p:cNvPr id="157" name="Google Shape;157;p6"/>
          <p:cNvCxnSpPr/>
          <p:nvPr/>
        </p:nvCxnSpPr>
        <p:spPr>
          <a:xfrm>
            <a:off x="3774332" y="2451370"/>
            <a:ext cx="4367700" cy="1916400"/>
          </a:xfrm>
          <a:prstGeom prst="bentConnector3">
            <a:avLst>
              <a:gd fmla="val 100557" name="adj1"/>
            </a:avLst>
          </a:prstGeom>
          <a:noFill/>
          <a:ln cap="flat" cmpd="sng" w="9525">
            <a:solidFill>
              <a:schemeClr val="accent1"/>
            </a:solidFill>
            <a:prstDash val="solid"/>
            <a:miter lim="800000"/>
            <a:headEnd len="sm" w="sm" type="none"/>
            <a:tailEnd len="sm" w="sm" type="none"/>
          </a:ln>
        </p:spPr>
      </p:cxnSp>
      <p:sp>
        <p:nvSpPr>
          <p:cNvPr id="158" name="Google Shape;158;p6"/>
          <p:cNvSpPr/>
          <p:nvPr/>
        </p:nvSpPr>
        <p:spPr>
          <a:xfrm>
            <a:off x="3336587" y="4834647"/>
            <a:ext cx="272374" cy="1322962"/>
          </a:xfrm>
          <a:prstGeom prst="lef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cxnSp>
        <p:nvCxnSpPr>
          <p:cNvPr id="159" name="Google Shape;159;p6"/>
          <p:cNvCxnSpPr>
            <a:endCxn id="158" idx="1"/>
          </p:cNvCxnSpPr>
          <p:nvPr/>
        </p:nvCxnSpPr>
        <p:spPr>
          <a:xfrm flipH="1" rot="-5400000">
            <a:off x="822737" y="2982278"/>
            <a:ext cx="2529300" cy="2498400"/>
          </a:xfrm>
          <a:prstGeom prst="bentConnector2">
            <a:avLst/>
          </a:prstGeom>
          <a:noFill/>
          <a:ln cap="flat" cmpd="sng" w="9525">
            <a:solidFill>
              <a:schemeClr val="accent1"/>
            </a:solidFill>
            <a:prstDash val="solid"/>
            <a:miter lim="800000"/>
            <a:headEnd len="sm" w="sm" type="none"/>
            <a:tailEnd len="sm" w="sm" type="none"/>
          </a:ln>
        </p:spPr>
      </p:cxnSp>
      <p:cxnSp>
        <p:nvCxnSpPr>
          <p:cNvPr id="160" name="Google Shape;160;p6"/>
          <p:cNvCxnSpPr/>
          <p:nvPr/>
        </p:nvCxnSpPr>
        <p:spPr>
          <a:xfrm flipH="1" rot="-5400000">
            <a:off x="1337614" y="3769406"/>
            <a:ext cx="3015600" cy="2480700"/>
          </a:xfrm>
          <a:prstGeom prst="bentConnector3">
            <a:avLst>
              <a:gd fmla="val 99999" name="adj1"/>
            </a:avLst>
          </a:prstGeom>
          <a:noFill/>
          <a:ln cap="flat" cmpd="sng" w="9525">
            <a:solidFill>
              <a:schemeClr val="accent1"/>
            </a:solidFill>
            <a:prstDash val="solid"/>
            <a:miter lim="800000"/>
            <a:headEnd len="sm" w="sm" type="none"/>
            <a:tailEnd len="sm" w="sm" type="none"/>
          </a:ln>
        </p:spPr>
      </p:cxnSp>
      <p:cxnSp>
        <p:nvCxnSpPr>
          <p:cNvPr id="161" name="Google Shape;161;p6"/>
          <p:cNvCxnSpPr/>
          <p:nvPr/>
        </p:nvCxnSpPr>
        <p:spPr>
          <a:xfrm>
            <a:off x="838199" y="2966935"/>
            <a:ext cx="144295" cy="0"/>
          </a:xfrm>
          <a:prstGeom prst="straightConnector1">
            <a:avLst/>
          </a:prstGeom>
          <a:noFill/>
          <a:ln cap="flat" cmpd="sng" w="9525">
            <a:solidFill>
              <a:schemeClr val="accent1"/>
            </a:solidFill>
            <a:prstDash val="solid"/>
            <a:miter lim="800000"/>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Function – Calling a function</a:t>
            </a:r>
            <a:endParaRPr/>
          </a:p>
        </p:txBody>
      </p:sp>
      <p:pic>
        <p:nvPicPr>
          <p:cNvPr descr="Logo&#10;&#10;Description automatically generated" id="167" name="Google Shape;167;p7"/>
          <p:cNvPicPr preferRelativeResize="0"/>
          <p:nvPr/>
        </p:nvPicPr>
        <p:blipFill rotWithShape="1">
          <a:blip r:embed="rId3">
            <a:alphaModFix/>
          </a:blip>
          <a:srcRect b="0" l="0" r="0" t="0"/>
          <a:stretch/>
        </p:blipFill>
        <p:spPr>
          <a:xfrm>
            <a:off x="10423001" y="133437"/>
            <a:ext cx="1611264" cy="463376"/>
          </a:xfrm>
          <a:custGeom>
            <a:rect b="b" l="l" r="r" t="t"/>
            <a:pathLst>
              <a:path extrusionOk="0" fill="none" h="463376" w="1611264">
                <a:moveTo>
                  <a:pt x="0" y="0"/>
                </a:moveTo>
                <a:cubicBezTo>
                  <a:pt x="124880" y="-4825"/>
                  <a:pt x="255052" y="18735"/>
                  <a:pt x="504863" y="0"/>
                </a:cubicBezTo>
                <a:cubicBezTo>
                  <a:pt x="754674" y="-18735"/>
                  <a:pt x="864140" y="35260"/>
                  <a:pt x="1009725" y="0"/>
                </a:cubicBezTo>
                <a:cubicBezTo>
                  <a:pt x="1155310" y="-35260"/>
                  <a:pt x="1330447" y="57283"/>
                  <a:pt x="1611264" y="0"/>
                </a:cubicBezTo>
                <a:cubicBezTo>
                  <a:pt x="1622303" y="108444"/>
                  <a:pt x="1575953" y="327440"/>
                  <a:pt x="1611264" y="463376"/>
                </a:cubicBezTo>
                <a:cubicBezTo>
                  <a:pt x="1404313" y="518831"/>
                  <a:pt x="1293297" y="431466"/>
                  <a:pt x="1090289" y="463376"/>
                </a:cubicBezTo>
                <a:cubicBezTo>
                  <a:pt x="887281" y="495286"/>
                  <a:pt x="696714" y="423793"/>
                  <a:pt x="520975" y="463376"/>
                </a:cubicBezTo>
                <a:cubicBezTo>
                  <a:pt x="345236" y="502959"/>
                  <a:pt x="177054" y="448912"/>
                  <a:pt x="0" y="463376"/>
                </a:cubicBezTo>
                <a:cubicBezTo>
                  <a:pt x="-17984" y="275307"/>
                  <a:pt x="44481" y="138826"/>
                  <a:pt x="0" y="0"/>
                </a:cubicBezTo>
                <a:close/>
              </a:path>
              <a:path extrusionOk="0" h="463376" w="1611264">
                <a:moveTo>
                  <a:pt x="0" y="0"/>
                </a:moveTo>
                <a:cubicBezTo>
                  <a:pt x="223226" y="-1358"/>
                  <a:pt x="339035" y="67745"/>
                  <a:pt x="569313" y="0"/>
                </a:cubicBezTo>
                <a:cubicBezTo>
                  <a:pt x="799591" y="-67745"/>
                  <a:pt x="990235" y="3431"/>
                  <a:pt x="1106401" y="0"/>
                </a:cubicBezTo>
                <a:cubicBezTo>
                  <a:pt x="1222567" y="-3431"/>
                  <a:pt x="1488541" y="4672"/>
                  <a:pt x="1611264" y="0"/>
                </a:cubicBezTo>
                <a:cubicBezTo>
                  <a:pt x="1627954" y="127862"/>
                  <a:pt x="1574745" y="247044"/>
                  <a:pt x="1611264" y="463376"/>
                </a:cubicBezTo>
                <a:cubicBezTo>
                  <a:pt x="1436768" y="477149"/>
                  <a:pt x="1340396" y="408017"/>
                  <a:pt x="1074176" y="463376"/>
                </a:cubicBezTo>
                <a:cubicBezTo>
                  <a:pt x="807956" y="518735"/>
                  <a:pt x="707838" y="456230"/>
                  <a:pt x="553201" y="463376"/>
                </a:cubicBezTo>
                <a:cubicBezTo>
                  <a:pt x="398564" y="470522"/>
                  <a:pt x="270333" y="416090"/>
                  <a:pt x="0" y="463376"/>
                </a:cubicBezTo>
                <a:cubicBezTo>
                  <a:pt x="-54951" y="349910"/>
                  <a:pt x="28269" y="123897"/>
                  <a:pt x="0" y="0"/>
                </a:cubicBezTo>
                <a:close/>
              </a:path>
            </a:pathLst>
          </a:custGeom>
          <a:noFill/>
          <a:ln cap="sq" cmpd="thickThin" w="28575">
            <a:solidFill>
              <a:srgbClr val="000000"/>
            </a:solidFill>
            <a:prstDash val="solid"/>
            <a:miter lim="800000"/>
            <a:headEnd len="sm" w="sm" type="none"/>
            <a:tailEnd len="sm" w="sm" type="none"/>
          </a:ln>
        </p:spPr>
      </p:pic>
      <p:sp>
        <p:nvSpPr>
          <p:cNvPr id="168" name="Google Shape;168;p7"/>
          <p:cNvSpPr txBox="1"/>
          <p:nvPr/>
        </p:nvSpPr>
        <p:spPr>
          <a:xfrm>
            <a:off x="4105073" y="2004807"/>
            <a:ext cx="7568119" cy="3662541"/>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Consolas"/>
                <a:ea typeface="Consolas"/>
                <a:cs typeface="Consolas"/>
                <a:sym typeface="Consolas"/>
              </a:rPr>
              <a:t>def</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795E26"/>
                </a:solidFill>
                <a:latin typeface="Consolas"/>
                <a:ea typeface="Consolas"/>
                <a:cs typeface="Consolas"/>
                <a:sym typeface="Consolas"/>
              </a:rPr>
              <a:t>addition</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num1</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num2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A31515"/>
                </a:solidFill>
                <a:latin typeface="Consolas"/>
                <a:ea typeface="Consolas"/>
                <a:cs typeface="Consolas"/>
                <a:sym typeface="Consolas"/>
              </a:rPr>
              <a:t>"This function adds two numbers and returns the value"</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result</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267F99"/>
                </a:solidFill>
                <a:latin typeface="Consolas"/>
                <a:ea typeface="Consolas"/>
                <a:cs typeface="Consolas"/>
                <a:sym typeface="Consolas"/>
              </a:rPr>
              <a:t>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num1</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267F99"/>
                </a:solidFill>
                <a:latin typeface="Consolas"/>
                <a:ea typeface="Consolas"/>
                <a:cs typeface="Consolas"/>
                <a:sym typeface="Consolas"/>
              </a:rPr>
              <a:t>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num2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AF00DB"/>
                </a:solidFill>
                <a:latin typeface="Consolas"/>
                <a:ea typeface="Consolas"/>
                <a:cs typeface="Consolas"/>
                <a:sym typeface="Consolas"/>
              </a:rPr>
              <a:t>return</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result</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120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001080"/>
                </a:solidFill>
                <a:latin typeface="Consolas"/>
                <a:ea typeface="Consolas"/>
                <a:cs typeface="Consolas"/>
                <a:sym typeface="Consolas"/>
              </a:rPr>
              <a:t>n1</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input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'Enter number1:'</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input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'Enter number2:'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res</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addition</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n1</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795E26"/>
                </a:solidFill>
                <a:latin typeface="Consolas"/>
                <a:ea typeface="Consolas"/>
                <a:cs typeface="Consolas"/>
                <a:sym typeface="Consolas"/>
              </a:rPr>
              <a:t>print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'Result is: '</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res</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169" name="Google Shape;169;p7"/>
          <p:cNvSpPr/>
          <p:nvPr/>
        </p:nvSpPr>
        <p:spPr>
          <a:xfrm>
            <a:off x="3647872" y="2004807"/>
            <a:ext cx="262647" cy="1555516"/>
          </a:xfrm>
          <a:prstGeom prst="lef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170" name="Google Shape;170;p7"/>
          <p:cNvSpPr txBox="1"/>
          <p:nvPr/>
        </p:nvSpPr>
        <p:spPr>
          <a:xfrm>
            <a:off x="190886" y="2597899"/>
            <a:ext cx="32624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Function named “addition”</a:t>
            </a:r>
            <a:endParaRPr b="0" i="0" sz="1400" u="none" cap="none" strike="noStrike">
              <a:solidFill>
                <a:srgbClr val="000000"/>
              </a:solidFill>
              <a:latin typeface="Arial"/>
              <a:ea typeface="Arial"/>
              <a:cs typeface="Arial"/>
              <a:sym typeface="Arial"/>
            </a:endParaRPr>
          </a:p>
        </p:txBody>
      </p:sp>
      <p:sp>
        <p:nvSpPr>
          <p:cNvPr id="171" name="Google Shape;171;p7"/>
          <p:cNvSpPr/>
          <p:nvPr/>
        </p:nvSpPr>
        <p:spPr>
          <a:xfrm>
            <a:off x="3647872" y="4066162"/>
            <a:ext cx="262647" cy="1555516"/>
          </a:xfrm>
          <a:prstGeom prst="lef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172" name="Google Shape;172;p7"/>
          <p:cNvSpPr txBox="1"/>
          <p:nvPr/>
        </p:nvSpPr>
        <p:spPr>
          <a:xfrm>
            <a:off x="140687" y="4659254"/>
            <a:ext cx="340990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Outside of the function body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Function – Calling a function</a:t>
            </a:r>
            <a:endParaRPr/>
          </a:p>
        </p:txBody>
      </p:sp>
      <p:pic>
        <p:nvPicPr>
          <p:cNvPr descr="Logo&#10;&#10;Description automatically generated" id="178" name="Google Shape;178;p8"/>
          <p:cNvPicPr preferRelativeResize="0"/>
          <p:nvPr/>
        </p:nvPicPr>
        <p:blipFill rotWithShape="1">
          <a:blip r:embed="rId3">
            <a:alphaModFix/>
          </a:blip>
          <a:srcRect b="0" l="0" r="0" t="0"/>
          <a:stretch/>
        </p:blipFill>
        <p:spPr>
          <a:xfrm>
            <a:off x="10423001" y="133437"/>
            <a:ext cx="1611264" cy="463376"/>
          </a:xfrm>
          <a:custGeom>
            <a:rect b="b" l="l" r="r" t="t"/>
            <a:pathLst>
              <a:path extrusionOk="0" fill="none" h="463376" w="1611264">
                <a:moveTo>
                  <a:pt x="0" y="0"/>
                </a:moveTo>
                <a:cubicBezTo>
                  <a:pt x="124880" y="-4825"/>
                  <a:pt x="255052" y="18735"/>
                  <a:pt x="504863" y="0"/>
                </a:cubicBezTo>
                <a:cubicBezTo>
                  <a:pt x="754674" y="-18735"/>
                  <a:pt x="864140" y="35260"/>
                  <a:pt x="1009725" y="0"/>
                </a:cubicBezTo>
                <a:cubicBezTo>
                  <a:pt x="1155310" y="-35260"/>
                  <a:pt x="1330447" y="57283"/>
                  <a:pt x="1611264" y="0"/>
                </a:cubicBezTo>
                <a:cubicBezTo>
                  <a:pt x="1622303" y="108444"/>
                  <a:pt x="1575953" y="327440"/>
                  <a:pt x="1611264" y="463376"/>
                </a:cubicBezTo>
                <a:cubicBezTo>
                  <a:pt x="1404313" y="518831"/>
                  <a:pt x="1293297" y="431466"/>
                  <a:pt x="1090289" y="463376"/>
                </a:cubicBezTo>
                <a:cubicBezTo>
                  <a:pt x="887281" y="495286"/>
                  <a:pt x="696714" y="423793"/>
                  <a:pt x="520975" y="463376"/>
                </a:cubicBezTo>
                <a:cubicBezTo>
                  <a:pt x="345236" y="502959"/>
                  <a:pt x="177054" y="448912"/>
                  <a:pt x="0" y="463376"/>
                </a:cubicBezTo>
                <a:cubicBezTo>
                  <a:pt x="-17984" y="275307"/>
                  <a:pt x="44481" y="138826"/>
                  <a:pt x="0" y="0"/>
                </a:cubicBezTo>
                <a:close/>
              </a:path>
              <a:path extrusionOk="0" h="463376" w="1611264">
                <a:moveTo>
                  <a:pt x="0" y="0"/>
                </a:moveTo>
                <a:cubicBezTo>
                  <a:pt x="223226" y="-1358"/>
                  <a:pt x="339035" y="67745"/>
                  <a:pt x="569313" y="0"/>
                </a:cubicBezTo>
                <a:cubicBezTo>
                  <a:pt x="799591" y="-67745"/>
                  <a:pt x="990235" y="3431"/>
                  <a:pt x="1106401" y="0"/>
                </a:cubicBezTo>
                <a:cubicBezTo>
                  <a:pt x="1222567" y="-3431"/>
                  <a:pt x="1488541" y="4672"/>
                  <a:pt x="1611264" y="0"/>
                </a:cubicBezTo>
                <a:cubicBezTo>
                  <a:pt x="1627954" y="127862"/>
                  <a:pt x="1574745" y="247044"/>
                  <a:pt x="1611264" y="463376"/>
                </a:cubicBezTo>
                <a:cubicBezTo>
                  <a:pt x="1436768" y="477149"/>
                  <a:pt x="1340396" y="408017"/>
                  <a:pt x="1074176" y="463376"/>
                </a:cubicBezTo>
                <a:cubicBezTo>
                  <a:pt x="807956" y="518735"/>
                  <a:pt x="707838" y="456230"/>
                  <a:pt x="553201" y="463376"/>
                </a:cubicBezTo>
                <a:cubicBezTo>
                  <a:pt x="398564" y="470522"/>
                  <a:pt x="270333" y="416090"/>
                  <a:pt x="0" y="463376"/>
                </a:cubicBezTo>
                <a:cubicBezTo>
                  <a:pt x="-54951" y="349910"/>
                  <a:pt x="28269" y="123897"/>
                  <a:pt x="0" y="0"/>
                </a:cubicBezTo>
                <a:close/>
              </a:path>
            </a:pathLst>
          </a:custGeom>
          <a:noFill/>
          <a:ln cap="sq" cmpd="thickThin" w="28575">
            <a:solidFill>
              <a:srgbClr val="000000"/>
            </a:solidFill>
            <a:prstDash val="solid"/>
            <a:miter lim="800000"/>
            <a:headEnd len="sm" w="sm" type="none"/>
            <a:tailEnd len="sm" w="sm" type="none"/>
          </a:ln>
        </p:spPr>
      </p:pic>
      <p:sp>
        <p:nvSpPr>
          <p:cNvPr id="179" name="Google Shape;179;p8"/>
          <p:cNvSpPr txBox="1"/>
          <p:nvPr/>
        </p:nvSpPr>
        <p:spPr>
          <a:xfrm>
            <a:off x="4105073" y="2004807"/>
            <a:ext cx="7568119" cy="3662541"/>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Consolas"/>
                <a:ea typeface="Consolas"/>
                <a:cs typeface="Consolas"/>
                <a:sym typeface="Consolas"/>
              </a:rPr>
              <a:t>def</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795E26"/>
                </a:solidFill>
                <a:latin typeface="Consolas"/>
                <a:ea typeface="Consolas"/>
                <a:cs typeface="Consolas"/>
                <a:sym typeface="Consolas"/>
              </a:rPr>
              <a:t>addition</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num1</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num2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A31515"/>
                </a:solidFill>
                <a:latin typeface="Consolas"/>
                <a:ea typeface="Consolas"/>
                <a:cs typeface="Consolas"/>
                <a:sym typeface="Consolas"/>
              </a:rPr>
              <a:t>"This function adds two numbers and returns the value"</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result</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267F99"/>
                </a:solidFill>
                <a:latin typeface="Consolas"/>
                <a:ea typeface="Consolas"/>
                <a:cs typeface="Consolas"/>
                <a:sym typeface="Consolas"/>
              </a:rPr>
              <a:t>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num1</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267F99"/>
                </a:solidFill>
                <a:latin typeface="Consolas"/>
                <a:ea typeface="Consolas"/>
                <a:cs typeface="Consolas"/>
                <a:sym typeface="Consolas"/>
              </a:rPr>
              <a:t>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num2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AF00DB"/>
                </a:solidFill>
                <a:latin typeface="Consolas"/>
                <a:ea typeface="Consolas"/>
                <a:cs typeface="Consolas"/>
                <a:sym typeface="Consolas"/>
              </a:rPr>
              <a:t>return</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result</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120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001080"/>
                </a:solidFill>
                <a:latin typeface="Consolas"/>
                <a:ea typeface="Consolas"/>
                <a:cs typeface="Consolas"/>
                <a:sym typeface="Consolas"/>
              </a:rPr>
              <a:t>n1</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input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'Enter number1:'</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input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'Enter number2:'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res</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addition</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n1</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795E26"/>
                </a:solidFill>
                <a:latin typeface="Consolas"/>
                <a:ea typeface="Consolas"/>
                <a:cs typeface="Consolas"/>
                <a:sym typeface="Consolas"/>
              </a:rPr>
              <a:t>print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'Result is: '</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res</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180" name="Google Shape;180;p8"/>
          <p:cNvSpPr/>
          <p:nvPr/>
        </p:nvSpPr>
        <p:spPr>
          <a:xfrm>
            <a:off x="3647872" y="2004807"/>
            <a:ext cx="262647" cy="1555516"/>
          </a:xfrm>
          <a:prstGeom prst="lef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181" name="Google Shape;181;p8"/>
          <p:cNvSpPr txBox="1"/>
          <p:nvPr/>
        </p:nvSpPr>
        <p:spPr>
          <a:xfrm>
            <a:off x="190886" y="2597899"/>
            <a:ext cx="32624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Function named “addition”</a:t>
            </a:r>
            <a:endParaRPr b="0" i="0" sz="1400" u="none" cap="none" strike="noStrike">
              <a:solidFill>
                <a:srgbClr val="000000"/>
              </a:solidFill>
              <a:latin typeface="Arial"/>
              <a:ea typeface="Arial"/>
              <a:cs typeface="Arial"/>
              <a:sym typeface="Arial"/>
            </a:endParaRPr>
          </a:p>
        </p:txBody>
      </p:sp>
      <p:sp>
        <p:nvSpPr>
          <p:cNvPr id="182" name="Google Shape;182;p8"/>
          <p:cNvSpPr txBox="1"/>
          <p:nvPr/>
        </p:nvSpPr>
        <p:spPr>
          <a:xfrm>
            <a:off x="124150" y="3997773"/>
            <a:ext cx="35237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Program execution starts here</a:t>
            </a:r>
            <a:endParaRPr b="0" i="0" sz="1400" u="none" cap="none" strike="noStrike">
              <a:solidFill>
                <a:srgbClr val="000000"/>
              </a:solidFill>
              <a:latin typeface="Arial"/>
              <a:ea typeface="Arial"/>
              <a:cs typeface="Arial"/>
              <a:sym typeface="Arial"/>
            </a:endParaRPr>
          </a:p>
        </p:txBody>
      </p:sp>
      <p:cxnSp>
        <p:nvCxnSpPr>
          <p:cNvPr id="183" name="Google Shape;183;p8"/>
          <p:cNvCxnSpPr>
            <a:stCxn id="182" idx="3"/>
          </p:cNvCxnSpPr>
          <p:nvPr/>
        </p:nvCxnSpPr>
        <p:spPr>
          <a:xfrm>
            <a:off x="3647872" y="4182439"/>
            <a:ext cx="4572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184" name="Google Shape;184;p8"/>
          <p:cNvCxnSpPr/>
          <p:nvPr/>
        </p:nvCxnSpPr>
        <p:spPr>
          <a:xfrm>
            <a:off x="3910519" y="4182439"/>
            <a:ext cx="0" cy="827306"/>
          </a:xfrm>
          <a:prstGeom prst="straightConnector1">
            <a:avLst/>
          </a:prstGeom>
          <a:noFill/>
          <a:ln cap="flat" cmpd="sng" w="9525">
            <a:solidFill>
              <a:schemeClr val="accent1"/>
            </a:solidFill>
            <a:prstDash val="solid"/>
            <a:miter lim="800000"/>
            <a:headEnd len="sm" w="sm" type="none"/>
            <a:tailEnd len="med" w="med" type="triangle"/>
          </a:ln>
        </p:spPr>
      </p:cxnSp>
      <p:cxnSp>
        <p:nvCxnSpPr>
          <p:cNvPr id="185" name="Google Shape;185;p8"/>
          <p:cNvCxnSpPr/>
          <p:nvPr/>
        </p:nvCxnSpPr>
        <p:spPr>
          <a:xfrm>
            <a:off x="3630038" y="5015775"/>
            <a:ext cx="457201" cy="0"/>
          </a:xfrm>
          <a:prstGeom prst="straightConnector1">
            <a:avLst/>
          </a:prstGeom>
          <a:noFill/>
          <a:ln cap="flat" cmpd="sng" w="9525">
            <a:solidFill>
              <a:schemeClr val="accent1"/>
            </a:solidFill>
            <a:prstDash val="solid"/>
            <a:miter lim="800000"/>
            <a:headEnd len="sm" w="sm" type="none"/>
            <a:tailEnd len="med" w="med" type="triangle"/>
          </a:ln>
        </p:spPr>
      </p:cxnSp>
      <p:sp>
        <p:nvSpPr>
          <p:cNvPr id="186" name="Google Shape;186;p8"/>
          <p:cNvSpPr txBox="1"/>
          <p:nvPr/>
        </p:nvSpPr>
        <p:spPr>
          <a:xfrm>
            <a:off x="335546" y="4804555"/>
            <a:ext cx="329449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Call ‘addition’ function with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parameters</a:t>
            </a:r>
            <a:endParaRPr b="0" i="0" sz="1400" u="none" cap="none" strike="noStrike">
              <a:solidFill>
                <a:srgbClr val="000000"/>
              </a:solidFill>
              <a:latin typeface="Arial"/>
              <a:ea typeface="Arial"/>
              <a:cs typeface="Arial"/>
              <a:sym typeface="Arial"/>
            </a:endParaRPr>
          </a:p>
        </p:txBody>
      </p:sp>
      <p:cxnSp>
        <p:nvCxnSpPr>
          <p:cNvPr id="187" name="Google Shape;187;p8"/>
          <p:cNvCxnSpPr/>
          <p:nvPr/>
        </p:nvCxnSpPr>
        <p:spPr>
          <a:xfrm>
            <a:off x="6916366" y="5009745"/>
            <a:ext cx="4940088" cy="0"/>
          </a:xfrm>
          <a:prstGeom prst="straightConnector1">
            <a:avLst/>
          </a:prstGeom>
          <a:noFill/>
          <a:ln cap="flat" cmpd="sng" w="9525">
            <a:solidFill>
              <a:schemeClr val="accent1"/>
            </a:solidFill>
            <a:prstDash val="solid"/>
            <a:miter lim="800000"/>
            <a:headEnd len="sm" w="sm" type="none"/>
            <a:tailEnd len="sm" w="sm" type="none"/>
          </a:ln>
        </p:spPr>
      </p:cxnSp>
      <p:cxnSp>
        <p:nvCxnSpPr>
          <p:cNvPr id="188" name="Google Shape;188;p8"/>
          <p:cNvCxnSpPr/>
          <p:nvPr/>
        </p:nvCxnSpPr>
        <p:spPr>
          <a:xfrm rot="10800000">
            <a:off x="6342346" y="1803645"/>
            <a:ext cx="5525400" cy="3206100"/>
          </a:xfrm>
          <a:prstGeom prst="bentConnector3">
            <a:avLst>
              <a:gd fmla="val 176" name="adj1"/>
            </a:avLst>
          </a:prstGeom>
          <a:noFill/>
          <a:ln cap="flat" cmpd="sng" w="9525">
            <a:solidFill>
              <a:schemeClr val="accent1"/>
            </a:solidFill>
            <a:prstDash val="solid"/>
            <a:miter lim="800000"/>
            <a:headEnd len="sm" w="sm" type="none"/>
            <a:tailEnd len="sm" w="sm" type="none"/>
          </a:ln>
        </p:spPr>
      </p:cxnSp>
      <p:cxnSp>
        <p:nvCxnSpPr>
          <p:cNvPr id="189" name="Google Shape;189;p8"/>
          <p:cNvCxnSpPr/>
          <p:nvPr/>
        </p:nvCxnSpPr>
        <p:spPr>
          <a:xfrm>
            <a:off x="6342437" y="1803779"/>
            <a:ext cx="0" cy="201028"/>
          </a:xfrm>
          <a:prstGeom prst="straightConnector1">
            <a:avLst/>
          </a:prstGeom>
          <a:noFill/>
          <a:ln cap="flat" cmpd="sng" w="9525">
            <a:solidFill>
              <a:schemeClr val="accent1"/>
            </a:solidFill>
            <a:prstDash val="solid"/>
            <a:miter lim="800000"/>
            <a:headEnd len="sm" w="sm" type="none"/>
            <a:tailEnd len="med" w="med" type="triangle"/>
          </a:ln>
        </p:spPr>
      </p:cxnSp>
      <p:cxnSp>
        <p:nvCxnSpPr>
          <p:cNvPr id="190" name="Google Shape;190;p8"/>
          <p:cNvCxnSpPr/>
          <p:nvPr/>
        </p:nvCxnSpPr>
        <p:spPr>
          <a:xfrm>
            <a:off x="6439713" y="3433864"/>
            <a:ext cx="1780159" cy="0"/>
          </a:xfrm>
          <a:prstGeom prst="straightConnector1">
            <a:avLst/>
          </a:prstGeom>
          <a:noFill/>
          <a:ln cap="flat" cmpd="sng" w="9525">
            <a:solidFill>
              <a:schemeClr val="accent1"/>
            </a:solidFill>
            <a:prstDash val="solid"/>
            <a:miter lim="800000"/>
            <a:headEnd len="sm" w="sm" type="none"/>
            <a:tailEnd len="sm" w="sm" type="none"/>
          </a:ln>
        </p:spPr>
      </p:cxnSp>
      <p:cxnSp>
        <p:nvCxnSpPr>
          <p:cNvPr id="191" name="Google Shape;191;p8"/>
          <p:cNvCxnSpPr/>
          <p:nvPr/>
        </p:nvCxnSpPr>
        <p:spPr>
          <a:xfrm flipH="1">
            <a:off x="5301472" y="3428997"/>
            <a:ext cx="2918400" cy="1375500"/>
          </a:xfrm>
          <a:prstGeom prst="bentConnector3">
            <a:avLst>
              <a:gd fmla="val 0" name="adj1"/>
            </a:avLst>
          </a:prstGeom>
          <a:noFill/>
          <a:ln cap="flat" cmpd="sng" w="9525">
            <a:solidFill>
              <a:schemeClr val="accent1"/>
            </a:solidFill>
            <a:prstDash val="solid"/>
            <a:miter lim="800000"/>
            <a:headEnd len="sm" w="sm" type="none"/>
            <a:tailEnd len="sm" w="sm" type="none"/>
          </a:ln>
        </p:spPr>
      </p:cxnSp>
      <p:cxnSp>
        <p:nvCxnSpPr>
          <p:cNvPr id="192" name="Google Shape;192;p8"/>
          <p:cNvCxnSpPr/>
          <p:nvPr/>
        </p:nvCxnSpPr>
        <p:spPr>
          <a:xfrm>
            <a:off x="5301574" y="4804555"/>
            <a:ext cx="0" cy="137096"/>
          </a:xfrm>
          <a:prstGeom prst="straightConnector1">
            <a:avLst/>
          </a:prstGeom>
          <a:noFill/>
          <a:ln cap="flat" cmpd="sng" w="9525">
            <a:solidFill>
              <a:schemeClr val="accent1"/>
            </a:solidFill>
            <a:prstDash val="solid"/>
            <a:miter lim="800000"/>
            <a:headEnd len="sm" w="sm" type="none"/>
            <a:tailEnd len="med" w="med" type="triangle"/>
          </a:ln>
        </p:spPr>
      </p:cxnSp>
      <p:sp>
        <p:nvSpPr>
          <p:cNvPr id="193" name="Google Shape;193;p8"/>
          <p:cNvSpPr txBox="1"/>
          <p:nvPr/>
        </p:nvSpPr>
        <p:spPr>
          <a:xfrm>
            <a:off x="3608905" y="3874442"/>
            <a:ext cx="30008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entury Gothic"/>
                <a:ea typeface="Century Gothic"/>
                <a:cs typeface="Century Gothic"/>
                <a:sym typeface="Century Gothic"/>
              </a:rPr>
              <a:t>1</a:t>
            </a:r>
            <a:endParaRPr b="0" i="0" sz="1400" u="none" cap="none" strike="noStrike">
              <a:solidFill>
                <a:srgbClr val="000000"/>
              </a:solidFill>
              <a:latin typeface="Arial"/>
              <a:ea typeface="Arial"/>
              <a:cs typeface="Arial"/>
              <a:sym typeface="Arial"/>
            </a:endParaRPr>
          </a:p>
        </p:txBody>
      </p:sp>
      <p:sp>
        <p:nvSpPr>
          <p:cNvPr id="194" name="Google Shape;194;p8"/>
          <p:cNvSpPr txBox="1"/>
          <p:nvPr/>
        </p:nvSpPr>
        <p:spPr>
          <a:xfrm>
            <a:off x="3662391" y="4351716"/>
            <a:ext cx="30008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entury Gothic"/>
                <a:ea typeface="Century Gothic"/>
                <a:cs typeface="Century Gothic"/>
                <a:sym typeface="Century Gothic"/>
              </a:rPr>
              <a:t>2</a:t>
            </a:r>
            <a:endParaRPr b="0" i="0" sz="1400" u="none" cap="none" strike="noStrike">
              <a:solidFill>
                <a:srgbClr val="000000"/>
              </a:solidFill>
              <a:latin typeface="Arial"/>
              <a:ea typeface="Arial"/>
              <a:cs typeface="Arial"/>
              <a:sym typeface="Arial"/>
            </a:endParaRPr>
          </a:p>
        </p:txBody>
      </p:sp>
      <p:sp>
        <p:nvSpPr>
          <p:cNvPr id="195" name="Google Shape;195;p8"/>
          <p:cNvSpPr txBox="1"/>
          <p:nvPr/>
        </p:nvSpPr>
        <p:spPr>
          <a:xfrm>
            <a:off x="3601505" y="4703826"/>
            <a:ext cx="30008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entury Gothic"/>
                <a:ea typeface="Century Gothic"/>
                <a:cs typeface="Century Gothic"/>
                <a:sym typeface="Century Gothic"/>
              </a:rPr>
              <a:t>3</a:t>
            </a:r>
            <a:endParaRPr b="0" i="0" sz="1400" u="none" cap="none" strike="noStrike">
              <a:solidFill>
                <a:srgbClr val="000000"/>
              </a:solidFill>
              <a:latin typeface="Arial"/>
              <a:ea typeface="Arial"/>
              <a:cs typeface="Arial"/>
              <a:sym typeface="Arial"/>
            </a:endParaRPr>
          </a:p>
        </p:txBody>
      </p:sp>
      <p:sp>
        <p:nvSpPr>
          <p:cNvPr id="196" name="Google Shape;196;p8"/>
          <p:cNvSpPr txBox="1"/>
          <p:nvPr/>
        </p:nvSpPr>
        <p:spPr>
          <a:xfrm>
            <a:off x="9116290" y="4690270"/>
            <a:ext cx="30008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entury Gothic"/>
                <a:ea typeface="Century Gothic"/>
                <a:cs typeface="Century Gothic"/>
                <a:sym typeface="Century Gothic"/>
              </a:rPr>
              <a:t>4</a:t>
            </a:r>
            <a:endParaRPr b="0" i="0" sz="1400" u="none" cap="none" strike="noStrike">
              <a:solidFill>
                <a:srgbClr val="000000"/>
              </a:solidFill>
              <a:latin typeface="Arial"/>
              <a:ea typeface="Arial"/>
              <a:cs typeface="Arial"/>
              <a:sym typeface="Arial"/>
            </a:endParaRPr>
          </a:p>
        </p:txBody>
      </p:sp>
      <p:sp>
        <p:nvSpPr>
          <p:cNvPr id="197" name="Google Shape;197;p8"/>
          <p:cNvSpPr txBox="1"/>
          <p:nvPr/>
        </p:nvSpPr>
        <p:spPr>
          <a:xfrm>
            <a:off x="8212431" y="3465616"/>
            <a:ext cx="30008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entury Gothic"/>
                <a:ea typeface="Century Gothic"/>
                <a:cs typeface="Century Gothic"/>
                <a:sym typeface="Century Gothic"/>
              </a:rPr>
              <a:t>5</a:t>
            </a:r>
            <a:endParaRPr b="0" i="0" sz="1400" u="none" cap="none" strike="noStrike">
              <a:solidFill>
                <a:srgbClr val="000000"/>
              </a:solidFill>
              <a:latin typeface="Arial"/>
              <a:ea typeface="Arial"/>
              <a:cs typeface="Arial"/>
              <a:sym typeface="Arial"/>
            </a:endParaRPr>
          </a:p>
        </p:txBody>
      </p:sp>
      <p:sp>
        <p:nvSpPr>
          <p:cNvPr id="198" name="Google Shape;198;p8"/>
          <p:cNvSpPr txBox="1"/>
          <p:nvPr/>
        </p:nvSpPr>
        <p:spPr>
          <a:xfrm>
            <a:off x="3620035" y="5188115"/>
            <a:ext cx="30008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entury Gothic"/>
                <a:ea typeface="Century Gothic"/>
                <a:cs typeface="Century Gothic"/>
                <a:sym typeface="Century Gothic"/>
              </a:rPr>
              <a:t>6</a:t>
            </a:r>
            <a:endParaRPr b="0" i="0" sz="1400" u="none" cap="none" strike="noStrike">
              <a:solidFill>
                <a:srgbClr val="000000"/>
              </a:solidFill>
              <a:latin typeface="Arial"/>
              <a:ea typeface="Arial"/>
              <a:cs typeface="Arial"/>
              <a:sym typeface="Arial"/>
            </a:endParaRPr>
          </a:p>
        </p:txBody>
      </p:sp>
      <p:cxnSp>
        <p:nvCxnSpPr>
          <p:cNvPr id="199" name="Google Shape;199;p8"/>
          <p:cNvCxnSpPr/>
          <p:nvPr/>
        </p:nvCxnSpPr>
        <p:spPr>
          <a:xfrm>
            <a:off x="3908987" y="5028824"/>
            <a:ext cx="0" cy="604641"/>
          </a:xfrm>
          <a:prstGeom prst="straightConnector1">
            <a:avLst/>
          </a:prstGeom>
          <a:noFill/>
          <a:ln cap="flat" cmpd="sng" w="9525">
            <a:solidFill>
              <a:schemeClr val="accent1"/>
            </a:solidFill>
            <a:prstDash val="solid"/>
            <a:miter lim="800000"/>
            <a:headEnd len="sm" w="sm" type="none"/>
            <a:tailEnd len="med" w="med" type="triangle"/>
          </a:ln>
        </p:spPr>
      </p:cxnSp>
      <p:cxnSp>
        <p:nvCxnSpPr>
          <p:cNvPr id="200" name="Google Shape;200;p8"/>
          <p:cNvCxnSpPr/>
          <p:nvPr/>
        </p:nvCxnSpPr>
        <p:spPr>
          <a:xfrm>
            <a:off x="4581727" y="2539045"/>
            <a:ext cx="0" cy="867717"/>
          </a:xfrm>
          <a:prstGeom prst="straightConnector1">
            <a:avLst/>
          </a:prstGeom>
          <a:noFill/>
          <a:ln cap="flat" cmpd="sng" w="9525">
            <a:solidFill>
              <a:schemeClr val="accent1"/>
            </a:solidFill>
            <a:prstDash val="solid"/>
            <a:miter lim="800000"/>
            <a:headEnd len="sm" w="sm" type="none"/>
            <a:tailEnd len="med" w="med" type="triangle"/>
          </a:ln>
        </p:spPr>
      </p:cxnSp>
      <p:sp>
        <p:nvSpPr>
          <p:cNvPr id="201" name="Google Shape;201;p8"/>
          <p:cNvSpPr txBox="1"/>
          <p:nvPr/>
        </p:nvSpPr>
        <p:spPr>
          <a:xfrm>
            <a:off x="4334407" y="2734197"/>
            <a:ext cx="30008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entury Gothic"/>
                <a:ea typeface="Century Gothic"/>
                <a:cs typeface="Century Gothic"/>
                <a:sym typeface="Century Gothic"/>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Function – Calling a function</a:t>
            </a:r>
            <a:endParaRPr/>
          </a:p>
        </p:txBody>
      </p:sp>
      <p:pic>
        <p:nvPicPr>
          <p:cNvPr descr="Logo&#10;&#10;Description automatically generated" id="207" name="Google Shape;207;p9"/>
          <p:cNvPicPr preferRelativeResize="0"/>
          <p:nvPr/>
        </p:nvPicPr>
        <p:blipFill rotWithShape="1">
          <a:blip r:embed="rId3">
            <a:alphaModFix/>
          </a:blip>
          <a:srcRect b="0" l="0" r="0" t="0"/>
          <a:stretch/>
        </p:blipFill>
        <p:spPr>
          <a:xfrm>
            <a:off x="10423001" y="133437"/>
            <a:ext cx="1611264" cy="463376"/>
          </a:xfrm>
          <a:custGeom>
            <a:rect b="b" l="l" r="r" t="t"/>
            <a:pathLst>
              <a:path extrusionOk="0" fill="none" h="463376" w="1611264">
                <a:moveTo>
                  <a:pt x="0" y="0"/>
                </a:moveTo>
                <a:cubicBezTo>
                  <a:pt x="124880" y="-4825"/>
                  <a:pt x="255052" y="18735"/>
                  <a:pt x="504863" y="0"/>
                </a:cubicBezTo>
                <a:cubicBezTo>
                  <a:pt x="754674" y="-18735"/>
                  <a:pt x="864140" y="35260"/>
                  <a:pt x="1009725" y="0"/>
                </a:cubicBezTo>
                <a:cubicBezTo>
                  <a:pt x="1155310" y="-35260"/>
                  <a:pt x="1330447" y="57283"/>
                  <a:pt x="1611264" y="0"/>
                </a:cubicBezTo>
                <a:cubicBezTo>
                  <a:pt x="1622303" y="108444"/>
                  <a:pt x="1575953" y="327440"/>
                  <a:pt x="1611264" y="463376"/>
                </a:cubicBezTo>
                <a:cubicBezTo>
                  <a:pt x="1404313" y="518831"/>
                  <a:pt x="1293297" y="431466"/>
                  <a:pt x="1090289" y="463376"/>
                </a:cubicBezTo>
                <a:cubicBezTo>
                  <a:pt x="887281" y="495286"/>
                  <a:pt x="696714" y="423793"/>
                  <a:pt x="520975" y="463376"/>
                </a:cubicBezTo>
                <a:cubicBezTo>
                  <a:pt x="345236" y="502959"/>
                  <a:pt x="177054" y="448912"/>
                  <a:pt x="0" y="463376"/>
                </a:cubicBezTo>
                <a:cubicBezTo>
                  <a:pt x="-17984" y="275307"/>
                  <a:pt x="44481" y="138826"/>
                  <a:pt x="0" y="0"/>
                </a:cubicBezTo>
                <a:close/>
              </a:path>
              <a:path extrusionOk="0" h="463376" w="1611264">
                <a:moveTo>
                  <a:pt x="0" y="0"/>
                </a:moveTo>
                <a:cubicBezTo>
                  <a:pt x="223226" y="-1358"/>
                  <a:pt x="339035" y="67745"/>
                  <a:pt x="569313" y="0"/>
                </a:cubicBezTo>
                <a:cubicBezTo>
                  <a:pt x="799591" y="-67745"/>
                  <a:pt x="990235" y="3431"/>
                  <a:pt x="1106401" y="0"/>
                </a:cubicBezTo>
                <a:cubicBezTo>
                  <a:pt x="1222567" y="-3431"/>
                  <a:pt x="1488541" y="4672"/>
                  <a:pt x="1611264" y="0"/>
                </a:cubicBezTo>
                <a:cubicBezTo>
                  <a:pt x="1627954" y="127862"/>
                  <a:pt x="1574745" y="247044"/>
                  <a:pt x="1611264" y="463376"/>
                </a:cubicBezTo>
                <a:cubicBezTo>
                  <a:pt x="1436768" y="477149"/>
                  <a:pt x="1340396" y="408017"/>
                  <a:pt x="1074176" y="463376"/>
                </a:cubicBezTo>
                <a:cubicBezTo>
                  <a:pt x="807956" y="518735"/>
                  <a:pt x="707838" y="456230"/>
                  <a:pt x="553201" y="463376"/>
                </a:cubicBezTo>
                <a:cubicBezTo>
                  <a:pt x="398564" y="470522"/>
                  <a:pt x="270333" y="416090"/>
                  <a:pt x="0" y="463376"/>
                </a:cubicBezTo>
                <a:cubicBezTo>
                  <a:pt x="-54951" y="349910"/>
                  <a:pt x="28269" y="123897"/>
                  <a:pt x="0" y="0"/>
                </a:cubicBezTo>
                <a:close/>
              </a:path>
            </a:pathLst>
          </a:custGeom>
          <a:noFill/>
          <a:ln cap="sq" cmpd="thickThin" w="28575">
            <a:solidFill>
              <a:srgbClr val="000000"/>
            </a:solidFill>
            <a:prstDash val="solid"/>
            <a:miter lim="800000"/>
            <a:headEnd len="sm" w="sm" type="none"/>
            <a:tailEnd len="sm" w="sm" type="none"/>
          </a:ln>
        </p:spPr>
      </p:pic>
      <p:sp>
        <p:nvSpPr>
          <p:cNvPr id="208" name="Google Shape;208;p9"/>
          <p:cNvSpPr txBox="1"/>
          <p:nvPr/>
        </p:nvSpPr>
        <p:spPr>
          <a:xfrm>
            <a:off x="838200" y="1815371"/>
            <a:ext cx="7568119" cy="446276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Consolas"/>
                <a:ea typeface="Consolas"/>
                <a:cs typeface="Consolas"/>
                <a:sym typeface="Consolas"/>
              </a:rPr>
              <a:t>def</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795E26"/>
                </a:solidFill>
                <a:latin typeface="Consolas"/>
                <a:ea typeface="Consolas"/>
                <a:cs typeface="Consolas"/>
                <a:sym typeface="Consolas"/>
              </a:rPr>
              <a:t>printInfo</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num1</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num2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795E26"/>
                </a:solidFill>
                <a:latin typeface="Consolas"/>
                <a:ea typeface="Consolas"/>
                <a:cs typeface="Consolas"/>
                <a:sym typeface="Consolas"/>
              </a:rPr>
              <a:t>print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00FF"/>
                </a:solidFill>
                <a:latin typeface="Consolas"/>
                <a:ea typeface="Consolas"/>
                <a:cs typeface="Consolas"/>
                <a:sym typeface="Consolas"/>
              </a:rPr>
              <a:t>f</a:t>
            </a:r>
            <a:r>
              <a:rPr b="0" i="0" lang="en-US" sz="1800" u="none" cap="none" strike="noStrike">
                <a:solidFill>
                  <a:srgbClr val="A31515"/>
                </a:solidFill>
                <a:latin typeface="Consolas"/>
                <a:ea typeface="Consolas"/>
                <a:cs typeface="Consolas"/>
                <a:sym typeface="Consolas"/>
              </a:rPr>
              <a:t>'We are adding </a:t>
            </a:r>
            <a:r>
              <a:rPr b="0" i="0" lang="en-US" sz="1800" u="none" cap="none" strike="noStrike">
                <a:solidFill>
                  <a:srgbClr val="0000FF"/>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num1</a:t>
            </a:r>
            <a:r>
              <a:rPr b="0" i="0" lang="en-US" sz="1800" u="none" cap="none" strike="noStrike">
                <a:solidFill>
                  <a:srgbClr val="0000FF"/>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 and </a:t>
            </a:r>
            <a:r>
              <a:rPr b="0" i="0" lang="en-US" sz="1800" u="none" cap="none" strike="noStrike">
                <a:solidFill>
                  <a:srgbClr val="0000FF"/>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num2</a:t>
            </a:r>
            <a:r>
              <a:rPr b="0" i="0" lang="en-US" sz="1800" u="none" cap="none" strike="noStrike">
                <a:solidFill>
                  <a:srgbClr val="0000FF"/>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684C0B"/>
                </a:solidFill>
                <a:latin typeface="Consolas"/>
                <a:ea typeface="Consolas"/>
                <a:cs typeface="Consolas"/>
                <a:sym typeface="Consolas"/>
              </a:rPr>
              <a:t>return</a:t>
            </a:r>
            <a:r>
              <a:rPr b="0" i="0" lang="en-US" sz="1800" u="none" cap="none" strike="noStrike">
                <a:solidFill>
                  <a:srgbClr val="000000"/>
                </a:solidFill>
                <a:latin typeface="Consolas"/>
                <a:ea typeface="Consolas"/>
                <a:cs typeface="Consolas"/>
                <a:sym typeface="Consolas"/>
              </a:rPr>
              <a:t> </a:t>
            </a: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0000FF"/>
                </a:solidFill>
                <a:latin typeface="Consolas"/>
                <a:ea typeface="Consolas"/>
                <a:cs typeface="Consolas"/>
                <a:sym typeface="Consolas"/>
              </a:rPr>
              <a:t>def</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795E26"/>
                </a:solidFill>
                <a:latin typeface="Consolas"/>
                <a:ea typeface="Consolas"/>
                <a:cs typeface="Consolas"/>
                <a:sym typeface="Consolas"/>
              </a:rPr>
              <a:t>addition</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num1</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num2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A31515"/>
                </a:solidFill>
                <a:latin typeface="Consolas"/>
                <a:ea typeface="Consolas"/>
                <a:cs typeface="Consolas"/>
                <a:sym typeface="Consolas"/>
              </a:rPr>
              <a:t>"This function adds two numbers and returns the value"</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result</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267F99"/>
                </a:solidFill>
                <a:latin typeface="Consolas"/>
                <a:ea typeface="Consolas"/>
                <a:cs typeface="Consolas"/>
                <a:sym typeface="Consolas"/>
              </a:rPr>
              <a:t>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num1</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267F99"/>
                </a:solidFill>
                <a:latin typeface="Consolas"/>
                <a:ea typeface="Consolas"/>
                <a:cs typeface="Consolas"/>
                <a:sym typeface="Consolas"/>
              </a:rPr>
              <a:t>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num2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AF00DB"/>
                </a:solidFill>
                <a:latin typeface="Consolas"/>
                <a:ea typeface="Consolas"/>
                <a:cs typeface="Consolas"/>
                <a:sym typeface="Consolas"/>
              </a:rPr>
              <a:t>return</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result</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001080"/>
                </a:solidFill>
                <a:latin typeface="Consolas"/>
                <a:ea typeface="Consolas"/>
                <a:cs typeface="Consolas"/>
                <a:sym typeface="Consolas"/>
              </a:rPr>
              <a:t>n1</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input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'Enter number1:'</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input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'Enter number2:'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795E26"/>
                </a:solidFill>
                <a:latin typeface="Consolas"/>
                <a:ea typeface="Consolas"/>
                <a:cs typeface="Consolas"/>
                <a:sym typeface="Consolas"/>
              </a:rPr>
              <a:t>printInfo</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n1</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res</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addition</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n1</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795E26"/>
                </a:solidFill>
                <a:latin typeface="Consolas"/>
                <a:ea typeface="Consolas"/>
                <a:cs typeface="Consolas"/>
                <a:sym typeface="Consolas"/>
              </a:rPr>
              <a:t>print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'Result is: '</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res</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209" name="Google Shape;209;p9"/>
          <p:cNvSpPr txBox="1"/>
          <p:nvPr/>
        </p:nvSpPr>
        <p:spPr>
          <a:xfrm>
            <a:off x="231210" y="1815371"/>
            <a:ext cx="439154" cy="446276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11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13</a:t>
            </a:r>
            <a:endParaRPr b="0" i="0" sz="1800" u="none" cap="none" strike="noStrike">
              <a:solidFill>
                <a:srgbClr val="000000"/>
              </a:solidFill>
              <a:latin typeface="Consolas"/>
              <a:ea typeface="Consolas"/>
              <a:cs typeface="Consolas"/>
              <a:sym typeface="Consolas"/>
            </a:endParaRPr>
          </a:p>
        </p:txBody>
      </p:sp>
      <p:sp>
        <p:nvSpPr>
          <p:cNvPr id="210" name="Google Shape;210;p9"/>
          <p:cNvSpPr txBox="1"/>
          <p:nvPr/>
        </p:nvSpPr>
        <p:spPr>
          <a:xfrm>
            <a:off x="10078142" y="3611407"/>
            <a:ext cx="1882648" cy="870688"/>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Can u explain the code??</a:t>
            </a:r>
            <a:endParaRPr b="0" i="0" sz="1400" u="none" cap="none" strike="noStrike">
              <a:solidFill>
                <a:srgbClr val="000000"/>
              </a:solidFill>
              <a:latin typeface="Arial"/>
              <a:ea typeface="Arial"/>
              <a:cs typeface="Arial"/>
              <a:sym typeface="Arial"/>
            </a:endParaRPr>
          </a:p>
        </p:txBody>
      </p:sp>
      <p:pic>
        <p:nvPicPr>
          <p:cNvPr descr="A picture containing clipart, vector graphics&#10;&#10;Description automatically generated" id="211" name="Google Shape;211;p9"/>
          <p:cNvPicPr preferRelativeResize="0"/>
          <p:nvPr/>
        </p:nvPicPr>
        <p:blipFill rotWithShape="1">
          <a:blip r:embed="rId4">
            <a:alphaModFix/>
          </a:blip>
          <a:srcRect b="0" l="0" r="0" t="0"/>
          <a:stretch/>
        </p:blipFill>
        <p:spPr>
          <a:xfrm>
            <a:off x="10006174" y="2161140"/>
            <a:ext cx="1722180" cy="15499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5" name="Shape 215"/>
        <p:cNvGrpSpPr/>
        <p:nvPr/>
      </p:nvGrpSpPr>
      <p:grpSpPr>
        <a:xfrm>
          <a:off x="0" y="0"/>
          <a:ext cx="0" cy="0"/>
          <a:chOff x="0" y="0"/>
          <a:chExt cx="0" cy="0"/>
        </a:xfrm>
      </p:grpSpPr>
      <p:sp>
        <p:nvSpPr>
          <p:cNvPr id="216" name="Google Shape;216;p10"/>
          <p:cNvSpPr/>
          <p:nvPr/>
        </p:nvSpPr>
        <p:spPr>
          <a:xfrm flipH="1">
            <a:off x="2599854" y="527562"/>
            <a:ext cx="6992292" cy="5102484"/>
          </a:xfrm>
          <a:custGeom>
            <a:rect b="b" l="l" r="r" t="t"/>
            <a:pathLst>
              <a:path extrusionOk="0" h="5025119" w="6886274">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217" name="Google Shape;217;p10"/>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18" name="Google Shape;218;p10"/>
          <p:cNvSpPr/>
          <p:nvPr/>
        </p:nvSpPr>
        <p:spPr>
          <a:xfrm flipH="1">
            <a:off x="0" y="0"/>
            <a:ext cx="5962785" cy="6858000"/>
          </a:xfrm>
          <a:custGeom>
            <a:rect b="b" l="l" r="r" t="t"/>
            <a:pathLst>
              <a:path extrusionOk="0" h="6858000" w="5962785">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19" name="Google Shape;219;p10"/>
          <p:cNvSpPr txBox="1"/>
          <p:nvPr>
            <p:ph idx="1" type="body"/>
          </p:nvPr>
        </p:nvSpPr>
        <p:spPr>
          <a:xfrm>
            <a:off x="643467" y="5277684"/>
            <a:ext cx="4620584" cy="775494"/>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None/>
            </a:pPr>
            <a:r>
              <a:t/>
            </a:r>
            <a:endParaRPr/>
          </a:p>
        </p:txBody>
      </p:sp>
      <p:sp>
        <p:nvSpPr>
          <p:cNvPr id="220" name="Google Shape;220;p10"/>
          <p:cNvSpPr txBox="1"/>
          <p:nvPr>
            <p:ph type="title"/>
          </p:nvPr>
        </p:nvSpPr>
        <p:spPr>
          <a:xfrm>
            <a:off x="643468" y="643467"/>
            <a:ext cx="4620584" cy="45671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entury Gothic"/>
              <a:buNone/>
            </a:pPr>
            <a:r>
              <a:rPr i="1" lang="en-US"/>
              <a:t>Why using Functions??</a:t>
            </a:r>
            <a:endParaRPr/>
          </a:p>
        </p:txBody>
      </p:sp>
      <p:pic>
        <p:nvPicPr>
          <p:cNvPr descr="Shape, circle&#10;&#10;Description automatically generated" id="221" name="Google Shape;221;p10"/>
          <p:cNvPicPr preferRelativeResize="0"/>
          <p:nvPr/>
        </p:nvPicPr>
        <p:blipFill rotWithShape="1">
          <a:blip r:embed="rId3">
            <a:alphaModFix/>
          </a:blip>
          <a:srcRect b="0" l="0" r="0" t="0"/>
          <a:stretch/>
        </p:blipFill>
        <p:spPr>
          <a:xfrm>
            <a:off x="7023791" y="2903400"/>
            <a:ext cx="4328095" cy="325420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t/>
            </a:r>
            <a:endParaRPr/>
          </a:p>
        </p:txBody>
      </p:sp>
      <p:sp>
        <p:nvSpPr>
          <p:cNvPr id="227" name="Google Shape;227;p11"/>
          <p:cNvSpPr txBox="1"/>
          <p:nvPr/>
        </p:nvSpPr>
        <p:spPr>
          <a:xfrm>
            <a:off x="838200" y="2134025"/>
            <a:ext cx="9492574" cy="294817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Functions provide a couple of benefits: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a:p>
            <a:pPr indent="-285750" lvl="0" marL="285750" marR="0" rtl="0" algn="l">
              <a:lnSpc>
                <a:spcPct val="15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    Reusability - Functions allow the same piece of code to run multiple times</a:t>
            </a:r>
            <a:endParaRPr b="0" i="0" sz="1400" u="none" cap="none" strike="noStrike">
              <a:solidFill>
                <a:srgbClr val="000000"/>
              </a:solidFill>
              <a:latin typeface="Arial"/>
              <a:ea typeface="Arial"/>
              <a:cs typeface="Arial"/>
              <a:sym typeface="Arial"/>
            </a:endParaRPr>
          </a:p>
          <a:p>
            <a:pPr indent="-171450" lvl="0" marL="285750" marR="0" rtl="0" algn="l">
              <a:lnSpc>
                <a:spcPct val="15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entury Gothic"/>
              <a:ea typeface="Century Gothic"/>
              <a:cs typeface="Century Gothic"/>
              <a:sym typeface="Century Gothic"/>
            </a:endParaRPr>
          </a:p>
          <a:p>
            <a:pPr indent="-285750" lvl="0" marL="285750" marR="0" rtl="0" algn="l">
              <a:lnSpc>
                <a:spcPct val="15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    Modularity - Functions break long programs up into smaller components</a:t>
            </a:r>
            <a:endParaRPr b="0" i="0" sz="1400" u="none" cap="none" strike="noStrike">
              <a:solidFill>
                <a:srgbClr val="000000"/>
              </a:solidFill>
              <a:latin typeface="Arial"/>
              <a:ea typeface="Arial"/>
              <a:cs typeface="Arial"/>
              <a:sym typeface="Arial"/>
            </a:endParaRPr>
          </a:p>
          <a:p>
            <a:pPr indent="-171450" lvl="0" marL="285750" marR="0" rtl="0" algn="l">
              <a:lnSpc>
                <a:spcPct val="15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entury Gothic"/>
              <a:ea typeface="Century Gothic"/>
              <a:cs typeface="Century Gothic"/>
              <a:sym typeface="Century Gothic"/>
            </a:endParaRPr>
          </a:p>
          <a:p>
            <a:pPr indent="-285750" lvl="0" marL="285750" marR="0" rtl="0" algn="l">
              <a:lnSpc>
                <a:spcPct val="15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    Portability - Functions can be shared and used by other programmers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i="1" lang="en-US"/>
              <a:t>Why using Functions??</a:t>
            </a:r>
            <a:endParaRPr/>
          </a:p>
        </p:txBody>
      </p:sp>
      <p:pic>
        <p:nvPicPr>
          <p:cNvPr id="233" name="Google Shape;233;p12"/>
          <p:cNvPicPr preferRelativeResize="0"/>
          <p:nvPr/>
        </p:nvPicPr>
        <p:blipFill rotWithShape="1">
          <a:blip r:embed="rId3">
            <a:alphaModFix/>
          </a:blip>
          <a:srcRect b="15841" l="14839" r="18710" t="12473"/>
          <a:stretch/>
        </p:blipFill>
        <p:spPr>
          <a:xfrm>
            <a:off x="196646" y="2674372"/>
            <a:ext cx="4075391" cy="2472931"/>
          </a:xfrm>
          <a:prstGeom prst="rect">
            <a:avLst/>
          </a:prstGeom>
          <a:solidFill>
            <a:srgbClr val="ECECEC"/>
          </a:solidFill>
          <a:ln cap="rnd" cmpd="sng" w="190500">
            <a:solidFill>
              <a:srgbClr val="FFFFFF"/>
            </a:solidFill>
            <a:prstDash val="solid"/>
            <a:round/>
            <a:headEnd len="sm" w="sm" type="none"/>
            <a:tailEnd len="sm" w="sm" type="none"/>
          </a:ln>
          <a:effectLst>
            <a:outerShdw blurRad="50000" rotWithShape="0" algn="tl">
              <a:srgbClr val="000000">
                <a:alpha val="40392"/>
              </a:srgbClr>
            </a:outerShdw>
          </a:effectLst>
        </p:spPr>
      </p:pic>
      <p:pic>
        <p:nvPicPr>
          <p:cNvPr id="234" name="Google Shape;234;p12"/>
          <p:cNvPicPr preferRelativeResize="0"/>
          <p:nvPr/>
        </p:nvPicPr>
        <p:blipFill rotWithShape="1">
          <a:blip r:embed="rId4">
            <a:alphaModFix/>
          </a:blip>
          <a:srcRect b="8817" l="1541" r="968" t="0"/>
          <a:stretch/>
        </p:blipFill>
        <p:spPr>
          <a:xfrm>
            <a:off x="4866968" y="2090445"/>
            <a:ext cx="7039896" cy="3703695"/>
          </a:xfrm>
          <a:prstGeom prst="rect">
            <a:avLst/>
          </a:prstGeom>
          <a:noFill/>
          <a:ln cap="sq" cmpd="thickThin" w="228600">
            <a:solidFill>
              <a:srgbClr val="000000"/>
            </a:solidFill>
            <a:prstDash val="solid"/>
            <a:miter lim="800000"/>
            <a:headEnd len="sm" w="sm" type="none"/>
            <a:tailEnd len="sm" w="sm" type="none"/>
          </a:ln>
        </p:spPr>
      </p:pic>
      <p:sp>
        <p:nvSpPr>
          <p:cNvPr id="235" name="Google Shape;235;p12"/>
          <p:cNvSpPr/>
          <p:nvPr/>
        </p:nvSpPr>
        <p:spPr>
          <a:xfrm>
            <a:off x="4365523" y="3746090"/>
            <a:ext cx="275303" cy="442452"/>
          </a:xfrm>
          <a:prstGeom prst="rightArrow">
            <a:avLst>
              <a:gd fmla="val 50000" name="adj1"/>
              <a:gd fmla="val 50000" name="adj2"/>
            </a:avLst>
          </a:prstGeom>
          <a:solidFill>
            <a:schemeClr val="accent1"/>
          </a:solidFill>
          <a:ln cap="flat" cmpd="sng" w="12700">
            <a:solidFill>
              <a:srgbClr val="107E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36" name="Google Shape;236;p12"/>
          <p:cNvSpPr txBox="1"/>
          <p:nvPr/>
        </p:nvSpPr>
        <p:spPr>
          <a:xfrm>
            <a:off x="5041357" y="6492875"/>
            <a:ext cx="7828335"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REF: https://www.futurelearn.com/info/courses/programming-102-think-like-a-computer-scientist/0/steps/53095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3"/>
          <p:cNvSpPr txBox="1"/>
          <p:nvPr>
            <p:ph type="title"/>
          </p:nvPr>
        </p:nvSpPr>
        <p:spPr>
          <a:xfrm>
            <a:off x="249563" y="10406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i="1" lang="en-US"/>
              <a:t>Why using Functions??</a:t>
            </a:r>
            <a:endParaRPr/>
          </a:p>
        </p:txBody>
      </p:sp>
      <p:pic>
        <p:nvPicPr>
          <p:cNvPr id="242" name="Google Shape;242;p13"/>
          <p:cNvPicPr preferRelativeResize="0"/>
          <p:nvPr/>
        </p:nvPicPr>
        <p:blipFill rotWithShape="1">
          <a:blip r:embed="rId3">
            <a:alphaModFix/>
          </a:blip>
          <a:srcRect b="8817" l="1541" r="968" t="0"/>
          <a:stretch/>
        </p:blipFill>
        <p:spPr>
          <a:xfrm>
            <a:off x="233217" y="3085185"/>
            <a:ext cx="6076343" cy="3196769"/>
          </a:xfrm>
          <a:prstGeom prst="rect">
            <a:avLst/>
          </a:prstGeom>
          <a:solidFill>
            <a:srgbClr val="ECECEC"/>
          </a:solidFill>
          <a:ln cap="rnd" cmpd="sng" w="190500">
            <a:solidFill>
              <a:srgbClr val="FFFFFF"/>
            </a:solidFill>
            <a:prstDash val="solid"/>
            <a:round/>
            <a:headEnd len="sm" w="sm" type="none"/>
            <a:tailEnd len="sm" w="sm" type="none"/>
          </a:ln>
          <a:effectLst>
            <a:outerShdw blurRad="50000" rotWithShape="0" algn="tl">
              <a:srgbClr val="000000">
                <a:alpha val="40392"/>
              </a:srgbClr>
            </a:outerShdw>
          </a:effectLst>
        </p:spPr>
      </p:pic>
      <p:sp>
        <p:nvSpPr>
          <p:cNvPr id="243" name="Google Shape;243;p13"/>
          <p:cNvSpPr txBox="1"/>
          <p:nvPr/>
        </p:nvSpPr>
        <p:spPr>
          <a:xfrm>
            <a:off x="5041357" y="6492875"/>
            <a:ext cx="7828335"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REF: https://www.futurelearn.com/info/courses/programming-102-think-like-a-computer-scientist/0/steps/53095</a:t>
            </a:r>
            <a:endParaRPr b="0" i="0" sz="1400" u="none" cap="none" strike="noStrike">
              <a:solidFill>
                <a:srgbClr val="000000"/>
              </a:solidFill>
              <a:latin typeface="Arial"/>
              <a:ea typeface="Arial"/>
              <a:cs typeface="Arial"/>
              <a:sym typeface="Arial"/>
            </a:endParaRPr>
          </a:p>
        </p:txBody>
      </p:sp>
      <p:pic>
        <p:nvPicPr>
          <p:cNvPr id="244" name="Google Shape;244;p13"/>
          <p:cNvPicPr preferRelativeResize="0"/>
          <p:nvPr/>
        </p:nvPicPr>
        <p:blipFill rotWithShape="1">
          <a:blip r:embed="rId4">
            <a:alphaModFix/>
          </a:blip>
          <a:srcRect b="5322" l="18342" r="24430" t="0"/>
          <a:stretch/>
        </p:blipFill>
        <p:spPr>
          <a:xfrm>
            <a:off x="7587502" y="2955357"/>
            <a:ext cx="3574775" cy="3326597"/>
          </a:xfrm>
          <a:prstGeom prst="rect">
            <a:avLst/>
          </a:prstGeom>
          <a:noFill/>
          <a:ln>
            <a:noFill/>
          </a:ln>
          <a:effectLst>
            <a:outerShdw blurRad="292100" rotWithShape="0" algn="tl" dir="2700000" dist="139700">
              <a:srgbClr val="333333">
                <a:alpha val="64313"/>
              </a:srgbClr>
            </a:outerShdw>
          </a:effectLst>
        </p:spPr>
      </p:pic>
      <p:cxnSp>
        <p:nvCxnSpPr>
          <p:cNvPr id="245" name="Google Shape;245;p13"/>
          <p:cNvCxnSpPr/>
          <p:nvPr/>
        </p:nvCxnSpPr>
        <p:spPr>
          <a:xfrm flipH="1" rot="10800000">
            <a:off x="4035919" y="3085135"/>
            <a:ext cx="5339100" cy="215700"/>
          </a:xfrm>
          <a:prstGeom prst="bentConnector4">
            <a:avLst>
              <a:gd fmla="val -264" name="adj1"/>
              <a:gd fmla="val 444977" name="adj2"/>
            </a:avLst>
          </a:prstGeom>
          <a:noFill/>
          <a:ln cap="flat" cmpd="sng" w="9525">
            <a:solidFill>
              <a:schemeClr val="accent1"/>
            </a:solidFill>
            <a:prstDash val="solid"/>
            <a:miter lim="800000"/>
            <a:headEnd len="sm" w="sm" type="none"/>
            <a:tailEnd len="sm" w="sm" type="none"/>
          </a:ln>
        </p:spPr>
      </p:cxnSp>
      <p:sp>
        <p:nvSpPr>
          <p:cNvPr id="246" name="Google Shape;246;p13"/>
          <p:cNvSpPr txBox="1"/>
          <p:nvPr/>
        </p:nvSpPr>
        <p:spPr>
          <a:xfrm>
            <a:off x="8755346" y="210693"/>
            <a:ext cx="3187091" cy="20467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dk1"/>
                </a:solidFill>
                <a:latin typeface="Century Gothic"/>
                <a:ea typeface="Century Gothic"/>
                <a:cs typeface="Century Gothic"/>
                <a:sym typeface="Century Gothic"/>
              </a:rPr>
              <a:t>Each unit is a function</a:t>
            </a:r>
            <a:endParaRPr b="0" i="0" sz="1400" u="none" cap="none" strike="noStrike">
              <a:solidFill>
                <a:srgbClr val="000000"/>
              </a:solidFill>
              <a:latin typeface="Arial"/>
              <a:ea typeface="Arial"/>
              <a:cs typeface="Arial"/>
              <a:sym typeface="Arial"/>
            </a:endParaRPr>
          </a:p>
          <a:p>
            <a:pPr indent="-285750" lvl="0" marL="457200" marR="0" rtl="0" algn="l">
              <a:lnSpc>
                <a:spcPct val="100000"/>
              </a:lnSpc>
              <a:spcBef>
                <a:spcPts val="600"/>
              </a:spcBef>
              <a:spcAft>
                <a:spcPts val="0"/>
              </a:spcAft>
              <a:buClr>
                <a:schemeClr val="dk1"/>
              </a:buClr>
              <a:buSzPts val="1700"/>
              <a:buFont typeface="Century Gothic"/>
              <a:buChar char="-"/>
            </a:pPr>
            <a:r>
              <a:rPr b="0" i="0" lang="en-US" sz="1700" u="none" cap="none" strike="noStrike">
                <a:solidFill>
                  <a:schemeClr val="dk1"/>
                </a:solidFill>
                <a:latin typeface="Century Gothic"/>
                <a:ea typeface="Century Gothic"/>
                <a:cs typeface="Century Gothic"/>
                <a:sym typeface="Century Gothic"/>
              </a:rPr>
              <a:t>Does a specific task.</a:t>
            </a:r>
            <a:endParaRPr b="0" i="0" sz="1400" u="none" cap="none" strike="noStrike">
              <a:solidFill>
                <a:srgbClr val="000000"/>
              </a:solidFill>
              <a:latin typeface="Arial"/>
              <a:ea typeface="Arial"/>
              <a:cs typeface="Arial"/>
              <a:sym typeface="Arial"/>
            </a:endParaRPr>
          </a:p>
          <a:p>
            <a:pPr indent="-285750" lvl="0" marL="457200" marR="0" rtl="0" algn="l">
              <a:lnSpc>
                <a:spcPct val="100000"/>
              </a:lnSpc>
              <a:spcBef>
                <a:spcPts val="600"/>
              </a:spcBef>
              <a:spcAft>
                <a:spcPts val="0"/>
              </a:spcAft>
              <a:buClr>
                <a:schemeClr val="dk1"/>
              </a:buClr>
              <a:buSzPts val="1700"/>
              <a:buFont typeface="Century Gothic"/>
              <a:buChar char="-"/>
            </a:pPr>
            <a:r>
              <a:rPr b="0" i="0" lang="en-US" sz="1700" u="none" cap="none" strike="noStrike">
                <a:solidFill>
                  <a:schemeClr val="dk1"/>
                </a:solidFill>
                <a:latin typeface="Century Gothic"/>
                <a:ea typeface="Century Gothic"/>
                <a:cs typeface="Century Gothic"/>
                <a:sym typeface="Century Gothic"/>
              </a:rPr>
              <a:t>Repetitive.</a:t>
            </a:r>
            <a:endParaRPr b="0" i="0" sz="1400" u="none" cap="none" strike="noStrike">
              <a:solidFill>
                <a:srgbClr val="000000"/>
              </a:solidFill>
              <a:latin typeface="Arial"/>
              <a:ea typeface="Arial"/>
              <a:cs typeface="Arial"/>
              <a:sym typeface="Arial"/>
            </a:endParaRPr>
          </a:p>
          <a:p>
            <a:pPr indent="-285750" lvl="0" marL="457200" marR="0" rtl="0" algn="l">
              <a:lnSpc>
                <a:spcPct val="100000"/>
              </a:lnSpc>
              <a:spcBef>
                <a:spcPts val="600"/>
              </a:spcBef>
              <a:spcAft>
                <a:spcPts val="0"/>
              </a:spcAft>
              <a:buClr>
                <a:schemeClr val="dk1"/>
              </a:buClr>
              <a:buSzPts val="1700"/>
              <a:buFont typeface="Century Gothic"/>
              <a:buChar char="-"/>
            </a:pPr>
            <a:r>
              <a:rPr b="0" i="0" lang="en-US" sz="1700" u="none" cap="none" strike="noStrike">
                <a:solidFill>
                  <a:schemeClr val="dk1"/>
                </a:solidFill>
                <a:latin typeface="Century Gothic"/>
                <a:ea typeface="Century Gothic"/>
                <a:cs typeface="Century Gothic"/>
                <a:sym typeface="Century Gothic"/>
              </a:rPr>
              <a:t>Takes specific input.</a:t>
            </a:r>
            <a:endParaRPr b="0" i="0" sz="1400" u="none" cap="none" strike="noStrike">
              <a:solidFill>
                <a:srgbClr val="000000"/>
              </a:solidFill>
              <a:latin typeface="Arial"/>
              <a:ea typeface="Arial"/>
              <a:cs typeface="Arial"/>
              <a:sym typeface="Arial"/>
            </a:endParaRPr>
          </a:p>
          <a:p>
            <a:pPr indent="-285750" lvl="0" marL="457200" marR="0" rtl="0" algn="l">
              <a:lnSpc>
                <a:spcPct val="100000"/>
              </a:lnSpc>
              <a:spcBef>
                <a:spcPts val="600"/>
              </a:spcBef>
              <a:spcAft>
                <a:spcPts val="0"/>
              </a:spcAft>
              <a:buClr>
                <a:schemeClr val="dk1"/>
              </a:buClr>
              <a:buSzPts val="1700"/>
              <a:buFont typeface="Century Gothic"/>
              <a:buChar char="-"/>
            </a:pPr>
            <a:r>
              <a:rPr b="0" i="0" lang="en-US" sz="1700" u="none" cap="none" strike="noStrike">
                <a:solidFill>
                  <a:schemeClr val="dk1"/>
                </a:solidFill>
                <a:latin typeface="Century Gothic"/>
                <a:ea typeface="Century Gothic"/>
                <a:cs typeface="Century Gothic"/>
                <a:sym typeface="Century Gothic"/>
              </a:rPr>
              <a:t>Process.</a:t>
            </a:r>
            <a:endParaRPr b="0" i="0" sz="1400" u="none" cap="none" strike="noStrike">
              <a:solidFill>
                <a:srgbClr val="000000"/>
              </a:solidFill>
              <a:latin typeface="Arial"/>
              <a:ea typeface="Arial"/>
              <a:cs typeface="Arial"/>
              <a:sym typeface="Arial"/>
            </a:endParaRPr>
          </a:p>
          <a:p>
            <a:pPr indent="-285750" lvl="0" marL="457200" marR="0" rtl="0" algn="l">
              <a:lnSpc>
                <a:spcPct val="100000"/>
              </a:lnSpc>
              <a:spcBef>
                <a:spcPts val="600"/>
              </a:spcBef>
              <a:spcAft>
                <a:spcPts val="0"/>
              </a:spcAft>
              <a:buClr>
                <a:schemeClr val="dk1"/>
              </a:buClr>
              <a:buSzPts val="1700"/>
              <a:buFont typeface="Century Gothic"/>
              <a:buChar char="-"/>
            </a:pPr>
            <a:r>
              <a:rPr b="0" i="0" lang="en-US" sz="1700" u="none" cap="none" strike="noStrike">
                <a:solidFill>
                  <a:schemeClr val="dk1"/>
                </a:solidFill>
                <a:latin typeface="Century Gothic"/>
                <a:ea typeface="Century Gothic"/>
                <a:cs typeface="Century Gothic"/>
                <a:sym typeface="Century Gothic"/>
              </a:rPr>
              <a:t>Produce specific output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4"/>
          <p:cNvSpPr txBox="1"/>
          <p:nvPr>
            <p:ph type="title"/>
          </p:nvPr>
        </p:nvSpPr>
        <p:spPr>
          <a:xfrm>
            <a:off x="249563" y="10406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i="1" lang="en-US"/>
              <a:t>Why using Functions??</a:t>
            </a:r>
            <a:endParaRPr/>
          </a:p>
        </p:txBody>
      </p:sp>
      <p:pic>
        <p:nvPicPr>
          <p:cNvPr id="252" name="Google Shape;252;p14"/>
          <p:cNvPicPr preferRelativeResize="0"/>
          <p:nvPr/>
        </p:nvPicPr>
        <p:blipFill rotWithShape="1">
          <a:blip r:embed="rId3">
            <a:alphaModFix/>
          </a:blip>
          <a:srcRect b="8817" l="1541" r="968" t="0"/>
          <a:stretch/>
        </p:blipFill>
        <p:spPr>
          <a:xfrm>
            <a:off x="233217" y="3085185"/>
            <a:ext cx="6076343" cy="3196769"/>
          </a:xfrm>
          <a:prstGeom prst="rect">
            <a:avLst/>
          </a:prstGeom>
          <a:solidFill>
            <a:srgbClr val="ECECEC"/>
          </a:solidFill>
          <a:ln cap="rnd" cmpd="sng" w="190500">
            <a:solidFill>
              <a:srgbClr val="FFFFFF"/>
            </a:solidFill>
            <a:prstDash val="solid"/>
            <a:round/>
            <a:headEnd len="sm" w="sm" type="none"/>
            <a:tailEnd len="sm" w="sm" type="none"/>
          </a:ln>
          <a:effectLst>
            <a:outerShdw blurRad="50000" rotWithShape="0" algn="tl">
              <a:srgbClr val="000000">
                <a:alpha val="40392"/>
              </a:srgbClr>
            </a:outerShdw>
          </a:effectLst>
        </p:spPr>
      </p:pic>
      <p:sp>
        <p:nvSpPr>
          <p:cNvPr id="253" name="Google Shape;253;p14"/>
          <p:cNvSpPr txBox="1"/>
          <p:nvPr/>
        </p:nvSpPr>
        <p:spPr>
          <a:xfrm>
            <a:off x="5041357" y="6492875"/>
            <a:ext cx="7828335"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REF: https://www.futurelearn.com/info/courses/programming-102-think-like-a-computer-scientist/0/steps/53095</a:t>
            </a:r>
            <a:endParaRPr b="0" i="0" sz="1400" u="none" cap="none" strike="noStrike">
              <a:solidFill>
                <a:srgbClr val="000000"/>
              </a:solidFill>
              <a:latin typeface="Arial"/>
              <a:ea typeface="Arial"/>
              <a:cs typeface="Arial"/>
              <a:sym typeface="Arial"/>
            </a:endParaRPr>
          </a:p>
        </p:txBody>
      </p:sp>
      <p:pic>
        <p:nvPicPr>
          <p:cNvPr id="254" name="Google Shape;254;p14"/>
          <p:cNvPicPr preferRelativeResize="0"/>
          <p:nvPr/>
        </p:nvPicPr>
        <p:blipFill rotWithShape="1">
          <a:blip r:embed="rId4">
            <a:alphaModFix/>
          </a:blip>
          <a:srcRect b="5322" l="18342" r="24430" t="0"/>
          <a:stretch/>
        </p:blipFill>
        <p:spPr>
          <a:xfrm>
            <a:off x="7587502" y="2955357"/>
            <a:ext cx="3574775" cy="3326597"/>
          </a:xfrm>
          <a:prstGeom prst="rect">
            <a:avLst/>
          </a:prstGeom>
          <a:noFill/>
          <a:ln>
            <a:noFill/>
          </a:ln>
          <a:effectLst>
            <a:outerShdw blurRad="292100" rotWithShape="0" algn="tl" dir="2700000" dist="139700">
              <a:srgbClr val="333333">
                <a:alpha val="64313"/>
              </a:srgbClr>
            </a:outerShdw>
          </a:effectLst>
        </p:spPr>
      </p:pic>
      <p:cxnSp>
        <p:nvCxnSpPr>
          <p:cNvPr id="255" name="Google Shape;255;p14"/>
          <p:cNvCxnSpPr/>
          <p:nvPr/>
        </p:nvCxnSpPr>
        <p:spPr>
          <a:xfrm flipH="1" rot="10800000">
            <a:off x="4035919" y="3085135"/>
            <a:ext cx="5339100" cy="215700"/>
          </a:xfrm>
          <a:prstGeom prst="bentConnector4">
            <a:avLst>
              <a:gd fmla="val -264" name="adj1"/>
              <a:gd fmla="val 444977" name="adj2"/>
            </a:avLst>
          </a:prstGeom>
          <a:noFill/>
          <a:ln cap="flat" cmpd="sng" w="9525">
            <a:solidFill>
              <a:schemeClr val="accent1"/>
            </a:solidFill>
            <a:prstDash val="solid"/>
            <a:miter lim="800000"/>
            <a:headEnd len="sm" w="sm" type="none"/>
            <a:tailEnd len="sm" w="sm" type="none"/>
          </a:ln>
        </p:spPr>
      </p:cxnSp>
      <p:sp>
        <p:nvSpPr>
          <p:cNvPr id="256" name="Google Shape;256;p14"/>
          <p:cNvSpPr txBox="1"/>
          <p:nvPr/>
        </p:nvSpPr>
        <p:spPr>
          <a:xfrm>
            <a:off x="8755346" y="210693"/>
            <a:ext cx="3187091" cy="20467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dk1"/>
                </a:solidFill>
                <a:latin typeface="Century Gothic"/>
                <a:ea typeface="Century Gothic"/>
                <a:cs typeface="Century Gothic"/>
                <a:sym typeface="Century Gothic"/>
              </a:rPr>
              <a:t>Each unit is a function</a:t>
            </a:r>
            <a:endParaRPr b="0" i="0" sz="1400" u="none" cap="none" strike="noStrike">
              <a:solidFill>
                <a:srgbClr val="000000"/>
              </a:solidFill>
              <a:latin typeface="Arial"/>
              <a:ea typeface="Arial"/>
              <a:cs typeface="Arial"/>
              <a:sym typeface="Arial"/>
            </a:endParaRPr>
          </a:p>
          <a:p>
            <a:pPr indent="-285750" lvl="0" marL="457200" marR="0" rtl="0" algn="l">
              <a:lnSpc>
                <a:spcPct val="100000"/>
              </a:lnSpc>
              <a:spcBef>
                <a:spcPts val="600"/>
              </a:spcBef>
              <a:spcAft>
                <a:spcPts val="0"/>
              </a:spcAft>
              <a:buClr>
                <a:schemeClr val="dk1"/>
              </a:buClr>
              <a:buSzPts val="1700"/>
              <a:buFont typeface="Century Gothic"/>
              <a:buChar char="-"/>
            </a:pPr>
            <a:r>
              <a:rPr b="0" i="0" lang="en-US" sz="1700" u="none" cap="none" strike="noStrike">
                <a:solidFill>
                  <a:schemeClr val="dk1"/>
                </a:solidFill>
                <a:latin typeface="Century Gothic"/>
                <a:ea typeface="Century Gothic"/>
                <a:cs typeface="Century Gothic"/>
                <a:sym typeface="Century Gothic"/>
              </a:rPr>
              <a:t>Does a specific task.</a:t>
            </a:r>
            <a:endParaRPr b="0" i="0" sz="1400" u="none" cap="none" strike="noStrike">
              <a:solidFill>
                <a:srgbClr val="000000"/>
              </a:solidFill>
              <a:latin typeface="Arial"/>
              <a:ea typeface="Arial"/>
              <a:cs typeface="Arial"/>
              <a:sym typeface="Arial"/>
            </a:endParaRPr>
          </a:p>
          <a:p>
            <a:pPr indent="-285750" lvl="0" marL="457200" marR="0" rtl="0" algn="l">
              <a:lnSpc>
                <a:spcPct val="100000"/>
              </a:lnSpc>
              <a:spcBef>
                <a:spcPts val="600"/>
              </a:spcBef>
              <a:spcAft>
                <a:spcPts val="0"/>
              </a:spcAft>
              <a:buClr>
                <a:schemeClr val="dk1"/>
              </a:buClr>
              <a:buSzPts val="1700"/>
              <a:buFont typeface="Century Gothic"/>
              <a:buChar char="-"/>
            </a:pPr>
            <a:r>
              <a:rPr b="0" i="0" lang="en-US" sz="1700" u="none" cap="none" strike="noStrike">
                <a:solidFill>
                  <a:schemeClr val="dk1"/>
                </a:solidFill>
                <a:latin typeface="Century Gothic"/>
                <a:ea typeface="Century Gothic"/>
                <a:cs typeface="Century Gothic"/>
                <a:sym typeface="Century Gothic"/>
              </a:rPr>
              <a:t>Repetitive.</a:t>
            </a:r>
            <a:endParaRPr b="0" i="0" sz="1400" u="none" cap="none" strike="noStrike">
              <a:solidFill>
                <a:srgbClr val="000000"/>
              </a:solidFill>
              <a:latin typeface="Arial"/>
              <a:ea typeface="Arial"/>
              <a:cs typeface="Arial"/>
              <a:sym typeface="Arial"/>
            </a:endParaRPr>
          </a:p>
          <a:p>
            <a:pPr indent="-285750" lvl="0" marL="457200" marR="0" rtl="0" algn="l">
              <a:lnSpc>
                <a:spcPct val="100000"/>
              </a:lnSpc>
              <a:spcBef>
                <a:spcPts val="600"/>
              </a:spcBef>
              <a:spcAft>
                <a:spcPts val="0"/>
              </a:spcAft>
              <a:buClr>
                <a:schemeClr val="dk1"/>
              </a:buClr>
              <a:buSzPts val="1700"/>
              <a:buFont typeface="Century Gothic"/>
              <a:buChar char="-"/>
            </a:pPr>
            <a:r>
              <a:rPr b="0" i="0" lang="en-US" sz="1700" u="none" cap="none" strike="noStrike">
                <a:solidFill>
                  <a:schemeClr val="dk1"/>
                </a:solidFill>
                <a:latin typeface="Century Gothic"/>
                <a:ea typeface="Century Gothic"/>
                <a:cs typeface="Century Gothic"/>
                <a:sym typeface="Century Gothic"/>
              </a:rPr>
              <a:t>Takes specific input.</a:t>
            </a:r>
            <a:endParaRPr b="0" i="0" sz="1400" u="none" cap="none" strike="noStrike">
              <a:solidFill>
                <a:srgbClr val="000000"/>
              </a:solidFill>
              <a:latin typeface="Arial"/>
              <a:ea typeface="Arial"/>
              <a:cs typeface="Arial"/>
              <a:sym typeface="Arial"/>
            </a:endParaRPr>
          </a:p>
          <a:p>
            <a:pPr indent="-285750" lvl="0" marL="457200" marR="0" rtl="0" algn="l">
              <a:lnSpc>
                <a:spcPct val="100000"/>
              </a:lnSpc>
              <a:spcBef>
                <a:spcPts val="600"/>
              </a:spcBef>
              <a:spcAft>
                <a:spcPts val="0"/>
              </a:spcAft>
              <a:buClr>
                <a:schemeClr val="dk1"/>
              </a:buClr>
              <a:buSzPts val="1700"/>
              <a:buFont typeface="Century Gothic"/>
              <a:buChar char="-"/>
            </a:pPr>
            <a:r>
              <a:rPr b="0" i="0" lang="en-US" sz="1700" u="none" cap="none" strike="noStrike">
                <a:solidFill>
                  <a:schemeClr val="dk1"/>
                </a:solidFill>
                <a:latin typeface="Century Gothic"/>
                <a:ea typeface="Century Gothic"/>
                <a:cs typeface="Century Gothic"/>
                <a:sym typeface="Century Gothic"/>
              </a:rPr>
              <a:t>Process.</a:t>
            </a:r>
            <a:endParaRPr b="0" i="0" sz="1400" u="none" cap="none" strike="noStrike">
              <a:solidFill>
                <a:srgbClr val="000000"/>
              </a:solidFill>
              <a:latin typeface="Arial"/>
              <a:ea typeface="Arial"/>
              <a:cs typeface="Arial"/>
              <a:sym typeface="Arial"/>
            </a:endParaRPr>
          </a:p>
          <a:p>
            <a:pPr indent="-285750" lvl="0" marL="457200" marR="0" rtl="0" algn="l">
              <a:lnSpc>
                <a:spcPct val="100000"/>
              </a:lnSpc>
              <a:spcBef>
                <a:spcPts val="600"/>
              </a:spcBef>
              <a:spcAft>
                <a:spcPts val="0"/>
              </a:spcAft>
              <a:buClr>
                <a:schemeClr val="dk1"/>
              </a:buClr>
              <a:buSzPts val="1700"/>
              <a:buFont typeface="Century Gothic"/>
              <a:buChar char="-"/>
            </a:pPr>
            <a:r>
              <a:rPr b="0" i="0" lang="en-US" sz="1700" u="none" cap="none" strike="noStrike">
                <a:solidFill>
                  <a:schemeClr val="dk1"/>
                </a:solidFill>
                <a:latin typeface="Century Gothic"/>
                <a:ea typeface="Century Gothic"/>
                <a:cs typeface="Century Gothic"/>
                <a:sym typeface="Century Gothic"/>
              </a:rPr>
              <a:t>Produce specific output</a:t>
            </a:r>
            <a:endParaRPr b="0" i="0" sz="1400" u="none" cap="none" strike="noStrike">
              <a:solidFill>
                <a:srgbClr val="000000"/>
              </a:solidFill>
              <a:latin typeface="Arial"/>
              <a:ea typeface="Arial"/>
              <a:cs typeface="Arial"/>
              <a:sym typeface="Arial"/>
            </a:endParaRPr>
          </a:p>
        </p:txBody>
      </p:sp>
      <p:sp>
        <p:nvSpPr>
          <p:cNvPr id="257" name="Google Shape;257;p14"/>
          <p:cNvSpPr txBox="1"/>
          <p:nvPr/>
        </p:nvSpPr>
        <p:spPr>
          <a:xfrm>
            <a:off x="6786663" y="957633"/>
            <a:ext cx="1217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Reusable</a:t>
            </a:r>
            <a:endParaRPr b="0" i="0" sz="1400" u="none" cap="none" strike="noStrike">
              <a:solidFill>
                <a:srgbClr val="000000"/>
              </a:solidFill>
              <a:latin typeface="Arial"/>
              <a:ea typeface="Arial"/>
              <a:cs typeface="Arial"/>
              <a:sym typeface="Arial"/>
            </a:endParaRPr>
          </a:p>
        </p:txBody>
      </p:sp>
      <p:sp>
        <p:nvSpPr>
          <p:cNvPr id="258" name="Google Shape;258;p14"/>
          <p:cNvSpPr txBox="1"/>
          <p:nvPr/>
        </p:nvSpPr>
        <p:spPr>
          <a:xfrm>
            <a:off x="6786663" y="468291"/>
            <a:ext cx="111921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Modular</a:t>
            </a:r>
            <a:endParaRPr b="0" i="0" sz="1400" u="none" cap="none" strike="noStrike">
              <a:solidFill>
                <a:srgbClr val="000000"/>
              </a:solidFill>
              <a:latin typeface="Arial"/>
              <a:ea typeface="Arial"/>
              <a:cs typeface="Arial"/>
              <a:sym typeface="Arial"/>
            </a:endParaRPr>
          </a:p>
        </p:txBody>
      </p:sp>
      <p:cxnSp>
        <p:nvCxnSpPr>
          <p:cNvPr id="259" name="Google Shape;259;p14"/>
          <p:cNvCxnSpPr>
            <a:stCxn id="258" idx="3"/>
          </p:cNvCxnSpPr>
          <p:nvPr/>
        </p:nvCxnSpPr>
        <p:spPr>
          <a:xfrm>
            <a:off x="7905880" y="652957"/>
            <a:ext cx="956100" cy="114000"/>
          </a:xfrm>
          <a:prstGeom prst="straightConnector1">
            <a:avLst/>
          </a:prstGeom>
          <a:noFill/>
          <a:ln cap="flat" cmpd="sng" w="9525">
            <a:solidFill>
              <a:schemeClr val="accent1"/>
            </a:solidFill>
            <a:prstDash val="solid"/>
            <a:miter lim="800000"/>
            <a:headEnd len="sm" w="sm" type="none"/>
            <a:tailEnd len="med" w="med" type="triangle"/>
          </a:ln>
        </p:spPr>
      </p:cxnSp>
      <p:cxnSp>
        <p:nvCxnSpPr>
          <p:cNvPr id="260" name="Google Shape;260;p14"/>
          <p:cNvCxnSpPr>
            <a:stCxn id="257" idx="3"/>
          </p:cNvCxnSpPr>
          <p:nvPr/>
        </p:nvCxnSpPr>
        <p:spPr>
          <a:xfrm flipH="1" rot="10800000">
            <a:off x="8003663" y="1066699"/>
            <a:ext cx="751800" cy="75600"/>
          </a:xfrm>
          <a:prstGeom prst="straightConnector1">
            <a:avLst/>
          </a:prstGeom>
          <a:noFill/>
          <a:ln cap="flat" cmpd="sng" w="9525">
            <a:solidFill>
              <a:schemeClr val="accent1"/>
            </a:solidFill>
            <a:prstDash val="solid"/>
            <a:miter lim="800000"/>
            <a:headEnd len="sm" w="sm" type="none"/>
            <a:tailEnd len="med" w="med" type="triangle"/>
          </a:ln>
        </p:spPr>
      </p:cxnSp>
      <p:sp>
        <p:nvSpPr>
          <p:cNvPr id="261" name="Google Shape;261;p14"/>
          <p:cNvSpPr txBox="1"/>
          <p:nvPr/>
        </p:nvSpPr>
        <p:spPr>
          <a:xfrm>
            <a:off x="6775442" y="1502561"/>
            <a:ext cx="11304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Portable</a:t>
            </a:r>
            <a:endParaRPr b="0" i="0" sz="1400" u="none" cap="none" strike="noStrike">
              <a:solidFill>
                <a:srgbClr val="000000"/>
              </a:solidFill>
              <a:latin typeface="Arial"/>
              <a:ea typeface="Arial"/>
              <a:cs typeface="Arial"/>
              <a:sym typeface="Arial"/>
            </a:endParaRPr>
          </a:p>
        </p:txBody>
      </p:sp>
      <p:cxnSp>
        <p:nvCxnSpPr>
          <p:cNvPr id="262" name="Google Shape;262;p14"/>
          <p:cNvCxnSpPr>
            <a:stCxn id="261" idx="3"/>
          </p:cNvCxnSpPr>
          <p:nvPr/>
        </p:nvCxnSpPr>
        <p:spPr>
          <a:xfrm flipH="1" rot="10800000">
            <a:off x="7905880" y="1658727"/>
            <a:ext cx="849600" cy="28500"/>
          </a:xfrm>
          <a:prstGeom prst="straightConnector1">
            <a:avLst/>
          </a:prstGeom>
          <a:noFill/>
          <a:ln cap="flat" cmpd="sng" w="9525">
            <a:solidFill>
              <a:schemeClr val="accent1"/>
            </a:solidFill>
            <a:prstDash val="solid"/>
            <a:miter lim="800000"/>
            <a:headEnd len="sm" w="sm" type="none"/>
            <a:tailEnd len="med" w="med" type="triangle"/>
          </a:ln>
        </p:spPr>
      </p:cxnSp>
      <p:sp>
        <p:nvSpPr>
          <p:cNvPr id="263" name="Google Shape;263;p14"/>
          <p:cNvSpPr/>
          <p:nvPr/>
        </p:nvSpPr>
        <p:spPr>
          <a:xfrm>
            <a:off x="8755346" y="1291640"/>
            <a:ext cx="152271" cy="835939"/>
          </a:xfrm>
          <a:prstGeom prst="lef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i="1" lang="en-US"/>
              <a:t>Why using Functions??</a:t>
            </a:r>
            <a:endParaRPr/>
          </a:p>
        </p:txBody>
      </p:sp>
      <p:sp>
        <p:nvSpPr>
          <p:cNvPr id="269" name="Google Shape;269;p15"/>
          <p:cNvSpPr txBox="1"/>
          <p:nvPr/>
        </p:nvSpPr>
        <p:spPr>
          <a:xfrm>
            <a:off x="838200" y="2081719"/>
            <a:ext cx="10181313" cy="159396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Lets take a very simple programming example now..</a:t>
            </a:r>
            <a:endParaRPr b="0" i="0" sz="1400" u="none" cap="none" strike="noStrike">
              <a:solidFill>
                <a:srgbClr val="000000"/>
              </a:solidFill>
              <a:latin typeface="Arial"/>
              <a:ea typeface="Arial"/>
              <a:cs typeface="Arial"/>
              <a:sym typeface="Arial"/>
            </a:endParaRPr>
          </a:p>
          <a:p>
            <a:pPr indent="0" lvl="0" marL="233363" marR="0" rtl="0" algn="l">
              <a:lnSpc>
                <a:spcPct val="150000"/>
              </a:lnSpc>
              <a:spcBef>
                <a:spcPts val="120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You are supposed to add 5 numbers.. Taking two numbers at a time and adding them..</a:t>
            </a:r>
            <a:endParaRPr b="0" i="0" sz="1400" u="none" cap="none" strike="noStrike">
              <a:solidFill>
                <a:srgbClr val="000000"/>
              </a:solidFill>
              <a:latin typeface="Arial"/>
              <a:ea typeface="Arial"/>
              <a:cs typeface="Arial"/>
              <a:sym typeface="Arial"/>
            </a:endParaRPr>
          </a:p>
          <a:p>
            <a:pPr indent="0" lvl="0" marL="233363" marR="0" rtl="0" algn="l">
              <a:lnSpc>
                <a:spcPct val="150000"/>
              </a:lnSpc>
              <a:spcBef>
                <a:spcPts val="120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How this problem can be coded!!?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i="1" lang="en-US"/>
              <a:t>Why using Functions??</a:t>
            </a:r>
            <a:endParaRPr/>
          </a:p>
        </p:txBody>
      </p:sp>
      <p:sp>
        <p:nvSpPr>
          <p:cNvPr id="275" name="Google Shape;275;p16"/>
          <p:cNvSpPr txBox="1"/>
          <p:nvPr/>
        </p:nvSpPr>
        <p:spPr>
          <a:xfrm>
            <a:off x="147536" y="1463093"/>
            <a:ext cx="10181313" cy="455189"/>
          </a:xfrm>
          <a:prstGeom prst="rect">
            <a:avLst/>
          </a:prstGeom>
          <a:noFill/>
          <a:ln>
            <a:noFill/>
          </a:ln>
        </p:spPr>
        <p:txBody>
          <a:bodyPr anchorCtr="0" anchor="t" bIns="45700" lIns="91425" spcFirstLastPara="1" rIns="91425" wrap="square" tIns="45700">
            <a:spAutoFit/>
          </a:bodyPr>
          <a:lstStyle/>
          <a:p>
            <a:pPr indent="0" lvl="0" marL="233363"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You are supposed to add 5 numbers.. Taking two numbers at a time and adding them..</a:t>
            </a:r>
            <a:endParaRPr b="0" i="0" sz="1400" u="none" cap="none" strike="noStrike">
              <a:solidFill>
                <a:srgbClr val="000000"/>
              </a:solidFill>
              <a:latin typeface="Arial"/>
              <a:ea typeface="Arial"/>
              <a:cs typeface="Arial"/>
              <a:sym typeface="Arial"/>
            </a:endParaRPr>
          </a:p>
        </p:txBody>
      </p:sp>
      <p:sp>
        <p:nvSpPr>
          <p:cNvPr id="276" name="Google Shape;276;p16"/>
          <p:cNvSpPr txBox="1"/>
          <p:nvPr/>
        </p:nvSpPr>
        <p:spPr>
          <a:xfrm>
            <a:off x="1276754" y="2148281"/>
            <a:ext cx="3402250" cy="4247317"/>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n1</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input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'number: '</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input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'number: '</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267F99"/>
                </a:solidFill>
                <a:latin typeface="Consolas"/>
                <a:ea typeface="Consolas"/>
                <a:cs typeface="Consolas"/>
                <a:sym typeface="Consolas"/>
              </a:rPr>
              <a:t>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n1</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267F99"/>
                </a:solidFill>
                <a:latin typeface="Consolas"/>
                <a:ea typeface="Consolas"/>
                <a:cs typeface="Consolas"/>
                <a:sym typeface="Consolas"/>
              </a:rPr>
              <a:t>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001080"/>
                </a:solidFill>
                <a:latin typeface="Consolas"/>
                <a:ea typeface="Consolas"/>
                <a:cs typeface="Consolas"/>
                <a:sym typeface="Consolas"/>
              </a:rPr>
              <a:t>n3</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input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'number: '</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267F99"/>
                </a:solidFill>
                <a:latin typeface="Consolas"/>
                <a:ea typeface="Consolas"/>
                <a:cs typeface="Consolas"/>
                <a:sym typeface="Consolas"/>
              </a:rPr>
              <a:t>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n3</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001080"/>
                </a:solidFill>
                <a:latin typeface="Consolas"/>
                <a:ea typeface="Consolas"/>
                <a:cs typeface="Consolas"/>
                <a:sym typeface="Consolas"/>
              </a:rPr>
              <a:t>n4</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input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'number: '</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267F99"/>
                </a:solidFill>
                <a:latin typeface="Consolas"/>
                <a:ea typeface="Consolas"/>
                <a:cs typeface="Consolas"/>
                <a:sym typeface="Consolas"/>
              </a:rPr>
              <a:t>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n4</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001080"/>
                </a:solidFill>
                <a:latin typeface="Consolas"/>
                <a:ea typeface="Consolas"/>
                <a:cs typeface="Consolas"/>
                <a:sym typeface="Consolas"/>
              </a:rPr>
              <a:t>n5</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input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'number: '</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267F99"/>
                </a:solidFill>
                <a:latin typeface="Consolas"/>
                <a:ea typeface="Consolas"/>
                <a:cs typeface="Consolas"/>
                <a:sym typeface="Consolas"/>
              </a:rPr>
              <a:t>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n5</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795E26"/>
                </a:solidFill>
                <a:latin typeface="Consolas"/>
                <a:ea typeface="Consolas"/>
                <a:cs typeface="Consolas"/>
                <a:sym typeface="Consolas"/>
              </a:rPr>
              <a:t>print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'Result is: '</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277" name="Google Shape;277;p16"/>
          <p:cNvSpPr txBox="1"/>
          <p:nvPr/>
        </p:nvSpPr>
        <p:spPr>
          <a:xfrm>
            <a:off x="6945549" y="4271939"/>
            <a:ext cx="296106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Is this a smart solution???</a:t>
            </a:r>
            <a:endParaRPr b="0" i="0" sz="1400" u="none" cap="none" strike="noStrike">
              <a:solidFill>
                <a:srgbClr val="000000"/>
              </a:solidFill>
              <a:latin typeface="Arial"/>
              <a:ea typeface="Arial"/>
              <a:cs typeface="Arial"/>
              <a:sym typeface="Arial"/>
            </a:endParaRPr>
          </a:p>
        </p:txBody>
      </p:sp>
      <p:pic>
        <p:nvPicPr>
          <p:cNvPr descr="Smart Nerd Geek Dork Teeth Glasses Spectacles Emoji - Nerd Emoji Twitter,  HD Png Download , Transparent Png Image - PNGitem" id="278" name="Google Shape;278;p16"/>
          <p:cNvPicPr preferRelativeResize="0"/>
          <p:nvPr/>
        </p:nvPicPr>
        <p:blipFill rotWithShape="1">
          <a:blip r:embed="rId3">
            <a:alphaModFix/>
          </a:blip>
          <a:srcRect b="0" l="0" r="0" t="0"/>
          <a:stretch/>
        </p:blipFill>
        <p:spPr>
          <a:xfrm>
            <a:off x="7611137" y="2586061"/>
            <a:ext cx="1542590" cy="1620072"/>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568"/>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i="1" lang="en-US"/>
              <a:t>Why using Functions??</a:t>
            </a:r>
            <a:endParaRPr/>
          </a:p>
        </p:txBody>
      </p:sp>
      <p:sp>
        <p:nvSpPr>
          <p:cNvPr id="284" name="Google Shape;284;p17"/>
          <p:cNvSpPr txBox="1"/>
          <p:nvPr/>
        </p:nvSpPr>
        <p:spPr>
          <a:xfrm>
            <a:off x="147536" y="1463093"/>
            <a:ext cx="10181313" cy="455189"/>
          </a:xfrm>
          <a:prstGeom prst="rect">
            <a:avLst/>
          </a:prstGeom>
          <a:noFill/>
          <a:ln>
            <a:noFill/>
          </a:ln>
        </p:spPr>
        <p:txBody>
          <a:bodyPr anchorCtr="0" anchor="t" bIns="45700" lIns="91425" spcFirstLastPara="1" rIns="91425" wrap="square" tIns="45700">
            <a:spAutoFit/>
          </a:bodyPr>
          <a:lstStyle/>
          <a:p>
            <a:pPr indent="0" lvl="0" marL="233363"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You are supposed to add 5 numbers.. Taking two numbers at a time and adding them..</a:t>
            </a:r>
            <a:endParaRPr b="0" i="0" sz="1400" u="none" cap="none" strike="noStrike">
              <a:solidFill>
                <a:srgbClr val="000000"/>
              </a:solidFill>
              <a:latin typeface="Arial"/>
              <a:ea typeface="Arial"/>
              <a:cs typeface="Arial"/>
              <a:sym typeface="Arial"/>
            </a:endParaRPr>
          </a:p>
        </p:txBody>
      </p:sp>
      <p:sp>
        <p:nvSpPr>
          <p:cNvPr id="285" name="Google Shape;285;p17"/>
          <p:cNvSpPr txBox="1"/>
          <p:nvPr/>
        </p:nvSpPr>
        <p:spPr>
          <a:xfrm>
            <a:off x="1276754" y="2148281"/>
            <a:ext cx="3402250" cy="4247317"/>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n1</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input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'number: '</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input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'number: '</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267F99"/>
                </a:solidFill>
                <a:latin typeface="Consolas"/>
                <a:ea typeface="Consolas"/>
                <a:cs typeface="Consolas"/>
                <a:sym typeface="Consolas"/>
              </a:rPr>
              <a:t>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n1</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267F99"/>
                </a:solidFill>
                <a:latin typeface="Consolas"/>
                <a:ea typeface="Consolas"/>
                <a:cs typeface="Consolas"/>
                <a:sym typeface="Consolas"/>
              </a:rPr>
              <a:t>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001080"/>
                </a:solidFill>
                <a:latin typeface="Consolas"/>
                <a:ea typeface="Consolas"/>
                <a:cs typeface="Consolas"/>
                <a:sym typeface="Consolas"/>
              </a:rPr>
              <a:t>n3</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input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'number: '</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267F99"/>
                </a:solidFill>
                <a:latin typeface="Consolas"/>
                <a:ea typeface="Consolas"/>
                <a:cs typeface="Consolas"/>
                <a:sym typeface="Consolas"/>
              </a:rPr>
              <a:t>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n3</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001080"/>
                </a:solidFill>
                <a:latin typeface="Consolas"/>
                <a:ea typeface="Consolas"/>
                <a:cs typeface="Consolas"/>
                <a:sym typeface="Consolas"/>
              </a:rPr>
              <a:t>n4</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input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'number: '</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267F99"/>
                </a:solidFill>
                <a:latin typeface="Consolas"/>
                <a:ea typeface="Consolas"/>
                <a:cs typeface="Consolas"/>
                <a:sym typeface="Consolas"/>
              </a:rPr>
              <a:t>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n4</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001080"/>
                </a:solidFill>
                <a:latin typeface="Consolas"/>
                <a:ea typeface="Consolas"/>
                <a:cs typeface="Consolas"/>
                <a:sym typeface="Consolas"/>
              </a:rPr>
              <a:t>n5</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input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'number: '</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267F99"/>
                </a:solidFill>
                <a:latin typeface="Consolas"/>
                <a:ea typeface="Consolas"/>
                <a:cs typeface="Consolas"/>
                <a:sym typeface="Consolas"/>
              </a:rPr>
              <a:t>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n5</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795E26"/>
                </a:solidFill>
                <a:latin typeface="Consolas"/>
                <a:ea typeface="Consolas"/>
                <a:cs typeface="Consolas"/>
                <a:sym typeface="Consolas"/>
              </a:rPr>
              <a:t>print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'Result is: '</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286" name="Google Shape;286;p17"/>
          <p:cNvSpPr txBox="1"/>
          <p:nvPr/>
        </p:nvSpPr>
        <p:spPr>
          <a:xfrm>
            <a:off x="6251055" y="2148281"/>
            <a:ext cx="5538868" cy="4108817"/>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Consolas"/>
                <a:ea typeface="Consolas"/>
                <a:cs typeface="Consolas"/>
                <a:sym typeface="Consolas"/>
              </a:rPr>
              <a:t>def</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795E26"/>
                </a:solidFill>
                <a:latin typeface="Consolas"/>
                <a:ea typeface="Consolas"/>
                <a:cs typeface="Consolas"/>
                <a:sym typeface="Consolas"/>
              </a:rPr>
              <a:t>getInput</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n</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input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'Enter number: '</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AF00DB"/>
                </a:solidFill>
                <a:latin typeface="Consolas"/>
                <a:ea typeface="Consolas"/>
                <a:cs typeface="Consolas"/>
                <a:sym typeface="Consolas"/>
              </a:rPr>
              <a:t>return</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267F99"/>
                </a:solidFill>
                <a:latin typeface="Consolas"/>
                <a:ea typeface="Consolas"/>
                <a:cs typeface="Consolas"/>
                <a:sym typeface="Consolas"/>
              </a:rPr>
              <a:t>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0000FF"/>
                </a:solidFill>
                <a:latin typeface="Consolas"/>
                <a:ea typeface="Consolas"/>
                <a:cs typeface="Consolas"/>
                <a:sym typeface="Consolas"/>
              </a:rPr>
              <a:t>def</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795E26"/>
                </a:solidFill>
                <a:latin typeface="Consolas"/>
                <a:ea typeface="Consolas"/>
                <a:cs typeface="Consolas"/>
                <a:sym typeface="Consolas"/>
              </a:rPr>
              <a:t>addnumber</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n1</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AF00DB"/>
                </a:solidFill>
                <a:latin typeface="Consolas"/>
                <a:ea typeface="Consolas"/>
                <a:cs typeface="Consolas"/>
                <a:sym typeface="Consolas"/>
              </a:rPr>
              <a:t>return</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n1</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n2</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addnumber</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795E26"/>
                </a:solidFill>
                <a:latin typeface="Consolas"/>
                <a:ea typeface="Consolas"/>
                <a:cs typeface="Consolas"/>
                <a:sym typeface="Consolas"/>
              </a:rPr>
              <a:t>getInput</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795E26"/>
                </a:solidFill>
                <a:latin typeface="Consolas"/>
                <a:ea typeface="Consolas"/>
                <a:cs typeface="Consolas"/>
                <a:sym typeface="Consolas"/>
              </a:rPr>
              <a:t>getInput</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addnumber</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795E26"/>
                </a:solidFill>
                <a:latin typeface="Consolas"/>
                <a:ea typeface="Consolas"/>
                <a:cs typeface="Consolas"/>
                <a:sym typeface="Consolas"/>
              </a:rPr>
              <a:t>getInput</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addnumber</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795E26"/>
                </a:solidFill>
                <a:latin typeface="Consolas"/>
                <a:ea typeface="Consolas"/>
                <a:cs typeface="Consolas"/>
                <a:sym typeface="Consolas"/>
              </a:rPr>
              <a:t>getInput</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addnumber</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795E26"/>
                </a:solidFill>
                <a:latin typeface="Consolas"/>
                <a:ea typeface="Consolas"/>
                <a:cs typeface="Consolas"/>
                <a:sym typeface="Consolas"/>
              </a:rPr>
              <a:t>getInput</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795E26"/>
                </a:solidFill>
                <a:latin typeface="Consolas"/>
                <a:ea typeface="Consolas"/>
                <a:cs typeface="Consolas"/>
                <a:sym typeface="Consolas"/>
              </a:rPr>
              <a:t>print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'Result is: '</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add</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287" name="Google Shape;287;p17"/>
          <p:cNvSpPr/>
          <p:nvPr/>
        </p:nvSpPr>
        <p:spPr>
          <a:xfrm>
            <a:off x="4922196" y="3784060"/>
            <a:ext cx="1018750" cy="963038"/>
          </a:xfrm>
          <a:prstGeom prst="rightArrow">
            <a:avLst>
              <a:gd fmla="val 50000" name="adj1"/>
              <a:gd fmla="val 50000" name="adj2"/>
            </a:avLst>
          </a:prstGeom>
          <a:solidFill>
            <a:schemeClr val="accent1"/>
          </a:solidFill>
          <a:ln cap="flat" cmpd="sng" w="12700">
            <a:solidFill>
              <a:srgbClr val="107E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pic>
        <p:nvPicPr>
          <p:cNvPr descr="Smart Nerd Geek Dork Teeth Glasses Spectacles Emoji - Nerd Emoji Twitter,  HD Png Download , Transparent Png Image - PNGitem" id="288" name="Google Shape;288;p17"/>
          <p:cNvPicPr preferRelativeResize="0"/>
          <p:nvPr/>
        </p:nvPicPr>
        <p:blipFill rotWithShape="1">
          <a:blip r:embed="rId3">
            <a:alphaModFix/>
          </a:blip>
          <a:srcRect b="0" l="0" r="0" t="0"/>
          <a:stretch/>
        </p:blipFill>
        <p:spPr>
          <a:xfrm>
            <a:off x="10577511" y="801530"/>
            <a:ext cx="1414205" cy="1485238"/>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568"/>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8"/>
          <p:cNvSpPr txBox="1"/>
          <p:nvPr>
            <p:ph type="title"/>
          </p:nvPr>
        </p:nvSpPr>
        <p:spPr>
          <a:xfrm>
            <a:off x="543616" y="1747023"/>
            <a:ext cx="5266944" cy="313639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Font typeface="Century Gothic"/>
              <a:buNone/>
            </a:pPr>
            <a:r>
              <a:rPr lang="en-US"/>
              <a:t>Function </a:t>
            </a:r>
            <a:r>
              <a:rPr b="1" lang="en-US"/>
              <a:t>Arguments</a:t>
            </a:r>
            <a:r>
              <a:rPr lang="en-US"/>
              <a:t> / </a:t>
            </a:r>
            <a:r>
              <a:rPr b="1" lang="en-US"/>
              <a:t>Parameters</a:t>
            </a:r>
            <a:r>
              <a:rPr lang="en-US"/>
              <a:t> </a:t>
            </a:r>
            <a:endParaRPr/>
          </a:p>
        </p:txBody>
      </p:sp>
      <p:sp>
        <p:nvSpPr>
          <p:cNvPr id="294" name="Google Shape;294;p18"/>
          <p:cNvSpPr txBox="1"/>
          <p:nvPr/>
        </p:nvSpPr>
        <p:spPr>
          <a:xfrm>
            <a:off x="6594543" y="3315219"/>
            <a:ext cx="4491748" cy="1937133"/>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def </a:t>
            </a:r>
            <a:r>
              <a:rPr b="0" i="1" lang="en-US" sz="1800" u="none" cap="none" strike="noStrike">
                <a:solidFill>
                  <a:schemeClr val="dk1"/>
                </a:solidFill>
                <a:latin typeface="Arial"/>
                <a:ea typeface="Arial"/>
                <a:cs typeface="Arial"/>
                <a:sym typeface="Arial"/>
              </a:rPr>
              <a:t>functionname </a:t>
            </a:r>
            <a:r>
              <a:rPr b="0" i="0" lang="en-US" sz="1800" u="none" cap="none" strike="noStrike">
                <a:solidFill>
                  <a:schemeClr val="dk1"/>
                </a:solidFill>
                <a:latin typeface="Arial"/>
                <a:ea typeface="Arial"/>
                <a:cs typeface="Arial"/>
                <a:sym typeface="Arial"/>
              </a:rPr>
              <a:t>( </a:t>
            </a:r>
            <a:r>
              <a:rPr b="1" i="0" lang="en-US" sz="1800" u="none" cap="none" strike="noStrike">
                <a:solidFill>
                  <a:srgbClr val="FF0000"/>
                </a:solidFill>
                <a:latin typeface="Arial"/>
                <a:ea typeface="Arial"/>
                <a:cs typeface="Arial"/>
                <a:sym typeface="Arial"/>
              </a:rPr>
              <a:t>parameters</a:t>
            </a:r>
            <a:r>
              <a:rPr b="0" i="0" lang="en-US" sz="18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739775"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"function_docstring"</a:t>
            </a:r>
            <a:endParaRPr b="0" i="0" sz="1400" u="none" cap="none" strike="noStrike">
              <a:solidFill>
                <a:srgbClr val="000000"/>
              </a:solidFill>
              <a:latin typeface="Arial"/>
              <a:ea typeface="Arial"/>
              <a:cs typeface="Arial"/>
              <a:sym typeface="Arial"/>
            </a:endParaRPr>
          </a:p>
          <a:p>
            <a:pPr indent="0" lvl="0" marL="739775"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function_suite</a:t>
            </a:r>
            <a:endParaRPr b="0" i="0" sz="1800" u="none" cap="none" strike="noStrike">
              <a:solidFill>
                <a:schemeClr val="dk1"/>
              </a:solidFill>
              <a:latin typeface="Arial"/>
              <a:ea typeface="Arial"/>
              <a:cs typeface="Arial"/>
              <a:sym typeface="Arial"/>
            </a:endParaRPr>
          </a:p>
          <a:p>
            <a:pPr indent="0" lvl="0" marL="739775"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return [expression]</a:t>
            </a:r>
            <a:endParaRPr b="0" i="0" sz="1400" u="none" cap="none" strike="noStrike">
              <a:solidFill>
                <a:srgbClr val="000000"/>
              </a:solidFill>
              <a:latin typeface="Arial"/>
              <a:ea typeface="Arial"/>
              <a:cs typeface="Arial"/>
              <a:sym typeface="Arial"/>
            </a:endParaRPr>
          </a:p>
        </p:txBody>
      </p:sp>
      <p:sp>
        <p:nvSpPr>
          <p:cNvPr id="295" name="Google Shape;295;p18"/>
          <p:cNvSpPr txBox="1"/>
          <p:nvPr/>
        </p:nvSpPr>
        <p:spPr>
          <a:xfrm>
            <a:off x="8133835" y="1926394"/>
            <a:ext cx="3640391" cy="58477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Passing inputs / parameters (Any input parameters) to the function</a:t>
            </a:r>
            <a:endParaRPr b="0" i="0" sz="1400" u="none" cap="none" strike="noStrike">
              <a:solidFill>
                <a:srgbClr val="000000"/>
              </a:solidFill>
              <a:latin typeface="Arial"/>
              <a:ea typeface="Arial"/>
              <a:cs typeface="Arial"/>
              <a:sym typeface="Arial"/>
            </a:endParaRPr>
          </a:p>
        </p:txBody>
      </p:sp>
      <p:cxnSp>
        <p:nvCxnSpPr>
          <p:cNvPr id="296" name="Google Shape;296;p18"/>
          <p:cNvCxnSpPr>
            <a:stCxn id="295" idx="2"/>
          </p:cNvCxnSpPr>
          <p:nvPr/>
        </p:nvCxnSpPr>
        <p:spPr>
          <a:xfrm>
            <a:off x="9954031" y="2511169"/>
            <a:ext cx="15000" cy="917700"/>
          </a:xfrm>
          <a:prstGeom prst="straightConnector1">
            <a:avLst/>
          </a:prstGeom>
          <a:noFill/>
          <a:ln cap="flat" cmpd="sng" w="38100">
            <a:solidFill>
              <a:srgbClr val="FF0000"/>
            </a:solidFill>
            <a:prstDash val="solid"/>
            <a:miter lim="800000"/>
            <a:headEnd len="sm" w="sm"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Function Arguments / Parameters</a:t>
            </a:r>
            <a:endParaRPr/>
          </a:p>
        </p:txBody>
      </p:sp>
      <p:sp>
        <p:nvSpPr>
          <p:cNvPr id="302" name="Google Shape;302;p19"/>
          <p:cNvSpPr txBox="1"/>
          <p:nvPr/>
        </p:nvSpPr>
        <p:spPr>
          <a:xfrm>
            <a:off x="961611" y="2253663"/>
            <a:ext cx="8649528" cy="211718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You can call a function by using the following types of formal arguments-</a:t>
            </a:r>
            <a:endParaRPr b="0" i="0" sz="1400" u="none" cap="none" strike="noStrike">
              <a:solidFill>
                <a:srgbClr val="000000"/>
              </a:solidFill>
              <a:latin typeface="Arial"/>
              <a:ea typeface="Arial"/>
              <a:cs typeface="Arial"/>
              <a:sym typeface="Arial"/>
            </a:endParaRPr>
          </a:p>
          <a:p>
            <a:pPr indent="-285750" lvl="0" marL="457200" marR="0" rtl="0" algn="l">
              <a:lnSpc>
                <a:spcPct val="15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Required arguments</a:t>
            </a:r>
            <a:endParaRPr b="0" i="0" sz="1400" u="none" cap="none" strike="noStrike">
              <a:solidFill>
                <a:srgbClr val="000000"/>
              </a:solidFill>
              <a:latin typeface="Arial"/>
              <a:ea typeface="Arial"/>
              <a:cs typeface="Arial"/>
              <a:sym typeface="Arial"/>
            </a:endParaRPr>
          </a:p>
          <a:p>
            <a:pPr indent="-285750" lvl="0" marL="457200" marR="0" rtl="0" algn="l">
              <a:lnSpc>
                <a:spcPct val="15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Keyword arguments</a:t>
            </a:r>
            <a:endParaRPr b="0" i="0" sz="1400" u="none" cap="none" strike="noStrike">
              <a:solidFill>
                <a:srgbClr val="000000"/>
              </a:solidFill>
              <a:latin typeface="Arial"/>
              <a:ea typeface="Arial"/>
              <a:cs typeface="Arial"/>
              <a:sym typeface="Arial"/>
            </a:endParaRPr>
          </a:p>
          <a:p>
            <a:pPr indent="-285750" lvl="0" marL="457200" marR="0" rtl="0" algn="l">
              <a:lnSpc>
                <a:spcPct val="15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Default arguments</a:t>
            </a:r>
            <a:endParaRPr b="0" i="0" sz="1400" u="none" cap="none" strike="noStrike">
              <a:solidFill>
                <a:srgbClr val="000000"/>
              </a:solidFill>
              <a:latin typeface="Arial"/>
              <a:ea typeface="Arial"/>
              <a:cs typeface="Arial"/>
              <a:sym typeface="Arial"/>
            </a:endParaRPr>
          </a:p>
          <a:p>
            <a:pPr indent="-285750" lvl="0" marL="457200" marR="0" rtl="0" algn="l">
              <a:lnSpc>
                <a:spcPct val="15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Variable-length arguments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0"/>
          <p:cNvSpPr txBox="1"/>
          <p:nvPr>
            <p:ph type="title"/>
          </p:nvPr>
        </p:nvSpPr>
        <p:spPr>
          <a:xfrm>
            <a:off x="381000" y="73296"/>
            <a:ext cx="10515600" cy="1325563"/>
          </a:xfrm>
          <a:prstGeom prst="rect">
            <a:avLst/>
          </a:prstGeom>
          <a:noFill/>
          <a:ln>
            <a:noFill/>
          </a:ln>
        </p:spPr>
        <p:txBody>
          <a:bodyPr anchorCtr="0" anchor="ctr" bIns="45700" lIns="91425" spcFirstLastPara="1" rIns="91425" wrap="square" tIns="45700">
            <a:normAutofit/>
          </a:bodyPr>
          <a:lstStyle/>
          <a:p>
            <a:pPr indent="0" lvl="0" marL="171450" rtl="0" algn="l">
              <a:lnSpc>
                <a:spcPct val="150000"/>
              </a:lnSpc>
              <a:spcBef>
                <a:spcPts val="0"/>
              </a:spcBef>
              <a:spcAft>
                <a:spcPts val="0"/>
              </a:spcAft>
              <a:buClr>
                <a:schemeClr val="dk1"/>
              </a:buClr>
              <a:buSzPts val="4000"/>
              <a:buFont typeface="Century Gothic"/>
              <a:buNone/>
            </a:pPr>
            <a:r>
              <a:rPr lang="en-US"/>
              <a:t>Required arguments</a:t>
            </a:r>
            <a:endParaRPr/>
          </a:p>
        </p:txBody>
      </p:sp>
      <p:sp>
        <p:nvSpPr>
          <p:cNvPr id="308" name="Google Shape;308;p20"/>
          <p:cNvSpPr txBox="1"/>
          <p:nvPr/>
        </p:nvSpPr>
        <p:spPr>
          <a:xfrm>
            <a:off x="514138" y="1398859"/>
            <a:ext cx="10799129" cy="87068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Required arguments are the arguments passed to a function in </a:t>
            </a:r>
            <a:r>
              <a:rPr b="1" i="0" lang="en-US" sz="1800" u="sng" cap="none" strike="noStrike">
                <a:solidFill>
                  <a:srgbClr val="FF0000"/>
                </a:solidFill>
                <a:latin typeface="Century Gothic"/>
                <a:ea typeface="Century Gothic"/>
                <a:cs typeface="Century Gothic"/>
                <a:sym typeface="Century Gothic"/>
              </a:rPr>
              <a:t>correct positional order</a:t>
            </a:r>
            <a:r>
              <a:rPr b="0" i="0" lang="en-US" sz="1800" u="none" cap="none" strike="noStrike">
                <a:solidFill>
                  <a:schemeClr val="dk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The number of arguments in the function call </a:t>
            </a:r>
            <a:r>
              <a:rPr b="1" i="0" lang="en-US" sz="1800" u="sng" cap="none" strike="noStrike">
                <a:solidFill>
                  <a:schemeClr val="dk1"/>
                </a:solidFill>
                <a:latin typeface="Century Gothic"/>
                <a:ea typeface="Century Gothic"/>
                <a:cs typeface="Century Gothic"/>
                <a:sym typeface="Century Gothic"/>
              </a:rPr>
              <a:t>should match exactly</a:t>
            </a:r>
            <a:r>
              <a:rPr b="0" i="0" lang="en-US" sz="1800" u="none" cap="none" strike="noStrike">
                <a:solidFill>
                  <a:schemeClr val="dk1"/>
                </a:solidFill>
                <a:latin typeface="Century Gothic"/>
                <a:ea typeface="Century Gothic"/>
                <a:cs typeface="Century Gothic"/>
                <a:sym typeface="Century Gothic"/>
              </a:rPr>
              <a:t> with the function definition.</a:t>
            </a:r>
            <a:endParaRPr b="0" i="0" sz="1400" u="none" cap="none" strike="noStrike">
              <a:solidFill>
                <a:srgbClr val="000000"/>
              </a:solidFill>
              <a:latin typeface="Arial"/>
              <a:ea typeface="Arial"/>
              <a:cs typeface="Arial"/>
              <a:sym typeface="Arial"/>
            </a:endParaRPr>
          </a:p>
        </p:txBody>
      </p:sp>
      <p:sp>
        <p:nvSpPr>
          <p:cNvPr id="309" name="Google Shape;309;p20"/>
          <p:cNvSpPr txBox="1"/>
          <p:nvPr/>
        </p:nvSpPr>
        <p:spPr>
          <a:xfrm>
            <a:off x="514138" y="2510414"/>
            <a:ext cx="6441139" cy="2985433"/>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FF"/>
                </a:solidFill>
                <a:latin typeface="Consolas"/>
                <a:ea typeface="Consolas"/>
                <a:cs typeface="Consolas"/>
                <a:sym typeface="Consolas"/>
              </a:rPr>
              <a:t>def</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795E26"/>
                </a:solidFill>
                <a:latin typeface="Consolas"/>
                <a:ea typeface="Consolas"/>
                <a:cs typeface="Consolas"/>
                <a:sym typeface="Consolas"/>
              </a:rPr>
              <a:t>printme</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str</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name</a:t>
            </a:r>
            <a:r>
              <a:rPr b="0" i="0" lang="en-US" sz="1700" u="none" cap="none" strike="noStrike">
                <a:solidFill>
                  <a:srgbClr val="00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31515"/>
                </a:solidFill>
                <a:latin typeface="Consolas"/>
                <a:ea typeface="Consolas"/>
                <a:cs typeface="Consolas"/>
                <a:sym typeface="Consolas"/>
              </a:rPr>
              <a:t>"This prints a passed string into this function"</a:t>
            </a:r>
            <a:endParaRPr b="0" i="0" sz="17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795E26"/>
                </a:solidFill>
                <a:latin typeface="Consolas"/>
                <a:ea typeface="Consolas"/>
                <a:cs typeface="Consolas"/>
                <a:sym typeface="Consolas"/>
              </a:rPr>
              <a:t>print</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str</a:t>
            </a:r>
            <a:r>
              <a:rPr b="0" i="0" lang="en-US" sz="1700" u="none" cap="none" strike="noStrike">
                <a:solidFill>
                  <a:srgbClr val="000000"/>
                </a:solidFill>
                <a:latin typeface="Consolas"/>
                <a:ea typeface="Consolas"/>
                <a:cs typeface="Consolas"/>
                <a:sym typeface="Consolas"/>
              </a:rPr>
              <a:t> , </a:t>
            </a:r>
            <a:r>
              <a:rPr b="0" i="0" lang="en-US" sz="1700" u="none" cap="none" strike="noStrike">
                <a:solidFill>
                  <a:srgbClr val="001080"/>
                </a:solidFill>
                <a:latin typeface="Consolas"/>
                <a:ea typeface="Consolas"/>
                <a:cs typeface="Consolas"/>
                <a:sym typeface="Consolas"/>
              </a:rPr>
              <a:t>name</a:t>
            </a:r>
            <a:r>
              <a:rPr b="0" i="0" lang="en-US" sz="17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F00DB"/>
                </a:solidFill>
                <a:latin typeface="Consolas"/>
                <a:ea typeface="Consolas"/>
                <a:cs typeface="Consolas"/>
                <a:sym typeface="Consolas"/>
              </a:rPr>
              <a:t>return</a:t>
            </a:r>
            <a:endParaRPr b="0" i="0" sz="17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700"/>
              <a:buFont typeface="Arial"/>
              <a:buNone/>
            </a:pPr>
            <a:br>
              <a:rPr b="0" i="0" lang="en-US" sz="1700" u="none" cap="none" strike="noStrike">
                <a:solidFill>
                  <a:srgbClr val="000000"/>
                </a:solidFill>
                <a:latin typeface="Consolas"/>
                <a:ea typeface="Consolas"/>
                <a:cs typeface="Consolas"/>
                <a:sym typeface="Consolas"/>
              </a:rPr>
            </a:br>
            <a:r>
              <a:rPr b="0" i="0" lang="en-US" sz="1700" u="none" cap="none" strike="noStrike">
                <a:solidFill>
                  <a:srgbClr val="008000"/>
                </a:solidFill>
                <a:latin typeface="Consolas"/>
                <a:ea typeface="Consolas"/>
                <a:cs typeface="Consolas"/>
                <a:sym typeface="Consolas"/>
              </a:rPr>
              <a:t># Now you can call printme function</a:t>
            </a:r>
            <a:endParaRPr b="0" i="0" sz="17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795E26"/>
                </a:solidFill>
                <a:latin typeface="Consolas"/>
                <a:ea typeface="Consolas"/>
                <a:cs typeface="Consolas"/>
                <a:sym typeface="Consolas"/>
              </a:rPr>
              <a:t>printme</a:t>
            </a:r>
            <a:r>
              <a:rPr b="0" i="0" lang="en-US" sz="17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795E26"/>
                </a:solidFill>
                <a:latin typeface="Consolas"/>
                <a:ea typeface="Consolas"/>
                <a:cs typeface="Consolas"/>
                <a:sym typeface="Consolas"/>
              </a:rPr>
              <a:t>printme</a:t>
            </a:r>
            <a:r>
              <a:rPr b="0" i="0" lang="en-US" sz="1700" u="none" cap="none" strike="noStrike">
                <a:solidFill>
                  <a:srgbClr val="000000"/>
                </a:solidFill>
                <a:latin typeface="Consolas"/>
                <a:ea typeface="Consolas"/>
                <a:cs typeface="Consolas"/>
                <a:sym typeface="Consolas"/>
              </a:rPr>
              <a:t>(</a:t>
            </a:r>
            <a:r>
              <a:rPr b="0" i="0" lang="en-US" sz="1700" u="none" cap="none" strike="noStrike">
                <a:solidFill>
                  <a:srgbClr val="A31515"/>
                </a:solidFill>
                <a:latin typeface="Consolas"/>
                <a:ea typeface="Consolas"/>
                <a:cs typeface="Consolas"/>
                <a:sym typeface="Consolas"/>
              </a:rPr>
              <a:t>"This is me with name"</a:t>
            </a:r>
            <a:r>
              <a:rPr b="0" i="0" lang="en-US" sz="17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795E26"/>
                </a:solidFill>
                <a:latin typeface="Consolas"/>
                <a:ea typeface="Consolas"/>
                <a:cs typeface="Consolas"/>
                <a:sym typeface="Consolas"/>
              </a:rPr>
              <a:t>printme</a:t>
            </a:r>
            <a:r>
              <a:rPr b="0" i="0" lang="en-US" sz="1700" u="none" cap="none" strike="noStrike">
                <a:solidFill>
                  <a:srgbClr val="000000"/>
                </a:solidFill>
                <a:latin typeface="Consolas"/>
                <a:ea typeface="Consolas"/>
                <a:cs typeface="Consolas"/>
                <a:sym typeface="Consolas"/>
              </a:rPr>
              <a:t>(</a:t>
            </a:r>
            <a:r>
              <a:rPr b="0" i="0" lang="en-US" sz="1700" u="none" cap="none" strike="noStrike">
                <a:solidFill>
                  <a:srgbClr val="A31515"/>
                </a:solidFill>
                <a:latin typeface="Consolas"/>
                <a:ea typeface="Consolas"/>
                <a:cs typeface="Consolas"/>
                <a:sym typeface="Consolas"/>
              </a:rPr>
              <a:t>'This is me, '</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31515"/>
                </a:solidFill>
                <a:latin typeface="Consolas"/>
                <a:ea typeface="Consolas"/>
                <a:cs typeface="Consolas"/>
                <a:sym typeface="Consolas"/>
              </a:rPr>
              <a:t>'My name is Rajit.'</a:t>
            </a:r>
            <a:r>
              <a:rPr b="0" i="0" lang="en-US" sz="17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310" name="Google Shape;310;p20"/>
          <p:cNvSpPr txBox="1"/>
          <p:nvPr/>
        </p:nvSpPr>
        <p:spPr>
          <a:xfrm>
            <a:off x="7466896" y="3087278"/>
            <a:ext cx="4725104"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line 7, in &lt;module&gt;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    printme()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TypeError: printme() missing 2 required positional arguments: 'str' and 'name'</a:t>
            </a:r>
            <a:endParaRPr b="0" i="0" sz="1400" u="none" cap="none" strike="noStrike">
              <a:solidFill>
                <a:srgbClr val="000000"/>
              </a:solidFill>
              <a:latin typeface="Arial"/>
              <a:ea typeface="Arial"/>
              <a:cs typeface="Arial"/>
              <a:sym typeface="Arial"/>
            </a:endParaRPr>
          </a:p>
        </p:txBody>
      </p:sp>
      <p:cxnSp>
        <p:nvCxnSpPr>
          <p:cNvPr id="311" name="Google Shape;311;p20"/>
          <p:cNvCxnSpPr>
            <a:endCxn id="310" idx="1"/>
          </p:cNvCxnSpPr>
          <p:nvPr/>
        </p:nvCxnSpPr>
        <p:spPr>
          <a:xfrm flipH="1" rot="10800000">
            <a:off x="2402596" y="3595110"/>
            <a:ext cx="5064300" cy="1074300"/>
          </a:xfrm>
          <a:prstGeom prst="straightConnector1">
            <a:avLst/>
          </a:prstGeom>
          <a:noFill/>
          <a:ln cap="flat" cmpd="sng" w="9525">
            <a:solidFill>
              <a:schemeClr val="accent1"/>
            </a:solidFill>
            <a:prstDash val="solid"/>
            <a:miter lim="800000"/>
            <a:headEnd len="sm" w="sm" type="none"/>
            <a:tailEnd len="med" w="med" type="triangle"/>
          </a:ln>
        </p:spPr>
      </p:cxnSp>
      <p:sp>
        <p:nvSpPr>
          <p:cNvPr id="312" name="Google Shape;312;p20"/>
          <p:cNvSpPr txBox="1"/>
          <p:nvPr/>
        </p:nvSpPr>
        <p:spPr>
          <a:xfrm>
            <a:off x="7466896" y="4171974"/>
            <a:ext cx="4725104"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line 8, in &lt;module&gt;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    printme()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TypeError: printme() missing 1 required positional arguments: 'name'</a:t>
            </a:r>
            <a:endParaRPr b="0" i="0" sz="1400" u="none" cap="none" strike="noStrike">
              <a:solidFill>
                <a:srgbClr val="000000"/>
              </a:solidFill>
              <a:latin typeface="Arial"/>
              <a:ea typeface="Arial"/>
              <a:cs typeface="Arial"/>
              <a:sym typeface="Arial"/>
            </a:endParaRPr>
          </a:p>
        </p:txBody>
      </p:sp>
      <p:cxnSp>
        <p:nvCxnSpPr>
          <p:cNvPr id="313" name="Google Shape;313;p20"/>
          <p:cNvCxnSpPr>
            <a:endCxn id="312" idx="1"/>
          </p:cNvCxnSpPr>
          <p:nvPr/>
        </p:nvCxnSpPr>
        <p:spPr>
          <a:xfrm flipH="1" rot="10800000">
            <a:off x="4426096" y="4679806"/>
            <a:ext cx="3040800" cy="240900"/>
          </a:xfrm>
          <a:prstGeom prst="straightConnector1">
            <a:avLst/>
          </a:prstGeom>
          <a:noFill/>
          <a:ln cap="flat" cmpd="sng" w="9525">
            <a:solidFill>
              <a:schemeClr val="accent1"/>
            </a:solidFill>
            <a:prstDash val="solid"/>
            <a:miter lim="800000"/>
            <a:headEnd len="sm" w="sm" type="none"/>
            <a:tailEnd len="med" w="med" type="triangle"/>
          </a:ln>
        </p:spPr>
      </p:cxnSp>
      <p:cxnSp>
        <p:nvCxnSpPr>
          <p:cNvPr id="314" name="Google Shape;314;p20"/>
          <p:cNvCxnSpPr/>
          <p:nvPr/>
        </p:nvCxnSpPr>
        <p:spPr>
          <a:xfrm>
            <a:off x="6096000" y="5291847"/>
            <a:ext cx="1472119" cy="350196"/>
          </a:xfrm>
          <a:prstGeom prst="straightConnector1">
            <a:avLst/>
          </a:prstGeom>
          <a:noFill/>
          <a:ln cap="flat" cmpd="sng" w="9525">
            <a:solidFill>
              <a:schemeClr val="accent1"/>
            </a:solidFill>
            <a:prstDash val="solid"/>
            <a:miter lim="800000"/>
            <a:headEnd len="sm" w="sm" type="none"/>
            <a:tailEnd len="med" w="med" type="triangle"/>
          </a:ln>
        </p:spPr>
      </p:cxnSp>
      <p:sp>
        <p:nvSpPr>
          <p:cNvPr id="315" name="Google Shape;315;p20"/>
          <p:cNvSpPr txBox="1"/>
          <p:nvPr/>
        </p:nvSpPr>
        <p:spPr>
          <a:xfrm>
            <a:off x="7655668" y="5466945"/>
            <a:ext cx="268695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What about this call??</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par>
                                <p:cTn fill="hold" nodeType="with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500"/>
                                        <p:tgtEl>
                                          <p:spTgt spid="3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par>
                                <p:cTn fill="hold" nodeType="with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500"/>
                                        <p:tgtEl>
                                          <p:spTgt spid="314"/>
                                        </p:tgtEl>
                                      </p:cBhvr>
                                    </p:animEffect>
                                  </p:childTnLst>
                                </p:cTn>
                              </p:par>
                              <p:par>
                                <p:cTn fill="hold" nodeType="with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500"/>
                                        <p:tgtEl>
                                          <p:spTgt spid="3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1"/>
          <p:cNvSpPr txBox="1"/>
          <p:nvPr>
            <p:ph type="title"/>
          </p:nvPr>
        </p:nvSpPr>
        <p:spPr>
          <a:xfrm>
            <a:off x="381000" y="0"/>
            <a:ext cx="10515600" cy="1325563"/>
          </a:xfrm>
          <a:prstGeom prst="rect">
            <a:avLst/>
          </a:prstGeom>
          <a:noFill/>
          <a:ln>
            <a:noFill/>
          </a:ln>
        </p:spPr>
        <p:txBody>
          <a:bodyPr anchorCtr="0" anchor="ctr" bIns="45700" lIns="91425" spcFirstLastPara="1" rIns="91425" wrap="square" tIns="45700">
            <a:normAutofit/>
          </a:bodyPr>
          <a:lstStyle/>
          <a:p>
            <a:pPr indent="0" lvl="0" marL="171450" rtl="0" algn="l">
              <a:lnSpc>
                <a:spcPct val="150000"/>
              </a:lnSpc>
              <a:spcBef>
                <a:spcPts val="0"/>
              </a:spcBef>
              <a:spcAft>
                <a:spcPts val="0"/>
              </a:spcAft>
              <a:buClr>
                <a:schemeClr val="dk1"/>
              </a:buClr>
              <a:buSzPts val="4000"/>
              <a:buFont typeface="Century Gothic"/>
              <a:buNone/>
            </a:pPr>
            <a:r>
              <a:rPr lang="en-US"/>
              <a:t>Keyword arguments</a:t>
            </a:r>
            <a:endParaRPr/>
          </a:p>
        </p:txBody>
      </p:sp>
      <p:sp>
        <p:nvSpPr>
          <p:cNvPr id="321" name="Google Shape;321;p21"/>
          <p:cNvSpPr txBox="1"/>
          <p:nvPr/>
        </p:nvSpPr>
        <p:spPr>
          <a:xfrm>
            <a:off x="447666" y="1241987"/>
            <a:ext cx="11363334" cy="128618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Keyword arguments are related to the </a:t>
            </a:r>
            <a:r>
              <a:rPr b="1" i="0" lang="en-US" sz="1800" u="none" cap="none" strike="noStrike">
                <a:solidFill>
                  <a:schemeClr val="dk1"/>
                </a:solidFill>
                <a:latin typeface="Century Gothic"/>
                <a:ea typeface="Century Gothic"/>
                <a:cs typeface="Century Gothic"/>
                <a:sym typeface="Century Gothic"/>
              </a:rPr>
              <a:t>function calls</a:t>
            </a:r>
            <a:r>
              <a:rPr b="0" i="0" lang="en-US" sz="1800" u="none" cap="none" strike="noStrike">
                <a:solidFill>
                  <a:schemeClr val="dk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When use keyword arguments in a function call, the caller </a:t>
            </a:r>
            <a:r>
              <a:rPr b="1" i="0" lang="en-US" sz="1800" u="sng" cap="none" strike="noStrike">
                <a:solidFill>
                  <a:srgbClr val="FF0000"/>
                </a:solidFill>
                <a:latin typeface="Century Gothic"/>
                <a:ea typeface="Century Gothic"/>
                <a:cs typeface="Century Gothic"/>
                <a:sym typeface="Century Gothic"/>
              </a:rPr>
              <a:t>identifies the arguments by the parameter name</a:t>
            </a:r>
            <a:r>
              <a:rPr b="0" i="0" lang="en-US" sz="1800" u="none" cap="none" strike="noStrike">
                <a:solidFill>
                  <a:schemeClr val="dk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p:txBody>
      </p:sp>
      <p:sp>
        <p:nvSpPr>
          <p:cNvPr id="322" name="Google Shape;322;p21"/>
          <p:cNvSpPr txBox="1"/>
          <p:nvPr/>
        </p:nvSpPr>
        <p:spPr>
          <a:xfrm>
            <a:off x="615274" y="2871016"/>
            <a:ext cx="6388641" cy="3323987"/>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FF"/>
                </a:solidFill>
                <a:latin typeface="Consolas"/>
                <a:ea typeface="Consolas"/>
                <a:cs typeface="Consolas"/>
                <a:sym typeface="Consolas"/>
              </a:rPr>
              <a:t>def</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795E26"/>
                </a:solidFill>
                <a:latin typeface="Consolas"/>
                <a:ea typeface="Consolas"/>
                <a:cs typeface="Consolas"/>
                <a:sym typeface="Consolas"/>
              </a:rPr>
              <a:t>printinfo</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name</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age</a:t>
            </a:r>
            <a:r>
              <a:rPr b="0" i="0" lang="en-US" sz="1700" u="none" cap="none" strike="noStrike">
                <a:solidFill>
                  <a:srgbClr val="00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31515"/>
                </a:solidFill>
                <a:latin typeface="Consolas"/>
                <a:ea typeface="Consolas"/>
                <a:cs typeface="Consolas"/>
                <a:sym typeface="Consolas"/>
              </a:rPr>
              <a:t>"This prints a passed info into this function"</a:t>
            </a:r>
            <a:endParaRPr b="0" i="0" sz="17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795E26"/>
                </a:solidFill>
                <a:latin typeface="Consolas"/>
                <a:ea typeface="Consolas"/>
                <a:cs typeface="Consolas"/>
                <a:sym typeface="Consolas"/>
              </a:rPr>
              <a:t>print</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31515"/>
                </a:solidFill>
                <a:latin typeface="Consolas"/>
                <a:ea typeface="Consolas"/>
                <a:cs typeface="Consolas"/>
                <a:sym typeface="Consolas"/>
              </a:rPr>
              <a:t>"Name: "</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name</a:t>
            </a:r>
            <a:r>
              <a:rPr b="0" i="0" lang="en-US" sz="17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795E26"/>
                </a:solidFill>
                <a:latin typeface="Consolas"/>
                <a:ea typeface="Consolas"/>
                <a:cs typeface="Consolas"/>
                <a:sym typeface="Consolas"/>
              </a:rPr>
              <a:t>print</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31515"/>
                </a:solidFill>
                <a:latin typeface="Consolas"/>
                <a:ea typeface="Consolas"/>
                <a:cs typeface="Consolas"/>
                <a:sym typeface="Consolas"/>
              </a:rPr>
              <a:t>"Age "</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age</a:t>
            </a:r>
            <a:r>
              <a:rPr b="0" i="0" lang="en-US" sz="17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F00DB"/>
                </a:solidFill>
                <a:latin typeface="Consolas"/>
                <a:ea typeface="Consolas"/>
                <a:cs typeface="Consolas"/>
                <a:sym typeface="Consolas"/>
              </a:rPr>
              <a:t>return</a:t>
            </a:r>
            <a:endParaRPr b="0" i="0" sz="17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700"/>
              <a:buFont typeface="Arial"/>
              <a:buNone/>
            </a:pPr>
            <a:br>
              <a:rPr b="0" i="0" lang="en-US" sz="1700" u="none" cap="none" strike="noStrike">
                <a:solidFill>
                  <a:srgbClr val="000000"/>
                </a:solidFill>
                <a:latin typeface="Consolas"/>
                <a:ea typeface="Consolas"/>
                <a:cs typeface="Consolas"/>
                <a:sym typeface="Consolas"/>
              </a:rPr>
            </a:br>
            <a:r>
              <a:rPr b="0" i="0" lang="en-US" sz="1700" u="none" cap="none" strike="noStrike">
                <a:solidFill>
                  <a:srgbClr val="008000"/>
                </a:solidFill>
                <a:latin typeface="Consolas"/>
                <a:ea typeface="Consolas"/>
                <a:cs typeface="Consolas"/>
                <a:sym typeface="Consolas"/>
              </a:rPr>
              <a:t># Now you can call printinfo function</a:t>
            </a:r>
            <a:endParaRPr b="0" i="0" sz="17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795E26"/>
                </a:solidFill>
                <a:latin typeface="Consolas"/>
                <a:ea typeface="Consolas"/>
                <a:cs typeface="Consolas"/>
                <a:sym typeface="Consolas"/>
              </a:rPr>
              <a:t>printinfo</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age</a:t>
            </a:r>
            <a:r>
              <a:rPr b="0" i="0" lang="en-US" sz="1700" u="none" cap="none" strike="noStrike">
                <a:solidFill>
                  <a:srgbClr val="000000"/>
                </a:solidFill>
                <a:latin typeface="Consolas"/>
                <a:ea typeface="Consolas"/>
                <a:cs typeface="Consolas"/>
                <a:sym typeface="Consolas"/>
              </a:rPr>
              <a:t>=</a:t>
            </a:r>
            <a:r>
              <a:rPr b="0" i="0" lang="en-US" sz="1700" u="none" cap="none" strike="noStrike">
                <a:solidFill>
                  <a:srgbClr val="098658"/>
                </a:solidFill>
                <a:latin typeface="Consolas"/>
                <a:ea typeface="Consolas"/>
                <a:cs typeface="Consolas"/>
                <a:sym typeface="Consolas"/>
              </a:rPr>
              <a:t>50</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name</a:t>
            </a:r>
            <a:r>
              <a:rPr b="0" i="0" lang="en-US" sz="1700" u="none" cap="none" strike="noStrike">
                <a:solidFill>
                  <a:srgbClr val="000000"/>
                </a:solidFill>
                <a:latin typeface="Consolas"/>
                <a:ea typeface="Consolas"/>
                <a:cs typeface="Consolas"/>
                <a:sym typeface="Consolas"/>
              </a:rPr>
              <a:t>=</a:t>
            </a:r>
            <a:r>
              <a:rPr b="0" i="0" lang="en-US" sz="1700" u="none" cap="none" strike="noStrike">
                <a:solidFill>
                  <a:srgbClr val="A31515"/>
                </a:solidFill>
                <a:latin typeface="Consolas"/>
                <a:ea typeface="Consolas"/>
                <a:cs typeface="Consolas"/>
                <a:sym typeface="Consolas"/>
              </a:rPr>
              <a:t>"miki"</a:t>
            </a:r>
            <a:r>
              <a:rPr b="0" i="0" lang="en-US" sz="1700" u="none" cap="none" strike="noStrike">
                <a:solidFill>
                  <a:srgbClr val="00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008000"/>
                </a:solidFill>
                <a:latin typeface="Consolas"/>
                <a:ea typeface="Consolas"/>
                <a:cs typeface="Consolas"/>
                <a:sym typeface="Consolas"/>
              </a:rPr>
              <a:t>printinfo(</a:t>
            </a:r>
            <a:r>
              <a:rPr b="0" i="0" lang="en-US" sz="1700" u="none" cap="none" strike="noStrike">
                <a:solidFill>
                  <a:srgbClr val="001080"/>
                </a:solidFill>
                <a:latin typeface="Consolas"/>
                <a:ea typeface="Consolas"/>
                <a:cs typeface="Consolas"/>
                <a:sym typeface="Consolas"/>
              </a:rPr>
              <a:t>age</a:t>
            </a:r>
            <a:r>
              <a:rPr b="0" i="0" lang="en-US" sz="1700" u="none" cap="none" strike="noStrike">
                <a:solidFill>
                  <a:srgbClr val="000000"/>
                </a:solidFill>
                <a:latin typeface="Consolas"/>
                <a:ea typeface="Consolas"/>
                <a:cs typeface="Consolas"/>
                <a:sym typeface="Consolas"/>
              </a:rPr>
              <a:t>=</a:t>
            </a:r>
            <a:r>
              <a:rPr b="0" i="0" lang="en-US" sz="1700" u="none" cap="none" strike="noStrike">
                <a:solidFill>
                  <a:srgbClr val="098658"/>
                </a:solidFill>
                <a:latin typeface="Consolas"/>
                <a:ea typeface="Consolas"/>
                <a:cs typeface="Consolas"/>
                <a:sym typeface="Consolas"/>
              </a:rPr>
              <a:t>50</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31515"/>
                </a:solidFill>
                <a:latin typeface="Consolas"/>
                <a:ea typeface="Consolas"/>
                <a:cs typeface="Consolas"/>
                <a:sym typeface="Consolas"/>
              </a:rPr>
              <a:t>"miki"</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8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795E26"/>
                </a:solidFill>
                <a:latin typeface="Consolas"/>
                <a:ea typeface="Consolas"/>
                <a:cs typeface="Consolas"/>
                <a:sym typeface="Consolas"/>
              </a:rPr>
              <a:t>printinfo</a:t>
            </a:r>
            <a:r>
              <a:rPr b="0" i="0" lang="en-US" sz="1700" u="none" cap="none" strike="noStrike">
                <a:solidFill>
                  <a:srgbClr val="000000"/>
                </a:solidFill>
                <a:latin typeface="Consolas"/>
                <a:ea typeface="Consolas"/>
                <a:cs typeface="Consolas"/>
                <a:sym typeface="Consolas"/>
              </a:rPr>
              <a:t>(</a:t>
            </a:r>
            <a:r>
              <a:rPr b="0" i="0" lang="en-US" sz="1700" u="none" cap="none" strike="noStrike">
                <a:solidFill>
                  <a:srgbClr val="001080"/>
                </a:solidFill>
                <a:latin typeface="Consolas"/>
                <a:ea typeface="Consolas"/>
                <a:cs typeface="Consolas"/>
                <a:sym typeface="Consolas"/>
              </a:rPr>
              <a:t>age</a:t>
            </a:r>
            <a:r>
              <a:rPr b="0" i="0" lang="en-US" sz="1700" u="none" cap="none" strike="noStrike">
                <a:solidFill>
                  <a:srgbClr val="000000"/>
                </a:solidFill>
                <a:latin typeface="Consolas"/>
                <a:ea typeface="Consolas"/>
                <a:cs typeface="Consolas"/>
                <a:sym typeface="Consolas"/>
              </a:rPr>
              <a:t> = </a:t>
            </a:r>
            <a:r>
              <a:rPr b="0" i="0" lang="en-US" sz="1700" u="none" cap="none" strike="noStrike">
                <a:solidFill>
                  <a:srgbClr val="098658"/>
                </a:solidFill>
                <a:latin typeface="Consolas"/>
                <a:ea typeface="Consolas"/>
                <a:cs typeface="Consolas"/>
                <a:sym typeface="Consolas"/>
              </a:rPr>
              <a:t>30</a:t>
            </a:r>
            <a:r>
              <a:rPr b="0" i="0" lang="en-US" sz="17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cxnSp>
        <p:nvCxnSpPr>
          <p:cNvPr id="323" name="Google Shape;323;p21"/>
          <p:cNvCxnSpPr/>
          <p:nvPr/>
        </p:nvCxnSpPr>
        <p:spPr>
          <a:xfrm>
            <a:off x="4202349" y="5817140"/>
            <a:ext cx="3813242" cy="0"/>
          </a:xfrm>
          <a:prstGeom prst="straightConnector1">
            <a:avLst/>
          </a:prstGeom>
          <a:noFill/>
          <a:ln cap="flat" cmpd="sng" w="9525">
            <a:solidFill>
              <a:schemeClr val="accent1"/>
            </a:solidFill>
            <a:prstDash val="solid"/>
            <a:miter lim="800000"/>
            <a:headEnd len="sm" w="sm" type="none"/>
            <a:tailEnd len="med" w="med" type="triangle"/>
          </a:ln>
        </p:spPr>
      </p:cxnSp>
      <p:sp>
        <p:nvSpPr>
          <p:cNvPr id="324" name="Google Shape;324;p21"/>
          <p:cNvSpPr/>
          <p:nvPr/>
        </p:nvSpPr>
        <p:spPr>
          <a:xfrm>
            <a:off x="3809593" y="5486400"/>
            <a:ext cx="285751" cy="603115"/>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325" name="Google Shape;325;p21"/>
          <p:cNvSpPr txBox="1"/>
          <p:nvPr/>
        </p:nvSpPr>
        <p:spPr>
          <a:xfrm>
            <a:off x="8122596" y="5645196"/>
            <a:ext cx="188705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Produce Error!!!</a:t>
            </a:r>
            <a:endParaRPr b="0" i="0" sz="1400" u="none" cap="none" strike="noStrike">
              <a:solidFill>
                <a:srgbClr val="000000"/>
              </a:solidFill>
              <a:latin typeface="Arial"/>
              <a:ea typeface="Arial"/>
              <a:cs typeface="Arial"/>
              <a:sym typeface="Arial"/>
            </a:endParaRPr>
          </a:p>
        </p:txBody>
      </p:sp>
      <p:cxnSp>
        <p:nvCxnSpPr>
          <p:cNvPr id="326" name="Google Shape;326;p21"/>
          <p:cNvCxnSpPr/>
          <p:nvPr/>
        </p:nvCxnSpPr>
        <p:spPr>
          <a:xfrm>
            <a:off x="4630366" y="5301574"/>
            <a:ext cx="3385225" cy="0"/>
          </a:xfrm>
          <a:prstGeom prst="straightConnector1">
            <a:avLst/>
          </a:prstGeom>
          <a:noFill/>
          <a:ln cap="flat" cmpd="sng" w="9525">
            <a:solidFill>
              <a:schemeClr val="accent1"/>
            </a:solidFill>
            <a:prstDash val="solid"/>
            <a:miter lim="800000"/>
            <a:headEnd len="sm" w="sm" type="none"/>
            <a:tailEnd len="med" w="med" type="triangle"/>
          </a:ln>
        </p:spPr>
      </p:cxnSp>
      <p:sp>
        <p:nvSpPr>
          <p:cNvPr id="327" name="Google Shape;327;p21"/>
          <p:cNvSpPr txBox="1"/>
          <p:nvPr/>
        </p:nvSpPr>
        <p:spPr>
          <a:xfrm>
            <a:off x="8122596" y="5116908"/>
            <a:ext cx="2406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Keyword argument!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par>
                                <p:cTn fill="hold" nodeType="with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500"/>
                                        <p:tgtEl>
                                          <p:spTgt spid="324"/>
                                        </p:tgtEl>
                                      </p:cBhvr>
                                    </p:animEffect>
                                  </p:childTnLst>
                                </p:cTn>
                              </p:par>
                              <p:par>
                                <p:cTn fill="hold" nodeType="with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par>
                                <p:cTn fill="hold" nodeType="with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par>
                                <p:cTn fill="hold" nodeType="with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2"/>
          <p:cNvSpPr txBox="1"/>
          <p:nvPr>
            <p:ph type="title"/>
          </p:nvPr>
        </p:nvSpPr>
        <p:spPr>
          <a:xfrm>
            <a:off x="351817" y="0"/>
            <a:ext cx="10515600" cy="1325563"/>
          </a:xfrm>
          <a:prstGeom prst="rect">
            <a:avLst/>
          </a:prstGeom>
          <a:noFill/>
          <a:ln>
            <a:noFill/>
          </a:ln>
        </p:spPr>
        <p:txBody>
          <a:bodyPr anchorCtr="0" anchor="ctr" bIns="45700" lIns="91425" spcFirstLastPara="1" rIns="91425" wrap="square" tIns="45700">
            <a:normAutofit/>
          </a:bodyPr>
          <a:lstStyle/>
          <a:p>
            <a:pPr indent="0" lvl="0" marL="171450" rtl="0" algn="l">
              <a:lnSpc>
                <a:spcPct val="150000"/>
              </a:lnSpc>
              <a:spcBef>
                <a:spcPts val="0"/>
              </a:spcBef>
              <a:spcAft>
                <a:spcPts val="0"/>
              </a:spcAft>
              <a:buClr>
                <a:schemeClr val="dk1"/>
              </a:buClr>
              <a:buSzPts val="4000"/>
              <a:buFont typeface="Century Gothic"/>
              <a:buNone/>
            </a:pPr>
            <a:r>
              <a:rPr lang="en-US"/>
              <a:t>Default arguments</a:t>
            </a:r>
            <a:endParaRPr/>
          </a:p>
        </p:txBody>
      </p:sp>
      <p:sp>
        <p:nvSpPr>
          <p:cNvPr id="333" name="Google Shape;333;p22"/>
          <p:cNvSpPr txBox="1"/>
          <p:nvPr/>
        </p:nvSpPr>
        <p:spPr>
          <a:xfrm>
            <a:off x="572503" y="1325563"/>
            <a:ext cx="11402245" cy="87068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A default argument is an argument that </a:t>
            </a:r>
            <a:r>
              <a:rPr b="1" i="0" lang="en-US" sz="1800" u="sng" cap="none" strike="noStrike">
                <a:solidFill>
                  <a:srgbClr val="FF0000"/>
                </a:solidFill>
                <a:latin typeface="Century Gothic"/>
                <a:ea typeface="Century Gothic"/>
                <a:cs typeface="Century Gothic"/>
                <a:sym typeface="Century Gothic"/>
              </a:rPr>
              <a:t>assumes a default value </a:t>
            </a:r>
            <a:r>
              <a:rPr b="0" i="0" lang="en-US" sz="1800" u="none" cap="none" strike="noStrike">
                <a:solidFill>
                  <a:schemeClr val="dk1"/>
                </a:solidFill>
                <a:latin typeface="Century Gothic"/>
                <a:ea typeface="Century Gothic"/>
                <a:cs typeface="Century Gothic"/>
                <a:sym typeface="Century Gothic"/>
              </a:rPr>
              <a:t>if a value is not provided in the function call for that argument.</a:t>
            </a:r>
            <a:endParaRPr b="0" i="0" sz="1400" u="none" cap="none" strike="noStrike">
              <a:solidFill>
                <a:srgbClr val="000000"/>
              </a:solidFill>
              <a:latin typeface="Arial"/>
              <a:ea typeface="Arial"/>
              <a:cs typeface="Arial"/>
              <a:sym typeface="Arial"/>
            </a:endParaRPr>
          </a:p>
        </p:txBody>
      </p:sp>
      <p:sp>
        <p:nvSpPr>
          <p:cNvPr id="334" name="Google Shape;334;p22"/>
          <p:cNvSpPr txBox="1"/>
          <p:nvPr/>
        </p:nvSpPr>
        <p:spPr>
          <a:xfrm>
            <a:off x="420721" y="2413817"/>
            <a:ext cx="6164906" cy="3974421"/>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700"/>
              <a:buFont typeface="Arial"/>
              <a:buNone/>
            </a:pPr>
            <a:r>
              <a:rPr b="0" i="0" lang="en-US" sz="1700" u="none" cap="none" strike="noStrike">
                <a:solidFill>
                  <a:srgbClr val="0000FF"/>
                </a:solidFill>
                <a:latin typeface="Consolas"/>
                <a:ea typeface="Consolas"/>
                <a:cs typeface="Consolas"/>
                <a:sym typeface="Consolas"/>
              </a:rPr>
              <a:t>def</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795E26"/>
                </a:solidFill>
                <a:latin typeface="Consolas"/>
                <a:ea typeface="Consolas"/>
                <a:cs typeface="Consolas"/>
                <a:sym typeface="Consolas"/>
              </a:rPr>
              <a:t>printinfo</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name</a:t>
            </a:r>
            <a:r>
              <a:rPr b="0" i="0" lang="en-US" sz="1700" u="none" cap="none" strike="noStrike">
                <a:solidFill>
                  <a:srgbClr val="000000"/>
                </a:solidFill>
                <a:latin typeface="Consolas"/>
                <a:ea typeface="Consolas"/>
                <a:cs typeface="Consolas"/>
                <a:sym typeface="Consolas"/>
              </a:rPr>
              <a:t> = </a:t>
            </a:r>
            <a:r>
              <a:rPr b="0" i="0" lang="en-US" sz="1700" u="none" cap="none" strike="noStrike">
                <a:solidFill>
                  <a:srgbClr val="A31515"/>
                </a:solidFill>
                <a:latin typeface="Consolas"/>
                <a:ea typeface="Consolas"/>
                <a:cs typeface="Consolas"/>
                <a:sym typeface="Consolas"/>
              </a:rPr>
              <a:t>'Rajit'</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age</a:t>
            </a:r>
            <a:r>
              <a:rPr b="0" i="0" lang="en-US" sz="1700" u="none" cap="none" strike="noStrike">
                <a:solidFill>
                  <a:srgbClr val="000000"/>
                </a:solidFill>
                <a:latin typeface="Consolas"/>
                <a:ea typeface="Consolas"/>
                <a:cs typeface="Consolas"/>
                <a:sym typeface="Consolas"/>
              </a:rPr>
              <a:t> = </a:t>
            </a:r>
            <a:r>
              <a:rPr b="0" i="0" lang="en-US" sz="1700" u="none" cap="none" strike="noStrike">
                <a:solidFill>
                  <a:srgbClr val="098658"/>
                </a:solidFill>
                <a:latin typeface="Consolas"/>
                <a:ea typeface="Consolas"/>
                <a:cs typeface="Consolas"/>
                <a:sym typeface="Consolas"/>
              </a:rPr>
              <a:t>35</a:t>
            </a:r>
            <a:r>
              <a:rPr b="0" i="0" lang="en-US" sz="17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31515"/>
                </a:solidFill>
                <a:latin typeface="Consolas"/>
                <a:ea typeface="Consolas"/>
                <a:cs typeface="Consolas"/>
                <a:sym typeface="Consolas"/>
              </a:rPr>
              <a:t>"This prints a passed info into this function"</a:t>
            </a:r>
            <a:endParaRPr b="0" i="0" sz="17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795E26"/>
                </a:solidFill>
                <a:latin typeface="Consolas"/>
                <a:ea typeface="Consolas"/>
                <a:cs typeface="Consolas"/>
                <a:sym typeface="Consolas"/>
              </a:rPr>
              <a:t>print</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31515"/>
                </a:solidFill>
                <a:latin typeface="Consolas"/>
                <a:ea typeface="Consolas"/>
                <a:cs typeface="Consolas"/>
                <a:sym typeface="Consolas"/>
              </a:rPr>
              <a:t>"Name: "</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name</a:t>
            </a:r>
            <a:r>
              <a:rPr b="0" i="0" lang="en-US" sz="17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795E26"/>
                </a:solidFill>
                <a:latin typeface="Consolas"/>
                <a:ea typeface="Consolas"/>
                <a:cs typeface="Consolas"/>
                <a:sym typeface="Consolas"/>
              </a:rPr>
              <a:t>print</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31515"/>
                </a:solidFill>
                <a:latin typeface="Consolas"/>
                <a:ea typeface="Consolas"/>
                <a:cs typeface="Consolas"/>
                <a:sym typeface="Consolas"/>
              </a:rPr>
              <a:t>"Age "</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age</a:t>
            </a:r>
            <a:r>
              <a:rPr b="0" i="0" lang="en-US" sz="17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F00DB"/>
                </a:solidFill>
                <a:latin typeface="Consolas"/>
                <a:ea typeface="Consolas"/>
                <a:cs typeface="Consolas"/>
                <a:sym typeface="Consolas"/>
              </a:rPr>
              <a:t>return</a:t>
            </a:r>
            <a:endParaRPr b="0" i="0" sz="17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700"/>
              <a:buFont typeface="Arial"/>
              <a:buNone/>
            </a:pPr>
            <a:br>
              <a:rPr b="0" i="0" lang="en-US" sz="1700" u="none" cap="none" strike="noStrike">
                <a:solidFill>
                  <a:srgbClr val="000000"/>
                </a:solidFill>
                <a:latin typeface="Consolas"/>
                <a:ea typeface="Consolas"/>
                <a:cs typeface="Consolas"/>
                <a:sym typeface="Consolas"/>
              </a:rPr>
            </a:br>
            <a:r>
              <a:rPr b="0" i="0" lang="en-US" sz="1700" u="none" cap="none" strike="noStrike">
                <a:solidFill>
                  <a:srgbClr val="008000"/>
                </a:solidFill>
                <a:latin typeface="Consolas"/>
                <a:ea typeface="Consolas"/>
                <a:cs typeface="Consolas"/>
                <a:sym typeface="Consolas"/>
              </a:rPr>
              <a:t># Now you can call printinfo function</a:t>
            </a:r>
            <a:endParaRPr b="0" i="0" sz="17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700"/>
              <a:buFont typeface="Arial"/>
              <a:buNone/>
            </a:pPr>
            <a:r>
              <a:rPr b="0" i="0" lang="en-US" sz="1700" u="none" cap="none" strike="noStrike">
                <a:solidFill>
                  <a:srgbClr val="795E26"/>
                </a:solidFill>
                <a:latin typeface="Consolas"/>
                <a:ea typeface="Consolas"/>
                <a:cs typeface="Consolas"/>
                <a:sym typeface="Consolas"/>
              </a:rPr>
              <a:t>printinfo</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age</a:t>
            </a:r>
            <a:r>
              <a:rPr b="0" i="0" lang="en-US" sz="1700" u="none" cap="none" strike="noStrike">
                <a:solidFill>
                  <a:srgbClr val="000000"/>
                </a:solidFill>
                <a:latin typeface="Consolas"/>
                <a:ea typeface="Consolas"/>
                <a:cs typeface="Consolas"/>
                <a:sym typeface="Consolas"/>
              </a:rPr>
              <a:t>=</a:t>
            </a:r>
            <a:r>
              <a:rPr b="0" i="0" lang="en-US" sz="1700" u="none" cap="none" strike="noStrike">
                <a:solidFill>
                  <a:srgbClr val="098658"/>
                </a:solidFill>
                <a:latin typeface="Consolas"/>
                <a:ea typeface="Consolas"/>
                <a:cs typeface="Consolas"/>
                <a:sym typeface="Consolas"/>
              </a:rPr>
              <a:t>50</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name</a:t>
            </a:r>
            <a:r>
              <a:rPr b="0" i="0" lang="en-US" sz="1700" u="none" cap="none" strike="noStrike">
                <a:solidFill>
                  <a:srgbClr val="000000"/>
                </a:solidFill>
                <a:latin typeface="Consolas"/>
                <a:ea typeface="Consolas"/>
                <a:cs typeface="Consolas"/>
                <a:sym typeface="Consolas"/>
              </a:rPr>
              <a:t>=</a:t>
            </a:r>
            <a:r>
              <a:rPr b="0" i="0" lang="en-US" sz="1700" u="none" cap="none" strike="noStrike">
                <a:solidFill>
                  <a:srgbClr val="A31515"/>
                </a:solidFill>
                <a:latin typeface="Consolas"/>
                <a:ea typeface="Consolas"/>
                <a:cs typeface="Consolas"/>
                <a:sym typeface="Consolas"/>
              </a:rPr>
              <a:t>"miki"</a:t>
            </a:r>
            <a:r>
              <a:rPr b="0" i="0" lang="en-US" sz="1700" u="none" cap="none" strike="noStrike">
                <a:solidFill>
                  <a:srgbClr val="00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rPr b="0" i="0" lang="en-US" sz="1700" u="none" cap="none" strike="noStrike">
                <a:solidFill>
                  <a:srgbClr val="795E26"/>
                </a:solidFill>
                <a:latin typeface="Consolas"/>
                <a:ea typeface="Consolas"/>
                <a:cs typeface="Consolas"/>
                <a:sym typeface="Consolas"/>
              </a:rPr>
              <a:t>printinfo</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name</a:t>
            </a:r>
            <a:r>
              <a:rPr b="0" i="0" lang="en-US" sz="1700" u="none" cap="none" strike="noStrike">
                <a:solidFill>
                  <a:srgbClr val="000000"/>
                </a:solidFill>
                <a:latin typeface="Consolas"/>
                <a:ea typeface="Consolas"/>
                <a:cs typeface="Consolas"/>
                <a:sym typeface="Consolas"/>
              </a:rPr>
              <a:t> = </a:t>
            </a:r>
            <a:r>
              <a:rPr b="0" i="0" lang="en-US" sz="1700" u="none" cap="none" strike="noStrike">
                <a:solidFill>
                  <a:srgbClr val="A31515"/>
                </a:solidFill>
                <a:latin typeface="Consolas"/>
                <a:ea typeface="Consolas"/>
                <a:cs typeface="Consolas"/>
                <a:sym typeface="Consolas"/>
              </a:rPr>
              <a:t>'Samah'</a:t>
            </a:r>
            <a:r>
              <a:rPr b="0" i="0" lang="en-US" sz="17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rPr b="0" i="0" lang="en-US" sz="1700" u="none" cap="none" strike="noStrike">
                <a:solidFill>
                  <a:srgbClr val="795E26"/>
                </a:solidFill>
                <a:latin typeface="Consolas"/>
                <a:ea typeface="Consolas"/>
                <a:cs typeface="Consolas"/>
                <a:sym typeface="Consolas"/>
              </a:rPr>
              <a:t>printinfo</a:t>
            </a:r>
            <a:r>
              <a:rPr b="0" i="0" lang="en-US" sz="17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335" name="Google Shape;335;p22"/>
          <p:cNvSpPr txBox="1"/>
          <p:nvPr/>
        </p:nvSpPr>
        <p:spPr>
          <a:xfrm>
            <a:off x="8572500" y="4226668"/>
            <a:ext cx="2294917"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Name:  miki</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Age  50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Name:  Samah</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Age  35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Name:  Rajit</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Age  35</a:t>
            </a:r>
            <a:endParaRPr b="0" i="0" sz="1400" u="none" cap="none" strike="noStrike">
              <a:solidFill>
                <a:srgbClr val="000000"/>
              </a:solidFill>
              <a:latin typeface="Arial"/>
              <a:ea typeface="Arial"/>
              <a:cs typeface="Arial"/>
              <a:sym typeface="Arial"/>
            </a:endParaRPr>
          </a:p>
        </p:txBody>
      </p:sp>
      <p:cxnSp>
        <p:nvCxnSpPr>
          <p:cNvPr id="336" name="Google Shape;336;p22"/>
          <p:cNvCxnSpPr>
            <a:endCxn id="335" idx="1"/>
          </p:cNvCxnSpPr>
          <p:nvPr/>
        </p:nvCxnSpPr>
        <p:spPr>
          <a:xfrm flipH="1" rot="10800000">
            <a:off x="4542900" y="5103831"/>
            <a:ext cx="4029600" cy="635400"/>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500"/>
                                        <p:tgtEl>
                                          <p:spTgt spid="336"/>
                                        </p:tgtEl>
                                      </p:cBhvr>
                                    </p:animEffect>
                                  </p:childTnLst>
                                </p:cTn>
                              </p:par>
                              <p:par>
                                <p:cTn fill="hold" nodeType="with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500"/>
                                        <p:tgtEl>
                                          <p:spTgt spid="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3"/>
          <p:cNvSpPr txBox="1"/>
          <p:nvPr>
            <p:ph type="title"/>
          </p:nvPr>
        </p:nvSpPr>
        <p:spPr>
          <a:xfrm>
            <a:off x="468549" y="1"/>
            <a:ext cx="10515600" cy="1206230"/>
          </a:xfrm>
          <a:prstGeom prst="rect">
            <a:avLst/>
          </a:prstGeom>
          <a:noFill/>
          <a:ln>
            <a:noFill/>
          </a:ln>
        </p:spPr>
        <p:txBody>
          <a:bodyPr anchorCtr="0" anchor="ctr" bIns="45700" lIns="91425" spcFirstLastPara="1" rIns="91425" wrap="square" tIns="45700">
            <a:normAutofit/>
          </a:bodyPr>
          <a:lstStyle/>
          <a:p>
            <a:pPr indent="0" lvl="0" marL="171450" rtl="0" algn="l">
              <a:lnSpc>
                <a:spcPct val="150000"/>
              </a:lnSpc>
              <a:spcBef>
                <a:spcPts val="0"/>
              </a:spcBef>
              <a:spcAft>
                <a:spcPts val="0"/>
              </a:spcAft>
              <a:buClr>
                <a:schemeClr val="dk1"/>
              </a:buClr>
              <a:buSzPts val="4000"/>
              <a:buFont typeface="Century Gothic"/>
              <a:buNone/>
            </a:pPr>
            <a:r>
              <a:rPr lang="en-US"/>
              <a:t>Variable-length arguments</a:t>
            </a:r>
            <a:endParaRPr/>
          </a:p>
        </p:txBody>
      </p:sp>
      <p:sp>
        <p:nvSpPr>
          <p:cNvPr id="342" name="Google Shape;342;p23"/>
          <p:cNvSpPr txBox="1"/>
          <p:nvPr/>
        </p:nvSpPr>
        <p:spPr>
          <a:xfrm>
            <a:off x="621142" y="1206231"/>
            <a:ext cx="10808857" cy="128618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Some time we need to pass </a:t>
            </a:r>
            <a:r>
              <a:rPr b="1" i="0" lang="en-US" sz="1800" u="none" cap="none" strike="noStrike">
                <a:solidFill>
                  <a:schemeClr val="dk1"/>
                </a:solidFill>
                <a:latin typeface="Century Gothic"/>
                <a:ea typeface="Century Gothic"/>
                <a:cs typeface="Century Gothic"/>
                <a:sym typeface="Century Gothic"/>
              </a:rPr>
              <a:t>variable number of arguments </a:t>
            </a:r>
            <a:r>
              <a:rPr b="0" i="0" lang="en-US" sz="1800" u="none" cap="none" strike="noStrike">
                <a:solidFill>
                  <a:schemeClr val="dk1"/>
                </a:solidFill>
                <a:latin typeface="Century Gothic"/>
                <a:ea typeface="Century Gothic"/>
                <a:cs typeface="Century Gothic"/>
                <a:sym typeface="Century Gothic"/>
              </a:rPr>
              <a:t>to the function. </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These arguments are called variable-length arguments.</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An </a:t>
            </a:r>
            <a:r>
              <a:rPr b="1" i="0" lang="en-US" sz="1800" u="none" cap="none" strike="noStrike">
                <a:solidFill>
                  <a:schemeClr val="dk1"/>
                </a:solidFill>
                <a:latin typeface="Century Gothic"/>
                <a:ea typeface="Century Gothic"/>
                <a:cs typeface="Century Gothic"/>
                <a:sym typeface="Century Gothic"/>
              </a:rPr>
              <a:t>asterisk (*) is placed </a:t>
            </a:r>
            <a:r>
              <a:rPr b="0" i="0" lang="en-US" sz="1800" u="none" cap="none" strike="noStrike">
                <a:solidFill>
                  <a:schemeClr val="dk1"/>
                </a:solidFill>
                <a:latin typeface="Century Gothic"/>
                <a:ea typeface="Century Gothic"/>
                <a:cs typeface="Century Gothic"/>
                <a:sym typeface="Century Gothic"/>
              </a:rPr>
              <a:t>before the variable name. It holds the values as tuple. </a:t>
            </a:r>
            <a:endParaRPr b="0" i="0" sz="1400" u="none" cap="none" strike="noStrike">
              <a:solidFill>
                <a:srgbClr val="000000"/>
              </a:solidFill>
              <a:latin typeface="Arial"/>
              <a:ea typeface="Arial"/>
              <a:cs typeface="Arial"/>
              <a:sym typeface="Arial"/>
            </a:endParaRPr>
          </a:p>
        </p:txBody>
      </p:sp>
      <p:sp>
        <p:nvSpPr>
          <p:cNvPr id="343" name="Google Shape;343;p23"/>
          <p:cNvSpPr txBox="1"/>
          <p:nvPr/>
        </p:nvSpPr>
        <p:spPr>
          <a:xfrm>
            <a:off x="8272564" y="3502932"/>
            <a:ext cx="3013143" cy="19543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Required argument:  70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variable arguments: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60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Rajit</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Required argument: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variable arguments: </a:t>
            </a:r>
            <a:endParaRPr b="0" i="0" sz="1400" u="none" cap="none" strike="noStrike">
              <a:solidFill>
                <a:srgbClr val="000000"/>
              </a:solidFill>
              <a:latin typeface="Arial"/>
              <a:ea typeface="Arial"/>
              <a:cs typeface="Arial"/>
              <a:sym typeface="Arial"/>
            </a:endParaRPr>
          </a:p>
        </p:txBody>
      </p:sp>
      <p:cxnSp>
        <p:nvCxnSpPr>
          <p:cNvPr id="344" name="Google Shape;344;p23"/>
          <p:cNvCxnSpPr>
            <a:endCxn id="343" idx="1"/>
          </p:cNvCxnSpPr>
          <p:nvPr/>
        </p:nvCxnSpPr>
        <p:spPr>
          <a:xfrm flipH="1" rot="10800000">
            <a:off x="3972964" y="4480123"/>
            <a:ext cx="4299600" cy="1891500"/>
          </a:xfrm>
          <a:prstGeom prst="straightConnector1">
            <a:avLst/>
          </a:prstGeom>
          <a:noFill/>
          <a:ln cap="flat" cmpd="sng" w="9525">
            <a:solidFill>
              <a:schemeClr val="accent1"/>
            </a:solidFill>
            <a:prstDash val="solid"/>
            <a:miter lim="800000"/>
            <a:headEnd len="sm" w="sm" type="none"/>
            <a:tailEnd len="med" w="med" type="triangle"/>
          </a:ln>
        </p:spPr>
      </p:cxnSp>
      <p:sp>
        <p:nvSpPr>
          <p:cNvPr id="345" name="Google Shape;345;p23"/>
          <p:cNvSpPr txBox="1"/>
          <p:nvPr/>
        </p:nvSpPr>
        <p:spPr>
          <a:xfrm>
            <a:off x="468549" y="2762234"/>
            <a:ext cx="6094378" cy="4001095"/>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FF"/>
                </a:solidFill>
                <a:latin typeface="Consolas"/>
                <a:ea typeface="Consolas"/>
                <a:cs typeface="Consolas"/>
                <a:sym typeface="Consolas"/>
              </a:rPr>
              <a:t>def</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795E26"/>
                </a:solidFill>
                <a:latin typeface="Consolas"/>
                <a:ea typeface="Consolas"/>
                <a:cs typeface="Consolas"/>
                <a:sym typeface="Consolas"/>
              </a:rPr>
              <a:t>printinfo</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arg1</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vartuple</a:t>
            </a:r>
            <a:r>
              <a:rPr b="0" i="0" lang="en-US" sz="1700" u="none" cap="none" strike="noStrike">
                <a:solidFill>
                  <a:srgbClr val="00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31515"/>
                </a:solidFill>
                <a:latin typeface="Consolas"/>
                <a:ea typeface="Consolas"/>
                <a:cs typeface="Consolas"/>
                <a:sym typeface="Consolas"/>
              </a:rPr>
              <a:t>"This prints a variable passed arguments"</a:t>
            </a:r>
            <a:endParaRPr b="0" i="0" sz="17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795E26"/>
                </a:solidFill>
                <a:latin typeface="Consolas"/>
                <a:ea typeface="Consolas"/>
                <a:cs typeface="Consolas"/>
                <a:sym typeface="Consolas"/>
              </a:rPr>
              <a:t>print</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31515"/>
                </a:solidFill>
                <a:latin typeface="Consolas"/>
                <a:ea typeface="Consolas"/>
                <a:cs typeface="Consolas"/>
                <a:sym typeface="Consolas"/>
              </a:rPr>
              <a:t>'Required argument: '</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arg1</a:t>
            </a:r>
            <a:r>
              <a:rPr b="0" i="0" lang="en-US" sz="17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795E26"/>
                </a:solidFill>
                <a:latin typeface="Consolas"/>
                <a:ea typeface="Consolas"/>
                <a:cs typeface="Consolas"/>
                <a:sym typeface="Consolas"/>
              </a:rPr>
              <a:t>print</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31515"/>
                </a:solidFill>
                <a:latin typeface="Consolas"/>
                <a:ea typeface="Consolas"/>
                <a:cs typeface="Consolas"/>
                <a:sym typeface="Consolas"/>
              </a:rPr>
              <a:t>'variable arguments: '</a:t>
            </a:r>
            <a:r>
              <a:rPr b="0" i="0" lang="en-US" sz="17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F00DB"/>
                </a:solidFill>
                <a:latin typeface="Consolas"/>
                <a:ea typeface="Consolas"/>
                <a:cs typeface="Consolas"/>
                <a:sym typeface="Consolas"/>
              </a:rPr>
              <a:t>for</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var</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F00DB"/>
                </a:solidFill>
                <a:latin typeface="Consolas"/>
                <a:ea typeface="Consolas"/>
                <a:cs typeface="Consolas"/>
                <a:sym typeface="Consolas"/>
              </a:rPr>
              <a:t>in</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vartuple</a:t>
            </a:r>
            <a:r>
              <a:rPr b="0" i="0" lang="en-US" sz="17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795E26"/>
                </a:solidFill>
                <a:latin typeface="Consolas"/>
                <a:ea typeface="Consolas"/>
                <a:cs typeface="Consolas"/>
                <a:sym typeface="Consolas"/>
              </a:rPr>
              <a:t>print</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01080"/>
                </a:solidFill>
                <a:latin typeface="Consolas"/>
                <a:ea typeface="Consolas"/>
                <a:cs typeface="Consolas"/>
                <a:sym typeface="Consolas"/>
              </a:rPr>
              <a:t>var</a:t>
            </a:r>
            <a:r>
              <a:rPr b="0" i="0" lang="en-US" sz="17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F00DB"/>
                </a:solidFill>
                <a:latin typeface="Consolas"/>
                <a:ea typeface="Consolas"/>
                <a:cs typeface="Consolas"/>
                <a:sym typeface="Consolas"/>
              </a:rPr>
              <a:t>return</a:t>
            </a:r>
            <a:endParaRPr b="0" i="0" sz="17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700"/>
              <a:buFont typeface="Arial"/>
              <a:buNone/>
            </a:pPr>
            <a:br>
              <a:rPr b="0" i="0" lang="en-US" sz="1700" u="none" cap="none" strike="noStrike">
                <a:solidFill>
                  <a:srgbClr val="000000"/>
                </a:solidFill>
                <a:latin typeface="Consolas"/>
                <a:ea typeface="Consolas"/>
                <a:cs typeface="Consolas"/>
                <a:sym typeface="Consolas"/>
              </a:rPr>
            </a:br>
            <a:r>
              <a:rPr b="0" i="0" lang="en-US" sz="1700" u="none" cap="none" strike="noStrike">
                <a:solidFill>
                  <a:srgbClr val="008000"/>
                </a:solidFill>
                <a:latin typeface="Consolas"/>
                <a:ea typeface="Consolas"/>
                <a:cs typeface="Consolas"/>
                <a:sym typeface="Consolas"/>
              </a:rPr>
              <a:t># Now you can call printinfo function</a:t>
            </a:r>
            <a:endParaRPr b="0" i="0" sz="17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795E26"/>
                </a:solidFill>
                <a:latin typeface="Consolas"/>
                <a:ea typeface="Consolas"/>
                <a:cs typeface="Consolas"/>
                <a:sym typeface="Consolas"/>
              </a:rPr>
              <a:t>printinfo</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98658"/>
                </a:solidFill>
                <a:latin typeface="Consolas"/>
                <a:ea typeface="Consolas"/>
                <a:cs typeface="Consolas"/>
                <a:sym typeface="Consolas"/>
              </a:rPr>
              <a:t>70</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98658"/>
                </a:solidFill>
                <a:latin typeface="Consolas"/>
                <a:ea typeface="Consolas"/>
                <a:cs typeface="Consolas"/>
                <a:sym typeface="Consolas"/>
              </a:rPr>
              <a:t>60</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A31515"/>
                </a:solidFill>
                <a:latin typeface="Consolas"/>
                <a:ea typeface="Consolas"/>
                <a:cs typeface="Consolas"/>
                <a:sym typeface="Consolas"/>
              </a:rPr>
              <a:t>'Rajit'</a:t>
            </a:r>
            <a:r>
              <a:rPr b="0" i="0" lang="en-US" sz="1700" u="none" cap="none" strike="noStrike">
                <a:solidFill>
                  <a:srgbClr val="00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700"/>
              <a:buFont typeface="Arial"/>
              <a:buNone/>
            </a:pPr>
            <a:r>
              <a:rPr b="0" i="0" lang="en-US" sz="1700" u="none" cap="none" strike="noStrike">
                <a:solidFill>
                  <a:srgbClr val="795E26"/>
                </a:solidFill>
                <a:latin typeface="Consolas"/>
                <a:ea typeface="Consolas"/>
                <a:cs typeface="Consolas"/>
                <a:sym typeface="Consolas"/>
              </a:rPr>
              <a:t>printinfo</a:t>
            </a:r>
            <a:r>
              <a:rPr b="0" i="0" lang="en-US" sz="1700" u="none" cap="none" strike="noStrike">
                <a:solidFill>
                  <a:srgbClr val="000000"/>
                </a:solidFill>
                <a:latin typeface="Consolas"/>
                <a:ea typeface="Consolas"/>
                <a:cs typeface="Consolas"/>
                <a:sym typeface="Consolas"/>
              </a:rPr>
              <a:t>( </a:t>
            </a:r>
            <a:r>
              <a:rPr b="0" i="0" lang="en-US" sz="1700" u="none" cap="none" strike="noStrike">
                <a:solidFill>
                  <a:srgbClr val="098658"/>
                </a:solidFill>
                <a:latin typeface="Consolas"/>
                <a:ea typeface="Consolas"/>
                <a:cs typeface="Consolas"/>
                <a:sym typeface="Consolas"/>
              </a:rPr>
              <a:t>10</a:t>
            </a:r>
            <a:r>
              <a:rPr b="0" i="0" lang="en-US" sz="1700" u="none" cap="none" strike="noStrike">
                <a:solidFill>
                  <a:srgbClr val="00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par>
                                <p:cTn fill="hold" nodeType="with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500"/>
                                        <p:tgtEl>
                                          <p:spTgt spid="3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4"/>
          <p:cNvSpPr txBox="1"/>
          <p:nvPr>
            <p:ph type="title"/>
          </p:nvPr>
        </p:nvSpPr>
        <p:spPr>
          <a:xfrm>
            <a:off x="543616" y="1747023"/>
            <a:ext cx="5266944" cy="313639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Font typeface="Century Gothic"/>
              <a:buNone/>
            </a:pPr>
            <a:r>
              <a:rPr lang="en-US"/>
              <a:t>Function </a:t>
            </a:r>
            <a:br>
              <a:rPr lang="en-US"/>
            </a:br>
            <a:r>
              <a:rPr b="1" lang="en-US"/>
              <a:t>return</a:t>
            </a:r>
            <a:r>
              <a:rPr lang="en-US"/>
              <a:t> </a:t>
            </a:r>
            <a:br>
              <a:rPr lang="en-US"/>
            </a:br>
            <a:r>
              <a:rPr lang="en-US"/>
              <a:t>Statement</a:t>
            </a:r>
            <a:endParaRPr/>
          </a:p>
        </p:txBody>
      </p:sp>
      <p:sp>
        <p:nvSpPr>
          <p:cNvPr id="351" name="Google Shape;351;p24"/>
          <p:cNvSpPr txBox="1"/>
          <p:nvPr/>
        </p:nvSpPr>
        <p:spPr>
          <a:xfrm>
            <a:off x="6818280" y="2118717"/>
            <a:ext cx="4491748" cy="1937133"/>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def </a:t>
            </a:r>
            <a:r>
              <a:rPr b="0" i="1" lang="en-US" sz="1800" u="none" cap="none" strike="noStrike">
                <a:solidFill>
                  <a:schemeClr val="dk1"/>
                </a:solidFill>
                <a:latin typeface="Arial"/>
                <a:ea typeface="Arial"/>
                <a:cs typeface="Arial"/>
                <a:sym typeface="Arial"/>
              </a:rPr>
              <a:t>functionname </a:t>
            </a:r>
            <a:r>
              <a:rPr b="0" i="0" lang="en-US" sz="1800" u="none" cap="none" strike="noStrike">
                <a:solidFill>
                  <a:schemeClr val="dk1"/>
                </a:solidFill>
                <a:latin typeface="Arial"/>
                <a:ea typeface="Arial"/>
                <a:cs typeface="Arial"/>
                <a:sym typeface="Arial"/>
              </a:rPr>
              <a:t>( </a:t>
            </a:r>
            <a:r>
              <a:rPr b="1" i="0" lang="en-US" sz="1800" u="none" cap="none" strike="noStrike">
                <a:solidFill>
                  <a:srgbClr val="FF0000"/>
                </a:solidFill>
                <a:latin typeface="Arial"/>
                <a:ea typeface="Arial"/>
                <a:cs typeface="Arial"/>
                <a:sym typeface="Arial"/>
              </a:rPr>
              <a:t>parameters</a:t>
            </a:r>
            <a:r>
              <a:rPr b="0" i="0" lang="en-US" sz="18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739775"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"function_docstring"</a:t>
            </a:r>
            <a:endParaRPr b="0" i="0" sz="1400" u="none" cap="none" strike="noStrike">
              <a:solidFill>
                <a:srgbClr val="000000"/>
              </a:solidFill>
              <a:latin typeface="Arial"/>
              <a:ea typeface="Arial"/>
              <a:cs typeface="Arial"/>
              <a:sym typeface="Arial"/>
            </a:endParaRPr>
          </a:p>
          <a:p>
            <a:pPr indent="0" lvl="0" marL="739775"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function_suite</a:t>
            </a:r>
            <a:endParaRPr b="0" i="0" sz="1800" u="none" cap="none" strike="noStrike">
              <a:solidFill>
                <a:schemeClr val="dk1"/>
              </a:solidFill>
              <a:latin typeface="Arial"/>
              <a:ea typeface="Arial"/>
              <a:cs typeface="Arial"/>
              <a:sym typeface="Arial"/>
            </a:endParaRPr>
          </a:p>
          <a:p>
            <a:pPr indent="0" lvl="0" marL="739775"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return [expression]</a:t>
            </a:r>
            <a:endParaRPr b="0" i="0" sz="1400" u="none" cap="none" strike="noStrike">
              <a:solidFill>
                <a:srgbClr val="000000"/>
              </a:solidFill>
              <a:latin typeface="Arial"/>
              <a:ea typeface="Arial"/>
              <a:cs typeface="Arial"/>
              <a:sym typeface="Arial"/>
            </a:endParaRPr>
          </a:p>
        </p:txBody>
      </p:sp>
      <p:cxnSp>
        <p:nvCxnSpPr>
          <p:cNvPr id="352" name="Google Shape;352;p24"/>
          <p:cNvCxnSpPr/>
          <p:nvPr/>
        </p:nvCxnSpPr>
        <p:spPr>
          <a:xfrm>
            <a:off x="9496832" y="3968617"/>
            <a:ext cx="0" cy="564610"/>
          </a:xfrm>
          <a:prstGeom prst="straightConnector1">
            <a:avLst/>
          </a:prstGeom>
          <a:noFill/>
          <a:ln cap="flat" cmpd="sng" w="38100">
            <a:solidFill>
              <a:srgbClr val="FF0000"/>
            </a:solidFill>
            <a:prstDash val="solid"/>
            <a:miter lim="800000"/>
            <a:headEnd len="sm" w="sm" type="none"/>
            <a:tailEnd len="med" w="med" type="triangle"/>
          </a:ln>
        </p:spPr>
      </p:cxnSp>
      <p:sp>
        <p:nvSpPr>
          <p:cNvPr id="353" name="Google Shape;353;p24"/>
          <p:cNvSpPr txBox="1"/>
          <p:nvPr/>
        </p:nvSpPr>
        <p:spPr>
          <a:xfrm>
            <a:off x="8639176" y="4533227"/>
            <a:ext cx="2388748" cy="830997"/>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Returning value from function when it ends [Optional]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5"/>
          <p:cNvSpPr txBox="1"/>
          <p:nvPr>
            <p:ph type="title"/>
          </p:nvPr>
        </p:nvSpPr>
        <p:spPr>
          <a:xfrm>
            <a:off x="449094"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Function </a:t>
            </a:r>
            <a:r>
              <a:rPr b="1" lang="en-US"/>
              <a:t>return</a:t>
            </a:r>
            <a:r>
              <a:rPr lang="en-US"/>
              <a:t> Statement</a:t>
            </a:r>
            <a:endParaRPr/>
          </a:p>
        </p:txBody>
      </p:sp>
      <p:sp>
        <p:nvSpPr>
          <p:cNvPr id="359" name="Google Shape;359;p25"/>
          <p:cNvSpPr txBox="1"/>
          <p:nvPr/>
        </p:nvSpPr>
        <p:spPr>
          <a:xfrm>
            <a:off x="449094" y="1164166"/>
            <a:ext cx="7965332" cy="128599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The statement </a:t>
            </a:r>
            <a:r>
              <a:rPr b="1" i="0" lang="en-US" sz="1800" u="none" cap="none" strike="noStrike">
                <a:solidFill>
                  <a:schemeClr val="dk1"/>
                </a:solidFill>
                <a:latin typeface="Century Gothic"/>
                <a:ea typeface="Century Gothic"/>
                <a:cs typeface="Century Gothic"/>
                <a:sym typeface="Century Gothic"/>
              </a:rPr>
              <a:t>return [expression] </a:t>
            </a:r>
            <a:r>
              <a:rPr b="0" i="0" lang="en-US" sz="1800" u="none" cap="none" strike="noStrike">
                <a:solidFill>
                  <a:schemeClr val="dk1"/>
                </a:solidFill>
                <a:latin typeface="Century Gothic"/>
                <a:ea typeface="Century Gothic"/>
                <a:cs typeface="Century Gothic"/>
                <a:sym typeface="Century Gothic"/>
              </a:rPr>
              <a:t>exits a function.</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Optionally passing back an expression to the caller. </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A return statement with </a:t>
            </a:r>
            <a:r>
              <a:rPr b="1" i="0" lang="en-US" sz="1800" u="none" cap="none" strike="noStrike">
                <a:solidFill>
                  <a:schemeClr val="dk1"/>
                </a:solidFill>
                <a:latin typeface="Century Gothic"/>
                <a:ea typeface="Century Gothic"/>
                <a:cs typeface="Century Gothic"/>
                <a:sym typeface="Century Gothic"/>
              </a:rPr>
              <a:t>no arguments</a:t>
            </a:r>
            <a:r>
              <a:rPr b="0" i="0" lang="en-US" sz="1800" u="none" cap="none" strike="noStrike">
                <a:solidFill>
                  <a:schemeClr val="dk1"/>
                </a:solidFill>
                <a:latin typeface="Century Gothic"/>
                <a:ea typeface="Century Gothic"/>
                <a:cs typeface="Century Gothic"/>
                <a:sym typeface="Century Gothic"/>
              </a:rPr>
              <a:t> is the same as </a:t>
            </a:r>
            <a:r>
              <a:rPr b="1" i="0" lang="en-US" sz="1800" u="none" cap="none" strike="noStrike">
                <a:solidFill>
                  <a:schemeClr val="dk1"/>
                </a:solidFill>
                <a:latin typeface="Century Gothic"/>
                <a:ea typeface="Century Gothic"/>
                <a:cs typeface="Century Gothic"/>
                <a:sym typeface="Century Gothic"/>
              </a:rPr>
              <a:t>return None</a:t>
            </a:r>
            <a:r>
              <a:rPr b="0" i="0" lang="en-US" sz="1800" u="none" cap="none" strike="noStrike">
                <a:solidFill>
                  <a:schemeClr val="dk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p:txBody>
      </p:sp>
      <p:sp>
        <p:nvSpPr>
          <p:cNvPr id="360" name="Google Shape;360;p25"/>
          <p:cNvSpPr txBox="1"/>
          <p:nvPr/>
        </p:nvSpPr>
        <p:spPr>
          <a:xfrm>
            <a:off x="6096000" y="2686408"/>
            <a:ext cx="5775800" cy="3007426"/>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00FF"/>
                </a:solidFill>
                <a:latin typeface="Consolas"/>
                <a:ea typeface="Consolas"/>
                <a:cs typeface="Consolas"/>
                <a:sym typeface="Consolas"/>
              </a:rPr>
              <a:t>def</a:t>
            </a:r>
            <a:r>
              <a:rPr b="0" i="0" lang="en-US" sz="1600" u="none" cap="none" strike="noStrike">
                <a:solidFill>
                  <a:srgbClr val="000000"/>
                </a:solidFill>
                <a:latin typeface="Consolas"/>
                <a:ea typeface="Consolas"/>
                <a:cs typeface="Consolas"/>
                <a:sym typeface="Consolas"/>
              </a:rPr>
              <a:t> </a:t>
            </a:r>
            <a:r>
              <a:rPr b="0" i="0" lang="en-US" sz="1600" u="none" cap="none" strike="noStrike">
                <a:solidFill>
                  <a:srgbClr val="795E26"/>
                </a:solidFill>
                <a:latin typeface="Consolas"/>
                <a:ea typeface="Consolas"/>
                <a:cs typeface="Consolas"/>
                <a:sym typeface="Consolas"/>
              </a:rPr>
              <a:t>printinfo</a:t>
            </a:r>
            <a:r>
              <a:rPr b="0" i="0" lang="en-US" sz="1600" u="none" cap="none" strike="noStrike">
                <a:solidFill>
                  <a:srgbClr val="000000"/>
                </a:solidFill>
                <a:latin typeface="Consolas"/>
                <a:ea typeface="Consolas"/>
                <a:cs typeface="Consolas"/>
                <a:sym typeface="Consolas"/>
              </a:rPr>
              <a:t>( </a:t>
            </a:r>
            <a:r>
              <a:rPr b="0" i="0" lang="en-US" sz="1600" u="none" cap="none" strike="noStrike">
                <a:solidFill>
                  <a:srgbClr val="001080"/>
                </a:solidFill>
                <a:latin typeface="Consolas"/>
                <a:ea typeface="Consolas"/>
                <a:cs typeface="Consolas"/>
                <a:sym typeface="Consolas"/>
              </a:rPr>
              <a:t>name</a:t>
            </a:r>
            <a:r>
              <a:rPr b="0" i="0" lang="en-US" sz="1600" u="none" cap="none" strike="noStrike">
                <a:solidFill>
                  <a:srgbClr val="000000"/>
                </a:solidFill>
                <a:latin typeface="Consolas"/>
                <a:ea typeface="Consolas"/>
                <a:cs typeface="Consolas"/>
                <a:sym typeface="Consolas"/>
              </a:rPr>
              <a:t> = </a:t>
            </a:r>
            <a:r>
              <a:rPr b="0" i="0" lang="en-US" sz="1600" u="none" cap="none" strike="noStrike">
                <a:solidFill>
                  <a:srgbClr val="A31515"/>
                </a:solidFill>
                <a:latin typeface="Consolas"/>
                <a:ea typeface="Consolas"/>
                <a:cs typeface="Consolas"/>
                <a:sym typeface="Consolas"/>
              </a:rPr>
              <a:t>'Rajit'</a:t>
            </a:r>
            <a:r>
              <a:rPr b="0" i="0" lang="en-US" sz="1600" u="none" cap="none" strike="noStrike">
                <a:solidFill>
                  <a:srgbClr val="000000"/>
                </a:solidFill>
                <a:latin typeface="Consolas"/>
                <a:ea typeface="Consolas"/>
                <a:cs typeface="Consolas"/>
                <a:sym typeface="Consolas"/>
              </a:rPr>
              <a:t>, </a:t>
            </a:r>
            <a:r>
              <a:rPr b="0" i="0" lang="en-US" sz="1600" u="none" cap="none" strike="noStrike">
                <a:solidFill>
                  <a:srgbClr val="001080"/>
                </a:solidFill>
                <a:latin typeface="Consolas"/>
                <a:ea typeface="Consolas"/>
                <a:cs typeface="Consolas"/>
                <a:sym typeface="Consolas"/>
              </a:rPr>
              <a:t>age</a:t>
            </a:r>
            <a:r>
              <a:rPr b="0" i="0" lang="en-US" sz="1600" u="none" cap="none" strike="noStrike">
                <a:solidFill>
                  <a:srgbClr val="000000"/>
                </a:solidFill>
                <a:latin typeface="Consolas"/>
                <a:ea typeface="Consolas"/>
                <a:cs typeface="Consolas"/>
                <a:sym typeface="Consolas"/>
              </a:rPr>
              <a:t> = </a:t>
            </a:r>
            <a:r>
              <a:rPr b="0" i="0" lang="en-US" sz="1600" u="none" cap="none" strike="noStrike">
                <a:solidFill>
                  <a:srgbClr val="098658"/>
                </a:solidFill>
                <a:latin typeface="Consolas"/>
                <a:ea typeface="Consolas"/>
                <a:cs typeface="Consolas"/>
                <a:sym typeface="Consolas"/>
              </a:rPr>
              <a:t>35</a:t>
            </a:r>
            <a:r>
              <a:rPr b="0" i="0" lang="en-US" sz="16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Consolas"/>
                <a:ea typeface="Consolas"/>
                <a:cs typeface="Consolas"/>
                <a:sym typeface="Consolas"/>
              </a:rPr>
              <a:t>    </a:t>
            </a:r>
            <a:r>
              <a:rPr b="0" i="0" lang="en-US" sz="1600" u="none" cap="none" strike="noStrike">
                <a:solidFill>
                  <a:srgbClr val="A31515"/>
                </a:solidFill>
                <a:latin typeface="Consolas"/>
                <a:ea typeface="Consolas"/>
                <a:cs typeface="Consolas"/>
                <a:sym typeface="Consolas"/>
              </a:rPr>
              <a:t>"This prints a passed info into this function"</a:t>
            </a:r>
            <a:endParaRPr b="0" i="0" sz="16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Consolas"/>
                <a:ea typeface="Consolas"/>
                <a:cs typeface="Consolas"/>
                <a:sym typeface="Consolas"/>
              </a:rPr>
              <a:t>    </a:t>
            </a:r>
            <a:r>
              <a:rPr b="0" i="0" lang="en-US" sz="1600" u="none" cap="none" strike="noStrike">
                <a:solidFill>
                  <a:srgbClr val="795E26"/>
                </a:solidFill>
                <a:latin typeface="Consolas"/>
                <a:ea typeface="Consolas"/>
                <a:cs typeface="Consolas"/>
                <a:sym typeface="Consolas"/>
              </a:rPr>
              <a:t>print</a:t>
            </a:r>
            <a:r>
              <a:rPr b="0" i="0" lang="en-US" sz="1600" u="none" cap="none" strike="noStrike">
                <a:solidFill>
                  <a:srgbClr val="000000"/>
                </a:solidFill>
                <a:latin typeface="Consolas"/>
                <a:ea typeface="Consolas"/>
                <a:cs typeface="Consolas"/>
                <a:sym typeface="Consolas"/>
              </a:rPr>
              <a:t> (</a:t>
            </a:r>
            <a:r>
              <a:rPr b="0" i="0" lang="en-US" sz="1600" u="none" cap="none" strike="noStrike">
                <a:solidFill>
                  <a:srgbClr val="A31515"/>
                </a:solidFill>
                <a:latin typeface="Consolas"/>
                <a:ea typeface="Consolas"/>
                <a:cs typeface="Consolas"/>
                <a:sym typeface="Consolas"/>
              </a:rPr>
              <a:t>"Name: "</a:t>
            </a:r>
            <a:r>
              <a:rPr b="0" i="0" lang="en-US" sz="1600" u="none" cap="none" strike="noStrike">
                <a:solidFill>
                  <a:srgbClr val="000000"/>
                </a:solidFill>
                <a:latin typeface="Consolas"/>
                <a:ea typeface="Consolas"/>
                <a:cs typeface="Consolas"/>
                <a:sym typeface="Consolas"/>
              </a:rPr>
              <a:t>, </a:t>
            </a:r>
            <a:r>
              <a:rPr b="0" i="0" lang="en-US" sz="1600" u="none" cap="none" strike="noStrike">
                <a:solidFill>
                  <a:srgbClr val="001080"/>
                </a:solidFill>
                <a:latin typeface="Consolas"/>
                <a:ea typeface="Consolas"/>
                <a:cs typeface="Consolas"/>
                <a:sym typeface="Consolas"/>
              </a:rPr>
              <a:t>name</a:t>
            </a:r>
            <a:r>
              <a:rPr b="0" i="0" lang="en-US" sz="16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Consolas"/>
                <a:ea typeface="Consolas"/>
                <a:cs typeface="Consolas"/>
                <a:sym typeface="Consolas"/>
              </a:rPr>
              <a:t>    </a:t>
            </a:r>
            <a:r>
              <a:rPr b="0" i="0" lang="en-US" sz="1600" u="none" cap="none" strike="noStrike">
                <a:solidFill>
                  <a:srgbClr val="795E26"/>
                </a:solidFill>
                <a:latin typeface="Consolas"/>
                <a:ea typeface="Consolas"/>
                <a:cs typeface="Consolas"/>
                <a:sym typeface="Consolas"/>
              </a:rPr>
              <a:t>print</a:t>
            </a:r>
            <a:r>
              <a:rPr b="0" i="0" lang="en-US" sz="1600" u="none" cap="none" strike="noStrike">
                <a:solidFill>
                  <a:srgbClr val="000000"/>
                </a:solidFill>
                <a:latin typeface="Consolas"/>
                <a:ea typeface="Consolas"/>
                <a:cs typeface="Consolas"/>
                <a:sym typeface="Consolas"/>
              </a:rPr>
              <a:t> (</a:t>
            </a:r>
            <a:r>
              <a:rPr b="0" i="0" lang="en-US" sz="1600" u="none" cap="none" strike="noStrike">
                <a:solidFill>
                  <a:srgbClr val="A31515"/>
                </a:solidFill>
                <a:latin typeface="Consolas"/>
                <a:ea typeface="Consolas"/>
                <a:cs typeface="Consolas"/>
                <a:sym typeface="Consolas"/>
              </a:rPr>
              <a:t>"Age "</a:t>
            </a:r>
            <a:r>
              <a:rPr b="0" i="0" lang="en-US" sz="1600" u="none" cap="none" strike="noStrike">
                <a:solidFill>
                  <a:srgbClr val="000000"/>
                </a:solidFill>
                <a:latin typeface="Consolas"/>
                <a:ea typeface="Consolas"/>
                <a:cs typeface="Consolas"/>
                <a:sym typeface="Consolas"/>
              </a:rPr>
              <a:t>, </a:t>
            </a:r>
            <a:r>
              <a:rPr b="0" i="0" lang="en-US" sz="1600" u="none" cap="none" strike="noStrike">
                <a:solidFill>
                  <a:srgbClr val="001080"/>
                </a:solidFill>
                <a:latin typeface="Consolas"/>
                <a:ea typeface="Consolas"/>
                <a:cs typeface="Consolas"/>
                <a:sym typeface="Consolas"/>
              </a:rPr>
              <a:t>age</a:t>
            </a:r>
            <a:r>
              <a:rPr b="0" i="0" lang="en-US" sz="16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Consolas"/>
                <a:ea typeface="Consolas"/>
                <a:cs typeface="Consolas"/>
                <a:sym typeface="Consolas"/>
              </a:rPr>
              <a:t>    </a:t>
            </a:r>
            <a:r>
              <a:rPr b="0" i="0" lang="en-US" sz="1600" u="none" cap="none" strike="noStrike">
                <a:solidFill>
                  <a:srgbClr val="AF00DB"/>
                </a:solidFill>
                <a:latin typeface="Consolas"/>
                <a:ea typeface="Consolas"/>
                <a:cs typeface="Consolas"/>
                <a:sym typeface="Consolas"/>
              </a:rPr>
              <a:t>return</a:t>
            </a:r>
            <a:endParaRPr b="0" i="0" sz="16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br>
              <a:rPr b="0" i="0" lang="en-US" sz="1600" u="none" cap="none" strike="noStrike">
                <a:solidFill>
                  <a:srgbClr val="000000"/>
                </a:solidFill>
                <a:latin typeface="Consolas"/>
                <a:ea typeface="Consolas"/>
                <a:cs typeface="Consolas"/>
                <a:sym typeface="Consolas"/>
              </a:rPr>
            </a:br>
            <a:r>
              <a:rPr b="0" i="0" lang="en-US" sz="1600" u="none" cap="none" strike="noStrike">
                <a:solidFill>
                  <a:srgbClr val="008000"/>
                </a:solidFill>
                <a:latin typeface="Consolas"/>
                <a:ea typeface="Consolas"/>
                <a:cs typeface="Consolas"/>
                <a:sym typeface="Consolas"/>
              </a:rPr>
              <a:t># Now you can call printinfo function</a:t>
            </a:r>
            <a:endParaRPr b="0" i="0" sz="16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795E26"/>
                </a:solidFill>
                <a:latin typeface="Consolas"/>
                <a:ea typeface="Consolas"/>
                <a:cs typeface="Consolas"/>
                <a:sym typeface="Consolas"/>
              </a:rPr>
              <a:t>printinfo</a:t>
            </a:r>
            <a:r>
              <a:rPr b="0" i="0" lang="en-US" sz="1600" u="none" cap="none" strike="noStrike">
                <a:solidFill>
                  <a:srgbClr val="000000"/>
                </a:solidFill>
                <a:latin typeface="Consolas"/>
                <a:ea typeface="Consolas"/>
                <a:cs typeface="Consolas"/>
                <a:sym typeface="Consolas"/>
              </a:rPr>
              <a:t>( </a:t>
            </a:r>
            <a:r>
              <a:rPr b="0" i="0" lang="en-US" sz="1600" u="none" cap="none" strike="noStrike">
                <a:solidFill>
                  <a:srgbClr val="001080"/>
                </a:solidFill>
                <a:latin typeface="Consolas"/>
                <a:ea typeface="Consolas"/>
                <a:cs typeface="Consolas"/>
                <a:sym typeface="Consolas"/>
              </a:rPr>
              <a:t>age</a:t>
            </a:r>
            <a:r>
              <a:rPr b="0" i="0" lang="en-US" sz="1600" u="none" cap="none" strike="noStrike">
                <a:solidFill>
                  <a:srgbClr val="000000"/>
                </a:solidFill>
                <a:latin typeface="Consolas"/>
                <a:ea typeface="Consolas"/>
                <a:cs typeface="Consolas"/>
                <a:sym typeface="Consolas"/>
              </a:rPr>
              <a:t>=</a:t>
            </a:r>
            <a:r>
              <a:rPr b="0" i="0" lang="en-US" sz="1600" u="none" cap="none" strike="noStrike">
                <a:solidFill>
                  <a:srgbClr val="098658"/>
                </a:solidFill>
                <a:latin typeface="Consolas"/>
                <a:ea typeface="Consolas"/>
                <a:cs typeface="Consolas"/>
                <a:sym typeface="Consolas"/>
              </a:rPr>
              <a:t>50</a:t>
            </a:r>
            <a:r>
              <a:rPr b="0" i="0" lang="en-US" sz="1600" u="none" cap="none" strike="noStrike">
                <a:solidFill>
                  <a:srgbClr val="000000"/>
                </a:solidFill>
                <a:latin typeface="Consolas"/>
                <a:ea typeface="Consolas"/>
                <a:cs typeface="Consolas"/>
                <a:sym typeface="Consolas"/>
              </a:rPr>
              <a:t>, </a:t>
            </a:r>
            <a:r>
              <a:rPr b="0" i="0" lang="en-US" sz="1600" u="none" cap="none" strike="noStrike">
                <a:solidFill>
                  <a:srgbClr val="001080"/>
                </a:solidFill>
                <a:latin typeface="Consolas"/>
                <a:ea typeface="Consolas"/>
                <a:cs typeface="Consolas"/>
                <a:sym typeface="Consolas"/>
              </a:rPr>
              <a:t>name</a:t>
            </a:r>
            <a:r>
              <a:rPr b="0" i="0" lang="en-US" sz="1600" u="none" cap="none" strike="noStrike">
                <a:solidFill>
                  <a:srgbClr val="000000"/>
                </a:solidFill>
                <a:latin typeface="Consolas"/>
                <a:ea typeface="Consolas"/>
                <a:cs typeface="Consolas"/>
                <a:sym typeface="Consolas"/>
              </a:rPr>
              <a:t>=</a:t>
            </a:r>
            <a:r>
              <a:rPr b="0" i="0" lang="en-US" sz="1600" u="none" cap="none" strike="noStrike">
                <a:solidFill>
                  <a:srgbClr val="A31515"/>
                </a:solidFill>
                <a:latin typeface="Consolas"/>
                <a:ea typeface="Consolas"/>
                <a:cs typeface="Consolas"/>
                <a:sym typeface="Consolas"/>
              </a:rPr>
              <a:t>"miki"</a:t>
            </a:r>
            <a:r>
              <a:rPr b="0" i="0" lang="en-US" sz="1600" u="none" cap="none" strike="noStrike">
                <a:solidFill>
                  <a:srgbClr val="00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p:txBody>
      </p:sp>
      <p:sp>
        <p:nvSpPr>
          <p:cNvPr id="361" name="Google Shape;361;p25"/>
          <p:cNvSpPr txBox="1"/>
          <p:nvPr/>
        </p:nvSpPr>
        <p:spPr>
          <a:xfrm>
            <a:off x="7179013" y="5930083"/>
            <a:ext cx="400301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Function printinfo() returns nothing</a:t>
            </a:r>
            <a:endParaRPr b="0" i="0" sz="1400" u="none" cap="none" strike="noStrike">
              <a:solidFill>
                <a:srgbClr val="000000"/>
              </a:solidFill>
              <a:latin typeface="Arial"/>
              <a:ea typeface="Arial"/>
              <a:cs typeface="Arial"/>
              <a:sym typeface="Arial"/>
            </a:endParaRPr>
          </a:p>
        </p:txBody>
      </p:sp>
      <p:sp>
        <p:nvSpPr>
          <p:cNvPr id="362" name="Google Shape;362;p25"/>
          <p:cNvSpPr txBox="1"/>
          <p:nvPr/>
        </p:nvSpPr>
        <p:spPr>
          <a:xfrm>
            <a:off x="1432396" y="2982098"/>
            <a:ext cx="2760225" cy="2416046"/>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Consolas"/>
                <a:ea typeface="Consolas"/>
                <a:cs typeface="Consolas"/>
                <a:sym typeface="Consolas"/>
              </a:rPr>
              <a:t>def</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795E26"/>
                </a:solidFill>
                <a:latin typeface="Consolas"/>
                <a:ea typeface="Consolas"/>
                <a:cs typeface="Consolas"/>
                <a:sym typeface="Consolas"/>
              </a:rPr>
              <a:t>func</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n1</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098658"/>
                </a:solidFill>
                <a:latin typeface="Consolas"/>
                <a:ea typeface="Consolas"/>
                <a:cs typeface="Consolas"/>
                <a:sym typeface="Consolas"/>
              </a:rPr>
              <a:t>20</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A31515"/>
                </a:solidFill>
                <a:latin typeface="Consolas"/>
                <a:ea typeface="Consolas"/>
                <a:cs typeface="Consolas"/>
                <a:sym typeface="Consolas"/>
              </a:rPr>
              <a:t>'Rajit'</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AF00DB"/>
                </a:solidFill>
                <a:latin typeface="Consolas"/>
                <a:ea typeface="Consolas"/>
                <a:cs typeface="Consolas"/>
                <a:sym typeface="Consolas"/>
              </a:rPr>
              <a:t>return</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n1</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001080"/>
                </a:solidFill>
                <a:latin typeface="Consolas"/>
                <a:ea typeface="Consolas"/>
                <a:cs typeface="Consolas"/>
                <a:sym typeface="Consolas"/>
              </a:rPr>
              <a:t>n3</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795E26"/>
                </a:solidFill>
                <a:latin typeface="Consolas"/>
                <a:ea typeface="Consolas"/>
                <a:cs typeface="Consolas"/>
                <a:sym typeface="Consolas"/>
              </a:rPr>
              <a:t>func</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795E26"/>
                </a:solidFill>
                <a:latin typeface="Consolas"/>
                <a:ea typeface="Consolas"/>
                <a:cs typeface="Consolas"/>
                <a:sym typeface="Consolas"/>
              </a:rPr>
              <a:t>print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01080"/>
                </a:solidFill>
                <a:latin typeface="Consolas"/>
                <a:ea typeface="Consolas"/>
                <a:cs typeface="Consolas"/>
                <a:sym typeface="Consolas"/>
              </a:rPr>
              <a:t>n3</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98658"/>
                </a:solidFill>
                <a:latin typeface="Consolas"/>
                <a:ea typeface="Consolas"/>
                <a:cs typeface="Consolas"/>
                <a:sym typeface="Consolas"/>
              </a:rPr>
              <a:t>0</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n3</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098658"/>
                </a:solidFill>
                <a:latin typeface="Consolas"/>
                <a:ea typeface="Consolas"/>
                <a:cs typeface="Consolas"/>
                <a:sym typeface="Consolas"/>
              </a:rPr>
              <a:t>1</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363" name="Google Shape;363;p25"/>
          <p:cNvSpPr txBox="1"/>
          <p:nvPr/>
        </p:nvSpPr>
        <p:spPr>
          <a:xfrm>
            <a:off x="690663" y="5930083"/>
            <a:ext cx="460895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Function func() returns a tuple of values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6"/>
          <p:cNvSpPr txBox="1"/>
          <p:nvPr>
            <p:ph type="title"/>
          </p:nvPr>
        </p:nvSpPr>
        <p:spPr>
          <a:xfrm>
            <a:off x="543616" y="1747023"/>
            <a:ext cx="5266944" cy="313639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Font typeface="Century Gothic"/>
              <a:buNone/>
            </a:pPr>
            <a:r>
              <a:rPr b="1" lang="en-US"/>
              <a:t>Scope of Variables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7"/>
          <p:cNvSpPr txBox="1"/>
          <p:nvPr>
            <p:ph type="title"/>
          </p:nvPr>
        </p:nvSpPr>
        <p:spPr>
          <a:xfrm>
            <a:off x="526915"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Scope of variable – Global or Local</a:t>
            </a:r>
            <a:endParaRPr/>
          </a:p>
        </p:txBody>
      </p:sp>
      <p:sp>
        <p:nvSpPr>
          <p:cNvPr id="374" name="Google Shape;374;p27"/>
          <p:cNvSpPr txBox="1"/>
          <p:nvPr/>
        </p:nvSpPr>
        <p:spPr>
          <a:xfrm>
            <a:off x="665533" y="2150212"/>
            <a:ext cx="10376982" cy="212365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Century Gothic"/>
                <a:ea typeface="Century Gothic"/>
                <a:cs typeface="Century Gothic"/>
                <a:sym typeface="Century Gothic"/>
              </a:rPr>
              <a:t>Local variable:</a:t>
            </a:r>
            <a:r>
              <a:rPr b="0" i="0" lang="en-US" sz="1800" u="none" cap="none" strike="noStrike">
                <a:solidFill>
                  <a:schemeClr val="dk1"/>
                </a:solidFill>
                <a:latin typeface="Century Gothic"/>
                <a:ea typeface="Century Gothic"/>
                <a:cs typeface="Century Gothic"/>
                <a:sym typeface="Century Gothic"/>
              </a:rPr>
              <a:t> Variables that are </a:t>
            </a:r>
            <a:r>
              <a:rPr b="1" i="0" lang="en-US" sz="1800" u="sng" cap="none" strike="noStrike">
                <a:solidFill>
                  <a:schemeClr val="dk1"/>
                </a:solidFill>
                <a:latin typeface="Century Gothic"/>
                <a:ea typeface="Century Gothic"/>
                <a:cs typeface="Century Gothic"/>
                <a:sym typeface="Century Gothic"/>
              </a:rPr>
              <a:t>defined inside a function </a:t>
            </a:r>
            <a:r>
              <a:rPr b="0" i="0" lang="en-US" sz="1800" u="none" cap="none" strike="noStrike">
                <a:solidFill>
                  <a:schemeClr val="dk1"/>
                </a:solidFill>
                <a:latin typeface="Century Gothic"/>
                <a:ea typeface="Century Gothic"/>
                <a:cs typeface="Century Gothic"/>
                <a:sym typeface="Century Gothic"/>
              </a:rPr>
              <a:t>body have a local scope.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2400"/>
              </a:spcBef>
              <a:spcAft>
                <a:spcPts val="0"/>
              </a:spcAft>
              <a:buClr>
                <a:schemeClr val="dk1"/>
              </a:buClr>
              <a:buSzPts val="1800"/>
              <a:buFont typeface="Noto Sans Symbols"/>
              <a:buChar char="✔"/>
            </a:pPr>
            <a:r>
              <a:rPr b="1" i="0" lang="en-US" sz="1800" u="none" cap="none" strike="noStrike">
                <a:solidFill>
                  <a:schemeClr val="dk1"/>
                </a:solidFill>
                <a:latin typeface="Century Gothic"/>
                <a:ea typeface="Century Gothic"/>
                <a:cs typeface="Century Gothic"/>
                <a:sym typeface="Century Gothic"/>
              </a:rPr>
              <a:t>Global Variable:</a:t>
            </a:r>
            <a:r>
              <a:rPr b="0" i="0" lang="en-US" sz="1800" u="none" cap="none" strike="noStrike">
                <a:solidFill>
                  <a:schemeClr val="dk1"/>
                </a:solidFill>
                <a:latin typeface="Century Gothic"/>
                <a:ea typeface="Century Gothic"/>
                <a:cs typeface="Century Gothic"/>
                <a:sym typeface="Century Gothic"/>
              </a:rPr>
              <a:t> Variables </a:t>
            </a:r>
            <a:r>
              <a:rPr b="1" i="0" lang="en-US" sz="1800" u="sng" cap="none" strike="noStrike">
                <a:solidFill>
                  <a:schemeClr val="dk1"/>
                </a:solidFill>
                <a:latin typeface="Century Gothic"/>
                <a:ea typeface="Century Gothic"/>
                <a:cs typeface="Century Gothic"/>
                <a:sym typeface="Century Gothic"/>
              </a:rPr>
              <a:t>defined outside any function </a:t>
            </a:r>
            <a:r>
              <a:rPr b="0" i="0" lang="en-US" sz="1800" u="none" cap="none" strike="noStrike">
                <a:solidFill>
                  <a:schemeClr val="dk1"/>
                </a:solidFill>
                <a:latin typeface="Century Gothic"/>
                <a:ea typeface="Century Gothic"/>
                <a:cs typeface="Century Gothic"/>
                <a:sym typeface="Century Gothic"/>
              </a:rPr>
              <a:t>have a global scope.</a:t>
            </a:r>
            <a:endParaRPr b="0" i="0" sz="1400" u="none" cap="none" strike="noStrike">
              <a:solidFill>
                <a:srgbClr val="000000"/>
              </a:solidFill>
              <a:latin typeface="Arial"/>
              <a:ea typeface="Arial"/>
              <a:cs typeface="Arial"/>
              <a:sym typeface="Arial"/>
            </a:endParaRPr>
          </a:p>
          <a:p>
            <a:pPr indent="-285750" lvl="0" marL="574675" marR="0" rtl="0" algn="l">
              <a:lnSpc>
                <a:spcPct val="100000"/>
              </a:lnSpc>
              <a:spcBef>
                <a:spcPts val="2400"/>
              </a:spcBef>
              <a:spcAft>
                <a:spcPts val="0"/>
              </a:spcAft>
              <a:buClr>
                <a:schemeClr val="dk1"/>
              </a:buClr>
              <a:buSzPts val="1800"/>
              <a:buFont typeface="Noto Sans Symbols"/>
              <a:buChar char="✔"/>
            </a:pPr>
            <a:r>
              <a:rPr b="1" i="0" lang="en-US" sz="1800" u="none" cap="none" strike="noStrike">
                <a:solidFill>
                  <a:schemeClr val="dk1"/>
                </a:solidFill>
                <a:latin typeface="Century Gothic"/>
                <a:ea typeface="Century Gothic"/>
                <a:cs typeface="Century Gothic"/>
                <a:sym typeface="Century Gothic"/>
              </a:rPr>
              <a:t>Local variables </a:t>
            </a:r>
            <a:r>
              <a:rPr b="0" i="0" lang="en-US" sz="1800" u="none" cap="none" strike="noStrike">
                <a:solidFill>
                  <a:schemeClr val="dk1"/>
                </a:solidFill>
                <a:latin typeface="Century Gothic"/>
                <a:ea typeface="Century Gothic"/>
                <a:cs typeface="Century Gothic"/>
                <a:sym typeface="Century Gothic"/>
              </a:rPr>
              <a:t>are accessible </a:t>
            </a:r>
            <a:r>
              <a:rPr b="1" i="0" lang="en-US" sz="1800" u="none" cap="none" strike="noStrike">
                <a:solidFill>
                  <a:srgbClr val="FF0000"/>
                </a:solidFill>
                <a:latin typeface="Century Gothic"/>
                <a:ea typeface="Century Gothic"/>
                <a:cs typeface="Century Gothic"/>
                <a:sym typeface="Century Gothic"/>
              </a:rPr>
              <a:t>only inside the function </a:t>
            </a:r>
            <a:r>
              <a:rPr b="0" i="0" lang="en-US" sz="1800" u="none" cap="none" strike="noStrike">
                <a:solidFill>
                  <a:schemeClr val="dk1"/>
                </a:solidFill>
                <a:latin typeface="Century Gothic"/>
                <a:ea typeface="Century Gothic"/>
                <a:cs typeface="Century Gothic"/>
                <a:sym typeface="Century Gothic"/>
              </a:rPr>
              <a:t>in which they are declared.</a:t>
            </a:r>
            <a:endParaRPr b="0" i="0" sz="1400" u="none" cap="none" strike="noStrike">
              <a:solidFill>
                <a:srgbClr val="000000"/>
              </a:solidFill>
              <a:latin typeface="Arial"/>
              <a:ea typeface="Arial"/>
              <a:cs typeface="Arial"/>
              <a:sym typeface="Arial"/>
            </a:endParaRPr>
          </a:p>
          <a:p>
            <a:pPr indent="-285750" lvl="0" marL="574675" marR="0" rtl="0" algn="l">
              <a:lnSpc>
                <a:spcPct val="100000"/>
              </a:lnSpc>
              <a:spcBef>
                <a:spcPts val="2400"/>
              </a:spcBef>
              <a:spcAft>
                <a:spcPts val="0"/>
              </a:spcAft>
              <a:buClr>
                <a:schemeClr val="dk1"/>
              </a:buClr>
              <a:buSzPts val="1800"/>
              <a:buFont typeface="Noto Sans Symbols"/>
              <a:buChar char="✔"/>
            </a:pPr>
            <a:r>
              <a:rPr b="1" i="0" lang="en-US" sz="1800" u="none" cap="none" strike="noStrike">
                <a:solidFill>
                  <a:schemeClr val="dk1"/>
                </a:solidFill>
                <a:latin typeface="Century Gothic"/>
                <a:ea typeface="Century Gothic"/>
                <a:cs typeface="Century Gothic"/>
                <a:sym typeface="Century Gothic"/>
              </a:rPr>
              <a:t>Global variables </a:t>
            </a:r>
            <a:r>
              <a:rPr b="0" i="0" lang="en-US" sz="1800" u="none" cap="none" strike="noStrike">
                <a:solidFill>
                  <a:schemeClr val="dk1"/>
                </a:solidFill>
                <a:latin typeface="Century Gothic"/>
                <a:ea typeface="Century Gothic"/>
                <a:cs typeface="Century Gothic"/>
                <a:sym typeface="Century Gothic"/>
              </a:rPr>
              <a:t>can be </a:t>
            </a:r>
            <a:r>
              <a:rPr b="1" i="0" lang="en-US" sz="1800" u="none" cap="none" strike="noStrike">
                <a:solidFill>
                  <a:srgbClr val="FF0000"/>
                </a:solidFill>
                <a:latin typeface="Century Gothic"/>
                <a:ea typeface="Century Gothic"/>
                <a:cs typeface="Century Gothic"/>
                <a:sym typeface="Century Gothic"/>
              </a:rPr>
              <a:t>accessed throughout the program </a:t>
            </a:r>
            <a:r>
              <a:rPr b="0" i="0" lang="en-US" sz="1800" u="none" cap="none" strike="noStrike">
                <a:solidFill>
                  <a:schemeClr val="dk1"/>
                </a:solidFill>
                <a:latin typeface="Century Gothic"/>
                <a:ea typeface="Century Gothic"/>
                <a:cs typeface="Century Gothic"/>
                <a:sym typeface="Century Gothic"/>
              </a:rPr>
              <a:t>body by all functions.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8"/>
          <p:cNvSpPr txBox="1"/>
          <p:nvPr>
            <p:ph type="title"/>
          </p:nvPr>
        </p:nvSpPr>
        <p:spPr>
          <a:xfrm>
            <a:off x="526915"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Scope of variable – Global or Local</a:t>
            </a:r>
            <a:endParaRPr/>
          </a:p>
        </p:txBody>
      </p:sp>
      <p:sp>
        <p:nvSpPr>
          <p:cNvPr id="380" name="Google Shape;380;p28"/>
          <p:cNvSpPr txBox="1"/>
          <p:nvPr/>
        </p:nvSpPr>
        <p:spPr>
          <a:xfrm>
            <a:off x="735248" y="1337892"/>
            <a:ext cx="10376982" cy="9541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Century Gothic"/>
                <a:ea typeface="Century Gothic"/>
                <a:cs typeface="Century Gothic"/>
                <a:sym typeface="Century Gothic"/>
              </a:rPr>
              <a:t>Local variable:</a:t>
            </a:r>
            <a:r>
              <a:rPr b="0" i="0" lang="en-US" sz="1800" u="none" cap="none" strike="noStrike">
                <a:solidFill>
                  <a:schemeClr val="dk1"/>
                </a:solidFill>
                <a:latin typeface="Century Gothic"/>
                <a:ea typeface="Century Gothic"/>
                <a:cs typeface="Century Gothic"/>
                <a:sym typeface="Century Gothic"/>
              </a:rPr>
              <a:t> Variables that are </a:t>
            </a:r>
            <a:r>
              <a:rPr b="1" i="0" lang="en-US" sz="1800" u="sng" cap="none" strike="noStrike">
                <a:solidFill>
                  <a:schemeClr val="dk1"/>
                </a:solidFill>
                <a:latin typeface="Century Gothic"/>
                <a:ea typeface="Century Gothic"/>
                <a:cs typeface="Century Gothic"/>
                <a:sym typeface="Century Gothic"/>
              </a:rPr>
              <a:t>defined inside a function </a:t>
            </a:r>
            <a:r>
              <a:rPr b="0" i="0" lang="en-US" sz="1800" u="none" cap="none" strike="noStrike">
                <a:solidFill>
                  <a:schemeClr val="dk1"/>
                </a:solidFill>
                <a:latin typeface="Century Gothic"/>
                <a:ea typeface="Century Gothic"/>
                <a:cs typeface="Century Gothic"/>
                <a:sym typeface="Century Gothic"/>
              </a:rPr>
              <a:t>body have a local scope.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2400"/>
              </a:spcBef>
              <a:spcAft>
                <a:spcPts val="0"/>
              </a:spcAft>
              <a:buClr>
                <a:schemeClr val="dk1"/>
              </a:buClr>
              <a:buSzPts val="1800"/>
              <a:buFont typeface="Noto Sans Symbols"/>
              <a:buChar char="✔"/>
            </a:pPr>
            <a:r>
              <a:rPr b="1" i="0" lang="en-US" sz="1800" u="none" cap="none" strike="noStrike">
                <a:solidFill>
                  <a:schemeClr val="dk1"/>
                </a:solidFill>
                <a:latin typeface="Century Gothic"/>
                <a:ea typeface="Century Gothic"/>
                <a:cs typeface="Century Gothic"/>
                <a:sym typeface="Century Gothic"/>
              </a:rPr>
              <a:t>Global Variable:</a:t>
            </a:r>
            <a:r>
              <a:rPr b="0" i="0" lang="en-US" sz="1800" u="none" cap="none" strike="noStrike">
                <a:solidFill>
                  <a:schemeClr val="dk1"/>
                </a:solidFill>
                <a:latin typeface="Century Gothic"/>
                <a:ea typeface="Century Gothic"/>
                <a:cs typeface="Century Gothic"/>
                <a:sym typeface="Century Gothic"/>
              </a:rPr>
              <a:t> Variables </a:t>
            </a:r>
            <a:r>
              <a:rPr b="1" i="0" lang="en-US" sz="1800" u="sng" cap="none" strike="noStrike">
                <a:solidFill>
                  <a:schemeClr val="dk1"/>
                </a:solidFill>
                <a:latin typeface="Century Gothic"/>
                <a:ea typeface="Century Gothic"/>
                <a:cs typeface="Century Gothic"/>
                <a:sym typeface="Century Gothic"/>
              </a:rPr>
              <a:t>defined outside any function </a:t>
            </a:r>
            <a:r>
              <a:rPr b="0" i="0" lang="en-US" sz="1800" u="none" cap="none" strike="noStrike">
                <a:solidFill>
                  <a:schemeClr val="dk1"/>
                </a:solidFill>
                <a:latin typeface="Century Gothic"/>
                <a:ea typeface="Century Gothic"/>
                <a:cs typeface="Century Gothic"/>
                <a:sym typeface="Century Gothic"/>
              </a:rPr>
              <a:t>have a global scope.</a:t>
            </a:r>
            <a:endParaRPr b="0" i="0" sz="1400" u="none" cap="none" strike="noStrike">
              <a:solidFill>
                <a:srgbClr val="000000"/>
              </a:solidFill>
              <a:latin typeface="Arial"/>
              <a:ea typeface="Arial"/>
              <a:cs typeface="Arial"/>
              <a:sym typeface="Arial"/>
            </a:endParaRPr>
          </a:p>
        </p:txBody>
      </p:sp>
      <p:sp>
        <p:nvSpPr>
          <p:cNvPr id="381" name="Google Shape;381;p28"/>
          <p:cNvSpPr txBox="1"/>
          <p:nvPr/>
        </p:nvSpPr>
        <p:spPr>
          <a:xfrm>
            <a:off x="1297426" y="2763446"/>
            <a:ext cx="4451621" cy="31239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Consolas"/>
                <a:ea typeface="Consolas"/>
                <a:cs typeface="Consolas"/>
                <a:sym typeface="Consolas"/>
              </a:rPr>
              <a:t>def</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795E26"/>
                </a:solidFill>
                <a:latin typeface="Consolas"/>
                <a:ea typeface="Consolas"/>
                <a:cs typeface="Consolas"/>
                <a:sym typeface="Consolas"/>
              </a:rPr>
              <a:t>afunction</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n3</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098658"/>
                </a:solidFill>
                <a:latin typeface="Consolas"/>
                <a:ea typeface="Consolas"/>
                <a:cs typeface="Consolas"/>
                <a:sym typeface="Consolas"/>
              </a:rPr>
              <a:t>35</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AF00DB"/>
                </a:solidFill>
                <a:latin typeface="Consolas"/>
                <a:ea typeface="Consolas"/>
                <a:cs typeface="Consolas"/>
                <a:sym typeface="Consolas"/>
              </a:rPr>
              <a:t>return</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FF"/>
                </a:solidFill>
                <a:latin typeface="Consolas"/>
                <a:ea typeface="Consolas"/>
                <a:cs typeface="Consolas"/>
                <a:sym typeface="Consolas"/>
              </a:rPr>
              <a:t>def</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795E26"/>
                </a:solidFill>
                <a:latin typeface="Consolas"/>
                <a:ea typeface="Consolas"/>
                <a:cs typeface="Consolas"/>
                <a:sym typeface="Consolas"/>
              </a:rPr>
              <a:t>functest</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n1</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A31515"/>
                </a:solidFill>
                <a:latin typeface="Consolas"/>
                <a:ea typeface="Consolas"/>
                <a:cs typeface="Consolas"/>
                <a:sym typeface="Consolas"/>
              </a:rPr>
              <a:t>'This is local variable'</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AF00DB"/>
                </a:solidFill>
                <a:latin typeface="Consolas"/>
                <a:ea typeface="Consolas"/>
                <a:cs typeface="Consolas"/>
                <a:sym typeface="Consolas"/>
              </a:rPr>
              <a:t>return</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A31515"/>
                </a:solidFill>
                <a:latin typeface="Consolas"/>
                <a:ea typeface="Consolas"/>
                <a:cs typeface="Consolas"/>
                <a:sym typeface="Consolas"/>
              </a:rPr>
              <a:t>'This is global variable'</a:t>
            </a:r>
            <a:endParaRPr b="0" i="0" sz="1800" u="none" cap="none" strike="noStrike">
              <a:solidFill>
                <a:srgbClr val="000000"/>
              </a:solidFill>
              <a:latin typeface="Consolas"/>
              <a:ea typeface="Consolas"/>
              <a:cs typeface="Consolas"/>
              <a:sym typeface="Consolas"/>
            </a:endParaRPr>
          </a:p>
        </p:txBody>
      </p:sp>
      <p:cxnSp>
        <p:nvCxnSpPr>
          <p:cNvPr id="382" name="Google Shape;382;p28"/>
          <p:cNvCxnSpPr/>
          <p:nvPr/>
        </p:nvCxnSpPr>
        <p:spPr>
          <a:xfrm>
            <a:off x="3317132" y="3297677"/>
            <a:ext cx="3356042"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383" name="Google Shape;383;p28"/>
          <p:cNvCxnSpPr/>
          <p:nvPr/>
        </p:nvCxnSpPr>
        <p:spPr>
          <a:xfrm>
            <a:off x="5612860" y="4727643"/>
            <a:ext cx="1108953"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384" name="Google Shape;384;p28"/>
          <p:cNvCxnSpPr/>
          <p:nvPr/>
        </p:nvCxnSpPr>
        <p:spPr>
          <a:xfrm>
            <a:off x="5301574" y="5680953"/>
            <a:ext cx="1371600" cy="0"/>
          </a:xfrm>
          <a:prstGeom prst="straightConnector1">
            <a:avLst/>
          </a:prstGeom>
          <a:noFill/>
          <a:ln cap="flat" cmpd="sng" w="9525">
            <a:solidFill>
              <a:schemeClr val="accent1"/>
            </a:solidFill>
            <a:prstDash val="solid"/>
            <a:miter lim="800000"/>
            <a:headEnd len="sm" w="sm" type="none"/>
            <a:tailEnd len="med" w="med" type="triangle"/>
          </a:ln>
        </p:spPr>
      </p:cxnSp>
      <p:sp>
        <p:nvSpPr>
          <p:cNvPr id="385" name="Google Shape;385;p28"/>
          <p:cNvSpPr txBox="1"/>
          <p:nvPr/>
        </p:nvSpPr>
        <p:spPr>
          <a:xfrm>
            <a:off x="7013643" y="3113011"/>
            <a:ext cx="18053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Local Variable</a:t>
            </a:r>
            <a:endParaRPr b="0" i="0" sz="1400" u="none" cap="none" strike="noStrike">
              <a:solidFill>
                <a:srgbClr val="000000"/>
              </a:solidFill>
              <a:latin typeface="Arial"/>
              <a:ea typeface="Arial"/>
              <a:cs typeface="Arial"/>
              <a:sym typeface="Arial"/>
            </a:endParaRPr>
          </a:p>
        </p:txBody>
      </p:sp>
      <p:sp>
        <p:nvSpPr>
          <p:cNvPr id="386" name="Google Shape;386;p28"/>
          <p:cNvSpPr txBox="1"/>
          <p:nvPr/>
        </p:nvSpPr>
        <p:spPr>
          <a:xfrm>
            <a:off x="7013643" y="4542977"/>
            <a:ext cx="18053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Local Variable</a:t>
            </a:r>
            <a:endParaRPr b="0" i="0" sz="1400" u="none" cap="none" strike="noStrike">
              <a:solidFill>
                <a:srgbClr val="000000"/>
              </a:solidFill>
              <a:latin typeface="Arial"/>
              <a:ea typeface="Arial"/>
              <a:cs typeface="Arial"/>
              <a:sym typeface="Arial"/>
            </a:endParaRPr>
          </a:p>
        </p:txBody>
      </p:sp>
      <p:sp>
        <p:nvSpPr>
          <p:cNvPr id="387" name="Google Shape;387;p28"/>
          <p:cNvSpPr txBox="1"/>
          <p:nvPr/>
        </p:nvSpPr>
        <p:spPr>
          <a:xfrm>
            <a:off x="7013643" y="5496287"/>
            <a:ext cx="19543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Global Variable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500"/>
                                        <p:tgtEl>
                                          <p:spTgt spid="382"/>
                                        </p:tgtEl>
                                      </p:cBhvr>
                                    </p:animEffect>
                                  </p:childTnLst>
                                </p:cTn>
                              </p:par>
                              <p:par>
                                <p:cTn fill="hold" nodeType="with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500"/>
                                        <p:tgtEl>
                                          <p:spTgt spid="383"/>
                                        </p:tgtEl>
                                      </p:cBhvr>
                                    </p:animEffect>
                                  </p:childTnLst>
                                </p:cTn>
                              </p:par>
                              <p:par>
                                <p:cTn fill="hold" nodeType="with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500"/>
                                        <p:tgtEl>
                                          <p:spTgt spid="384"/>
                                        </p:tgtEl>
                                      </p:cBhvr>
                                    </p:animEffect>
                                  </p:childTnLst>
                                </p:cTn>
                              </p:par>
                              <p:par>
                                <p:cTn fill="hold" nodeType="with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500"/>
                                        <p:tgtEl>
                                          <p:spTgt spid="385"/>
                                        </p:tgtEl>
                                      </p:cBhvr>
                                    </p:animEffect>
                                  </p:childTnLst>
                                </p:cTn>
                              </p:par>
                              <p:par>
                                <p:cTn fill="hold" nodeType="with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500"/>
                                        <p:tgtEl>
                                          <p:spTgt spid="386"/>
                                        </p:tgtEl>
                                      </p:cBhvr>
                                    </p:animEffect>
                                  </p:childTnLst>
                                </p:cTn>
                              </p:par>
                              <p:par>
                                <p:cTn fill="hold" nodeType="with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9"/>
          <p:cNvSpPr txBox="1"/>
          <p:nvPr>
            <p:ph type="title"/>
          </p:nvPr>
        </p:nvSpPr>
        <p:spPr>
          <a:xfrm>
            <a:off x="526915"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Scope of variable – Global or Local</a:t>
            </a:r>
            <a:endParaRPr/>
          </a:p>
        </p:txBody>
      </p:sp>
      <p:sp>
        <p:nvSpPr>
          <p:cNvPr id="393" name="Google Shape;393;p29"/>
          <p:cNvSpPr txBox="1"/>
          <p:nvPr/>
        </p:nvSpPr>
        <p:spPr>
          <a:xfrm>
            <a:off x="644458" y="1730567"/>
            <a:ext cx="6094378" cy="4031873"/>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Consolas"/>
                <a:ea typeface="Consolas"/>
                <a:cs typeface="Consolas"/>
                <a:sym typeface="Consolas"/>
              </a:rPr>
              <a:t>def</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795E26"/>
                </a:solidFill>
                <a:latin typeface="Consolas"/>
                <a:ea typeface="Consolas"/>
                <a:cs typeface="Consolas"/>
                <a:sym typeface="Consolas"/>
              </a:rPr>
              <a:t>afunction</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n3</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098658"/>
                </a:solidFill>
                <a:latin typeface="Consolas"/>
                <a:ea typeface="Consolas"/>
                <a:cs typeface="Consolas"/>
                <a:sym typeface="Consolas"/>
              </a:rPr>
              <a:t>35</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795E26"/>
                </a:solidFill>
                <a:latin typeface="Consolas"/>
                <a:ea typeface="Consolas"/>
                <a:cs typeface="Consolas"/>
                <a:sym typeface="Consolas"/>
              </a:rPr>
              <a:t>print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'local n3 = '</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n3</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795E26"/>
                </a:solidFill>
                <a:latin typeface="Consolas"/>
                <a:ea typeface="Consolas"/>
                <a:cs typeface="Consolas"/>
                <a:sym typeface="Consolas"/>
              </a:rPr>
              <a:t>print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'Global (inside function) n2= '</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AF00DB"/>
                </a:solidFill>
                <a:latin typeface="Consolas"/>
                <a:ea typeface="Consolas"/>
                <a:cs typeface="Consolas"/>
                <a:sym typeface="Consolas"/>
              </a:rPr>
              <a:t>return</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 = </a:t>
            </a:r>
            <a:r>
              <a:rPr b="0" i="0" lang="en-US" sz="1800" u="none" cap="none" strike="noStrike">
                <a:solidFill>
                  <a:srgbClr val="A31515"/>
                </a:solidFill>
                <a:latin typeface="Consolas"/>
                <a:ea typeface="Consolas"/>
                <a:cs typeface="Consolas"/>
                <a:sym typeface="Consolas"/>
              </a:rPr>
              <a:t>'This is global variable'</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795E26"/>
                </a:solidFill>
                <a:latin typeface="Consolas"/>
                <a:ea typeface="Consolas"/>
                <a:cs typeface="Consolas"/>
                <a:sym typeface="Consolas"/>
              </a:rPr>
              <a:t>afunction</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br>
              <a:rPr b="0" i="0" lang="en-US" sz="1800" u="none" cap="none" strike="noStrike">
                <a:solidFill>
                  <a:srgbClr val="000000"/>
                </a:solidFill>
                <a:latin typeface="Consolas"/>
                <a:ea typeface="Consolas"/>
                <a:cs typeface="Consolas"/>
                <a:sym typeface="Consolas"/>
              </a:rPr>
            </a:br>
            <a:r>
              <a:rPr b="0" i="0" lang="en-US" sz="1800" u="none" cap="none" strike="noStrike">
                <a:solidFill>
                  <a:srgbClr val="795E26"/>
                </a:solidFill>
                <a:latin typeface="Consolas"/>
                <a:ea typeface="Consolas"/>
                <a:cs typeface="Consolas"/>
                <a:sym typeface="Consolas"/>
              </a:rPr>
              <a:t>print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'Global (outside function) n2= '</a:t>
            </a:r>
            <a:r>
              <a:rPr b="0" i="0" lang="en-US" sz="1800" u="none" cap="none" strike="noStrike">
                <a:solidFill>
                  <a:srgbClr val="000000"/>
                </a:solidFill>
                <a:latin typeface="Consolas"/>
                <a:ea typeface="Consolas"/>
                <a:cs typeface="Consolas"/>
                <a:sym typeface="Consolas"/>
              </a:rPr>
              <a:t>, </a:t>
            </a:r>
            <a:r>
              <a:rPr b="0" i="0" lang="en-US" sz="1800" u="none" cap="none" strike="noStrike">
                <a:solidFill>
                  <a:srgbClr val="001080"/>
                </a:solidFill>
                <a:latin typeface="Consolas"/>
                <a:ea typeface="Consolas"/>
                <a:cs typeface="Consolas"/>
                <a:sym typeface="Consolas"/>
              </a:rPr>
              <a:t>n2</a:t>
            </a:r>
            <a:r>
              <a:rPr b="0" i="0" lang="en-US"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795E26"/>
                </a:solidFill>
                <a:latin typeface="Consolas"/>
                <a:ea typeface="Consolas"/>
                <a:cs typeface="Consolas"/>
                <a:sym typeface="Consolas"/>
              </a:rPr>
              <a:t>print</a:t>
            </a:r>
            <a:r>
              <a:rPr b="0" i="0" lang="en-US" sz="1800" u="none" cap="none" strike="noStrike">
                <a:solidFill>
                  <a:srgbClr val="000000"/>
                </a:solidFill>
                <a:latin typeface="Consolas"/>
                <a:ea typeface="Consolas"/>
                <a:cs typeface="Consolas"/>
                <a:sym typeface="Consolas"/>
              </a:rPr>
              <a:t>(</a:t>
            </a:r>
            <a:r>
              <a:rPr b="0" i="0" lang="en-US" sz="1800" u="none" cap="none" strike="noStrike">
                <a:solidFill>
                  <a:srgbClr val="A31515"/>
                </a:solidFill>
                <a:latin typeface="Consolas"/>
                <a:ea typeface="Consolas"/>
                <a:cs typeface="Consolas"/>
                <a:sym typeface="Consolas"/>
              </a:rPr>
              <a:t>'Local of afunction() n3: '</a:t>
            </a:r>
            <a:r>
              <a:rPr b="0" i="0" lang="en-US" sz="1800" u="none" cap="none" strike="noStrike">
                <a:solidFill>
                  <a:srgbClr val="000000"/>
                </a:solidFill>
                <a:latin typeface="Consolas"/>
                <a:ea typeface="Consolas"/>
                <a:cs typeface="Consolas"/>
                <a:sym typeface="Consolas"/>
              </a:rPr>
              <a:t>, n3)</a:t>
            </a:r>
            <a:endParaRPr b="0" i="0" sz="1400" u="none" cap="none" strike="noStrike">
              <a:solidFill>
                <a:srgbClr val="000000"/>
              </a:solidFill>
              <a:latin typeface="Arial"/>
              <a:ea typeface="Arial"/>
              <a:cs typeface="Arial"/>
              <a:sym typeface="Arial"/>
            </a:endParaRPr>
          </a:p>
        </p:txBody>
      </p:sp>
      <p:sp>
        <p:nvSpPr>
          <p:cNvPr id="394" name="Google Shape;394;p29"/>
          <p:cNvSpPr txBox="1"/>
          <p:nvPr/>
        </p:nvSpPr>
        <p:spPr>
          <a:xfrm>
            <a:off x="8229600" y="1730567"/>
            <a:ext cx="319991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Can you trace the output?</a:t>
            </a:r>
            <a:endParaRPr b="0" i="0" sz="1400" u="none" cap="none" strike="noStrike">
              <a:solidFill>
                <a:srgbClr val="000000"/>
              </a:solidFill>
              <a:latin typeface="Arial"/>
              <a:ea typeface="Arial"/>
              <a:cs typeface="Arial"/>
              <a:sym typeface="Arial"/>
            </a:endParaRPr>
          </a:p>
        </p:txBody>
      </p:sp>
      <p:sp>
        <p:nvSpPr>
          <p:cNvPr id="395" name="Google Shape;395;p29"/>
          <p:cNvSpPr txBox="1"/>
          <p:nvPr/>
        </p:nvSpPr>
        <p:spPr>
          <a:xfrm>
            <a:off x="7006346" y="3429000"/>
            <a:ext cx="5185654" cy="20621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entury Gothic"/>
                <a:ea typeface="Century Gothic"/>
                <a:cs typeface="Century Gothic"/>
                <a:sym typeface="Century Gothic"/>
              </a:rPr>
              <a:t>local n3 =  35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400"/>
              <a:buFont typeface="Arial"/>
              <a:buNone/>
            </a:pPr>
            <a:r>
              <a:rPr b="0" i="0" lang="en-US" sz="1400" u="none" cap="none" strike="noStrike">
                <a:solidFill>
                  <a:schemeClr val="dk1"/>
                </a:solidFill>
                <a:latin typeface="Century Gothic"/>
                <a:ea typeface="Century Gothic"/>
                <a:cs typeface="Century Gothic"/>
                <a:sym typeface="Century Gothic"/>
              </a:rPr>
              <a:t>Global (inside function) n2=  This is global variable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400"/>
              <a:buFont typeface="Arial"/>
              <a:buNone/>
            </a:pPr>
            <a:r>
              <a:rPr b="0" i="0" lang="en-US" sz="1400" u="none" cap="none" strike="noStrike">
                <a:solidFill>
                  <a:schemeClr val="dk1"/>
                </a:solidFill>
                <a:latin typeface="Century Gothic"/>
                <a:ea typeface="Century Gothic"/>
                <a:cs typeface="Century Gothic"/>
                <a:sym typeface="Century Gothic"/>
              </a:rPr>
              <a:t>Global (outside function) n2=  This is global variable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400"/>
              <a:buFont typeface="Arial"/>
              <a:buNone/>
            </a:pPr>
            <a:r>
              <a:rPr b="0" i="0" lang="en-US" sz="1400" u="none" cap="none" strike="noStrike">
                <a:solidFill>
                  <a:srgbClr val="FF0000"/>
                </a:solidFill>
                <a:latin typeface="Century Gothic"/>
                <a:ea typeface="Century Gothic"/>
                <a:cs typeface="Century Gothic"/>
                <a:sym typeface="Century Gothic"/>
              </a:rPr>
              <a:t>Traceback (most recent call last):  functionargument.py",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400"/>
              <a:buFont typeface="Arial"/>
              <a:buNone/>
            </a:pPr>
            <a:r>
              <a:rPr b="0" i="0" lang="en-US" sz="1400" u="none" cap="none" strike="noStrike">
                <a:solidFill>
                  <a:srgbClr val="FF0000"/>
                </a:solidFill>
                <a:latin typeface="Century Gothic"/>
                <a:ea typeface="Century Gothic"/>
                <a:cs typeface="Century Gothic"/>
                <a:sym typeface="Century Gothic"/>
              </a:rPr>
              <a:t>line 51, in &lt;module&gt;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400"/>
              <a:buFont typeface="Arial"/>
              <a:buNone/>
            </a:pPr>
            <a:r>
              <a:rPr b="0" i="0" lang="en-US" sz="1400" u="none" cap="none" strike="noStrike">
                <a:solidFill>
                  <a:srgbClr val="FF0000"/>
                </a:solidFill>
                <a:latin typeface="Century Gothic"/>
                <a:ea typeface="Century Gothic"/>
                <a:cs typeface="Century Gothic"/>
                <a:sym typeface="Century Gothic"/>
              </a:rPr>
              <a:t>print('Local of afunction() n3: ', n3)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400"/>
              <a:buFont typeface="Arial"/>
              <a:buNone/>
            </a:pPr>
            <a:r>
              <a:rPr b="0" i="0" lang="en-US" sz="1400" u="none" cap="none" strike="noStrike">
                <a:solidFill>
                  <a:srgbClr val="FF0000"/>
                </a:solidFill>
                <a:latin typeface="Century Gothic"/>
                <a:ea typeface="Century Gothic"/>
                <a:cs typeface="Century Gothic"/>
                <a:sym typeface="Century Gothic"/>
              </a:rPr>
              <a:t>NameError: name 'n3' is not defined. Did you mean: 'n2'?</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6"/>
          <p:cNvSpPr txBox="1"/>
          <p:nvPr>
            <p:ph type="title"/>
          </p:nvPr>
        </p:nvSpPr>
        <p:spPr>
          <a:xfrm>
            <a:off x="838200" y="365125"/>
            <a:ext cx="10515600" cy="9493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Generators</a:t>
            </a:r>
            <a:endParaRPr/>
          </a:p>
        </p:txBody>
      </p:sp>
      <p:sp>
        <p:nvSpPr>
          <p:cNvPr id="401" name="Google Shape;401;p46"/>
          <p:cNvSpPr txBox="1"/>
          <p:nvPr>
            <p:ph idx="1" type="body"/>
          </p:nvPr>
        </p:nvSpPr>
        <p:spPr>
          <a:xfrm>
            <a:off x="838200" y="1625918"/>
            <a:ext cx="10515600" cy="416052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1000"/>
              </a:spcBef>
              <a:spcAft>
                <a:spcPts val="0"/>
              </a:spcAft>
              <a:buClr>
                <a:schemeClr val="dk1"/>
              </a:buClr>
              <a:buSzPts val="1800"/>
              <a:buChar char="•"/>
            </a:pPr>
            <a:r>
              <a:rPr lang="en-US" sz="2000"/>
              <a:t>A generator function in Python is defined like a normal function, but whenever it needs to generate a value, it does so with the yield keyword rather than return. </a:t>
            </a:r>
            <a:endParaRPr/>
          </a:p>
          <a:p>
            <a:pPr indent="-342900" lvl="0" marL="457200" rtl="0" algn="l">
              <a:lnSpc>
                <a:spcPct val="100000"/>
              </a:lnSpc>
              <a:spcBef>
                <a:spcPts val="1000"/>
              </a:spcBef>
              <a:spcAft>
                <a:spcPts val="0"/>
              </a:spcAft>
              <a:buClr>
                <a:schemeClr val="dk1"/>
              </a:buClr>
              <a:buSzPts val="1800"/>
              <a:buChar char="•"/>
            </a:pPr>
            <a:r>
              <a:rPr lang="en-US" sz="2000"/>
              <a:t>If the body of a </a:t>
            </a:r>
            <a:r>
              <a:rPr b="1" lang="en-US" sz="2000"/>
              <a:t>def</a:t>
            </a:r>
            <a:r>
              <a:rPr lang="en-US" sz="2000"/>
              <a:t> contains yield, the function automatically becomes a Python generator function. </a:t>
            </a:r>
            <a:endParaRPr/>
          </a:p>
          <a:p>
            <a:pPr indent="-342900" lvl="0" marL="457200" rtl="0" algn="l">
              <a:lnSpc>
                <a:spcPct val="100000"/>
              </a:lnSpc>
              <a:spcBef>
                <a:spcPts val="1000"/>
              </a:spcBef>
              <a:spcAft>
                <a:spcPts val="0"/>
              </a:spcAft>
              <a:buSzPts val="1800"/>
              <a:buChar char="•"/>
            </a:pPr>
            <a:r>
              <a:rPr lang="en-US" sz="2000"/>
              <a:t>The generator has the following syntax in Python:</a:t>
            </a:r>
            <a:endParaRPr/>
          </a:p>
          <a:p>
            <a:pPr indent="0" lvl="0" marL="114300" rtl="0" algn="l">
              <a:lnSpc>
                <a:spcPct val="100000"/>
              </a:lnSpc>
              <a:spcBef>
                <a:spcPts val="1000"/>
              </a:spcBef>
              <a:spcAft>
                <a:spcPts val="0"/>
              </a:spcAft>
              <a:buSzPts val="1800"/>
              <a:buNone/>
            </a:pPr>
            <a:r>
              <a:rPr lang="en-US"/>
              <a:t>			   </a:t>
            </a:r>
            <a:r>
              <a:rPr lang="en-US" sz="2000"/>
              <a:t>def function_name():</a:t>
            </a:r>
            <a:br>
              <a:rPr lang="en-US" sz="2000"/>
            </a:br>
            <a:r>
              <a:rPr lang="en-US" sz="2000"/>
              <a:t>				yield statement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7"/>
          <p:cNvSpPr txBox="1"/>
          <p:nvPr>
            <p:ph type="title"/>
          </p:nvPr>
        </p:nvSpPr>
        <p:spPr>
          <a:xfrm>
            <a:off x="595312" y="205482"/>
            <a:ext cx="10515600" cy="9493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Generator Example</a:t>
            </a:r>
            <a:endParaRPr/>
          </a:p>
        </p:txBody>
      </p:sp>
      <p:sp>
        <p:nvSpPr>
          <p:cNvPr id="407" name="Google Shape;407;p47"/>
          <p:cNvSpPr txBox="1"/>
          <p:nvPr>
            <p:ph idx="1" type="body"/>
          </p:nvPr>
        </p:nvSpPr>
        <p:spPr>
          <a:xfrm>
            <a:off x="2064543" y="1356072"/>
            <a:ext cx="5205413" cy="3543300"/>
          </a:xfrm>
          <a:prstGeom prst="rect">
            <a:avLst/>
          </a:prstGeom>
          <a:noFill/>
          <a:ln>
            <a:noFill/>
          </a:ln>
        </p:spPr>
        <p:txBody>
          <a:bodyPr anchorCtr="0" anchor="t" bIns="45700" lIns="91425" spcFirstLastPara="1" rIns="91425" wrap="square" tIns="45700">
            <a:normAutofit/>
          </a:bodyPr>
          <a:lstStyle/>
          <a:p>
            <a:pPr indent="0" lvl="0" marL="114300" rtl="0" algn="l">
              <a:lnSpc>
                <a:spcPct val="100000"/>
              </a:lnSpc>
              <a:spcBef>
                <a:spcPts val="1000"/>
              </a:spcBef>
              <a:spcAft>
                <a:spcPts val="0"/>
              </a:spcAft>
              <a:buSzPts val="1800"/>
              <a:buNone/>
            </a:pPr>
            <a:r>
              <a:rPr lang="en-US" sz="1600"/>
              <a:t>1 </a:t>
            </a:r>
            <a:r>
              <a:rPr lang="en-US" sz="1200">
                <a:solidFill>
                  <a:srgbClr val="FF0000"/>
                </a:solidFill>
              </a:rPr>
              <a:t># A generator function that yields 1 for first time, </a:t>
            </a:r>
            <a:endParaRPr/>
          </a:p>
          <a:p>
            <a:pPr indent="0" lvl="0" marL="114300" rtl="0" algn="l">
              <a:lnSpc>
                <a:spcPct val="100000"/>
              </a:lnSpc>
              <a:spcBef>
                <a:spcPts val="1000"/>
              </a:spcBef>
              <a:spcAft>
                <a:spcPts val="0"/>
              </a:spcAft>
              <a:buSzPts val="1800"/>
              <a:buNone/>
            </a:pPr>
            <a:r>
              <a:rPr lang="en-US" sz="1200"/>
              <a:t>2  </a:t>
            </a:r>
            <a:r>
              <a:rPr lang="en-US" sz="1200">
                <a:solidFill>
                  <a:srgbClr val="FF0000"/>
                </a:solidFill>
              </a:rPr>
              <a:t># 2 second time and 3 third time </a:t>
            </a:r>
            <a:endParaRPr/>
          </a:p>
          <a:p>
            <a:pPr indent="0" lvl="0" marL="114300" rtl="0" algn="l">
              <a:lnSpc>
                <a:spcPct val="100000"/>
              </a:lnSpc>
              <a:spcBef>
                <a:spcPts val="1000"/>
              </a:spcBef>
              <a:spcAft>
                <a:spcPts val="0"/>
              </a:spcAft>
              <a:buSzPts val="1800"/>
              <a:buNone/>
            </a:pPr>
            <a:r>
              <a:rPr lang="en-US" sz="1600"/>
              <a:t>3 def simpleGeneratorFun(): </a:t>
            </a:r>
            <a:endParaRPr/>
          </a:p>
          <a:p>
            <a:pPr indent="0" lvl="0" marL="114300" rtl="0" algn="l">
              <a:lnSpc>
                <a:spcPct val="100000"/>
              </a:lnSpc>
              <a:spcBef>
                <a:spcPts val="1000"/>
              </a:spcBef>
              <a:spcAft>
                <a:spcPts val="0"/>
              </a:spcAft>
              <a:buSzPts val="1800"/>
              <a:buNone/>
            </a:pPr>
            <a:r>
              <a:rPr lang="en-US" sz="1600"/>
              <a:t>4	yield 1			</a:t>
            </a:r>
            <a:endParaRPr/>
          </a:p>
          <a:p>
            <a:pPr indent="0" lvl="0" marL="114300" rtl="0" algn="l">
              <a:lnSpc>
                <a:spcPct val="100000"/>
              </a:lnSpc>
              <a:spcBef>
                <a:spcPts val="1000"/>
              </a:spcBef>
              <a:spcAft>
                <a:spcPts val="0"/>
              </a:spcAft>
              <a:buSzPts val="1800"/>
              <a:buNone/>
            </a:pPr>
            <a:r>
              <a:rPr lang="en-US" sz="1600"/>
              <a:t>5	yield 2			</a:t>
            </a:r>
            <a:endParaRPr/>
          </a:p>
          <a:p>
            <a:pPr indent="0" lvl="0" marL="114300" rtl="0" algn="l">
              <a:lnSpc>
                <a:spcPct val="100000"/>
              </a:lnSpc>
              <a:spcBef>
                <a:spcPts val="1000"/>
              </a:spcBef>
              <a:spcAft>
                <a:spcPts val="0"/>
              </a:spcAft>
              <a:buSzPts val="1800"/>
              <a:buNone/>
            </a:pPr>
            <a:r>
              <a:rPr lang="en-US" sz="1600"/>
              <a:t>6	yield 3			</a:t>
            </a:r>
            <a:endParaRPr/>
          </a:p>
          <a:p>
            <a:pPr indent="0" lvl="0" marL="114300" rtl="0" algn="l">
              <a:lnSpc>
                <a:spcPct val="100000"/>
              </a:lnSpc>
              <a:spcBef>
                <a:spcPts val="1000"/>
              </a:spcBef>
              <a:spcAft>
                <a:spcPts val="0"/>
              </a:spcAft>
              <a:buSzPts val="1800"/>
              <a:buNone/>
            </a:pPr>
            <a:r>
              <a:rPr lang="en-US" sz="1600"/>
              <a:t>7 </a:t>
            </a:r>
            <a:r>
              <a:rPr lang="en-US" sz="1200">
                <a:solidFill>
                  <a:srgbClr val="FF0000"/>
                </a:solidFill>
              </a:rPr>
              <a:t># Driver code to check generator function </a:t>
            </a:r>
            <a:endParaRPr/>
          </a:p>
          <a:p>
            <a:pPr indent="0" lvl="0" marL="114300" rtl="0" algn="l">
              <a:lnSpc>
                <a:spcPct val="100000"/>
              </a:lnSpc>
              <a:spcBef>
                <a:spcPts val="1000"/>
              </a:spcBef>
              <a:spcAft>
                <a:spcPts val="0"/>
              </a:spcAft>
              <a:buSzPts val="1800"/>
              <a:buNone/>
            </a:pPr>
            <a:r>
              <a:rPr lang="en-US" sz="1600"/>
              <a:t>8 for value in simpleGeneratorFun(): </a:t>
            </a:r>
            <a:endParaRPr/>
          </a:p>
          <a:p>
            <a:pPr indent="0" lvl="0" marL="114300" rtl="0" algn="l">
              <a:lnSpc>
                <a:spcPct val="100000"/>
              </a:lnSpc>
              <a:spcBef>
                <a:spcPts val="1000"/>
              </a:spcBef>
              <a:spcAft>
                <a:spcPts val="0"/>
              </a:spcAft>
              <a:buSzPts val="1800"/>
              <a:buNone/>
            </a:pPr>
            <a:r>
              <a:rPr lang="en-US" sz="1600"/>
              <a:t>9	print(value)</a:t>
            </a:r>
            <a:endParaRPr/>
          </a:p>
        </p:txBody>
      </p:sp>
      <p:sp>
        <p:nvSpPr>
          <p:cNvPr id="408" name="Google Shape;408;p47"/>
          <p:cNvSpPr txBox="1"/>
          <p:nvPr/>
        </p:nvSpPr>
        <p:spPr>
          <a:xfrm>
            <a:off x="9058275" y="2351782"/>
            <a:ext cx="946093"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Century Gothic"/>
                <a:ea typeface="Century Gothic"/>
                <a:cs typeface="Century Gothic"/>
                <a:sym typeface="Century Gothic"/>
              </a:rPr>
              <a:t>Output:</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1</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2</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3</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8"/>
          <p:cNvSpPr txBox="1"/>
          <p:nvPr>
            <p:ph type="title"/>
          </p:nvPr>
        </p:nvSpPr>
        <p:spPr>
          <a:xfrm>
            <a:off x="823915" y="34026"/>
            <a:ext cx="10515600" cy="73749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Generator Example (Fibonacci)</a:t>
            </a:r>
            <a:endParaRPr/>
          </a:p>
        </p:txBody>
      </p:sp>
      <p:sp>
        <p:nvSpPr>
          <p:cNvPr id="414" name="Google Shape;414;p48"/>
          <p:cNvSpPr txBox="1"/>
          <p:nvPr>
            <p:ph idx="1" type="body"/>
          </p:nvPr>
        </p:nvSpPr>
        <p:spPr>
          <a:xfrm>
            <a:off x="507203" y="711907"/>
            <a:ext cx="5588798" cy="6131816"/>
          </a:xfrm>
          <a:prstGeom prst="rect">
            <a:avLst/>
          </a:prstGeom>
          <a:noFill/>
          <a:ln>
            <a:noFill/>
          </a:ln>
        </p:spPr>
        <p:txBody>
          <a:bodyPr anchorCtr="0" anchor="t" bIns="45700" lIns="91425" spcFirstLastPara="1" rIns="91425" wrap="square" tIns="45700">
            <a:noAutofit/>
          </a:bodyPr>
          <a:lstStyle/>
          <a:p>
            <a:pPr indent="0" lvl="0" marL="114300" rtl="0" algn="l">
              <a:lnSpc>
                <a:spcPct val="100000"/>
              </a:lnSpc>
              <a:spcBef>
                <a:spcPts val="1000"/>
              </a:spcBef>
              <a:spcAft>
                <a:spcPts val="0"/>
              </a:spcAft>
              <a:buSzPts val="1800"/>
              <a:buNone/>
            </a:pPr>
            <a:r>
              <a:rPr lang="en-US" sz="1600"/>
              <a:t>1  </a:t>
            </a:r>
            <a:r>
              <a:rPr lang="en-US" sz="1200">
                <a:solidFill>
                  <a:srgbClr val="FF0000"/>
                </a:solidFill>
              </a:rPr>
              <a:t># A simple generator for Fibonacci Numbers </a:t>
            </a:r>
            <a:endParaRPr/>
          </a:p>
          <a:p>
            <a:pPr indent="0" lvl="0" marL="114300" rtl="0" algn="l">
              <a:lnSpc>
                <a:spcPct val="100000"/>
              </a:lnSpc>
              <a:spcBef>
                <a:spcPts val="1000"/>
              </a:spcBef>
              <a:spcAft>
                <a:spcPts val="0"/>
              </a:spcAft>
              <a:buSzPts val="1800"/>
              <a:buNone/>
            </a:pPr>
            <a:r>
              <a:rPr lang="en-US" sz="1600"/>
              <a:t>2  def fib(limit): </a:t>
            </a:r>
            <a:endParaRPr/>
          </a:p>
          <a:p>
            <a:pPr indent="0" lvl="0" marL="114300" rtl="0" algn="l">
              <a:lnSpc>
                <a:spcPct val="100000"/>
              </a:lnSpc>
              <a:spcBef>
                <a:spcPts val="1000"/>
              </a:spcBef>
              <a:spcAft>
                <a:spcPts val="0"/>
              </a:spcAft>
              <a:buSzPts val="1800"/>
              <a:buNone/>
            </a:pPr>
            <a:r>
              <a:rPr lang="en-US" sz="1600"/>
              <a:t>3	</a:t>
            </a:r>
            <a:r>
              <a:rPr lang="en-US" sz="1200">
                <a:solidFill>
                  <a:srgbClr val="FF0000"/>
                </a:solidFill>
              </a:rPr>
              <a:t># Initialize first two Fibonacci Numbers </a:t>
            </a:r>
            <a:endParaRPr/>
          </a:p>
          <a:p>
            <a:pPr indent="-342900" lvl="0" marL="457200" rtl="0" algn="l">
              <a:lnSpc>
                <a:spcPct val="100000"/>
              </a:lnSpc>
              <a:spcBef>
                <a:spcPts val="1000"/>
              </a:spcBef>
              <a:spcAft>
                <a:spcPts val="0"/>
              </a:spcAft>
              <a:buSzPts val="1800"/>
              <a:buAutoNum type="arabicPlain" startAt="4"/>
            </a:pPr>
            <a:r>
              <a:rPr lang="en-US" sz="1600"/>
              <a:t>      a= 0</a:t>
            </a:r>
            <a:endParaRPr/>
          </a:p>
          <a:p>
            <a:pPr indent="-342900" lvl="0" marL="457200" rtl="0" algn="l">
              <a:lnSpc>
                <a:spcPct val="100000"/>
              </a:lnSpc>
              <a:spcBef>
                <a:spcPts val="1000"/>
              </a:spcBef>
              <a:spcAft>
                <a:spcPts val="0"/>
              </a:spcAft>
              <a:buSzPts val="1800"/>
              <a:buAutoNum type="arabicPlain" startAt="4"/>
            </a:pPr>
            <a:r>
              <a:rPr lang="en-US" sz="1600"/>
              <a:t>      b=1</a:t>
            </a:r>
            <a:endParaRPr/>
          </a:p>
          <a:p>
            <a:pPr indent="0" lvl="0" marL="114300" rtl="0" algn="l">
              <a:lnSpc>
                <a:spcPct val="100000"/>
              </a:lnSpc>
              <a:spcBef>
                <a:spcPts val="1000"/>
              </a:spcBef>
              <a:spcAft>
                <a:spcPts val="0"/>
              </a:spcAft>
              <a:buSzPts val="1800"/>
              <a:buNone/>
            </a:pPr>
            <a:r>
              <a:rPr lang="en-US" sz="1600"/>
              <a:t>6	</a:t>
            </a:r>
            <a:r>
              <a:rPr lang="en-US" sz="1200">
                <a:solidFill>
                  <a:srgbClr val="FF0000"/>
                </a:solidFill>
              </a:rPr>
              <a:t># One by one yield next Fibonacci Number </a:t>
            </a:r>
            <a:endParaRPr/>
          </a:p>
          <a:p>
            <a:pPr indent="0" lvl="0" marL="114300" rtl="0" algn="l">
              <a:lnSpc>
                <a:spcPct val="100000"/>
              </a:lnSpc>
              <a:spcBef>
                <a:spcPts val="1000"/>
              </a:spcBef>
              <a:spcAft>
                <a:spcPts val="0"/>
              </a:spcAft>
              <a:buSzPts val="1800"/>
              <a:buNone/>
            </a:pPr>
            <a:r>
              <a:rPr lang="en-US" sz="1600"/>
              <a:t>7	while a &lt; limit: </a:t>
            </a:r>
            <a:endParaRPr/>
          </a:p>
          <a:p>
            <a:pPr indent="0" lvl="0" marL="114300" rtl="0" algn="l">
              <a:lnSpc>
                <a:spcPct val="100000"/>
              </a:lnSpc>
              <a:spcBef>
                <a:spcPts val="1000"/>
              </a:spcBef>
              <a:spcAft>
                <a:spcPts val="0"/>
              </a:spcAft>
              <a:buSzPts val="1800"/>
              <a:buNone/>
            </a:pPr>
            <a:r>
              <a:rPr lang="en-US" sz="1600"/>
              <a:t>8		yield a </a:t>
            </a:r>
            <a:endParaRPr/>
          </a:p>
          <a:p>
            <a:pPr indent="-342900" lvl="0" marL="457200" rtl="0" algn="l">
              <a:spcBef>
                <a:spcPts val="1000"/>
              </a:spcBef>
              <a:spcAft>
                <a:spcPts val="0"/>
              </a:spcAft>
              <a:buSzPts val="1800"/>
              <a:buAutoNum type="arabicPlain" startAt="9"/>
            </a:pPr>
            <a:r>
              <a:rPr lang="en-US" sz="1600"/>
              <a:t>        c= a+b</a:t>
            </a:r>
            <a:endParaRPr sz="1600"/>
          </a:p>
          <a:p>
            <a:pPr indent="-342900" lvl="0" marL="457200" rtl="0" algn="l">
              <a:lnSpc>
                <a:spcPct val="100000"/>
              </a:lnSpc>
              <a:spcBef>
                <a:spcPts val="1000"/>
              </a:spcBef>
              <a:spcAft>
                <a:spcPts val="0"/>
              </a:spcAft>
              <a:buSzPts val="1800"/>
              <a:buAutoNum type="arabicPlain" startAt="9"/>
            </a:pPr>
            <a:r>
              <a:rPr lang="en-US" sz="1600"/>
              <a:t>        a = b</a:t>
            </a:r>
            <a:endParaRPr/>
          </a:p>
          <a:p>
            <a:pPr indent="-342900" lvl="0" marL="457200" rtl="0" algn="l">
              <a:lnSpc>
                <a:spcPct val="100000"/>
              </a:lnSpc>
              <a:spcBef>
                <a:spcPts val="1000"/>
              </a:spcBef>
              <a:spcAft>
                <a:spcPts val="0"/>
              </a:spcAft>
              <a:buSzPts val="1800"/>
              <a:buAutoNum type="arabicPlain" startAt="9"/>
            </a:pPr>
            <a:r>
              <a:rPr lang="en-US" sz="1600"/>
              <a:t>        b = c</a:t>
            </a:r>
            <a:endParaRPr sz="1600"/>
          </a:p>
          <a:p>
            <a:pPr indent="0" lvl="0" marL="114300" rtl="0" algn="l">
              <a:lnSpc>
                <a:spcPct val="100000"/>
              </a:lnSpc>
              <a:spcBef>
                <a:spcPts val="1000"/>
              </a:spcBef>
              <a:spcAft>
                <a:spcPts val="0"/>
              </a:spcAft>
              <a:buSzPts val="1800"/>
              <a:buNone/>
            </a:pPr>
            <a:r>
              <a:rPr lang="en-US" sz="1600"/>
              <a:t>11  </a:t>
            </a:r>
            <a:r>
              <a:rPr lang="en-US" sz="1200">
                <a:solidFill>
                  <a:srgbClr val="FF0000"/>
                </a:solidFill>
              </a:rPr>
              <a:t># Create a generator object </a:t>
            </a:r>
            <a:endParaRPr/>
          </a:p>
          <a:p>
            <a:pPr indent="0" lvl="0" marL="114300" rtl="0" algn="l">
              <a:lnSpc>
                <a:spcPct val="100000"/>
              </a:lnSpc>
              <a:spcBef>
                <a:spcPts val="1000"/>
              </a:spcBef>
              <a:spcAft>
                <a:spcPts val="0"/>
              </a:spcAft>
              <a:buSzPts val="1800"/>
              <a:buNone/>
            </a:pPr>
            <a:r>
              <a:rPr lang="en-US" sz="1600"/>
              <a:t>12   x = fib(5) </a:t>
            </a:r>
            <a:endParaRPr/>
          </a:p>
          <a:p>
            <a:pPr indent="0" lvl="0" marL="114300" rtl="0" algn="l">
              <a:lnSpc>
                <a:spcPct val="100000"/>
              </a:lnSpc>
              <a:spcBef>
                <a:spcPts val="1000"/>
              </a:spcBef>
              <a:spcAft>
                <a:spcPts val="0"/>
              </a:spcAft>
              <a:buSzPts val="1800"/>
              <a:buNone/>
            </a:pPr>
            <a:r>
              <a:rPr lang="en-US" sz="1600"/>
              <a:t>13   print(next(x)) </a:t>
            </a:r>
            <a:endParaRPr/>
          </a:p>
          <a:p>
            <a:pPr indent="0" lvl="0" marL="114300" rtl="0" algn="l">
              <a:lnSpc>
                <a:spcPct val="100000"/>
              </a:lnSpc>
              <a:spcBef>
                <a:spcPts val="1000"/>
              </a:spcBef>
              <a:spcAft>
                <a:spcPts val="0"/>
              </a:spcAft>
              <a:buSzPts val="1800"/>
              <a:buNone/>
            </a:pPr>
            <a:r>
              <a:rPr lang="en-US" sz="1600"/>
              <a:t>14   print(next(x)) </a:t>
            </a:r>
            <a:endParaRPr/>
          </a:p>
          <a:p>
            <a:pPr indent="0" lvl="0" marL="114300" rtl="0" algn="l">
              <a:lnSpc>
                <a:spcPct val="100000"/>
              </a:lnSpc>
              <a:spcBef>
                <a:spcPts val="1000"/>
              </a:spcBef>
              <a:spcAft>
                <a:spcPts val="0"/>
              </a:spcAft>
              <a:buSzPts val="1800"/>
              <a:buNone/>
            </a:pPr>
            <a:r>
              <a:rPr lang="en-US" sz="1600"/>
              <a:t>15   print(next(x)) </a:t>
            </a:r>
            <a:endParaRPr/>
          </a:p>
          <a:p>
            <a:pPr indent="0" lvl="0" marL="114300" rtl="0" algn="l">
              <a:lnSpc>
                <a:spcPct val="100000"/>
              </a:lnSpc>
              <a:spcBef>
                <a:spcPts val="1000"/>
              </a:spcBef>
              <a:spcAft>
                <a:spcPts val="0"/>
              </a:spcAft>
              <a:buSzPts val="1800"/>
              <a:buNone/>
            </a:pPr>
            <a:r>
              <a:t/>
            </a:r>
            <a:endParaRPr sz="1600"/>
          </a:p>
        </p:txBody>
      </p:sp>
      <p:sp>
        <p:nvSpPr>
          <p:cNvPr id="415" name="Google Shape;415;p48"/>
          <p:cNvSpPr txBox="1"/>
          <p:nvPr/>
        </p:nvSpPr>
        <p:spPr>
          <a:xfrm>
            <a:off x="9588715" y="2901404"/>
            <a:ext cx="1750800" cy="329320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Century Gothic"/>
                <a:ea typeface="Century Gothic"/>
                <a:cs typeface="Century Gothic"/>
                <a:sym typeface="Century Gothic"/>
              </a:rPr>
              <a:t>Output:</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0</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1</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1</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2</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3</a:t>
            </a:r>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Using for in loop</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0</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1</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1</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2</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3</a:t>
            </a:r>
            <a:endParaRPr/>
          </a:p>
        </p:txBody>
      </p:sp>
      <p:sp>
        <p:nvSpPr>
          <p:cNvPr id="416" name="Google Shape;416;p48"/>
          <p:cNvSpPr txBox="1"/>
          <p:nvPr/>
        </p:nvSpPr>
        <p:spPr>
          <a:xfrm>
            <a:off x="5414959" y="797611"/>
            <a:ext cx="5932500" cy="2247300"/>
          </a:xfrm>
          <a:prstGeom prst="rect">
            <a:avLst/>
          </a:prstGeom>
          <a:noFill/>
          <a:ln>
            <a:noFill/>
          </a:ln>
        </p:spPr>
        <p:txBody>
          <a:bodyPr anchorCtr="0" anchor="t" bIns="45700" lIns="91425" spcFirstLastPara="1" rIns="91425" wrap="square" tIns="45700">
            <a:spAutoFit/>
          </a:bodyPr>
          <a:lstStyle/>
          <a:p>
            <a:pPr indent="0" lvl="0" marL="0" rtl="0" algn="l">
              <a:spcBef>
                <a:spcPts val="1000"/>
              </a:spcBef>
              <a:spcAft>
                <a:spcPts val="0"/>
              </a:spcAft>
              <a:buClr>
                <a:schemeClr val="dk1"/>
              </a:buClr>
              <a:buSzPts val="1800"/>
              <a:buFont typeface="Arial"/>
              <a:buNone/>
            </a:pPr>
            <a:r>
              <a:rPr lang="en-US" sz="2800">
                <a:solidFill>
                  <a:schemeClr val="dk1"/>
                </a:solidFill>
                <a:latin typeface="Century Gothic"/>
                <a:ea typeface="Century Gothic"/>
                <a:cs typeface="Century Gothic"/>
                <a:sym typeface="Century Gothic"/>
              </a:rPr>
              <a:t> </a:t>
            </a:r>
            <a:r>
              <a:rPr lang="en-US" sz="1600">
                <a:solidFill>
                  <a:schemeClr val="dk1"/>
                </a:solidFill>
                <a:latin typeface="Century Gothic"/>
                <a:ea typeface="Century Gothic"/>
                <a:cs typeface="Century Gothic"/>
                <a:sym typeface="Century Gothic"/>
              </a:rPr>
              <a:t>16   print(next(x)) </a:t>
            </a:r>
            <a:endParaRPr sz="1600">
              <a:latin typeface="Century Gothic"/>
              <a:ea typeface="Century Gothic"/>
              <a:cs typeface="Century Gothic"/>
              <a:sym typeface="Century Gothic"/>
            </a:endParaRPr>
          </a:p>
          <a:p>
            <a:pPr indent="0" lvl="0" marL="114300" marR="0" rtl="0" algn="l">
              <a:lnSpc>
                <a:spcPct val="15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17   print(next(x)) </a:t>
            </a:r>
            <a:endParaRPr/>
          </a:p>
          <a:p>
            <a:pPr indent="0" lvl="0" marL="114300"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Century Gothic"/>
                <a:ea typeface="Century Gothic"/>
                <a:cs typeface="Century Gothic"/>
                <a:sym typeface="Century Gothic"/>
              </a:rPr>
              <a:t>18  </a:t>
            </a:r>
            <a:r>
              <a:rPr b="0" i="0" lang="en-US" sz="1200" u="none" cap="none" strike="noStrike">
                <a:solidFill>
                  <a:srgbClr val="FF0000"/>
                </a:solidFill>
                <a:latin typeface="Century Gothic"/>
                <a:ea typeface="Century Gothic"/>
                <a:cs typeface="Century Gothic"/>
                <a:sym typeface="Century Gothic"/>
              </a:rPr>
              <a:t># Iterating over the generator object using for in loop</a:t>
            </a:r>
            <a:r>
              <a:rPr b="0" i="0" lang="en-US" sz="1600" u="none" cap="none" strike="noStrike">
                <a:solidFill>
                  <a:srgbClr val="000000"/>
                </a:solidFill>
                <a:latin typeface="Century Gothic"/>
                <a:ea typeface="Century Gothic"/>
                <a:cs typeface="Century Gothic"/>
                <a:sym typeface="Century Gothic"/>
              </a:rPr>
              <a:t> </a:t>
            </a:r>
            <a:endParaRPr/>
          </a:p>
          <a:p>
            <a:pPr indent="0" lvl="0" marL="114300"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Century Gothic"/>
                <a:ea typeface="Century Gothic"/>
                <a:cs typeface="Century Gothic"/>
                <a:sym typeface="Century Gothic"/>
              </a:rPr>
              <a:t>19   print("\nUsing for in loop") </a:t>
            </a:r>
            <a:endParaRPr/>
          </a:p>
          <a:p>
            <a:pPr indent="0" lvl="0" marL="114300"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Century Gothic"/>
                <a:ea typeface="Century Gothic"/>
                <a:cs typeface="Century Gothic"/>
                <a:sym typeface="Century Gothic"/>
              </a:rPr>
              <a:t>20   for i in fib(5): </a:t>
            </a:r>
            <a:endParaRPr/>
          </a:p>
          <a:p>
            <a:pPr indent="0" lvl="0" marL="114300"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Century Gothic"/>
                <a:ea typeface="Century Gothic"/>
                <a:cs typeface="Century Gothic"/>
                <a:sym typeface="Century Gothic"/>
              </a:rPr>
              <a:t>21	       print(i)</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0"/>
          <p:cNvSpPr txBox="1"/>
          <p:nvPr>
            <p:ph type="ctrTitle"/>
          </p:nvPr>
        </p:nvSpPr>
        <p:spPr>
          <a:xfrm>
            <a:off x="1508760" y="1591056"/>
            <a:ext cx="5705856" cy="326440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entury Gothic"/>
              <a:buNone/>
            </a:pPr>
            <a:r>
              <a:rPr lang="en-US"/>
              <a:t>Problem Set!</a:t>
            </a:r>
            <a:endParaRPr/>
          </a:p>
        </p:txBody>
      </p:sp>
      <p:sp>
        <p:nvSpPr>
          <p:cNvPr id="422" name="Google Shape;422;p30"/>
          <p:cNvSpPr txBox="1"/>
          <p:nvPr>
            <p:ph idx="1" type="subTitle"/>
          </p:nvPr>
        </p:nvSpPr>
        <p:spPr>
          <a:xfrm>
            <a:off x="1524000" y="4928616"/>
            <a:ext cx="5705856" cy="996696"/>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1"/>
          <p:cNvSpPr txBox="1"/>
          <p:nvPr/>
        </p:nvSpPr>
        <p:spPr>
          <a:xfrm>
            <a:off x="625001" y="1384039"/>
            <a:ext cx="10941186" cy="257884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chemeClr val="dk1"/>
              </a:buClr>
              <a:buSzPts val="1800"/>
              <a:buFont typeface="Century Gothic"/>
              <a:buAutoNum type="arabicPeriod"/>
            </a:pPr>
            <a:r>
              <a:rPr b="0" i="0" lang="en-US" sz="1800" u="none" cap="none" strike="noStrike">
                <a:solidFill>
                  <a:schemeClr val="dk1"/>
                </a:solidFill>
                <a:latin typeface="Century Gothic"/>
                <a:ea typeface="Century Gothic"/>
                <a:cs typeface="Century Gothic"/>
                <a:sym typeface="Century Gothic"/>
              </a:rPr>
              <a:t>Write a Python function to find the Max of two numbers.</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1800"/>
              </a:spcBef>
              <a:spcAft>
                <a:spcPts val="0"/>
              </a:spcAft>
              <a:buClr>
                <a:schemeClr val="dk1"/>
              </a:buClr>
              <a:buSzPts val="1800"/>
              <a:buFont typeface="Century Gothic"/>
              <a:buAutoNum type="arabicPeriod"/>
            </a:pPr>
            <a:r>
              <a:rPr b="0" i="0" lang="en-US" sz="1800" u="none" cap="none" strike="noStrike">
                <a:solidFill>
                  <a:schemeClr val="dk1"/>
                </a:solidFill>
                <a:latin typeface="Century Gothic"/>
                <a:ea typeface="Century Gothic"/>
                <a:cs typeface="Century Gothic"/>
                <a:sym typeface="Century Gothic"/>
              </a:rPr>
              <a:t>Write a Python function to check whether a number falls in a given range. The function will take 3 numbers as input, first one the number to be checked, 2</a:t>
            </a:r>
            <a:r>
              <a:rPr b="0" baseline="30000" i="0" lang="en-US" sz="1800" u="none" cap="none" strike="noStrike">
                <a:solidFill>
                  <a:schemeClr val="dk1"/>
                </a:solidFill>
                <a:latin typeface="Century Gothic"/>
                <a:ea typeface="Century Gothic"/>
                <a:cs typeface="Century Gothic"/>
                <a:sym typeface="Century Gothic"/>
              </a:rPr>
              <a:t>nd</a:t>
            </a:r>
            <a:r>
              <a:rPr b="0" i="0" lang="en-US" sz="1800" u="none" cap="none" strike="noStrike">
                <a:solidFill>
                  <a:schemeClr val="dk1"/>
                </a:solidFill>
                <a:latin typeface="Century Gothic"/>
                <a:ea typeface="Century Gothic"/>
                <a:cs typeface="Century Gothic"/>
                <a:sym typeface="Century Gothic"/>
              </a:rPr>
              <a:t> and 3</a:t>
            </a:r>
            <a:r>
              <a:rPr b="0" baseline="30000" i="0" lang="en-US" sz="1800" u="none" cap="none" strike="noStrike">
                <a:solidFill>
                  <a:schemeClr val="dk1"/>
                </a:solidFill>
                <a:latin typeface="Century Gothic"/>
                <a:ea typeface="Century Gothic"/>
                <a:cs typeface="Century Gothic"/>
                <a:sym typeface="Century Gothic"/>
              </a:rPr>
              <a:t>rd</a:t>
            </a:r>
            <a:r>
              <a:rPr b="0" i="0" lang="en-US" sz="1800" u="none" cap="none" strike="noStrike">
                <a:solidFill>
                  <a:schemeClr val="dk1"/>
                </a:solidFill>
                <a:latin typeface="Century Gothic"/>
                <a:ea typeface="Century Gothic"/>
                <a:cs typeface="Century Gothic"/>
                <a:sym typeface="Century Gothic"/>
              </a:rPr>
              <a:t> number for range.</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1800"/>
              </a:spcBef>
              <a:spcAft>
                <a:spcPts val="0"/>
              </a:spcAft>
              <a:buClr>
                <a:schemeClr val="dk1"/>
              </a:buClr>
              <a:buSzPts val="1800"/>
              <a:buFont typeface="Century Gothic"/>
              <a:buAutoNum type="arabicPeriod"/>
            </a:pPr>
            <a:r>
              <a:rPr b="0" i="0" lang="en-US" sz="1800" u="none" cap="none" strike="noStrike">
                <a:solidFill>
                  <a:schemeClr val="dk1"/>
                </a:solidFill>
                <a:latin typeface="Century Gothic"/>
                <a:ea typeface="Century Gothic"/>
                <a:cs typeface="Century Gothic"/>
                <a:sym typeface="Century Gothic"/>
              </a:rPr>
              <a:t>Write a Python function that takes a number as a parameter and check whether it is even or odd.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32"/>
          <p:cNvSpPr txBox="1"/>
          <p:nvPr/>
        </p:nvSpPr>
        <p:spPr>
          <a:xfrm>
            <a:off x="532994" y="440537"/>
            <a:ext cx="11126011" cy="537070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Suppose you have started working on an hourly basis as a librarian in your institution. You want to know how much you will earn a month given that you know how many hours you will work per week and how much you receive per hour. However, whatever amount you earn per month will have 20% of it deducted and that amount will be instead used to pay part of your tuition fees. Write a program that finds out the earnings before and after the deduction. Also find out the yearly earnings (without deduction) and how much of your tuition fees you are paying yourself annually. Assume that there are 4 weeks per month.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	Enter the number of hours you will work per week: 20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	Enter the amount you earn per hour: BDT. 150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                 Monthly earning: BDT. 12000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	Monthly earning after deduction: BDT. 9600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	Yearly earning: BDT. 144000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	Amount paid as tuition fees per year: BDT. 28800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Write a function named </a:t>
            </a:r>
            <a:r>
              <a:rPr b="1" i="0" lang="en-US" sz="1600" u="none" cap="none" strike="noStrike">
                <a:solidFill>
                  <a:schemeClr val="dk1"/>
                </a:solidFill>
                <a:latin typeface="Century Gothic"/>
                <a:ea typeface="Century Gothic"/>
                <a:cs typeface="Century Gothic"/>
                <a:sym typeface="Century Gothic"/>
              </a:rPr>
              <a:t>calculateEarning() </a:t>
            </a:r>
            <a:r>
              <a:rPr b="0" i="0" lang="en-US" sz="1600" u="none" cap="none" strike="noStrike">
                <a:solidFill>
                  <a:schemeClr val="dk1"/>
                </a:solidFill>
                <a:latin typeface="Century Gothic"/>
                <a:ea typeface="Century Gothic"/>
                <a:cs typeface="Century Gothic"/>
                <a:sym typeface="Century Gothic"/>
              </a:rPr>
              <a:t>that will calculate the monthly earning, earning after deduction, yearly earning and amount to be paid as tuition fees.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1" i="0" lang="en-US" sz="1600" u="none" cap="none" strike="noStrike">
                <a:solidFill>
                  <a:schemeClr val="dk1"/>
                </a:solidFill>
                <a:latin typeface="Century Gothic"/>
                <a:ea typeface="Century Gothic"/>
                <a:cs typeface="Century Gothic"/>
                <a:sym typeface="Century Gothic"/>
              </a:rPr>
              <a:t>calculateEarning() </a:t>
            </a:r>
            <a:r>
              <a:rPr b="0" i="0" lang="en-US" sz="1600" u="none" cap="none" strike="noStrike">
                <a:solidFill>
                  <a:schemeClr val="dk1"/>
                </a:solidFill>
                <a:latin typeface="Century Gothic"/>
                <a:ea typeface="Century Gothic"/>
                <a:cs typeface="Century Gothic"/>
                <a:sym typeface="Century Gothic"/>
              </a:rPr>
              <a:t>function should take </a:t>
            </a:r>
            <a:r>
              <a:rPr b="1" i="0" lang="en-US" sz="1600" u="none" cap="none" strike="noStrike">
                <a:solidFill>
                  <a:schemeClr val="dk1"/>
                </a:solidFill>
                <a:latin typeface="Century Gothic"/>
                <a:ea typeface="Century Gothic"/>
                <a:cs typeface="Century Gothic"/>
                <a:sym typeface="Century Gothic"/>
              </a:rPr>
              <a:t>weekly hour and earning per hour </a:t>
            </a:r>
            <a:r>
              <a:rPr b="0" i="0" lang="en-US" sz="1600" u="none" cap="none" strike="noStrike">
                <a:solidFill>
                  <a:schemeClr val="dk1"/>
                </a:solidFill>
                <a:latin typeface="Century Gothic"/>
                <a:ea typeface="Century Gothic"/>
                <a:cs typeface="Century Gothic"/>
                <a:sym typeface="Century Gothic"/>
              </a:rPr>
              <a:t>as parameters.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BrushVTI">
  <a:themeElements>
    <a:clrScheme name="AnalogousFromDarkSeed_2SEEDS">
      <a:dk1>
        <a:srgbClr val="000000"/>
      </a:dk1>
      <a:lt1>
        <a:srgbClr val="FFFFFF"/>
      </a:lt1>
      <a:dk2>
        <a:srgbClr val="1B2C30"/>
      </a:dk2>
      <a:lt2>
        <a:srgbClr val="F3F1F0"/>
      </a:lt2>
      <a:accent1>
        <a:srgbClr val="17AED5"/>
      </a:accent1>
      <a:accent2>
        <a:srgbClr val="20B596"/>
      </a:accent2>
      <a:accent3>
        <a:srgbClr val="2971E7"/>
      </a:accent3>
      <a:accent4>
        <a:srgbClr val="D51731"/>
      </a:accent4>
      <a:accent5>
        <a:srgbClr val="E75E29"/>
      </a:accent5>
      <a:accent6>
        <a:srgbClr val="D19817"/>
      </a:accent6>
      <a:hlink>
        <a:srgbClr val="A14EC4"/>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2021-11-24T14:43:08Z</dcterms:created>
  <dc:creator>M.M. Mahbubul Syeed</dc:creator>
</cp:coreProperties>
</file>