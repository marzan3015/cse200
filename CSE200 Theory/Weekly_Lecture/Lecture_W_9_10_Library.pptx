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8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9144000"/>
  <p:embeddedFontLst>
    <p:embeddedFont>
      <p:font typeface="Century Gothic" panose="020B0502020202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jKCERrlbloAM3+HlV+uHtopcrX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0CD201-5A8C-4ED2-85C1-59174A03FFDF}">
  <a:tblStyle styleId="{ED0CD201-5A8C-4ED2-85C1-59174A03FFD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1F7"/>
          </a:solidFill>
        </a:fill>
      </a:tcStyle>
    </a:wholeTbl>
    <a:band1H>
      <a:tcTxStyle/>
      <a:tcStyle>
        <a:tcBdr/>
        <a:fill>
          <a:solidFill>
            <a:srgbClr val="CAE3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3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0"/>
    <p:restoredTop sz="94637"/>
  </p:normalViewPr>
  <p:slideViewPr>
    <p:cSldViewPr snapToGrid="0" snapToObjects="1">
      <p:cViewPr varScale="1">
        <p:scale>
          <a:sx n="89" d="100"/>
          <a:sy n="89" d="100"/>
        </p:scale>
        <p:origin x="10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042621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4" name="Google Shape;1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4" name="Google Shape;1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9637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 descr="Tag=AccentColor&#10;Flavor=Light&#10;Target=Fill"/>
          <p:cNvSpPr/>
          <p:nvPr/>
        </p:nvSpPr>
        <p:spPr>
          <a:xfrm flipH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 extrusionOk="0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" name="Google Shape;13;p15"/>
          <p:cNvSpPr txBox="1"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 descr="Tag=AccentColor&#10;Flavor=Light&#10;Target=Fill"/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 extrusionOk="0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" name="Google Shape;2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 descr="Mask ID=&#10;Mask position=bottom, center&#10;Mask family= brushstroke, landscape, wide"/>
          <p:cNvSpPr/>
          <p:nvPr/>
        </p:nvSpPr>
        <p:spPr>
          <a:xfrm>
            <a:off x="1768100" y="-1"/>
            <a:ext cx="10423900" cy="5920155"/>
          </a:xfrm>
          <a:custGeom>
            <a:avLst/>
            <a:gdLst/>
            <a:ahLst/>
            <a:cxnLst/>
            <a:rect l="l" t="t" r="r" b="b"/>
            <a:pathLst>
              <a:path w="10423900" h="5491534" extrusionOk="0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" name="Google Shape;2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 descr="Tag=AccentColor&#10;Flavor=Light&#10;Target=Fill"/>
          <p:cNvSpPr/>
          <p:nvPr/>
        </p:nvSpPr>
        <p:spPr>
          <a:xfrm>
            <a:off x="7209816" y="0"/>
            <a:ext cx="4143984" cy="5747660"/>
          </a:xfrm>
          <a:custGeom>
            <a:avLst/>
            <a:gdLst/>
            <a:ahLst/>
            <a:cxnLst/>
            <a:rect l="l" t="t" r="r" b="b"/>
            <a:pathLst>
              <a:path w="3843750" h="5956080" extrusionOk="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 descr="Tag=AccentColor&#10;Flavor=Light&#10;Target=Fill"/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 extrusionOk="0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" name="Google Shape;3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493776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2"/>
          </p:nvPr>
        </p:nvSpPr>
        <p:spPr>
          <a:xfrm>
            <a:off x="6419088" y="2011680"/>
            <a:ext cx="493776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 descr="Tag=AccentColor&#10;Flavor=Light&#10;Target=Fill"/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 extrusionOk="0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" name="Google Shape;4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body" idx="2"/>
          </p:nvPr>
        </p:nvSpPr>
        <p:spPr>
          <a:xfrm>
            <a:off x="839788" y="3127248"/>
            <a:ext cx="493776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body" idx="3"/>
          </p:nvPr>
        </p:nvSpPr>
        <p:spPr>
          <a:xfrm>
            <a:off x="6419088" y="2011680"/>
            <a:ext cx="4937760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body" idx="4"/>
          </p:nvPr>
        </p:nvSpPr>
        <p:spPr>
          <a:xfrm>
            <a:off x="6419088" y="3127248"/>
            <a:ext cx="493776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 descr="Tag=AccentColor&#10;Flavor=Light&#10;Target=Fill"/>
          <p:cNvSpPr/>
          <p:nvPr/>
        </p:nvSpPr>
        <p:spPr>
          <a:xfrm flipH="1">
            <a:off x="1969639" y="181596"/>
            <a:ext cx="8252722" cy="6022258"/>
          </a:xfrm>
          <a:custGeom>
            <a:avLst/>
            <a:gdLst/>
            <a:ahLst/>
            <a:cxnLst/>
            <a:rect l="l" t="t" r="r" b="b"/>
            <a:pathLst>
              <a:path w="6886274" h="5025119" extrusionOk="0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" name="Google Shape;57;p21"/>
          <p:cNvSpPr txBox="1"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 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 descr="Tag=AccentColor&#10;Flavor=Light&#10;Target=Fill"/>
          <p:cNvSpPr/>
          <p:nvPr/>
        </p:nvSpPr>
        <p:spPr>
          <a:xfrm>
            <a:off x="4726728" y="0"/>
            <a:ext cx="7472381" cy="6858000"/>
          </a:xfrm>
          <a:custGeom>
            <a:avLst/>
            <a:gdLst/>
            <a:ahLst/>
            <a:cxnLst/>
            <a:rect l="l" t="t" r="r" b="b"/>
            <a:pathLst>
              <a:path w="7472381" h="6886575" extrusionOk="0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7059168" y="640080"/>
            <a:ext cx="4489704" cy="5596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body" idx="2"/>
          </p:nvPr>
        </p:nvSpPr>
        <p:spPr>
          <a:xfrm>
            <a:off x="839788" y="3776472"/>
            <a:ext cx="388620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 descr="Tag=AccentColor&#10;Flavor=Light&#10;Target=Fill"/>
          <p:cNvSpPr/>
          <p:nvPr/>
        </p:nvSpPr>
        <p:spPr>
          <a:xfrm>
            <a:off x="684965" y="1332237"/>
            <a:ext cx="5263732" cy="3841102"/>
          </a:xfrm>
          <a:custGeom>
            <a:avLst/>
            <a:gdLst/>
            <a:ahLst/>
            <a:cxnLst/>
            <a:rect l="l" t="t" r="r" b="b"/>
            <a:pathLst>
              <a:path w="6886274" h="5025119" extrusionOk="0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>
            <a:spLocks noGrp="1"/>
          </p:cNvSpPr>
          <p:nvPr>
            <p:ph type="pic" idx="2"/>
          </p:nvPr>
        </p:nvSpPr>
        <p:spPr>
          <a:xfrm>
            <a:off x="6711696" y="640079"/>
            <a:ext cx="4837176" cy="5568696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4"/>
          <p:cNvSpPr txBox="1">
            <a:spLocks noGrp="1"/>
          </p:cNvSpPr>
          <p:nvPr>
            <p:ph type="body" idx="1"/>
          </p:nvPr>
        </p:nvSpPr>
        <p:spPr>
          <a:xfrm>
            <a:off x="1655064" y="4087368"/>
            <a:ext cx="3319272" cy="649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cap="none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" name="Google Shape;98;p1"/>
          <p:cNvSpPr txBox="1">
            <a:spLocks noGrp="1"/>
          </p:cNvSpPr>
          <p:nvPr>
            <p:ph type="ctrTitle"/>
          </p:nvPr>
        </p:nvSpPr>
        <p:spPr>
          <a:xfrm>
            <a:off x="1524000" y="3851974"/>
            <a:ext cx="9144000" cy="1152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entury Gothic"/>
              <a:buNone/>
            </a:pPr>
            <a:r>
              <a:rPr lang="en-US" sz="3700" b="1" dirty="0"/>
              <a:t>Python – Library (Built-in Modules)</a:t>
            </a:r>
            <a:endParaRPr dirty="0"/>
          </a:p>
        </p:txBody>
      </p:sp>
      <p:pic>
        <p:nvPicPr>
          <p:cNvPr id="100" name="Google Shape;100;p1" descr="Aerial view of beach and waves"/>
          <p:cNvPicPr preferRelativeResize="0"/>
          <p:nvPr/>
        </p:nvPicPr>
        <p:blipFill rotWithShape="1">
          <a:blip r:embed="rId3">
            <a:alphaModFix/>
          </a:blip>
          <a:srcRect t="29137" b="32796"/>
          <a:stretch/>
        </p:blipFill>
        <p:spPr>
          <a:xfrm>
            <a:off x="838201" y="10"/>
            <a:ext cx="10484412" cy="3811394"/>
          </a:xfrm>
          <a:custGeom>
            <a:avLst/>
            <a:gdLst/>
            <a:ahLst/>
            <a:cxnLst/>
            <a:rect l="l" t="t" r="r" b="b"/>
            <a:pathLst>
              <a:path w="10484412" h="3811404" extrusionOk="0">
                <a:moveTo>
                  <a:pt x="0" y="3811403"/>
                </a:moveTo>
                <a:lnTo>
                  <a:pt x="10484412" y="3811403"/>
                </a:lnTo>
                <a:lnTo>
                  <a:pt x="10484412" y="3811404"/>
                </a:lnTo>
                <a:lnTo>
                  <a:pt x="0" y="3811404"/>
                </a:lnTo>
                <a:close/>
                <a:moveTo>
                  <a:pt x="181717" y="0"/>
                </a:moveTo>
                <a:lnTo>
                  <a:pt x="10224015" y="0"/>
                </a:lnTo>
                <a:cubicBezTo>
                  <a:pt x="10261561" y="45054"/>
                  <a:pt x="10301611" y="85103"/>
                  <a:pt x="10369193" y="110134"/>
                </a:cubicBezTo>
                <a:cubicBezTo>
                  <a:pt x="10321635" y="167704"/>
                  <a:pt x="10236530" y="182722"/>
                  <a:pt x="10173954" y="222771"/>
                </a:cubicBezTo>
                <a:cubicBezTo>
                  <a:pt x="10168948" y="255310"/>
                  <a:pt x="10269071" y="245298"/>
                  <a:pt x="10241537" y="317887"/>
                </a:cubicBezTo>
                <a:cubicBezTo>
                  <a:pt x="10206494" y="418008"/>
                  <a:pt x="10241537" y="528142"/>
                  <a:pt x="10071328" y="573196"/>
                </a:cubicBezTo>
                <a:cubicBezTo>
                  <a:pt x="10023770" y="668312"/>
                  <a:pt x="10008751" y="820997"/>
                  <a:pt x="10113880" y="913610"/>
                </a:cubicBezTo>
                <a:cubicBezTo>
                  <a:pt x="10271573" y="1048774"/>
                  <a:pt x="10244040" y="1138885"/>
                  <a:pt x="10036285" y="1216478"/>
                </a:cubicBezTo>
                <a:cubicBezTo>
                  <a:pt x="10011255" y="1226491"/>
                  <a:pt x="9978715" y="1231497"/>
                  <a:pt x="9966200" y="1256528"/>
                </a:cubicBezTo>
                <a:cubicBezTo>
                  <a:pt x="9986224" y="1289067"/>
                  <a:pt x="10031280" y="1281557"/>
                  <a:pt x="10063819" y="1289067"/>
                </a:cubicBezTo>
                <a:cubicBezTo>
                  <a:pt x="10211500" y="1324110"/>
                  <a:pt x="10214003" y="1324110"/>
                  <a:pt x="10176457" y="1441752"/>
                </a:cubicBezTo>
                <a:cubicBezTo>
                  <a:pt x="10163942" y="1476795"/>
                  <a:pt x="10188972" y="1491813"/>
                  <a:pt x="10211500" y="1511838"/>
                </a:cubicBezTo>
                <a:cubicBezTo>
                  <a:pt x="10296604" y="1591936"/>
                  <a:pt x="10296604" y="1594439"/>
                  <a:pt x="10206494" y="1664523"/>
                </a:cubicBezTo>
                <a:cubicBezTo>
                  <a:pt x="10181463" y="1684547"/>
                  <a:pt x="10163942" y="1704572"/>
                  <a:pt x="10151426" y="1732106"/>
                </a:cubicBezTo>
                <a:cubicBezTo>
                  <a:pt x="10128899" y="1782166"/>
                  <a:pt x="10128899" y="1822216"/>
                  <a:pt x="10208996" y="1847246"/>
                </a:cubicBezTo>
                <a:cubicBezTo>
                  <a:pt x="10266568" y="1864767"/>
                  <a:pt x="10296604" y="1884791"/>
                  <a:pt x="10299107" y="1939858"/>
                </a:cubicBezTo>
                <a:cubicBezTo>
                  <a:pt x="10299107" y="1987416"/>
                  <a:pt x="10306617" y="2017452"/>
                  <a:pt x="10244040" y="2037477"/>
                </a:cubicBezTo>
                <a:cubicBezTo>
                  <a:pt x="10193979" y="2054998"/>
                  <a:pt x="10178960" y="2090041"/>
                  <a:pt x="10183966" y="2130089"/>
                </a:cubicBezTo>
                <a:cubicBezTo>
                  <a:pt x="10193979" y="2230211"/>
                  <a:pt x="10126396" y="2287781"/>
                  <a:pt x="10013758" y="2335339"/>
                </a:cubicBezTo>
                <a:cubicBezTo>
                  <a:pt x="9908629" y="2377890"/>
                  <a:pt x="9813513" y="2437963"/>
                  <a:pt x="9715893" y="2493030"/>
                </a:cubicBezTo>
                <a:cubicBezTo>
                  <a:pt x="9605758" y="2553103"/>
                  <a:pt x="9480605" y="2590649"/>
                  <a:pt x="9347942" y="2623189"/>
                </a:cubicBezTo>
                <a:cubicBezTo>
                  <a:pt x="9370469" y="2665740"/>
                  <a:pt x="9453071" y="2640710"/>
                  <a:pt x="9460580" y="2700783"/>
                </a:cubicBezTo>
                <a:cubicBezTo>
                  <a:pt x="9255329" y="2753346"/>
                  <a:pt x="9060089" y="2833444"/>
                  <a:pt x="8827305" y="2855971"/>
                </a:cubicBezTo>
                <a:cubicBezTo>
                  <a:pt x="9015035" y="2843456"/>
                  <a:pt x="9182740" y="2908535"/>
                  <a:pt x="9360458" y="2926056"/>
                </a:cubicBezTo>
                <a:cubicBezTo>
                  <a:pt x="9377980" y="2961099"/>
                  <a:pt x="9337930" y="2951087"/>
                  <a:pt x="9322912" y="2958595"/>
                </a:cubicBezTo>
                <a:cubicBezTo>
                  <a:pt x="9307893" y="2963602"/>
                  <a:pt x="9287869" y="2966105"/>
                  <a:pt x="9285366" y="2991135"/>
                </a:cubicBezTo>
                <a:cubicBezTo>
                  <a:pt x="9370469" y="3023675"/>
                  <a:pt x="9478102" y="2998644"/>
                  <a:pt x="9565709" y="3033687"/>
                </a:cubicBezTo>
                <a:cubicBezTo>
                  <a:pt x="9543182" y="3083748"/>
                  <a:pt x="9468090" y="3056214"/>
                  <a:pt x="9435550" y="3096263"/>
                </a:cubicBezTo>
                <a:cubicBezTo>
                  <a:pt x="9518151" y="3101269"/>
                  <a:pt x="9593243" y="3103772"/>
                  <a:pt x="9668335" y="3113784"/>
                </a:cubicBezTo>
                <a:cubicBezTo>
                  <a:pt x="9725905" y="3121294"/>
                  <a:pt x="9740924" y="3163845"/>
                  <a:pt x="9700875" y="3193882"/>
                </a:cubicBezTo>
                <a:cubicBezTo>
                  <a:pt x="9665832" y="3221415"/>
                  <a:pt x="9613268" y="3223918"/>
                  <a:pt x="9565709" y="3236434"/>
                </a:cubicBezTo>
                <a:cubicBezTo>
                  <a:pt x="9232801" y="3319034"/>
                  <a:pt x="8882372" y="3351573"/>
                  <a:pt x="8529440" y="3364088"/>
                </a:cubicBezTo>
                <a:cubicBezTo>
                  <a:pt x="7961245" y="3386616"/>
                  <a:pt x="7393049" y="3394125"/>
                  <a:pt x="6827357" y="3419155"/>
                </a:cubicBezTo>
                <a:cubicBezTo>
                  <a:pt x="6481933" y="3434173"/>
                  <a:pt x="6136510" y="3456701"/>
                  <a:pt x="5788584" y="3456701"/>
                </a:cubicBezTo>
                <a:cubicBezTo>
                  <a:pt x="5415628" y="3456701"/>
                  <a:pt x="5042671" y="3464210"/>
                  <a:pt x="4669714" y="3411646"/>
                </a:cubicBezTo>
                <a:cubicBezTo>
                  <a:pt x="4479481" y="3384113"/>
                  <a:pt x="4279236" y="3396628"/>
                  <a:pt x="4086500" y="3376603"/>
                </a:cubicBezTo>
                <a:cubicBezTo>
                  <a:pt x="3793641" y="3346568"/>
                  <a:pt x="3500782" y="3306518"/>
                  <a:pt x="3210426" y="3256458"/>
                </a:cubicBezTo>
                <a:cubicBezTo>
                  <a:pt x="3117813" y="3241439"/>
                  <a:pt x="3007678" y="3231428"/>
                  <a:pt x="2937592" y="3166348"/>
                </a:cubicBezTo>
                <a:cubicBezTo>
                  <a:pt x="2824954" y="3211403"/>
                  <a:pt x="2757372" y="3131305"/>
                  <a:pt x="2669765" y="3106275"/>
                </a:cubicBezTo>
                <a:cubicBezTo>
                  <a:pt x="2634722" y="3096263"/>
                  <a:pt x="2592169" y="3081245"/>
                  <a:pt x="2597176" y="3048705"/>
                </a:cubicBezTo>
                <a:cubicBezTo>
                  <a:pt x="2604685" y="3006154"/>
                  <a:pt x="2654746" y="2978620"/>
                  <a:pt x="2702304" y="2986130"/>
                </a:cubicBezTo>
                <a:cubicBezTo>
                  <a:pt x="2849986" y="3011160"/>
                  <a:pt x="2985150" y="2948584"/>
                  <a:pt x="3137838" y="2956093"/>
                </a:cubicBezTo>
                <a:cubicBezTo>
                  <a:pt x="3005175" y="2933565"/>
                  <a:pt x="2872513" y="2908535"/>
                  <a:pt x="2739850" y="2886007"/>
                </a:cubicBezTo>
                <a:cubicBezTo>
                  <a:pt x="2940095" y="2863480"/>
                  <a:pt x="3132831" y="2896020"/>
                  <a:pt x="3328071" y="2913541"/>
                </a:cubicBezTo>
                <a:cubicBezTo>
                  <a:pt x="3390647" y="2921050"/>
                  <a:pt x="3485763" y="2968608"/>
                  <a:pt x="3503285" y="2898523"/>
                </a:cubicBezTo>
                <a:cubicBezTo>
                  <a:pt x="3513297" y="2850965"/>
                  <a:pt x="3410671" y="2850965"/>
                  <a:pt x="3350598" y="2838450"/>
                </a:cubicBezTo>
                <a:cubicBezTo>
                  <a:pt x="3090279" y="2785886"/>
                  <a:pt x="2824954" y="2758353"/>
                  <a:pt x="2562133" y="2725813"/>
                </a:cubicBezTo>
                <a:cubicBezTo>
                  <a:pt x="2537102" y="2723310"/>
                  <a:pt x="2504562" y="2725813"/>
                  <a:pt x="2487041" y="2715801"/>
                </a:cubicBezTo>
                <a:cubicBezTo>
                  <a:pt x="2354378" y="2633200"/>
                  <a:pt x="2184170" y="2608170"/>
                  <a:pt x="1998943" y="2548097"/>
                </a:cubicBezTo>
                <a:cubicBezTo>
                  <a:pt x="2116587" y="2515558"/>
                  <a:pt x="2196685" y="2575630"/>
                  <a:pt x="2294304" y="2560612"/>
                </a:cubicBezTo>
                <a:cubicBezTo>
                  <a:pt x="2196685" y="2498036"/>
                  <a:pt x="2079041" y="2488024"/>
                  <a:pt x="1978918" y="2455485"/>
                </a:cubicBezTo>
                <a:cubicBezTo>
                  <a:pt x="1906330" y="2430454"/>
                  <a:pt x="1635999" y="2357866"/>
                  <a:pt x="1595950" y="2335339"/>
                </a:cubicBezTo>
                <a:cubicBezTo>
                  <a:pt x="1473299" y="2267756"/>
                  <a:pt x="1315606" y="2237720"/>
                  <a:pt x="1215483" y="2145108"/>
                </a:cubicBezTo>
                <a:cubicBezTo>
                  <a:pt x="1145398" y="2080028"/>
                  <a:pt x="1025251" y="2095047"/>
                  <a:pt x="942649" y="2049992"/>
                </a:cubicBezTo>
                <a:cubicBezTo>
                  <a:pt x="912613" y="2004937"/>
                  <a:pt x="972686" y="1994925"/>
                  <a:pt x="992711" y="1969894"/>
                </a:cubicBezTo>
                <a:cubicBezTo>
                  <a:pt x="1020244" y="1939858"/>
                  <a:pt x="972686" y="1922337"/>
                  <a:pt x="960170" y="1884791"/>
                </a:cubicBezTo>
                <a:cubicBezTo>
                  <a:pt x="1117863" y="1922337"/>
                  <a:pt x="1268048" y="1944864"/>
                  <a:pt x="1448268" y="1957380"/>
                </a:cubicBezTo>
                <a:cubicBezTo>
                  <a:pt x="1390698" y="1897306"/>
                  <a:pt x="1318109" y="1927343"/>
                  <a:pt x="1270551" y="1904815"/>
                </a:cubicBezTo>
                <a:cubicBezTo>
                  <a:pt x="1238011" y="1889797"/>
                  <a:pt x="1190453" y="1884791"/>
                  <a:pt x="1200466" y="1849749"/>
                </a:cubicBezTo>
                <a:cubicBezTo>
                  <a:pt x="1207974" y="1822216"/>
                  <a:pt x="1248023" y="1824718"/>
                  <a:pt x="1278060" y="1827221"/>
                </a:cubicBezTo>
                <a:cubicBezTo>
                  <a:pt x="1393201" y="1834730"/>
                  <a:pt x="1503336" y="1834730"/>
                  <a:pt x="1615974" y="1764645"/>
                </a:cubicBezTo>
                <a:cubicBezTo>
                  <a:pt x="1338134" y="1669530"/>
                  <a:pt x="1015238" y="1717087"/>
                  <a:pt x="767434" y="1576917"/>
                </a:cubicBezTo>
                <a:cubicBezTo>
                  <a:pt x="802477" y="1531862"/>
                  <a:pt x="852539" y="1554390"/>
                  <a:pt x="890085" y="1559396"/>
                </a:cubicBezTo>
                <a:cubicBezTo>
                  <a:pt x="1132882" y="1591936"/>
                  <a:pt x="2003949" y="1514341"/>
                  <a:pt x="2129102" y="1556893"/>
                </a:cubicBezTo>
                <a:cubicBezTo>
                  <a:pt x="2204195" y="1584426"/>
                  <a:pt x="2286796" y="1594439"/>
                  <a:pt x="2369396" y="1576917"/>
                </a:cubicBezTo>
                <a:cubicBezTo>
                  <a:pt x="2469519" y="1554390"/>
                  <a:pt x="1881298" y="1519347"/>
                  <a:pt x="1746133" y="1421728"/>
                </a:cubicBezTo>
                <a:cubicBezTo>
                  <a:pt x="1678551" y="1374170"/>
                  <a:pt x="1082821" y="1146394"/>
                  <a:pt x="819999" y="1083817"/>
                </a:cubicBezTo>
                <a:cubicBezTo>
                  <a:pt x="857545" y="1041266"/>
                  <a:pt x="952662" y="1066296"/>
                  <a:pt x="940146" y="993707"/>
                </a:cubicBezTo>
                <a:cubicBezTo>
                  <a:pt x="794969" y="956162"/>
                  <a:pt x="627263" y="961168"/>
                  <a:pt x="459558" y="903598"/>
                </a:cubicBezTo>
                <a:cubicBezTo>
                  <a:pt x="537153" y="858543"/>
                  <a:pt x="622257" y="883573"/>
                  <a:pt x="699852" y="868556"/>
                </a:cubicBezTo>
                <a:cubicBezTo>
                  <a:pt x="657300" y="813489"/>
                  <a:pt x="582208" y="823500"/>
                  <a:pt x="522134" y="813489"/>
                </a:cubicBezTo>
                <a:cubicBezTo>
                  <a:pt x="464564" y="803476"/>
                  <a:pt x="349423" y="708360"/>
                  <a:pt x="374453" y="713367"/>
                </a:cubicBezTo>
                <a:cubicBezTo>
                  <a:pt x="607238" y="750912"/>
                  <a:pt x="842526" y="735895"/>
                  <a:pt x="1075312" y="773440"/>
                </a:cubicBezTo>
                <a:cubicBezTo>
                  <a:pt x="1152907" y="785955"/>
                  <a:pt x="1238011" y="810986"/>
                  <a:pt x="1275557" y="728385"/>
                </a:cubicBezTo>
                <a:cubicBezTo>
                  <a:pt x="1285569" y="703355"/>
                  <a:pt x="1278060" y="695846"/>
                  <a:pt x="1385692" y="725882"/>
                </a:cubicBezTo>
                <a:cubicBezTo>
                  <a:pt x="1425741" y="738397"/>
                  <a:pt x="1483311" y="750912"/>
                  <a:pt x="1525863" y="718373"/>
                </a:cubicBezTo>
                <a:cubicBezTo>
                  <a:pt x="1498330" y="678325"/>
                  <a:pt x="1445765" y="690839"/>
                  <a:pt x="1408219" y="680828"/>
                </a:cubicBezTo>
                <a:cubicBezTo>
                  <a:pt x="1305594" y="653294"/>
                  <a:pt x="922624" y="548166"/>
                  <a:pt x="825005" y="518129"/>
                </a:cubicBezTo>
                <a:cubicBezTo>
                  <a:pt x="619754" y="453051"/>
                  <a:pt x="492098" y="475578"/>
                  <a:pt x="286846" y="405492"/>
                </a:cubicBezTo>
                <a:cubicBezTo>
                  <a:pt x="356932" y="407995"/>
                  <a:pt x="336907" y="380462"/>
                  <a:pt x="406993" y="380462"/>
                </a:cubicBezTo>
                <a:cubicBezTo>
                  <a:pt x="437030" y="380462"/>
                  <a:pt x="472073" y="372954"/>
                  <a:pt x="472073" y="342917"/>
                </a:cubicBezTo>
                <a:cubicBezTo>
                  <a:pt x="472073" y="315384"/>
                  <a:pt x="104123" y="170207"/>
                  <a:pt x="156686" y="155188"/>
                </a:cubicBezTo>
                <a:cubicBezTo>
                  <a:pt x="301865" y="115140"/>
                  <a:pt x="667312" y="227777"/>
                  <a:pt x="579705" y="175213"/>
                </a:cubicBezTo>
                <a:cubicBezTo>
                  <a:pt x="447042" y="92613"/>
                  <a:pt x="427018" y="77594"/>
                  <a:pt x="326895" y="67583"/>
                </a:cubicBezTo>
                <a:cubicBezTo>
                  <a:pt x="296858" y="62576"/>
                  <a:pt x="244294" y="35043"/>
                  <a:pt x="181717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01" name="Google Shape;101;p1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830" y="3590767"/>
            <a:ext cx="2374629" cy="682908"/>
          </a:xfrm>
          <a:custGeom>
            <a:avLst/>
            <a:gdLst/>
            <a:ahLst/>
            <a:cxnLst/>
            <a:rect l="l" t="t" r="r" b="b"/>
            <a:pathLst>
              <a:path w="2374629" h="682908" fill="none" extrusionOk="0">
                <a:moveTo>
                  <a:pt x="0" y="0"/>
                </a:moveTo>
                <a:cubicBezTo>
                  <a:pt x="131428" y="-36206"/>
                  <a:pt x="429568" y="49038"/>
                  <a:pt x="593657" y="0"/>
                </a:cubicBezTo>
                <a:cubicBezTo>
                  <a:pt x="757746" y="-49038"/>
                  <a:pt x="1097918" y="53842"/>
                  <a:pt x="1234807" y="0"/>
                </a:cubicBezTo>
                <a:cubicBezTo>
                  <a:pt x="1371696" y="-53842"/>
                  <a:pt x="2054204" y="66126"/>
                  <a:pt x="2374629" y="0"/>
                </a:cubicBezTo>
                <a:cubicBezTo>
                  <a:pt x="2405002" y="162524"/>
                  <a:pt x="2371205" y="264958"/>
                  <a:pt x="2374629" y="334625"/>
                </a:cubicBezTo>
                <a:cubicBezTo>
                  <a:pt x="2378053" y="404292"/>
                  <a:pt x="2347794" y="576645"/>
                  <a:pt x="2374629" y="682908"/>
                </a:cubicBezTo>
                <a:cubicBezTo>
                  <a:pt x="2238559" y="706138"/>
                  <a:pt x="2022244" y="650700"/>
                  <a:pt x="1757225" y="682908"/>
                </a:cubicBezTo>
                <a:cubicBezTo>
                  <a:pt x="1492206" y="715116"/>
                  <a:pt x="1476653" y="629947"/>
                  <a:pt x="1234807" y="682908"/>
                </a:cubicBezTo>
                <a:cubicBezTo>
                  <a:pt x="992961" y="735869"/>
                  <a:pt x="919868" y="629849"/>
                  <a:pt x="712389" y="682908"/>
                </a:cubicBezTo>
                <a:cubicBezTo>
                  <a:pt x="504910" y="735967"/>
                  <a:pt x="305855" y="663304"/>
                  <a:pt x="0" y="682908"/>
                </a:cubicBezTo>
                <a:cubicBezTo>
                  <a:pt x="-18065" y="557586"/>
                  <a:pt x="6995" y="450320"/>
                  <a:pt x="0" y="348283"/>
                </a:cubicBezTo>
                <a:cubicBezTo>
                  <a:pt x="-6995" y="246247"/>
                  <a:pt x="2488" y="107054"/>
                  <a:pt x="0" y="0"/>
                </a:cubicBezTo>
                <a:close/>
              </a:path>
              <a:path w="2374629" h="682908" extrusionOk="0">
                <a:moveTo>
                  <a:pt x="0" y="0"/>
                </a:moveTo>
                <a:cubicBezTo>
                  <a:pt x="311661" y="-61020"/>
                  <a:pt x="325144" y="53203"/>
                  <a:pt x="641150" y="0"/>
                </a:cubicBezTo>
                <a:cubicBezTo>
                  <a:pt x="957156" y="-53203"/>
                  <a:pt x="959195" y="19220"/>
                  <a:pt x="1234807" y="0"/>
                </a:cubicBezTo>
                <a:cubicBezTo>
                  <a:pt x="1510419" y="-19220"/>
                  <a:pt x="1584655" y="38722"/>
                  <a:pt x="1780972" y="0"/>
                </a:cubicBezTo>
                <a:cubicBezTo>
                  <a:pt x="1977289" y="-38722"/>
                  <a:pt x="2190607" y="69537"/>
                  <a:pt x="2374629" y="0"/>
                </a:cubicBezTo>
                <a:cubicBezTo>
                  <a:pt x="2385325" y="132255"/>
                  <a:pt x="2363129" y="182532"/>
                  <a:pt x="2374629" y="341454"/>
                </a:cubicBezTo>
                <a:cubicBezTo>
                  <a:pt x="2386129" y="500376"/>
                  <a:pt x="2370081" y="556976"/>
                  <a:pt x="2374629" y="682908"/>
                </a:cubicBezTo>
                <a:cubicBezTo>
                  <a:pt x="2124574" y="704019"/>
                  <a:pt x="1976947" y="673626"/>
                  <a:pt x="1780972" y="682908"/>
                </a:cubicBezTo>
                <a:cubicBezTo>
                  <a:pt x="1584997" y="692190"/>
                  <a:pt x="1379907" y="658257"/>
                  <a:pt x="1258553" y="682908"/>
                </a:cubicBezTo>
                <a:cubicBezTo>
                  <a:pt x="1137199" y="707559"/>
                  <a:pt x="917106" y="632366"/>
                  <a:pt x="712389" y="682908"/>
                </a:cubicBezTo>
                <a:cubicBezTo>
                  <a:pt x="507672" y="733450"/>
                  <a:pt x="205418" y="628160"/>
                  <a:pt x="0" y="682908"/>
                </a:cubicBezTo>
                <a:cubicBezTo>
                  <a:pt x="-31526" y="607460"/>
                  <a:pt x="16314" y="448776"/>
                  <a:pt x="0" y="361941"/>
                </a:cubicBezTo>
                <a:cubicBezTo>
                  <a:pt x="-16314" y="275106"/>
                  <a:pt x="37469" y="142419"/>
                  <a:pt x="0" y="0"/>
                </a:cubicBezTo>
                <a:close/>
              </a:path>
            </a:pathLst>
          </a:custGeom>
          <a:noFill/>
          <a:ln w="28575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Highlights!</a:t>
            </a:r>
            <a:endParaRPr/>
          </a:p>
        </p:txBody>
      </p:sp>
      <p:sp>
        <p:nvSpPr>
          <p:cNvPr id="107" name="Google Shape;107;p2"/>
          <p:cNvSpPr txBox="1">
            <a:spLocks noGrp="1"/>
          </p:cNvSpPr>
          <p:nvPr>
            <p:ph type="body" idx="1"/>
          </p:nvPr>
        </p:nvSpPr>
        <p:spPr>
          <a:xfrm>
            <a:off x="838200" y="1999980"/>
            <a:ext cx="4205288" cy="2886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pygame introduction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200" dirty="0"/>
              <a:t>pygame surface</a:t>
            </a:r>
            <a:endParaRPr sz="2200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pygame time()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pygame drawing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pygame events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pygame advance</a:t>
            </a:r>
          </a:p>
        </p:txBody>
      </p:sp>
      <p:pic>
        <p:nvPicPr>
          <p:cNvPr id="108" name="Google Shape;108;p2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95872" y="3087546"/>
            <a:ext cx="2374629" cy="682908"/>
          </a:xfrm>
          <a:custGeom>
            <a:avLst/>
            <a:gdLst/>
            <a:ahLst/>
            <a:cxnLst/>
            <a:rect l="l" t="t" r="r" b="b"/>
            <a:pathLst>
              <a:path w="2374629" h="682908" fill="none" extrusionOk="0">
                <a:moveTo>
                  <a:pt x="0" y="0"/>
                </a:moveTo>
                <a:cubicBezTo>
                  <a:pt x="131428" y="-36206"/>
                  <a:pt x="429568" y="49038"/>
                  <a:pt x="593657" y="0"/>
                </a:cubicBezTo>
                <a:cubicBezTo>
                  <a:pt x="757746" y="-49038"/>
                  <a:pt x="1097918" y="53842"/>
                  <a:pt x="1234807" y="0"/>
                </a:cubicBezTo>
                <a:cubicBezTo>
                  <a:pt x="1371696" y="-53842"/>
                  <a:pt x="2054204" y="66126"/>
                  <a:pt x="2374629" y="0"/>
                </a:cubicBezTo>
                <a:cubicBezTo>
                  <a:pt x="2405002" y="162524"/>
                  <a:pt x="2371205" y="264958"/>
                  <a:pt x="2374629" y="334625"/>
                </a:cubicBezTo>
                <a:cubicBezTo>
                  <a:pt x="2378053" y="404292"/>
                  <a:pt x="2347794" y="576645"/>
                  <a:pt x="2374629" y="682908"/>
                </a:cubicBezTo>
                <a:cubicBezTo>
                  <a:pt x="2238559" y="706138"/>
                  <a:pt x="2022244" y="650700"/>
                  <a:pt x="1757225" y="682908"/>
                </a:cubicBezTo>
                <a:cubicBezTo>
                  <a:pt x="1492206" y="715116"/>
                  <a:pt x="1476653" y="629947"/>
                  <a:pt x="1234807" y="682908"/>
                </a:cubicBezTo>
                <a:cubicBezTo>
                  <a:pt x="992961" y="735869"/>
                  <a:pt x="919868" y="629849"/>
                  <a:pt x="712389" y="682908"/>
                </a:cubicBezTo>
                <a:cubicBezTo>
                  <a:pt x="504910" y="735967"/>
                  <a:pt x="305855" y="663304"/>
                  <a:pt x="0" y="682908"/>
                </a:cubicBezTo>
                <a:cubicBezTo>
                  <a:pt x="-18065" y="557586"/>
                  <a:pt x="6995" y="450320"/>
                  <a:pt x="0" y="348283"/>
                </a:cubicBezTo>
                <a:cubicBezTo>
                  <a:pt x="-6995" y="246247"/>
                  <a:pt x="2488" y="107054"/>
                  <a:pt x="0" y="0"/>
                </a:cubicBezTo>
                <a:close/>
              </a:path>
              <a:path w="2374629" h="682908" extrusionOk="0">
                <a:moveTo>
                  <a:pt x="0" y="0"/>
                </a:moveTo>
                <a:cubicBezTo>
                  <a:pt x="311661" y="-61020"/>
                  <a:pt x="325144" y="53203"/>
                  <a:pt x="641150" y="0"/>
                </a:cubicBezTo>
                <a:cubicBezTo>
                  <a:pt x="957156" y="-53203"/>
                  <a:pt x="959195" y="19220"/>
                  <a:pt x="1234807" y="0"/>
                </a:cubicBezTo>
                <a:cubicBezTo>
                  <a:pt x="1510419" y="-19220"/>
                  <a:pt x="1584655" y="38722"/>
                  <a:pt x="1780972" y="0"/>
                </a:cubicBezTo>
                <a:cubicBezTo>
                  <a:pt x="1977289" y="-38722"/>
                  <a:pt x="2190607" y="69537"/>
                  <a:pt x="2374629" y="0"/>
                </a:cubicBezTo>
                <a:cubicBezTo>
                  <a:pt x="2385325" y="132255"/>
                  <a:pt x="2363129" y="182532"/>
                  <a:pt x="2374629" y="341454"/>
                </a:cubicBezTo>
                <a:cubicBezTo>
                  <a:pt x="2386129" y="500376"/>
                  <a:pt x="2370081" y="556976"/>
                  <a:pt x="2374629" y="682908"/>
                </a:cubicBezTo>
                <a:cubicBezTo>
                  <a:pt x="2124574" y="704019"/>
                  <a:pt x="1976947" y="673626"/>
                  <a:pt x="1780972" y="682908"/>
                </a:cubicBezTo>
                <a:cubicBezTo>
                  <a:pt x="1584997" y="692190"/>
                  <a:pt x="1379907" y="658257"/>
                  <a:pt x="1258553" y="682908"/>
                </a:cubicBezTo>
                <a:cubicBezTo>
                  <a:pt x="1137199" y="707559"/>
                  <a:pt x="917106" y="632366"/>
                  <a:pt x="712389" y="682908"/>
                </a:cubicBezTo>
                <a:cubicBezTo>
                  <a:pt x="507672" y="733450"/>
                  <a:pt x="205418" y="628160"/>
                  <a:pt x="0" y="682908"/>
                </a:cubicBezTo>
                <a:cubicBezTo>
                  <a:pt x="-31526" y="607460"/>
                  <a:pt x="16314" y="448776"/>
                  <a:pt x="0" y="361941"/>
                </a:cubicBezTo>
                <a:cubicBezTo>
                  <a:pt x="-16314" y="275106"/>
                  <a:pt x="37469" y="142419"/>
                  <a:pt x="0" y="0"/>
                </a:cubicBezTo>
                <a:close/>
              </a:path>
            </a:pathLst>
          </a:custGeom>
          <a:noFill/>
          <a:ln w="28575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>
            <a:spLocks noGrp="1"/>
          </p:cNvSpPr>
          <p:nvPr>
            <p:ph type="title"/>
          </p:nvPr>
        </p:nvSpPr>
        <p:spPr>
          <a:xfrm>
            <a:off x="838200" y="302496"/>
            <a:ext cx="10515600" cy="1066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 dirty="0"/>
              <a:t>Library in Python</a:t>
            </a:r>
            <a:endParaRPr dirty="0"/>
          </a:p>
        </p:txBody>
      </p:sp>
      <p:sp>
        <p:nvSpPr>
          <p:cNvPr id="114" name="Google Shape;114;p27"/>
          <p:cNvSpPr txBox="1">
            <a:spLocks noGrp="1"/>
          </p:cNvSpPr>
          <p:nvPr>
            <p:ph type="body" idx="1"/>
          </p:nvPr>
        </p:nvSpPr>
        <p:spPr>
          <a:xfrm>
            <a:off x="838199" y="1368961"/>
            <a:ext cx="10515599" cy="4441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Century Gothic" panose="020B0502020202020204" pitchFamily="34" charset="0"/>
              </a:rPr>
              <a:t>A collection of code scripts or modules that can be used iteratively  and are linked together to save time is known as a library. </a:t>
            </a:r>
          </a:p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Century Gothic" panose="020B0502020202020204" pitchFamily="34" charset="0"/>
              </a:rPr>
              <a:t>It has code bundles that can be used again and again in different programs. Since then, we will not need to compose the same code for various projects. </a:t>
            </a:r>
          </a:p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Century Gothic" panose="020B0502020202020204" pitchFamily="34" charset="0"/>
              </a:rPr>
              <a:t>Python libraries are heavily used in a variety of fields, including data visualization, machine learning, game development, and computer science.</a:t>
            </a:r>
          </a:p>
          <a:p>
            <a:r>
              <a:rPr lang="en-US" sz="2000" b="0" i="0" dirty="0">
                <a:solidFill>
                  <a:srgbClr val="333333"/>
                </a:solidFill>
                <a:effectLst/>
                <a:latin typeface="Century Gothic" panose="020B0502020202020204" pitchFamily="34" charset="0"/>
              </a:rPr>
              <a:t>It has built-in modules that allow the user to access I/O and a few other essential modules as well as fundamental functions. </a:t>
            </a:r>
          </a:p>
          <a:p>
            <a:r>
              <a:rPr lang="en-US" sz="2000" b="0" i="0" dirty="0">
                <a:solidFill>
                  <a:srgbClr val="333333"/>
                </a:solidFill>
                <a:effectLst/>
                <a:latin typeface="Century Gothic" panose="020B0502020202020204" pitchFamily="34" charset="0"/>
              </a:rPr>
              <a:t>The Python standard library has more than 200 core modules and are written in C language.</a:t>
            </a:r>
          </a:p>
          <a:p>
            <a:r>
              <a:rPr lang="en-US" sz="2000" dirty="0">
                <a:solidFill>
                  <a:srgbClr val="333333"/>
                </a:solidFill>
                <a:latin typeface="Century Gothic" panose="020B0502020202020204" pitchFamily="34" charset="0"/>
              </a:rPr>
              <a:t>For example: pygame, </a:t>
            </a:r>
            <a:r>
              <a:rPr lang="en-US" sz="2000" dirty="0" err="1">
                <a:solidFill>
                  <a:srgbClr val="333333"/>
                </a:solidFill>
                <a:latin typeface="Century Gothic" panose="020B0502020202020204" pitchFamily="34" charset="0"/>
              </a:rPr>
              <a:t>scipy</a:t>
            </a:r>
            <a:r>
              <a:rPr lang="en-US" sz="2000" dirty="0">
                <a:solidFill>
                  <a:srgbClr val="333333"/>
                </a:solidFill>
                <a:latin typeface="Century Gothic" panose="020B0502020202020204" pitchFamily="34" charset="0"/>
              </a:rPr>
              <a:t>, matplotlib, </a:t>
            </a:r>
            <a:r>
              <a:rPr lang="en-US" sz="2000" dirty="0" err="1">
                <a:solidFill>
                  <a:srgbClr val="333333"/>
                </a:solidFill>
                <a:latin typeface="Century Gothic" panose="020B0502020202020204" pitchFamily="34" charset="0"/>
              </a:rPr>
              <a:t>numpy</a:t>
            </a:r>
            <a:r>
              <a:rPr lang="en-US" sz="2000" dirty="0">
                <a:solidFill>
                  <a:srgbClr val="333333"/>
                </a:solidFill>
                <a:latin typeface="Century Gothic" panose="020B0502020202020204" pitchFamily="34" charset="0"/>
              </a:rPr>
              <a:t>, pandas, etc.</a:t>
            </a:r>
            <a:br>
              <a:rPr lang="en-US" sz="2000" dirty="0">
                <a:latin typeface="Century Gothic" panose="020B0502020202020204" pitchFamily="34" charset="0"/>
              </a:rPr>
            </a:br>
            <a:endParaRPr sz="2000" dirty="0">
              <a:latin typeface="Century Gothic" panose="020B0502020202020204" pitchFamily="34" charset="0"/>
            </a:endParaRPr>
          </a:p>
        </p:txBody>
      </p:sp>
      <p:pic>
        <p:nvPicPr>
          <p:cNvPr id="115" name="Google Shape;115;p27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10247" y="5809967"/>
            <a:ext cx="2374629" cy="682908"/>
          </a:xfrm>
          <a:custGeom>
            <a:avLst/>
            <a:gdLst/>
            <a:ahLst/>
            <a:cxnLst/>
            <a:rect l="l" t="t" r="r" b="b"/>
            <a:pathLst>
              <a:path w="2374629" h="682908" fill="none" extrusionOk="0">
                <a:moveTo>
                  <a:pt x="0" y="0"/>
                </a:moveTo>
                <a:cubicBezTo>
                  <a:pt x="131428" y="-36206"/>
                  <a:pt x="429568" y="49038"/>
                  <a:pt x="593657" y="0"/>
                </a:cubicBezTo>
                <a:cubicBezTo>
                  <a:pt x="757746" y="-49038"/>
                  <a:pt x="1097918" y="53842"/>
                  <a:pt x="1234807" y="0"/>
                </a:cubicBezTo>
                <a:cubicBezTo>
                  <a:pt x="1371696" y="-53842"/>
                  <a:pt x="2054204" y="66126"/>
                  <a:pt x="2374629" y="0"/>
                </a:cubicBezTo>
                <a:cubicBezTo>
                  <a:pt x="2405002" y="162524"/>
                  <a:pt x="2371205" y="264958"/>
                  <a:pt x="2374629" y="334625"/>
                </a:cubicBezTo>
                <a:cubicBezTo>
                  <a:pt x="2378053" y="404292"/>
                  <a:pt x="2347794" y="576645"/>
                  <a:pt x="2374629" y="682908"/>
                </a:cubicBezTo>
                <a:cubicBezTo>
                  <a:pt x="2238559" y="706138"/>
                  <a:pt x="2022244" y="650700"/>
                  <a:pt x="1757225" y="682908"/>
                </a:cubicBezTo>
                <a:cubicBezTo>
                  <a:pt x="1492206" y="715116"/>
                  <a:pt x="1476653" y="629947"/>
                  <a:pt x="1234807" y="682908"/>
                </a:cubicBezTo>
                <a:cubicBezTo>
                  <a:pt x="992961" y="735869"/>
                  <a:pt x="919868" y="629849"/>
                  <a:pt x="712389" y="682908"/>
                </a:cubicBezTo>
                <a:cubicBezTo>
                  <a:pt x="504910" y="735967"/>
                  <a:pt x="305855" y="663304"/>
                  <a:pt x="0" y="682908"/>
                </a:cubicBezTo>
                <a:cubicBezTo>
                  <a:pt x="-18065" y="557586"/>
                  <a:pt x="6995" y="450320"/>
                  <a:pt x="0" y="348283"/>
                </a:cubicBezTo>
                <a:cubicBezTo>
                  <a:pt x="-6995" y="246247"/>
                  <a:pt x="2488" y="107054"/>
                  <a:pt x="0" y="0"/>
                </a:cubicBezTo>
                <a:close/>
              </a:path>
              <a:path w="2374629" h="682908" extrusionOk="0">
                <a:moveTo>
                  <a:pt x="0" y="0"/>
                </a:moveTo>
                <a:cubicBezTo>
                  <a:pt x="311661" y="-61020"/>
                  <a:pt x="325144" y="53203"/>
                  <a:pt x="641150" y="0"/>
                </a:cubicBezTo>
                <a:cubicBezTo>
                  <a:pt x="957156" y="-53203"/>
                  <a:pt x="959195" y="19220"/>
                  <a:pt x="1234807" y="0"/>
                </a:cubicBezTo>
                <a:cubicBezTo>
                  <a:pt x="1510419" y="-19220"/>
                  <a:pt x="1584655" y="38722"/>
                  <a:pt x="1780972" y="0"/>
                </a:cubicBezTo>
                <a:cubicBezTo>
                  <a:pt x="1977289" y="-38722"/>
                  <a:pt x="2190607" y="69537"/>
                  <a:pt x="2374629" y="0"/>
                </a:cubicBezTo>
                <a:cubicBezTo>
                  <a:pt x="2385325" y="132255"/>
                  <a:pt x="2363129" y="182532"/>
                  <a:pt x="2374629" y="341454"/>
                </a:cubicBezTo>
                <a:cubicBezTo>
                  <a:pt x="2386129" y="500376"/>
                  <a:pt x="2370081" y="556976"/>
                  <a:pt x="2374629" y="682908"/>
                </a:cubicBezTo>
                <a:cubicBezTo>
                  <a:pt x="2124574" y="704019"/>
                  <a:pt x="1976947" y="673626"/>
                  <a:pt x="1780972" y="682908"/>
                </a:cubicBezTo>
                <a:cubicBezTo>
                  <a:pt x="1584997" y="692190"/>
                  <a:pt x="1379907" y="658257"/>
                  <a:pt x="1258553" y="682908"/>
                </a:cubicBezTo>
                <a:cubicBezTo>
                  <a:pt x="1137199" y="707559"/>
                  <a:pt x="917106" y="632366"/>
                  <a:pt x="712389" y="682908"/>
                </a:cubicBezTo>
                <a:cubicBezTo>
                  <a:pt x="507672" y="733450"/>
                  <a:pt x="205418" y="628160"/>
                  <a:pt x="0" y="682908"/>
                </a:cubicBezTo>
                <a:cubicBezTo>
                  <a:pt x="-31526" y="607460"/>
                  <a:pt x="16314" y="448776"/>
                  <a:pt x="0" y="361941"/>
                </a:cubicBezTo>
                <a:cubicBezTo>
                  <a:pt x="-16314" y="275106"/>
                  <a:pt x="37469" y="142419"/>
                  <a:pt x="0" y="0"/>
                </a:cubicBezTo>
                <a:close/>
              </a:path>
            </a:pathLst>
          </a:custGeom>
          <a:noFill/>
          <a:ln w="28575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1D24A9-BCD2-4421-216B-2733951457A2}"/>
              </a:ext>
            </a:extLst>
          </p:cNvPr>
          <p:cNvSpPr txBox="1"/>
          <p:nvPr/>
        </p:nvSpPr>
        <p:spPr>
          <a:xfrm>
            <a:off x="657220" y="428622"/>
            <a:ext cx="23198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entury Gothic" panose="020B0502020202020204" pitchFamily="34" charset="0"/>
              </a:rPr>
              <a:t>pygame</a:t>
            </a:r>
          </a:p>
          <a:p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CB604-CE68-A278-8961-85C5367DC0B1}"/>
              </a:ext>
            </a:extLst>
          </p:cNvPr>
          <p:cNvSpPr txBox="1"/>
          <p:nvPr/>
        </p:nvSpPr>
        <p:spPr>
          <a:xfrm>
            <a:off x="1817153" y="1382729"/>
            <a:ext cx="828411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US" sz="2000" dirty="0">
                <a:latin typeface="Century Gothic" panose="020B0502020202020204" pitchFamily="34" charset="0"/>
              </a:rPr>
              <a:t>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ross-platform set of Python modules to create video games.</a:t>
            </a:r>
          </a:p>
          <a:p>
            <a:pPr marL="184150" indent="-1841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omputer graphics and sound libraries designed to be used    with the Python programming language.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Written by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Pete </a:t>
            </a:r>
            <a:r>
              <a:rPr lang="en-US" sz="2000" b="1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Shinners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to replace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PySDL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marL="184150" indent="-184150"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Pygame is suitable to create client-side applications that can be potentially wrapped in a standalone executable.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>
            <a:spLocks noGrp="1"/>
          </p:cNvSpPr>
          <p:nvPr>
            <p:ph type="title"/>
          </p:nvPr>
        </p:nvSpPr>
        <p:spPr>
          <a:xfrm>
            <a:off x="739200" y="5080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pygame preparation</a:t>
            </a:r>
          </a:p>
        </p:txBody>
      </p:sp>
      <p:sp>
        <p:nvSpPr>
          <p:cNvPr id="128" name="Google Shape;128;p3"/>
          <p:cNvSpPr txBox="1"/>
          <p:nvPr/>
        </p:nvSpPr>
        <p:spPr>
          <a:xfrm>
            <a:off x="937200" y="1376364"/>
            <a:ext cx="10913963" cy="3754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1800" b="1" dirty="0">
                <a:latin typeface="Century Gothic" panose="020B0502020202020204" pitchFamily="34" charset="0"/>
              </a:rPr>
              <a:t>Install: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Century Gothic" panose="020B0502020202020204" pitchFamily="34" charset="0"/>
              </a:rPr>
              <a:t>Using “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Century Gothic" panose="020B0502020202020204" pitchFamily="34" charset="0"/>
              </a:rPr>
              <a:t>pip” tool (which is what python uses to install packages). The command </a:t>
            </a:r>
          </a:p>
          <a:p>
            <a:pPr algn="just"/>
            <a:r>
              <a:rPr lang="en-US" sz="2000" dirty="0">
                <a:solidFill>
                  <a:srgbClr val="333333"/>
                </a:solidFill>
                <a:latin typeface="Century Gothic" panose="020B0502020202020204" pitchFamily="34" charset="0"/>
              </a:rPr>
              <a:t>    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Century Gothic" panose="020B0502020202020204" pitchFamily="34" charset="0"/>
              </a:rPr>
              <a:t>is the following:</a:t>
            </a:r>
          </a:p>
          <a:p>
            <a:pPr algn="just"/>
            <a:endParaRPr lang="en-US" sz="2000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		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py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-m pip install -U pygame --user  </a:t>
            </a:r>
          </a:p>
          <a:p>
            <a:pPr>
              <a:buSzPts val="1800"/>
            </a:pPr>
            <a:endParaRPr lang="en-US" sz="1800" dirty="0">
              <a:latin typeface="Century Gothic" panose="020B0502020202020204" pitchFamily="34" charset="0"/>
            </a:endParaRPr>
          </a:p>
          <a:p>
            <a:pPr marL="285750" indent="-285750"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Century Gothic" panose="020B0502020202020204" pitchFamily="34" charset="0"/>
              </a:rPr>
              <a:t>Using IDE</a:t>
            </a:r>
          </a:p>
          <a:p>
            <a:pPr>
              <a:buSzPts val="1800"/>
            </a:pPr>
            <a:endParaRPr lang="en-US" sz="1800" dirty="0">
              <a:latin typeface="Century Gothic" panose="020B0502020202020204" pitchFamily="34" charset="0"/>
            </a:endParaRPr>
          </a:p>
          <a:p>
            <a:pPr>
              <a:buSzPts val="1800"/>
            </a:pPr>
            <a:r>
              <a:rPr lang="en-US" sz="1800" b="1" dirty="0">
                <a:latin typeface="Century Gothic" panose="020B0502020202020204" pitchFamily="34" charset="0"/>
              </a:rPr>
              <a:t>Import:</a:t>
            </a:r>
          </a:p>
          <a:p>
            <a:pPr>
              <a:buSzPts val="1800"/>
            </a:pPr>
            <a:endParaRPr lang="en-US" sz="1800" b="1" dirty="0">
              <a:latin typeface="Century Gothic" panose="020B0502020202020204" pitchFamily="34" charset="0"/>
            </a:endParaRPr>
          </a:p>
          <a:p>
            <a:pPr>
              <a:buSzPts val="1800"/>
            </a:pPr>
            <a:r>
              <a:rPr lang="en-US" sz="1800" b="1" dirty="0">
                <a:latin typeface="Century Gothic" panose="020B0502020202020204" pitchFamily="34" charset="0"/>
              </a:rPr>
              <a:t>		</a:t>
            </a:r>
            <a:r>
              <a:rPr lang="en-US" sz="1800" dirty="0">
                <a:latin typeface="Century Gothic" panose="020B0502020202020204" pitchFamily="34" charset="0"/>
              </a:rPr>
              <a:t>import</a:t>
            </a:r>
            <a:r>
              <a:rPr lang="en-US" sz="1800" b="1" dirty="0">
                <a:latin typeface="Century Gothic" panose="020B0502020202020204" pitchFamily="34" charset="0"/>
              </a:rPr>
              <a:t> </a:t>
            </a:r>
            <a:r>
              <a:rPr lang="en-US" sz="1800" dirty="0">
                <a:latin typeface="Century Gothic" panose="020B0502020202020204" pitchFamily="34" charset="0"/>
              </a:rPr>
              <a:t>pygame</a:t>
            </a:r>
          </a:p>
          <a:p>
            <a:pPr>
              <a:buSzPts val="1800"/>
            </a:pPr>
            <a:endParaRPr lang="en-US"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3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5859" y="5916940"/>
            <a:ext cx="2549168" cy="733103"/>
          </a:xfrm>
          <a:custGeom>
            <a:avLst/>
            <a:gdLst/>
            <a:ahLst/>
            <a:cxnLst/>
            <a:rect l="l" t="t" r="r" b="b"/>
            <a:pathLst>
              <a:path w="2549168" h="733103" fill="none" extrusionOk="0">
                <a:moveTo>
                  <a:pt x="0" y="0"/>
                </a:moveTo>
                <a:cubicBezTo>
                  <a:pt x="123056" y="-42753"/>
                  <a:pt x="250689" y="18116"/>
                  <a:pt x="433359" y="0"/>
                </a:cubicBezTo>
                <a:cubicBezTo>
                  <a:pt x="616029" y="-18116"/>
                  <a:pt x="696722" y="13866"/>
                  <a:pt x="917700" y="0"/>
                </a:cubicBezTo>
                <a:cubicBezTo>
                  <a:pt x="1138678" y="-13866"/>
                  <a:pt x="1210459" y="54377"/>
                  <a:pt x="1376551" y="0"/>
                </a:cubicBezTo>
                <a:cubicBezTo>
                  <a:pt x="1542643" y="-54377"/>
                  <a:pt x="1658106" y="45184"/>
                  <a:pt x="1911876" y="0"/>
                </a:cubicBezTo>
                <a:cubicBezTo>
                  <a:pt x="2165647" y="-45184"/>
                  <a:pt x="2404250" y="43649"/>
                  <a:pt x="2549168" y="0"/>
                </a:cubicBezTo>
                <a:cubicBezTo>
                  <a:pt x="2572448" y="84001"/>
                  <a:pt x="2514907" y="267360"/>
                  <a:pt x="2549168" y="351889"/>
                </a:cubicBezTo>
                <a:cubicBezTo>
                  <a:pt x="2583429" y="436418"/>
                  <a:pt x="2520926" y="615145"/>
                  <a:pt x="2549168" y="733103"/>
                </a:cubicBezTo>
                <a:cubicBezTo>
                  <a:pt x="2367838" y="776315"/>
                  <a:pt x="2106169" y="672226"/>
                  <a:pt x="1988351" y="733103"/>
                </a:cubicBezTo>
                <a:cubicBezTo>
                  <a:pt x="1870533" y="793980"/>
                  <a:pt x="1622125" y="694765"/>
                  <a:pt x="1529501" y="733103"/>
                </a:cubicBezTo>
                <a:cubicBezTo>
                  <a:pt x="1436877" y="771441"/>
                  <a:pt x="1194001" y="699985"/>
                  <a:pt x="1096142" y="733103"/>
                </a:cubicBezTo>
                <a:cubicBezTo>
                  <a:pt x="998283" y="766221"/>
                  <a:pt x="731001" y="727894"/>
                  <a:pt x="586309" y="733103"/>
                </a:cubicBezTo>
                <a:cubicBezTo>
                  <a:pt x="441617" y="738312"/>
                  <a:pt x="274918" y="693198"/>
                  <a:pt x="0" y="733103"/>
                </a:cubicBezTo>
                <a:cubicBezTo>
                  <a:pt x="-25339" y="628722"/>
                  <a:pt x="36966" y="450770"/>
                  <a:pt x="0" y="373883"/>
                </a:cubicBezTo>
                <a:cubicBezTo>
                  <a:pt x="-36966" y="296996"/>
                  <a:pt x="31886" y="101005"/>
                  <a:pt x="0" y="0"/>
                </a:cubicBezTo>
                <a:close/>
              </a:path>
              <a:path w="2549168" h="733103" extrusionOk="0">
                <a:moveTo>
                  <a:pt x="0" y="0"/>
                </a:moveTo>
                <a:cubicBezTo>
                  <a:pt x="176868" y="-42534"/>
                  <a:pt x="406779" y="35878"/>
                  <a:pt x="560817" y="0"/>
                </a:cubicBezTo>
                <a:cubicBezTo>
                  <a:pt x="714855" y="-35878"/>
                  <a:pt x="844236" y="12618"/>
                  <a:pt x="1070651" y="0"/>
                </a:cubicBezTo>
                <a:cubicBezTo>
                  <a:pt x="1297066" y="-12618"/>
                  <a:pt x="1312044" y="21951"/>
                  <a:pt x="1529501" y="0"/>
                </a:cubicBezTo>
                <a:cubicBezTo>
                  <a:pt x="1746958" y="-21951"/>
                  <a:pt x="1930965" y="20063"/>
                  <a:pt x="2064826" y="0"/>
                </a:cubicBezTo>
                <a:cubicBezTo>
                  <a:pt x="2198687" y="-20063"/>
                  <a:pt x="2343921" y="48444"/>
                  <a:pt x="2549168" y="0"/>
                </a:cubicBezTo>
                <a:cubicBezTo>
                  <a:pt x="2581517" y="135103"/>
                  <a:pt x="2538382" y="219099"/>
                  <a:pt x="2549168" y="381214"/>
                </a:cubicBezTo>
                <a:cubicBezTo>
                  <a:pt x="2559954" y="543329"/>
                  <a:pt x="2539626" y="616198"/>
                  <a:pt x="2549168" y="733103"/>
                </a:cubicBezTo>
                <a:cubicBezTo>
                  <a:pt x="2414650" y="754115"/>
                  <a:pt x="2267882" y="727809"/>
                  <a:pt x="2013843" y="733103"/>
                </a:cubicBezTo>
                <a:cubicBezTo>
                  <a:pt x="1759805" y="738397"/>
                  <a:pt x="1741730" y="721693"/>
                  <a:pt x="1554992" y="733103"/>
                </a:cubicBezTo>
                <a:cubicBezTo>
                  <a:pt x="1368254" y="744513"/>
                  <a:pt x="1231504" y="698095"/>
                  <a:pt x="1096142" y="733103"/>
                </a:cubicBezTo>
                <a:cubicBezTo>
                  <a:pt x="960780" y="768111"/>
                  <a:pt x="754296" y="705724"/>
                  <a:pt x="662784" y="733103"/>
                </a:cubicBezTo>
                <a:cubicBezTo>
                  <a:pt x="571272" y="760482"/>
                  <a:pt x="264963" y="670620"/>
                  <a:pt x="0" y="733103"/>
                </a:cubicBezTo>
                <a:cubicBezTo>
                  <a:pt x="-36668" y="656887"/>
                  <a:pt x="28482" y="465047"/>
                  <a:pt x="0" y="388545"/>
                </a:cubicBezTo>
                <a:cubicBezTo>
                  <a:pt x="-28482" y="312043"/>
                  <a:pt x="13983" y="110366"/>
                  <a:pt x="0" y="0"/>
                </a:cubicBezTo>
                <a:close/>
              </a:path>
            </a:pathLst>
          </a:custGeom>
          <a:noFill/>
          <a:ln w="28575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97970" y="5884277"/>
            <a:ext cx="2374629" cy="682908"/>
          </a:xfrm>
          <a:custGeom>
            <a:avLst/>
            <a:gdLst/>
            <a:ahLst/>
            <a:cxnLst/>
            <a:rect l="l" t="t" r="r" b="b"/>
            <a:pathLst>
              <a:path w="2374629" h="682908" fill="none" extrusionOk="0">
                <a:moveTo>
                  <a:pt x="0" y="0"/>
                </a:moveTo>
                <a:cubicBezTo>
                  <a:pt x="131428" y="-36206"/>
                  <a:pt x="429568" y="49038"/>
                  <a:pt x="593657" y="0"/>
                </a:cubicBezTo>
                <a:cubicBezTo>
                  <a:pt x="757746" y="-49038"/>
                  <a:pt x="1097918" y="53842"/>
                  <a:pt x="1234807" y="0"/>
                </a:cubicBezTo>
                <a:cubicBezTo>
                  <a:pt x="1371696" y="-53842"/>
                  <a:pt x="2054204" y="66126"/>
                  <a:pt x="2374629" y="0"/>
                </a:cubicBezTo>
                <a:cubicBezTo>
                  <a:pt x="2405002" y="162524"/>
                  <a:pt x="2371205" y="264958"/>
                  <a:pt x="2374629" y="334625"/>
                </a:cubicBezTo>
                <a:cubicBezTo>
                  <a:pt x="2378053" y="404292"/>
                  <a:pt x="2347794" y="576645"/>
                  <a:pt x="2374629" y="682908"/>
                </a:cubicBezTo>
                <a:cubicBezTo>
                  <a:pt x="2238559" y="706138"/>
                  <a:pt x="2022244" y="650700"/>
                  <a:pt x="1757225" y="682908"/>
                </a:cubicBezTo>
                <a:cubicBezTo>
                  <a:pt x="1492206" y="715116"/>
                  <a:pt x="1476653" y="629947"/>
                  <a:pt x="1234807" y="682908"/>
                </a:cubicBezTo>
                <a:cubicBezTo>
                  <a:pt x="992961" y="735869"/>
                  <a:pt x="919868" y="629849"/>
                  <a:pt x="712389" y="682908"/>
                </a:cubicBezTo>
                <a:cubicBezTo>
                  <a:pt x="504910" y="735967"/>
                  <a:pt x="305855" y="663304"/>
                  <a:pt x="0" y="682908"/>
                </a:cubicBezTo>
                <a:cubicBezTo>
                  <a:pt x="-18065" y="557586"/>
                  <a:pt x="6995" y="450320"/>
                  <a:pt x="0" y="348283"/>
                </a:cubicBezTo>
                <a:cubicBezTo>
                  <a:pt x="-6995" y="246247"/>
                  <a:pt x="2488" y="107054"/>
                  <a:pt x="0" y="0"/>
                </a:cubicBezTo>
                <a:close/>
              </a:path>
              <a:path w="2374629" h="682908" extrusionOk="0">
                <a:moveTo>
                  <a:pt x="0" y="0"/>
                </a:moveTo>
                <a:cubicBezTo>
                  <a:pt x="311661" y="-61020"/>
                  <a:pt x="325144" y="53203"/>
                  <a:pt x="641150" y="0"/>
                </a:cubicBezTo>
                <a:cubicBezTo>
                  <a:pt x="957156" y="-53203"/>
                  <a:pt x="959195" y="19220"/>
                  <a:pt x="1234807" y="0"/>
                </a:cubicBezTo>
                <a:cubicBezTo>
                  <a:pt x="1510419" y="-19220"/>
                  <a:pt x="1584655" y="38722"/>
                  <a:pt x="1780972" y="0"/>
                </a:cubicBezTo>
                <a:cubicBezTo>
                  <a:pt x="1977289" y="-38722"/>
                  <a:pt x="2190607" y="69537"/>
                  <a:pt x="2374629" y="0"/>
                </a:cubicBezTo>
                <a:cubicBezTo>
                  <a:pt x="2385325" y="132255"/>
                  <a:pt x="2363129" y="182532"/>
                  <a:pt x="2374629" y="341454"/>
                </a:cubicBezTo>
                <a:cubicBezTo>
                  <a:pt x="2386129" y="500376"/>
                  <a:pt x="2370081" y="556976"/>
                  <a:pt x="2374629" y="682908"/>
                </a:cubicBezTo>
                <a:cubicBezTo>
                  <a:pt x="2124574" y="704019"/>
                  <a:pt x="1976947" y="673626"/>
                  <a:pt x="1780972" y="682908"/>
                </a:cubicBezTo>
                <a:cubicBezTo>
                  <a:pt x="1584997" y="692190"/>
                  <a:pt x="1379907" y="658257"/>
                  <a:pt x="1258553" y="682908"/>
                </a:cubicBezTo>
                <a:cubicBezTo>
                  <a:pt x="1137199" y="707559"/>
                  <a:pt x="917106" y="632366"/>
                  <a:pt x="712389" y="682908"/>
                </a:cubicBezTo>
                <a:cubicBezTo>
                  <a:pt x="507672" y="733450"/>
                  <a:pt x="205418" y="628160"/>
                  <a:pt x="0" y="682908"/>
                </a:cubicBezTo>
                <a:cubicBezTo>
                  <a:pt x="-31526" y="607460"/>
                  <a:pt x="16314" y="448776"/>
                  <a:pt x="0" y="361941"/>
                </a:cubicBezTo>
                <a:cubicBezTo>
                  <a:pt x="-16314" y="275106"/>
                  <a:pt x="37469" y="142419"/>
                  <a:pt x="0" y="0"/>
                </a:cubicBezTo>
                <a:close/>
              </a:path>
            </a:pathLst>
          </a:custGeom>
          <a:noFill/>
          <a:ln w="28575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973F07-2B60-ED90-923C-3552EFF3C49A}"/>
              </a:ext>
            </a:extLst>
          </p:cNvPr>
          <p:cNvSpPr txBox="1"/>
          <p:nvPr/>
        </p:nvSpPr>
        <p:spPr>
          <a:xfrm>
            <a:off x="1142998" y="136340"/>
            <a:ext cx="92191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entury Gothic" panose="020B0502020202020204" pitchFamily="34" charset="0"/>
              </a:rPr>
              <a:t>A simple pygame example: Surface 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8C741F-D69D-7890-1B08-CCA3FF8C452C}"/>
              </a:ext>
            </a:extLst>
          </p:cNvPr>
          <p:cNvSpPr txBox="1"/>
          <p:nvPr/>
        </p:nvSpPr>
        <p:spPr>
          <a:xfrm>
            <a:off x="614405" y="1471614"/>
            <a:ext cx="585784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sz="2000" i="0" dirty="0">
                <a:solidFill>
                  <a:srgbClr val="006699"/>
                </a:solidFill>
                <a:effectLst/>
                <a:latin typeface="inter-regular"/>
              </a:rPr>
              <a:t>  </a:t>
            </a:r>
            <a:r>
              <a:rPr lang="en-US" sz="1800" i="0" dirty="0">
                <a:solidFill>
                  <a:srgbClr val="006699"/>
                </a:solidFill>
                <a:effectLst/>
                <a:latin typeface="Century Gothic" panose="020B0502020202020204" pitchFamily="34" charset="0"/>
              </a:rPr>
              <a:t>import</a:t>
            </a:r>
            <a:r>
              <a:rPr lang="en-US" sz="180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pygame  </a:t>
            </a:r>
          </a:p>
          <a:p>
            <a:pPr algn="just">
              <a:buFont typeface="+mj-lt"/>
              <a:buAutoNum type="arabicPeriod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 </a:t>
            </a:r>
          </a:p>
          <a:p>
            <a:pPr algn="just">
              <a:buFont typeface="+mj-lt"/>
              <a:buAutoNum type="arabicPeriod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pygame.init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()  </a:t>
            </a:r>
          </a:p>
          <a:p>
            <a:pPr algn="just">
              <a:buFont typeface="+mj-lt"/>
              <a:buAutoNum type="arabicPeriod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 surface = 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pygame.display.set_mode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((</a:t>
            </a:r>
            <a:r>
              <a:rPr lang="en-US" sz="1800" b="0" i="0" dirty="0">
                <a:solidFill>
                  <a:srgbClr val="C00000"/>
                </a:solidFill>
                <a:effectLst/>
                <a:latin typeface="Century Gothic" panose="020B0502020202020204" pitchFamily="34" charset="0"/>
              </a:rPr>
              <a:t>400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</a:t>
            </a:r>
            <a:r>
              <a:rPr lang="en-US" sz="1800" b="0" i="0" dirty="0">
                <a:solidFill>
                  <a:srgbClr val="C00000"/>
                </a:solidFill>
                <a:effectLst/>
                <a:latin typeface="Century Gothic" panose="020B0502020202020204" pitchFamily="34" charset="0"/>
              </a:rPr>
              <a:t>500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))  </a:t>
            </a:r>
          </a:p>
          <a:p>
            <a:pPr algn="just">
              <a:buFont typeface="+mj-lt"/>
              <a:buAutoNum type="arabicPeriod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 done = False  </a:t>
            </a:r>
          </a:p>
          <a:p>
            <a:pPr algn="just">
              <a:buFont typeface="+mj-lt"/>
              <a:buAutoNum type="arabicPeriod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 </a:t>
            </a:r>
          </a:p>
          <a:p>
            <a:pPr algn="just">
              <a:buFont typeface="+mj-lt"/>
              <a:buAutoNum type="arabicPeriod"/>
            </a:pPr>
            <a:r>
              <a:rPr lang="en-US" sz="1800" i="0" dirty="0">
                <a:solidFill>
                  <a:srgbClr val="006699"/>
                </a:solidFill>
                <a:effectLst/>
                <a:latin typeface="Century Gothic" panose="020B0502020202020204" pitchFamily="34" charset="0"/>
              </a:rPr>
              <a:t>  </a:t>
            </a:r>
            <a:r>
              <a:rPr lang="en-US" sz="180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while</a:t>
            </a:r>
            <a:r>
              <a:rPr lang="en-US" sz="180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not done:  </a:t>
            </a:r>
          </a:p>
          <a:p>
            <a:pPr algn="just">
              <a:buFont typeface="+mj-lt"/>
              <a:buAutoNum type="arabicPeriod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    </a:t>
            </a:r>
            <a:r>
              <a:rPr lang="en-US" sz="180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event in 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pygame.event.get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():  </a:t>
            </a:r>
          </a:p>
          <a:p>
            <a:pPr algn="just">
              <a:buFont typeface="+mj-lt"/>
              <a:buAutoNum type="arabicPeriod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       </a:t>
            </a:r>
            <a:r>
              <a:rPr lang="en-US" sz="180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event.type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== 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pygame.QUIT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  </a:t>
            </a:r>
          </a:p>
          <a:p>
            <a:pPr algn="just">
              <a:buFont typeface="+mj-lt"/>
              <a:buAutoNum type="arabicPeriod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        done = True  </a:t>
            </a:r>
          </a:p>
          <a:p>
            <a:pPr algn="just">
              <a:buFont typeface="+mj-lt"/>
              <a:buAutoNum type="arabicPeriod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 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pygame.display.flip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()</a:t>
            </a:r>
          </a:p>
          <a:p>
            <a:pPr algn="just"/>
            <a:endParaRPr lang="en-US" sz="1800" dirty="0">
              <a:latin typeface="Century Gothic" panose="020B0502020202020204" pitchFamily="34" charset="0"/>
            </a:endParaRPr>
          </a:p>
          <a:p>
            <a:pPr algn="just"/>
            <a:r>
              <a:rPr lang="en-US" sz="1800" dirty="0">
                <a:latin typeface="Century Gothic" panose="020B0502020202020204" pitchFamily="34" charset="0"/>
              </a:rPr>
              <a:t>………………………………………………………………..</a:t>
            </a:r>
            <a:endParaRPr lang="en-US" sz="1800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DF645A-75A6-0D0B-C73F-724FFA5EF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425" y="1429111"/>
            <a:ext cx="4814582" cy="3885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37D71E-4DC3-CDE4-2A34-990C838348D3}"/>
              </a:ext>
            </a:extLst>
          </p:cNvPr>
          <p:cNvSpPr txBox="1"/>
          <p:nvPr/>
        </p:nvSpPr>
        <p:spPr>
          <a:xfrm>
            <a:off x="614405" y="5269100"/>
            <a:ext cx="27622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entury Gothic" panose="020B0502020202020204" pitchFamily="34" charset="0"/>
              </a:rPr>
              <a:t>x, y = </a:t>
            </a:r>
            <a:r>
              <a:rPr lang="en-US" sz="1800" dirty="0" err="1">
                <a:latin typeface="Century Gothic" panose="020B0502020202020204" pitchFamily="34" charset="0"/>
              </a:rPr>
              <a:t>surface.get_size</a:t>
            </a:r>
            <a:r>
              <a:rPr lang="en-US" sz="1800" dirty="0">
                <a:latin typeface="Century Gothic" panose="020B0502020202020204" pitchFamily="34" charset="0"/>
              </a:rPr>
              <a:t>()</a:t>
            </a:r>
          </a:p>
          <a:p>
            <a:r>
              <a:rPr lang="en-US" sz="1800" dirty="0">
                <a:latin typeface="Century Gothic" panose="020B0502020202020204" pitchFamily="34" charset="0"/>
              </a:rPr>
              <a:t>print(x, y)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9EB4E8-DF3F-878E-3924-FD8B7C334F76}"/>
              </a:ext>
            </a:extLst>
          </p:cNvPr>
          <p:cNvSpPr txBox="1"/>
          <p:nvPr/>
        </p:nvSpPr>
        <p:spPr>
          <a:xfrm>
            <a:off x="585829" y="5852809"/>
            <a:ext cx="7715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entury Gothic" panose="020B0502020202020204" pitchFamily="34" charset="0"/>
              </a:rPr>
              <a:t>surface = </a:t>
            </a:r>
            <a:r>
              <a:rPr lang="en-US" sz="1800" dirty="0" err="1">
                <a:latin typeface="Century Gothic" panose="020B0502020202020204" pitchFamily="34" charset="0"/>
              </a:rPr>
              <a:t>pygame.display.set_mode</a:t>
            </a:r>
            <a:r>
              <a:rPr lang="en-US" sz="1800" dirty="0">
                <a:latin typeface="Century Gothic" panose="020B0502020202020204" pitchFamily="34" charset="0"/>
              </a:rPr>
              <a:t>((400, 500), </a:t>
            </a:r>
            <a:r>
              <a:rPr lang="en-US" sz="1800" dirty="0" err="1">
                <a:latin typeface="Century Gothic" panose="020B0502020202020204" pitchFamily="34" charset="0"/>
              </a:rPr>
              <a:t>pygame.RESIZABLE</a:t>
            </a:r>
            <a:r>
              <a:rPr lang="en-US" sz="1800" dirty="0">
                <a:latin typeface="Century Gothic" panose="020B0502020202020204" pitchFamily="34" charset="0"/>
              </a:rPr>
              <a:t>)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5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69378" y="464957"/>
            <a:ext cx="2374629" cy="682908"/>
          </a:xfrm>
          <a:custGeom>
            <a:avLst/>
            <a:gdLst/>
            <a:ahLst/>
            <a:cxnLst/>
            <a:rect l="l" t="t" r="r" b="b"/>
            <a:pathLst>
              <a:path w="2374629" h="682908" fill="none" extrusionOk="0">
                <a:moveTo>
                  <a:pt x="0" y="0"/>
                </a:moveTo>
                <a:cubicBezTo>
                  <a:pt x="131428" y="-36206"/>
                  <a:pt x="429568" y="49038"/>
                  <a:pt x="593657" y="0"/>
                </a:cubicBezTo>
                <a:cubicBezTo>
                  <a:pt x="757746" y="-49038"/>
                  <a:pt x="1097918" y="53842"/>
                  <a:pt x="1234807" y="0"/>
                </a:cubicBezTo>
                <a:cubicBezTo>
                  <a:pt x="1371696" y="-53842"/>
                  <a:pt x="2054204" y="66126"/>
                  <a:pt x="2374629" y="0"/>
                </a:cubicBezTo>
                <a:cubicBezTo>
                  <a:pt x="2405002" y="162524"/>
                  <a:pt x="2371205" y="264958"/>
                  <a:pt x="2374629" y="334625"/>
                </a:cubicBezTo>
                <a:cubicBezTo>
                  <a:pt x="2378053" y="404292"/>
                  <a:pt x="2347794" y="576645"/>
                  <a:pt x="2374629" y="682908"/>
                </a:cubicBezTo>
                <a:cubicBezTo>
                  <a:pt x="2238559" y="706138"/>
                  <a:pt x="2022244" y="650700"/>
                  <a:pt x="1757225" y="682908"/>
                </a:cubicBezTo>
                <a:cubicBezTo>
                  <a:pt x="1492206" y="715116"/>
                  <a:pt x="1476653" y="629947"/>
                  <a:pt x="1234807" y="682908"/>
                </a:cubicBezTo>
                <a:cubicBezTo>
                  <a:pt x="992961" y="735869"/>
                  <a:pt x="919868" y="629849"/>
                  <a:pt x="712389" y="682908"/>
                </a:cubicBezTo>
                <a:cubicBezTo>
                  <a:pt x="504910" y="735967"/>
                  <a:pt x="305855" y="663304"/>
                  <a:pt x="0" y="682908"/>
                </a:cubicBezTo>
                <a:cubicBezTo>
                  <a:pt x="-18065" y="557586"/>
                  <a:pt x="6995" y="450320"/>
                  <a:pt x="0" y="348283"/>
                </a:cubicBezTo>
                <a:cubicBezTo>
                  <a:pt x="-6995" y="246247"/>
                  <a:pt x="2488" y="107054"/>
                  <a:pt x="0" y="0"/>
                </a:cubicBezTo>
                <a:close/>
              </a:path>
              <a:path w="2374629" h="682908" extrusionOk="0">
                <a:moveTo>
                  <a:pt x="0" y="0"/>
                </a:moveTo>
                <a:cubicBezTo>
                  <a:pt x="311661" y="-61020"/>
                  <a:pt x="325144" y="53203"/>
                  <a:pt x="641150" y="0"/>
                </a:cubicBezTo>
                <a:cubicBezTo>
                  <a:pt x="957156" y="-53203"/>
                  <a:pt x="959195" y="19220"/>
                  <a:pt x="1234807" y="0"/>
                </a:cubicBezTo>
                <a:cubicBezTo>
                  <a:pt x="1510419" y="-19220"/>
                  <a:pt x="1584655" y="38722"/>
                  <a:pt x="1780972" y="0"/>
                </a:cubicBezTo>
                <a:cubicBezTo>
                  <a:pt x="1977289" y="-38722"/>
                  <a:pt x="2190607" y="69537"/>
                  <a:pt x="2374629" y="0"/>
                </a:cubicBezTo>
                <a:cubicBezTo>
                  <a:pt x="2385325" y="132255"/>
                  <a:pt x="2363129" y="182532"/>
                  <a:pt x="2374629" y="341454"/>
                </a:cubicBezTo>
                <a:cubicBezTo>
                  <a:pt x="2386129" y="500376"/>
                  <a:pt x="2370081" y="556976"/>
                  <a:pt x="2374629" y="682908"/>
                </a:cubicBezTo>
                <a:cubicBezTo>
                  <a:pt x="2124574" y="704019"/>
                  <a:pt x="1976947" y="673626"/>
                  <a:pt x="1780972" y="682908"/>
                </a:cubicBezTo>
                <a:cubicBezTo>
                  <a:pt x="1584997" y="692190"/>
                  <a:pt x="1379907" y="658257"/>
                  <a:pt x="1258553" y="682908"/>
                </a:cubicBezTo>
                <a:cubicBezTo>
                  <a:pt x="1137199" y="707559"/>
                  <a:pt x="917106" y="632366"/>
                  <a:pt x="712389" y="682908"/>
                </a:cubicBezTo>
                <a:cubicBezTo>
                  <a:pt x="507672" y="733450"/>
                  <a:pt x="205418" y="628160"/>
                  <a:pt x="0" y="682908"/>
                </a:cubicBezTo>
                <a:cubicBezTo>
                  <a:pt x="-31526" y="607460"/>
                  <a:pt x="16314" y="448776"/>
                  <a:pt x="0" y="361941"/>
                </a:cubicBezTo>
                <a:cubicBezTo>
                  <a:pt x="-16314" y="275106"/>
                  <a:pt x="37469" y="142419"/>
                  <a:pt x="0" y="0"/>
                </a:cubicBezTo>
                <a:close/>
              </a:path>
            </a:pathLst>
          </a:custGeom>
          <a:noFill/>
          <a:ln w="28575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489D28-A07A-D6A1-4096-1A02E9EAF7B1}"/>
              </a:ext>
            </a:extLst>
          </p:cNvPr>
          <p:cNvSpPr txBox="1"/>
          <p:nvPr/>
        </p:nvSpPr>
        <p:spPr>
          <a:xfrm>
            <a:off x="414520" y="659011"/>
            <a:ext cx="1141553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entury Gothic" panose="020B0502020202020204" pitchFamily="34" charset="0"/>
              </a:rPr>
              <a:t>Let's understand the basic syntax of the above program line by line:</a:t>
            </a:r>
          </a:p>
          <a:p>
            <a:endParaRPr lang="en-US" sz="2000" dirty="0">
              <a:latin typeface="Century Gothic" panose="020B0502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  <a:latin typeface="Century Gothic" panose="020B0502020202020204" pitchFamily="34" charset="0"/>
              </a:rPr>
              <a:t>import pygame -</a:t>
            </a:r>
            <a:r>
              <a:rPr lang="en-US" sz="2000" dirty="0">
                <a:latin typeface="Century Gothic" panose="020B0502020202020204" pitchFamily="34" charset="0"/>
              </a:rPr>
              <a:t> access to the pygame framework and imports 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    all functions of pygame.</a:t>
            </a:r>
          </a:p>
          <a:p>
            <a:endParaRPr lang="en-US" sz="800" dirty="0">
              <a:latin typeface="Century Gothic" panose="020B0502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effectLst/>
                <a:latin typeface="Century Gothic" panose="020B0502020202020204" pitchFamily="34" charset="0"/>
              </a:rPr>
              <a:t>pygame.init</a:t>
            </a:r>
            <a:r>
              <a:rPr lang="en-US" sz="2000" b="1" dirty="0">
                <a:effectLst/>
                <a:latin typeface="Century Gothic" panose="020B0502020202020204" pitchFamily="34" charset="0"/>
              </a:rPr>
              <a:t> ( ) -</a:t>
            </a:r>
            <a:r>
              <a:rPr lang="en-US" sz="2000" dirty="0">
                <a:latin typeface="Century Gothic" panose="020B0502020202020204" pitchFamily="34" charset="0"/>
              </a:rPr>
              <a:t> This is used to initialize all the required module of the pygame.</a:t>
            </a:r>
          </a:p>
          <a:p>
            <a:endParaRPr lang="en-US" sz="800" dirty="0">
              <a:latin typeface="Century Gothic" panose="020B0502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effectLst/>
                <a:latin typeface="Century Gothic" panose="020B0502020202020204" pitchFamily="34" charset="0"/>
              </a:rPr>
              <a:t>pygame.display.set_mode</a:t>
            </a:r>
            <a:r>
              <a:rPr lang="en-US" sz="2000" b="1" dirty="0">
                <a:effectLst/>
                <a:latin typeface="Century Gothic" panose="020B0502020202020204" pitchFamily="34" charset="0"/>
              </a:rPr>
              <a:t> ((width, height)) -</a:t>
            </a:r>
            <a:r>
              <a:rPr lang="en-US" sz="2000" dirty="0">
                <a:latin typeface="Century Gothic" panose="020B0502020202020204" pitchFamily="34" charset="0"/>
              </a:rPr>
              <a:t> This is used to display a window of 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     the desired size. The return value is a Surface object which is the object where 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     we will perform graphical operations.</a:t>
            </a:r>
          </a:p>
          <a:p>
            <a:endParaRPr lang="en-US" sz="800" dirty="0">
              <a:latin typeface="Century Gothic" panose="020B0502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effectLst/>
                <a:latin typeface="Century Gothic" panose="020B0502020202020204" pitchFamily="34" charset="0"/>
              </a:rPr>
              <a:t>pygame.event.get</a:t>
            </a:r>
            <a:r>
              <a:rPr lang="en-US" sz="2000" b="1" dirty="0">
                <a:effectLst/>
                <a:latin typeface="Century Gothic" panose="020B0502020202020204" pitchFamily="34" charset="0"/>
              </a:rPr>
              <a:t> ( )-</a:t>
            </a:r>
            <a:r>
              <a:rPr lang="en-US" sz="2000" dirty="0">
                <a:latin typeface="Century Gothic" panose="020B0502020202020204" pitchFamily="34" charset="0"/>
              </a:rPr>
              <a:t> This is used to empty the event queue. If we do not call this, 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     the window messages will start to pile up and, the game will become unresponsive 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     in the opinion of the operating system.</a:t>
            </a:r>
          </a:p>
          <a:p>
            <a:endParaRPr lang="en-US" sz="8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i="0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pygame.QUIT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-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 This is used to terminate the event when we click on the close button 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   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at the corner of the window.</a:t>
            </a:r>
          </a:p>
          <a:p>
            <a:pPr algn="just"/>
            <a:endParaRPr lang="en-US" sz="800" b="0" i="0" dirty="0"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i="0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pygame.display.flip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( ) -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 Pygame is double-buffered, so this shifts the buffers. It is </a:t>
            </a:r>
          </a:p>
          <a:p>
            <a:pPr algn="just"/>
            <a:r>
              <a:rPr lang="en-US" sz="2000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    essential to call this function to make any updates that you make on the </a:t>
            </a:r>
          </a:p>
          <a:p>
            <a:pPr algn="just"/>
            <a:r>
              <a:rPr lang="en-US" sz="2000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    game screen to make visible.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6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805" y="5678286"/>
            <a:ext cx="2374629" cy="682908"/>
          </a:xfrm>
          <a:custGeom>
            <a:avLst/>
            <a:gdLst/>
            <a:ahLst/>
            <a:cxnLst/>
            <a:rect l="l" t="t" r="r" b="b"/>
            <a:pathLst>
              <a:path w="2374629" h="682908" fill="none" extrusionOk="0">
                <a:moveTo>
                  <a:pt x="0" y="0"/>
                </a:moveTo>
                <a:cubicBezTo>
                  <a:pt x="131428" y="-36206"/>
                  <a:pt x="429568" y="49038"/>
                  <a:pt x="593657" y="0"/>
                </a:cubicBezTo>
                <a:cubicBezTo>
                  <a:pt x="757746" y="-49038"/>
                  <a:pt x="1097918" y="53842"/>
                  <a:pt x="1234807" y="0"/>
                </a:cubicBezTo>
                <a:cubicBezTo>
                  <a:pt x="1371696" y="-53842"/>
                  <a:pt x="2054204" y="66126"/>
                  <a:pt x="2374629" y="0"/>
                </a:cubicBezTo>
                <a:cubicBezTo>
                  <a:pt x="2405002" y="162524"/>
                  <a:pt x="2371205" y="264958"/>
                  <a:pt x="2374629" y="334625"/>
                </a:cubicBezTo>
                <a:cubicBezTo>
                  <a:pt x="2378053" y="404292"/>
                  <a:pt x="2347794" y="576645"/>
                  <a:pt x="2374629" y="682908"/>
                </a:cubicBezTo>
                <a:cubicBezTo>
                  <a:pt x="2238559" y="706138"/>
                  <a:pt x="2022244" y="650700"/>
                  <a:pt x="1757225" y="682908"/>
                </a:cubicBezTo>
                <a:cubicBezTo>
                  <a:pt x="1492206" y="715116"/>
                  <a:pt x="1476653" y="629947"/>
                  <a:pt x="1234807" y="682908"/>
                </a:cubicBezTo>
                <a:cubicBezTo>
                  <a:pt x="992961" y="735869"/>
                  <a:pt x="919868" y="629849"/>
                  <a:pt x="712389" y="682908"/>
                </a:cubicBezTo>
                <a:cubicBezTo>
                  <a:pt x="504910" y="735967"/>
                  <a:pt x="305855" y="663304"/>
                  <a:pt x="0" y="682908"/>
                </a:cubicBezTo>
                <a:cubicBezTo>
                  <a:pt x="-18065" y="557586"/>
                  <a:pt x="6995" y="450320"/>
                  <a:pt x="0" y="348283"/>
                </a:cubicBezTo>
                <a:cubicBezTo>
                  <a:pt x="-6995" y="246247"/>
                  <a:pt x="2488" y="107054"/>
                  <a:pt x="0" y="0"/>
                </a:cubicBezTo>
                <a:close/>
              </a:path>
              <a:path w="2374629" h="682908" extrusionOk="0">
                <a:moveTo>
                  <a:pt x="0" y="0"/>
                </a:moveTo>
                <a:cubicBezTo>
                  <a:pt x="311661" y="-61020"/>
                  <a:pt x="325144" y="53203"/>
                  <a:pt x="641150" y="0"/>
                </a:cubicBezTo>
                <a:cubicBezTo>
                  <a:pt x="957156" y="-53203"/>
                  <a:pt x="959195" y="19220"/>
                  <a:pt x="1234807" y="0"/>
                </a:cubicBezTo>
                <a:cubicBezTo>
                  <a:pt x="1510419" y="-19220"/>
                  <a:pt x="1584655" y="38722"/>
                  <a:pt x="1780972" y="0"/>
                </a:cubicBezTo>
                <a:cubicBezTo>
                  <a:pt x="1977289" y="-38722"/>
                  <a:pt x="2190607" y="69537"/>
                  <a:pt x="2374629" y="0"/>
                </a:cubicBezTo>
                <a:cubicBezTo>
                  <a:pt x="2385325" y="132255"/>
                  <a:pt x="2363129" y="182532"/>
                  <a:pt x="2374629" y="341454"/>
                </a:cubicBezTo>
                <a:cubicBezTo>
                  <a:pt x="2386129" y="500376"/>
                  <a:pt x="2370081" y="556976"/>
                  <a:pt x="2374629" y="682908"/>
                </a:cubicBezTo>
                <a:cubicBezTo>
                  <a:pt x="2124574" y="704019"/>
                  <a:pt x="1976947" y="673626"/>
                  <a:pt x="1780972" y="682908"/>
                </a:cubicBezTo>
                <a:cubicBezTo>
                  <a:pt x="1584997" y="692190"/>
                  <a:pt x="1379907" y="658257"/>
                  <a:pt x="1258553" y="682908"/>
                </a:cubicBezTo>
                <a:cubicBezTo>
                  <a:pt x="1137199" y="707559"/>
                  <a:pt x="917106" y="632366"/>
                  <a:pt x="712389" y="682908"/>
                </a:cubicBezTo>
                <a:cubicBezTo>
                  <a:pt x="507672" y="733450"/>
                  <a:pt x="205418" y="628160"/>
                  <a:pt x="0" y="682908"/>
                </a:cubicBezTo>
                <a:cubicBezTo>
                  <a:pt x="-31526" y="607460"/>
                  <a:pt x="16314" y="448776"/>
                  <a:pt x="0" y="361941"/>
                </a:cubicBezTo>
                <a:cubicBezTo>
                  <a:pt x="-16314" y="275106"/>
                  <a:pt x="37469" y="142419"/>
                  <a:pt x="0" y="0"/>
                </a:cubicBezTo>
                <a:close/>
              </a:path>
            </a:pathLst>
          </a:custGeom>
          <a:noFill/>
          <a:ln w="28575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D102C5-F46D-8287-D057-CBC0E36D404C}"/>
              </a:ext>
            </a:extLst>
          </p:cNvPr>
          <p:cNvSpPr txBox="1"/>
          <p:nvPr/>
        </p:nvSpPr>
        <p:spPr>
          <a:xfrm>
            <a:off x="1995487" y="200181"/>
            <a:ext cx="7986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entury Gothic" panose="020B0502020202020204" pitchFamily="34" charset="0"/>
              </a:rPr>
              <a:t>More on Surface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7E4B6-FB7B-948F-3D53-51FF50571346}"/>
              </a:ext>
            </a:extLst>
          </p:cNvPr>
          <p:cNvSpPr txBox="1"/>
          <p:nvPr/>
        </p:nvSpPr>
        <p:spPr>
          <a:xfrm>
            <a:off x="532805" y="1036657"/>
            <a:ext cx="335399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entury Gothic" panose="020B0502020202020204" pitchFamily="34" charset="0"/>
              </a:rPr>
              <a:t># Initializing RGB Color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color = (255, 0, 0)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 </a:t>
            </a:r>
          </a:p>
          <a:p>
            <a:r>
              <a:rPr lang="en-US" sz="1600" b="1" dirty="0">
                <a:latin typeface="Century Gothic" panose="020B0502020202020204" pitchFamily="34" charset="0"/>
              </a:rPr>
              <a:t># Changing surface color</a:t>
            </a:r>
          </a:p>
          <a:p>
            <a:r>
              <a:rPr lang="en-US" sz="2000" dirty="0" err="1">
                <a:latin typeface="Century Gothic" panose="020B0502020202020204" pitchFamily="34" charset="0"/>
              </a:rPr>
              <a:t>surface.fill</a:t>
            </a:r>
            <a:r>
              <a:rPr lang="en-US" sz="2000" dirty="0">
                <a:latin typeface="Century Gothic" panose="020B0502020202020204" pitchFamily="34" charset="0"/>
              </a:rPr>
              <a:t>(color)</a:t>
            </a:r>
          </a:p>
          <a:p>
            <a:r>
              <a:rPr lang="en-US" sz="2000" dirty="0" err="1">
                <a:latin typeface="Century Gothic" panose="020B0502020202020204" pitchFamily="34" charset="0"/>
              </a:rPr>
              <a:t>pygame.display.flip</a:t>
            </a:r>
            <a:r>
              <a:rPr lang="en-US" sz="2000" dirty="0">
                <a:latin typeface="Century Gothic" panose="020B0502020202020204" pitchFamily="34" charset="0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F7E153-19D6-B823-66E6-0BEB8661025F}"/>
              </a:ext>
            </a:extLst>
          </p:cNvPr>
          <p:cNvSpPr txBox="1"/>
          <p:nvPr/>
        </p:nvSpPr>
        <p:spPr>
          <a:xfrm>
            <a:off x="5135465" y="1036659"/>
            <a:ext cx="633948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entury Gothic" panose="020B0502020202020204" pitchFamily="34" charset="0"/>
              </a:rPr>
              <a:t># Set caption</a:t>
            </a:r>
          </a:p>
          <a:p>
            <a:r>
              <a:rPr lang="en-US" sz="2000" dirty="0" err="1">
                <a:latin typeface="Century Gothic" panose="020B0502020202020204" pitchFamily="34" charset="0"/>
              </a:rPr>
              <a:t>pygame.display.set_caption</a:t>
            </a:r>
            <a:r>
              <a:rPr lang="en-US" sz="2000" dirty="0">
                <a:latin typeface="Century Gothic" panose="020B0502020202020204" pitchFamily="34" charset="0"/>
              </a:rPr>
              <a:t>(‘Hello’)</a:t>
            </a:r>
          </a:p>
          <a:p>
            <a:endParaRPr lang="en-US" dirty="0"/>
          </a:p>
          <a:p>
            <a:r>
              <a:rPr lang="en-US" sz="1600" b="1" dirty="0">
                <a:latin typeface="Century Gothic" panose="020B0502020202020204" pitchFamily="34" charset="0"/>
              </a:rPr>
              <a:t># Take image as input </a:t>
            </a:r>
          </a:p>
          <a:p>
            <a:r>
              <a:rPr lang="en-US" sz="2000" dirty="0" err="1">
                <a:latin typeface="Century Gothic" panose="020B0502020202020204" pitchFamily="34" charset="0"/>
              </a:rPr>
              <a:t>img</a:t>
            </a:r>
            <a:r>
              <a:rPr lang="en-US" sz="2000" dirty="0">
                <a:latin typeface="Century Gothic" panose="020B0502020202020204" pitchFamily="34" charset="0"/>
              </a:rPr>
              <a:t> = </a:t>
            </a:r>
            <a:r>
              <a:rPr lang="en-US" sz="2000" dirty="0" err="1">
                <a:latin typeface="Century Gothic" panose="020B0502020202020204" pitchFamily="34" charset="0"/>
              </a:rPr>
              <a:t>pygame.image.load</a:t>
            </a:r>
            <a:r>
              <a:rPr lang="en-US" sz="2000" dirty="0">
                <a:latin typeface="Century Gothic" panose="020B0502020202020204" pitchFamily="34" charset="0"/>
              </a:rPr>
              <a:t>('</a:t>
            </a:r>
            <a:r>
              <a:rPr lang="en-US" sz="2000" dirty="0" err="1">
                <a:latin typeface="Century Gothic" panose="020B0502020202020204" pitchFamily="34" charset="0"/>
              </a:rPr>
              <a:t>gfg_image.jpg</a:t>
            </a:r>
            <a:r>
              <a:rPr lang="en-US" sz="2000" dirty="0">
                <a:latin typeface="Century Gothic" panose="020B0502020202020204" pitchFamily="34" charset="0"/>
              </a:rPr>
              <a:t>') 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  </a:t>
            </a:r>
          </a:p>
          <a:p>
            <a:r>
              <a:rPr lang="en-US" sz="1600" b="1" dirty="0">
                <a:latin typeface="Century Gothic" panose="020B0502020202020204" pitchFamily="34" charset="0"/>
              </a:rPr>
              <a:t># Set image as icon </a:t>
            </a:r>
          </a:p>
          <a:p>
            <a:r>
              <a:rPr lang="en-US" sz="2000" dirty="0" err="1">
                <a:latin typeface="Century Gothic" panose="020B0502020202020204" pitchFamily="34" charset="0"/>
              </a:rPr>
              <a:t>pygame.display.set_icon</a:t>
            </a:r>
            <a:r>
              <a:rPr lang="en-US" sz="2000" dirty="0">
                <a:latin typeface="Century Gothic" panose="020B0502020202020204" pitchFamily="34" charset="0"/>
              </a:rPr>
              <a:t>(</a:t>
            </a:r>
            <a:r>
              <a:rPr lang="en-US" sz="2000" dirty="0" err="1">
                <a:latin typeface="Century Gothic" panose="020B0502020202020204" pitchFamily="34" charset="0"/>
              </a:rPr>
              <a:t>img</a:t>
            </a:r>
            <a:r>
              <a:rPr lang="en-US" sz="2000" dirty="0">
                <a:latin typeface="Century Gothic" panose="020B0502020202020204" pitchFamily="34" charset="0"/>
              </a:rPr>
              <a:t>) </a:t>
            </a:r>
          </a:p>
          <a:p>
            <a:endParaRPr lang="en-US" sz="2000" dirty="0">
              <a:latin typeface="Century Gothic" panose="020B0502020202020204" pitchFamily="34" charset="0"/>
            </a:endParaRPr>
          </a:p>
          <a:p>
            <a:r>
              <a:rPr lang="en-US" sz="1600" b="1" dirty="0"/>
              <a:t># putting our image on surface on</a:t>
            </a:r>
          </a:p>
          <a:p>
            <a:r>
              <a:rPr lang="en-US" sz="2000" dirty="0" err="1">
                <a:latin typeface="Century Gothic" panose="020B0502020202020204" pitchFamily="34" charset="0"/>
              </a:rPr>
              <a:t>surface.blit</a:t>
            </a:r>
            <a:r>
              <a:rPr lang="en-US" sz="2000" dirty="0">
                <a:latin typeface="Century Gothic" panose="020B0502020202020204" pitchFamily="34" charset="0"/>
              </a:rPr>
              <a:t>(</a:t>
            </a:r>
            <a:r>
              <a:rPr lang="en-US" sz="2000" dirty="0" err="1">
                <a:latin typeface="Century Gothic" panose="020B0502020202020204" pitchFamily="34" charset="0"/>
              </a:rPr>
              <a:t>img</a:t>
            </a:r>
            <a:r>
              <a:rPr lang="en-US" sz="2000" dirty="0">
                <a:latin typeface="Century Gothic" panose="020B0502020202020204" pitchFamily="34" charset="0"/>
              </a:rPr>
              <a:t>,(0,0))</a:t>
            </a:r>
          </a:p>
          <a:p>
            <a:endParaRPr lang="en-US" sz="2000" dirty="0">
              <a:latin typeface="Century Gothic" panose="020B0502020202020204" pitchFamily="34" charset="0"/>
            </a:endParaRPr>
          </a:p>
          <a:p>
            <a:r>
              <a:rPr lang="en-US" sz="1600" b="1" dirty="0"/>
              <a:t># creating a copy of </a:t>
            </a:r>
            <a:r>
              <a:rPr lang="en-US" sz="1600" b="1" dirty="0" err="1"/>
              <a:t>sample_surface</a:t>
            </a:r>
            <a:r>
              <a:rPr lang="en-US" sz="1600" b="1" dirty="0"/>
              <a:t> and naming it</a:t>
            </a:r>
          </a:p>
          <a:p>
            <a:r>
              <a:rPr lang="en-US" sz="2000" dirty="0" err="1">
                <a:latin typeface="Century Gothic" panose="020B0502020202020204" pitchFamily="34" charset="0"/>
              </a:rPr>
              <a:t>copied_surface</a:t>
            </a:r>
            <a:r>
              <a:rPr lang="en-US" sz="2000" dirty="0">
                <a:latin typeface="Century Gothic" panose="020B0502020202020204" pitchFamily="34" charset="0"/>
              </a:rPr>
              <a:t>=</a:t>
            </a:r>
            <a:r>
              <a:rPr lang="en-US" sz="2000" dirty="0" err="1">
                <a:latin typeface="Century Gothic" panose="020B0502020202020204" pitchFamily="34" charset="0"/>
              </a:rPr>
              <a:t>pygame.Surface.copy</a:t>
            </a:r>
            <a:r>
              <a:rPr lang="en-US" sz="2000" dirty="0">
                <a:latin typeface="Century Gothic" panose="020B0502020202020204" pitchFamily="34" charset="0"/>
              </a:rPr>
              <a:t>(surface)</a:t>
            </a:r>
          </a:p>
          <a:p>
            <a:endParaRPr lang="en-US" sz="2000" dirty="0">
              <a:latin typeface="Century Gothic" panose="020B0502020202020204" pitchFamily="34" charset="0"/>
            </a:endParaRPr>
          </a:p>
          <a:p>
            <a:r>
              <a:rPr lang="en-US" sz="1600" b="1" dirty="0"/>
              <a:t># putting our image surface on display surface</a:t>
            </a:r>
          </a:p>
          <a:p>
            <a:r>
              <a:rPr lang="en-US" sz="1600" b="1" dirty="0"/>
              <a:t># making the alpha value of surface as 100</a:t>
            </a:r>
          </a:p>
          <a:p>
            <a:r>
              <a:rPr lang="en-US" sz="2000" dirty="0" err="1"/>
              <a:t>pygame.Surface.set_alpha</a:t>
            </a:r>
            <a:r>
              <a:rPr lang="en-US" sz="2000" dirty="0"/>
              <a:t>(image, 100)</a:t>
            </a:r>
          </a:p>
          <a:p>
            <a:r>
              <a:rPr lang="en-US" dirty="0"/>
              <a:t>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BF9C1E-43AD-5661-B52C-BE5A0E4C6F49}"/>
              </a:ext>
            </a:extLst>
          </p:cNvPr>
          <p:cNvSpPr txBox="1"/>
          <p:nvPr/>
        </p:nvSpPr>
        <p:spPr>
          <a:xfrm>
            <a:off x="542923" y="3200400"/>
            <a:ext cx="391645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entury Gothic" panose="020B0502020202020204" pitchFamily="34" charset="0"/>
              </a:rPr>
              <a:t># if color is red do change it to green </a:t>
            </a:r>
          </a:p>
          <a:p>
            <a:r>
              <a:rPr lang="en-US" sz="1600" b="1" dirty="0">
                <a:latin typeface="Century Gothic" panose="020B0502020202020204" pitchFamily="34" charset="0"/>
              </a:rPr>
              <a:t># and vice-versa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    if(color == "red"):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        color = "green"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    else: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        color = "red"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82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 dirty="0"/>
              <a:t>pygame time()</a:t>
            </a:r>
            <a:endParaRPr dirty="0"/>
          </a:p>
        </p:txBody>
      </p:sp>
      <p:pic>
        <p:nvPicPr>
          <p:cNvPr id="158" name="Google Shape;158;p7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69378" y="464957"/>
            <a:ext cx="2374629" cy="682908"/>
          </a:xfrm>
          <a:custGeom>
            <a:avLst/>
            <a:gdLst/>
            <a:ahLst/>
            <a:cxnLst/>
            <a:rect l="l" t="t" r="r" b="b"/>
            <a:pathLst>
              <a:path w="2374629" h="682908" fill="none" extrusionOk="0">
                <a:moveTo>
                  <a:pt x="0" y="0"/>
                </a:moveTo>
                <a:cubicBezTo>
                  <a:pt x="131428" y="-36206"/>
                  <a:pt x="429568" y="49038"/>
                  <a:pt x="593657" y="0"/>
                </a:cubicBezTo>
                <a:cubicBezTo>
                  <a:pt x="757746" y="-49038"/>
                  <a:pt x="1097918" y="53842"/>
                  <a:pt x="1234807" y="0"/>
                </a:cubicBezTo>
                <a:cubicBezTo>
                  <a:pt x="1371696" y="-53842"/>
                  <a:pt x="2054204" y="66126"/>
                  <a:pt x="2374629" y="0"/>
                </a:cubicBezTo>
                <a:cubicBezTo>
                  <a:pt x="2405002" y="162524"/>
                  <a:pt x="2371205" y="264958"/>
                  <a:pt x="2374629" y="334625"/>
                </a:cubicBezTo>
                <a:cubicBezTo>
                  <a:pt x="2378053" y="404292"/>
                  <a:pt x="2347794" y="576645"/>
                  <a:pt x="2374629" y="682908"/>
                </a:cubicBezTo>
                <a:cubicBezTo>
                  <a:pt x="2238559" y="706138"/>
                  <a:pt x="2022244" y="650700"/>
                  <a:pt x="1757225" y="682908"/>
                </a:cubicBezTo>
                <a:cubicBezTo>
                  <a:pt x="1492206" y="715116"/>
                  <a:pt x="1476653" y="629947"/>
                  <a:pt x="1234807" y="682908"/>
                </a:cubicBezTo>
                <a:cubicBezTo>
                  <a:pt x="992961" y="735869"/>
                  <a:pt x="919868" y="629849"/>
                  <a:pt x="712389" y="682908"/>
                </a:cubicBezTo>
                <a:cubicBezTo>
                  <a:pt x="504910" y="735967"/>
                  <a:pt x="305855" y="663304"/>
                  <a:pt x="0" y="682908"/>
                </a:cubicBezTo>
                <a:cubicBezTo>
                  <a:pt x="-18065" y="557586"/>
                  <a:pt x="6995" y="450320"/>
                  <a:pt x="0" y="348283"/>
                </a:cubicBezTo>
                <a:cubicBezTo>
                  <a:pt x="-6995" y="246247"/>
                  <a:pt x="2488" y="107054"/>
                  <a:pt x="0" y="0"/>
                </a:cubicBezTo>
                <a:close/>
              </a:path>
              <a:path w="2374629" h="682908" extrusionOk="0">
                <a:moveTo>
                  <a:pt x="0" y="0"/>
                </a:moveTo>
                <a:cubicBezTo>
                  <a:pt x="311661" y="-61020"/>
                  <a:pt x="325144" y="53203"/>
                  <a:pt x="641150" y="0"/>
                </a:cubicBezTo>
                <a:cubicBezTo>
                  <a:pt x="957156" y="-53203"/>
                  <a:pt x="959195" y="19220"/>
                  <a:pt x="1234807" y="0"/>
                </a:cubicBezTo>
                <a:cubicBezTo>
                  <a:pt x="1510419" y="-19220"/>
                  <a:pt x="1584655" y="38722"/>
                  <a:pt x="1780972" y="0"/>
                </a:cubicBezTo>
                <a:cubicBezTo>
                  <a:pt x="1977289" y="-38722"/>
                  <a:pt x="2190607" y="69537"/>
                  <a:pt x="2374629" y="0"/>
                </a:cubicBezTo>
                <a:cubicBezTo>
                  <a:pt x="2385325" y="132255"/>
                  <a:pt x="2363129" y="182532"/>
                  <a:pt x="2374629" y="341454"/>
                </a:cubicBezTo>
                <a:cubicBezTo>
                  <a:pt x="2386129" y="500376"/>
                  <a:pt x="2370081" y="556976"/>
                  <a:pt x="2374629" y="682908"/>
                </a:cubicBezTo>
                <a:cubicBezTo>
                  <a:pt x="2124574" y="704019"/>
                  <a:pt x="1976947" y="673626"/>
                  <a:pt x="1780972" y="682908"/>
                </a:cubicBezTo>
                <a:cubicBezTo>
                  <a:pt x="1584997" y="692190"/>
                  <a:pt x="1379907" y="658257"/>
                  <a:pt x="1258553" y="682908"/>
                </a:cubicBezTo>
                <a:cubicBezTo>
                  <a:pt x="1137199" y="707559"/>
                  <a:pt x="917106" y="632366"/>
                  <a:pt x="712389" y="682908"/>
                </a:cubicBezTo>
                <a:cubicBezTo>
                  <a:pt x="507672" y="733450"/>
                  <a:pt x="205418" y="628160"/>
                  <a:pt x="0" y="682908"/>
                </a:cubicBezTo>
                <a:cubicBezTo>
                  <a:pt x="-31526" y="607460"/>
                  <a:pt x="16314" y="448776"/>
                  <a:pt x="0" y="361941"/>
                </a:cubicBezTo>
                <a:cubicBezTo>
                  <a:pt x="-16314" y="275106"/>
                  <a:pt x="37469" y="142419"/>
                  <a:pt x="0" y="0"/>
                </a:cubicBezTo>
                <a:close/>
              </a:path>
            </a:pathLst>
          </a:custGeom>
          <a:noFill/>
          <a:ln w="28575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CBA3D2-897D-7D49-1666-66C1D8E959B5}"/>
              </a:ext>
            </a:extLst>
          </p:cNvPr>
          <p:cNvSpPr txBox="1"/>
          <p:nvPr/>
        </p:nvSpPr>
        <p:spPr>
          <a:xfrm>
            <a:off x="812196" y="1500187"/>
            <a:ext cx="11032142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b="1" dirty="0" err="1">
                <a:latin typeface="Century Gothic" panose="020B0502020202020204" pitchFamily="34" charset="0"/>
              </a:rPr>
              <a:t>pygame.time.wait</a:t>
            </a:r>
            <a:r>
              <a:rPr lang="en-US" sz="2000" dirty="0">
                <a:latin typeface="Century Gothic" panose="020B0502020202020204" pitchFamily="34" charset="0"/>
              </a:rPr>
              <a:t>: pause the running of the program for a duration</a:t>
            </a:r>
          </a:p>
          <a:p>
            <a:endParaRPr lang="en-US" sz="2000" dirty="0">
              <a:latin typeface="Century Gothic" panose="020B0502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b="1" dirty="0" err="1">
                <a:latin typeface="Century Gothic" panose="020B0502020202020204" pitchFamily="34" charset="0"/>
              </a:rPr>
              <a:t>pygame.time.get_ticks</a:t>
            </a:r>
            <a:r>
              <a:rPr lang="en-US" sz="2000" b="1" dirty="0">
                <a:latin typeface="Century Gothic" panose="020B0502020202020204" pitchFamily="34" charset="0"/>
              </a:rPr>
              <a:t>:</a:t>
            </a:r>
            <a:r>
              <a:rPr lang="en-US" sz="2000" dirty="0">
                <a:latin typeface="Century Gothic" panose="020B0502020202020204" pitchFamily="34" charset="0"/>
              </a:rPr>
              <a:t> a time which has been running in milliseconds</a:t>
            </a:r>
          </a:p>
          <a:p>
            <a:endParaRPr lang="en-US" sz="2000" dirty="0">
              <a:latin typeface="Century Gothic" panose="020B0502020202020204" pitchFamily="34" charset="0"/>
            </a:endParaRPr>
          </a:p>
          <a:p>
            <a:pPr marL="127000" indent="-12700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Century Gothic" panose="020B0502020202020204" pitchFamily="34" charset="0"/>
              </a:rPr>
              <a:t>pygame.time.delay</a:t>
            </a:r>
            <a:r>
              <a:rPr lang="en-US" sz="2000" dirty="0">
                <a:latin typeface="Century Gothic" panose="020B0502020202020204" pitchFamily="34" charset="0"/>
              </a:rPr>
              <a:t>: same as </a:t>
            </a:r>
            <a:r>
              <a:rPr lang="en-US" sz="2000" dirty="0" err="1">
                <a:latin typeface="Century Gothic" panose="020B0502020202020204" pitchFamily="34" charset="0"/>
              </a:rPr>
              <a:t>pygame.time.wait</a:t>
            </a:r>
            <a:r>
              <a:rPr lang="en-US" sz="2000" dirty="0">
                <a:latin typeface="Century Gothic" panose="020B0502020202020204" pitchFamily="34" charset="0"/>
              </a:rPr>
              <a:t> function the difference is that this     function will use the processor (rather than sleeping) to make the delay more accurate.</a:t>
            </a:r>
          </a:p>
          <a:p>
            <a:endParaRPr lang="en-US" sz="2000" dirty="0">
              <a:latin typeface="Century Gothic" panose="020B0502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b="1" dirty="0" err="1">
                <a:latin typeface="Century Gothic" panose="020B0502020202020204" pitchFamily="34" charset="0"/>
              </a:rPr>
              <a:t>pygame.time.Clock</a:t>
            </a:r>
            <a:r>
              <a:rPr lang="en-US" sz="2000" b="1" dirty="0">
                <a:latin typeface="Century Gothic" panose="020B0502020202020204" pitchFamily="34" charset="0"/>
              </a:rPr>
              <a:t>:</a:t>
            </a:r>
            <a:r>
              <a:rPr lang="en-US" sz="2000" dirty="0">
                <a:latin typeface="Century Gothic" panose="020B0502020202020204" pitchFamily="34" charset="0"/>
              </a:rPr>
              <a:t> create a clock object which can be used to keep track of time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8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69378" y="464957"/>
            <a:ext cx="2374629" cy="682908"/>
          </a:xfrm>
          <a:custGeom>
            <a:avLst/>
            <a:gdLst/>
            <a:ahLst/>
            <a:cxnLst/>
            <a:rect l="l" t="t" r="r" b="b"/>
            <a:pathLst>
              <a:path w="2374629" h="682908" fill="none" extrusionOk="0">
                <a:moveTo>
                  <a:pt x="0" y="0"/>
                </a:moveTo>
                <a:cubicBezTo>
                  <a:pt x="131428" y="-36206"/>
                  <a:pt x="429568" y="49038"/>
                  <a:pt x="593657" y="0"/>
                </a:cubicBezTo>
                <a:cubicBezTo>
                  <a:pt x="757746" y="-49038"/>
                  <a:pt x="1097918" y="53842"/>
                  <a:pt x="1234807" y="0"/>
                </a:cubicBezTo>
                <a:cubicBezTo>
                  <a:pt x="1371696" y="-53842"/>
                  <a:pt x="2054204" y="66126"/>
                  <a:pt x="2374629" y="0"/>
                </a:cubicBezTo>
                <a:cubicBezTo>
                  <a:pt x="2405002" y="162524"/>
                  <a:pt x="2371205" y="264958"/>
                  <a:pt x="2374629" y="334625"/>
                </a:cubicBezTo>
                <a:cubicBezTo>
                  <a:pt x="2378053" y="404292"/>
                  <a:pt x="2347794" y="576645"/>
                  <a:pt x="2374629" y="682908"/>
                </a:cubicBezTo>
                <a:cubicBezTo>
                  <a:pt x="2238559" y="706138"/>
                  <a:pt x="2022244" y="650700"/>
                  <a:pt x="1757225" y="682908"/>
                </a:cubicBezTo>
                <a:cubicBezTo>
                  <a:pt x="1492206" y="715116"/>
                  <a:pt x="1476653" y="629947"/>
                  <a:pt x="1234807" y="682908"/>
                </a:cubicBezTo>
                <a:cubicBezTo>
                  <a:pt x="992961" y="735869"/>
                  <a:pt x="919868" y="629849"/>
                  <a:pt x="712389" y="682908"/>
                </a:cubicBezTo>
                <a:cubicBezTo>
                  <a:pt x="504910" y="735967"/>
                  <a:pt x="305855" y="663304"/>
                  <a:pt x="0" y="682908"/>
                </a:cubicBezTo>
                <a:cubicBezTo>
                  <a:pt x="-18065" y="557586"/>
                  <a:pt x="6995" y="450320"/>
                  <a:pt x="0" y="348283"/>
                </a:cubicBezTo>
                <a:cubicBezTo>
                  <a:pt x="-6995" y="246247"/>
                  <a:pt x="2488" y="107054"/>
                  <a:pt x="0" y="0"/>
                </a:cubicBezTo>
                <a:close/>
              </a:path>
              <a:path w="2374629" h="682908" extrusionOk="0">
                <a:moveTo>
                  <a:pt x="0" y="0"/>
                </a:moveTo>
                <a:cubicBezTo>
                  <a:pt x="311661" y="-61020"/>
                  <a:pt x="325144" y="53203"/>
                  <a:pt x="641150" y="0"/>
                </a:cubicBezTo>
                <a:cubicBezTo>
                  <a:pt x="957156" y="-53203"/>
                  <a:pt x="959195" y="19220"/>
                  <a:pt x="1234807" y="0"/>
                </a:cubicBezTo>
                <a:cubicBezTo>
                  <a:pt x="1510419" y="-19220"/>
                  <a:pt x="1584655" y="38722"/>
                  <a:pt x="1780972" y="0"/>
                </a:cubicBezTo>
                <a:cubicBezTo>
                  <a:pt x="1977289" y="-38722"/>
                  <a:pt x="2190607" y="69537"/>
                  <a:pt x="2374629" y="0"/>
                </a:cubicBezTo>
                <a:cubicBezTo>
                  <a:pt x="2385325" y="132255"/>
                  <a:pt x="2363129" y="182532"/>
                  <a:pt x="2374629" y="341454"/>
                </a:cubicBezTo>
                <a:cubicBezTo>
                  <a:pt x="2386129" y="500376"/>
                  <a:pt x="2370081" y="556976"/>
                  <a:pt x="2374629" y="682908"/>
                </a:cubicBezTo>
                <a:cubicBezTo>
                  <a:pt x="2124574" y="704019"/>
                  <a:pt x="1976947" y="673626"/>
                  <a:pt x="1780972" y="682908"/>
                </a:cubicBezTo>
                <a:cubicBezTo>
                  <a:pt x="1584997" y="692190"/>
                  <a:pt x="1379907" y="658257"/>
                  <a:pt x="1258553" y="682908"/>
                </a:cubicBezTo>
                <a:cubicBezTo>
                  <a:pt x="1137199" y="707559"/>
                  <a:pt x="917106" y="632366"/>
                  <a:pt x="712389" y="682908"/>
                </a:cubicBezTo>
                <a:cubicBezTo>
                  <a:pt x="507672" y="733450"/>
                  <a:pt x="205418" y="628160"/>
                  <a:pt x="0" y="682908"/>
                </a:cubicBezTo>
                <a:cubicBezTo>
                  <a:pt x="-31526" y="607460"/>
                  <a:pt x="16314" y="448776"/>
                  <a:pt x="0" y="361941"/>
                </a:cubicBezTo>
                <a:cubicBezTo>
                  <a:pt x="-16314" y="275106"/>
                  <a:pt x="37469" y="142419"/>
                  <a:pt x="0" y="0"/>
                </a:cubicBezTo>
                <a:close/>
              </a:path>
            </a:pathLst>
          </a:custGeom>
          <a:noFill/>
          <a:ln w="28575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CAA6D7-E7EC-E3D4-BFE3-90E3C9F1690C}"/>
              </a:ext>
            </a:extLst>
          </p:cNvPr>
          <p:cNvSpPr txBox="1"/>
          <p:nvPr/>
        </p:nvSpPr>
        <p:spPr>
          <a:xfrm>
            <a:off x="1085850" y="529839"/>
            <a:ext cx="4895892" cy="584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1. import pygame</a:t>
            </a:r>
          </a:p>
          <a:p>
            <a:r>
              <a:rPr lang="en-US" sz="2000" dirty="0"/>
              <a:t>2. </a:t>
            </a:r>
          </a:p>
          <a:p>
            <a:r>
              <a:rPr lang="en-US" sz="2000" dirty="0"/>
              <a:t>3. pygame.init()</a:t>
            </a:r>
          </a:p>
          <a:p>
            <a:r>
              <a:rPr lang="en-US" sz="2000" dirty="0"/>
              <a:t>4. </a:t>
            </a:r>
          </a:p>
          <a:p>
            <a:r>
              <a:rPr lang="en-US" sz="2000" dirty="0"/>
              <a:t>5. i=0</a:t>
            </a:r>
          </a:p>
          <a:p>
            <a:r>
              <a:rPr lang="en-US" sz="2000" dirty="0"/>
              <a:t>6. while i&lt;5:</a:t>
            </a:r>
          </a:p>
          <a:p>
            <a:r>
              <a:rPr lang="en-US" sz="2000" dirty="0"/>
              <a:t>7. 	</a:t>
            </a:r>
          </a:p>
          <a:p>
            <a:r>
              <a:rPr lang="en-US" sz="2000" dirty="0"/>
              <a:t>8. 	</a:t>
            </a:r>
            <a:r>
              <a:rPr lang="en-US" sz="200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# storing the time in ticks variable</a:t>
            </a:r>
          </a:p>
          <a:p>
            <a:r>
              <a:rPr lang="en-US" sz="2000" dirty="0"/>
              <a:t>9. 	ticks = pygame.time.get_ticks()</a:t>
            </a:r>
          </a:p>
          <a:p>
            <a:r>
              <a:rPr lang="en-US" sz="2000" dirty="0"/>
              <a:t>10. 	</a:t>
            </a:r>
          </a:p>
          <a:p>
            <a:r>
              <a:rPr lang="en-US" sz="2000" dirty="0"/>
              <a:t>11. 	</a:t>
            </a:r>
            <a:r>
              <a:rPr lang="en-US" sz="200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# printing the variable ticks</a:t>
            </a:r>
          </a:p>
          <a:p>
            <a:r>
              <a:rPr lang="en-US" sz="2000" dirty="0"/>
              <a:t>12. 	print(ticks)</a:t>
            </a:r>
          </a:p>
          <a:p>
            <a:r>
              <a:rPr lang="en-US" sz="2000" dirty="0"/>
              <a:t>13. 	</a:t>
            </a:r>
          </a:p>
          <a:p>
            <a:r>
              <a:rPr lang="en-US" sz="2000" dirty="0"/>
              <a:t>14. 	</a:t>
            </a:r>
            <a:r>
              <a:rPr lang="en-US" sz="200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# increasing the value of i by 1</a:t>
            </a:r>
          </a:p>
          <a:p>
            <a:r>
              <a:rPr lang="en-US" sz="2000" dirty="0"/>
              <a:t>15. 	i = i+1</a:t>
            </a:r>
          </a:p>
          <a:p>
            <a:r>
              <a:rPr lang="en-US" sz="2000" dirty="0"/>
              <a:t>16. 	</a:t>
            </a:r>
          </a:p>
          <a:p>
            <a:r>
              <a:rPr lang="en-US" sz="2000" dirty="0"/>
              <a:t>17. 	</a:t>
            </a:r>
            <a:r>
              <a:rPr lang="en-US" sz="200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# pausing the script for 1 second</a:t>
            </a:r>
          </a:p>
          <a:p>
            <a:r>
              <a:rPr lang="en-US" sz="2000" dirty="0"/>
              <a:t>18. 	pygame.time.wait(1000)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9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97990" y="350657"/>
            <a:ext cx="2374629" cy="682908"/>
          </a:xfrm>
          <a:custGeom>
            <a:avLst/>
            <a:gdLst/>
            <a:ahLst/>
            <a:cxnLst/>
            <a:rect l="l" t="t" r="r" b="b"/>
            <a:pathLst>
              <a:path w="2374629" h="682908" fill="none" extrusionOk="0">
                <a:moveTo>
                  <a:pt x="0" y="0"/>
                </a:moveTo>
                <a:cubicBezTo>
                  <a:pt x="131428" y="-36206"/>
                  <a:pt x="429568" y="49038"/>
                  <a:pt x="593657" y="0"/>
                </a:cubicBezTo>
                <a:cubicBezTo>
                  <a:pt x="757746" y="-49038"/>
                  <a:pt x="1097918" y="53842"/>
                  <a:pt x="1234807" y="0"/>
                </a:cubicBezTo>
                <a:cubicBezTo>
                  <a:pt x="1371696" y="-53842"/>
                  <a:pt x="2054204" y="66126"/>
                  <a:pt x="2374629" y="0"/>
                </a:cubicBezTo>
                <a:cubicBezTo>
                  <a:pt x="2405002" y="162524"/>
                  <a:pt x="2371205" y="264958"/>
                  <a:pt x="2374629" y="334625"/>
                </a:cubicBezTo>
                <a:cubicBezTo>
                  <a:pt x="2378053" y="404292"/>
                  <a:pt x="2347794" y="576645"/>
                  <a:pt x="2374629" y="682908"/>
                </a:cubicBezTo>
                <a:cubicBezTo>
                  <a:pt x="2238559" y="706138"/>
                  <a:pt x="2022244" y="650700"/>
                  <a:pt x="1757225" y="682908"/>
                </a:cubicBezTo>
                <a:cubicBezTo>
                  <a:pt x="1492206" y="715116"/>
                  <a:pt x="1476653" y="629947"/>
                  <a:pt x="1234807" y="682908"/>
                </a:cubicBezTo>
                <a:cubicBezTo>
                  <a:pt x="992961" y="735869"/>
                  <a:pt x="919868" y="629849"/>
                  <a:pt x="712389" y="682908"/>
                </a:cubicBezTo>
                <a:cubicBezTo>
                  <a:pt x="504910" y="735967"/>
                  <a:pt x="305855" y="663304"/>
                  <a:pt x="0" y="682908"/>
                </a:cubicBezTo>
                <a:cubicBezTo>
                  <a:pt x="-18065" y="557586"/>
                  <a:pt x="6995" y="450320"/>
                  <a:pt x="0" y="348283"/>
                </a:cubicBezTo>
                <a:cubicBezTo>
                  <a:pt x="-6995" y="246247"/>
                  <a:pt x="2488" y="107054"/>
                  <a:pt x="0" y="0"/>
                </a:cubicBezTo>
                <a:close/>
              </a:path>
              <a:path w="2374629" h="682908" extrusionOk="0">
                <a:moveTo>
                  <a:pt x="0" y="0"/>
                </a:moveTo>
                <a:cubicBezTo>
                  <a:pt x="311661" y="-61020"/>
                  <a:pt x="325144" y="53203"/>
                  <a:pt x="641150" y="0"/>
                </a:cubicBezTo>
                <a:cubicBezTo>
                  <a:pt x="957156" y="-53203"/>
                  <a:pt x="959195" y="19220"/>
                  <a:pt x="1234807" y="0"/>
                </a:cubicBezTo>
                <a:cubicBezTo>
                  <a:pt x="1510419" y="-19220"/>
                  <a:pt x="1584655" y="38722"/>
                  <a:pt x="1780972" y="0"/>
                </a:cubicBezTo>
                <a:cubicBezTo>
                  <a:pt x="1977289" y="-38722"/>
                  <a:pt x="2190607" y="69537"/>
                  <a:pt x="2374629" y="0"/>
                </a:cubicBezTo>
                <a:cubicBezTo>
                  <a:pt x="2385325" y="132255"/>
                  <a:pt x="2363129" y="182532"/>
                  <a:pt x="2374629" y="341454"/>
                </a:cubicBezTo>
                <a:cubicBezTo>
                  <a:pt x="2386129" y="500376"/>
                  <a:pt x="2370081" y="556976"/>
                  <a:pt x="2374629" y="682908"/>
                </a:cubicBezTo>
                <a:cubicBezTo>
                  <a:pt x="2124574" y="704019"/>
                  <a:pt x="1976947" y="673626"/>
                  <a:pt x="1780972" y="682908"/>
                </a:cubicBezTo>
                <a:cubicBezTo>
                  <a:pt x="1584997" y="692190"/>
                  <a:pt x="1379907" y="658257"/>
                  <a:pt x="1258553" y="682908"/>
                </a:cubicBezTo>
                <a:cubicBezTo>
                  <a:pt x="1137199" y="707559"/>
                  <a:pt x="917106" y="632366"/>
                  <a:pt x="712389" y="682908"/>
                </a:cubicBezTo>
                <a:cubicBezTo>
                  <a:pt x="507672" y="733450"/>
                  <a:pt x="205418" y="628160"/>
                  <a:pt x="0" y="682908"/>
                </a:cubicBezTo>
                <a:cubicBezTo>
                  <a:pt x="-31526" y="607460"/>
                  <a:pt x="16314" y="448776"/>
                  <a:pt x="0" y="361941"/>
                </a:cubicBezTo>
                <a:cubicBezTo>
                  <a:pt x="-16314" y="275106"/>
                  <a:pt x="37469" y="142419"/>
                  <a:pt x="0" y="0"/>
                </a:cubicBezTo>
                <a:close/>
              </a:path>
            </a:pathLst>
          </a:custGeom>
          <a:noFill/>
          <a:ln w="28575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53D30F-CC56-CA2E-308B-DFF3448F10C3}"/>
              </a:ext>
            </a:extLst>
          </p:cNvPr>
          <p:cNvSpPr txBox="1"/>
          <p:nvPr/>
        </p:nvSpPr>
        <p:spPr>
          <a:xfrm>
            <a:off x="3171828" y="316870"/>
            <a:ext cx="45320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entury Gothic" panose="020B0502020202020204" pitchFamily="34" charset="0"/>
              </a:rPr>
              <a:t>pygame</a:t>
            </a:r>
            <a:r>
              <a:rPr lang="en-US" sz="4800" dirty="0">
                <a:latin typeface="Century Gothic" panose="020B0502020202020204" pitchFamily="34" charset="0"/>
              </a:rPr>
              <a:t> </a:t>
            </a:r>
            <a:r>
              <a:rPr lang="en-US" sz="4000" dirty="0">
                <a:latin typeface="Century Gothic" panose="020B0502020202020204" pitchFamily="34" charset="0"/>
              </a:rPr>
              <a:t>drawing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AA9F9E-05F6-5368-BA9E-C8219E562FC3}"/>
              </a:ext>
            </a:extLst>
          </p:cNvPr>
          <p:cNvSpPr txBox="1"/>
          <p:nvPr/>
        </p:nvSpPr>
        <p:spPr>
          <a:xfrm>
            <a:off x="1443038" y="1828800"/>
            <a:ext cx="7989688" cy="3508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pygame.draw.polygon</a:t>
            </a:r>
            <a:r>
              <a:rPr lang="en-US" sz="2000" dirty="0"/>
              <a:t>(surface, color, </a:t>
            </a:r>
            <a:r>
              <a:rPr lang="en-US" sz="2000" dirty="0" err="1"/>
              <a:t>pointlist</a:t>
            </a:r>
            <a:r>
              <a:rPr lang="en-US" sz="2000" dirty="0"/>
              <a:t>, thickness) </a:t>
            </a:r>
          </a:p>
          <a:p>
            <a:r>
              <a:rPr lang="en-US" sz="200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     </a:t>
            </a:r>
            <a:r>
              <a:rPr lang="en-US" sz="20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thickness of line parameter is optional. 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pygame.draw.line</a:t>
            </a:r>
            <a:r>
              <a:rPr lang="en-US" sz="2000" dirty="0"/>
              <a:t>(surface, color, start point, end point, thickness) 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pygame.draw.circle</a:t>
            </a:r>
            <a:r>
              <a:rPr lang="en-US" sz="2000" dirty="0"/>
              <a:t>(surface, color, center point, radius, thickness) 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pygame.draw.rect</a:t>
            </a:r>
            <a:r>
              <a:rPr lang="en-US" sz="2000" dirty="0"/>
              <a:t>(surface, color, rectangle tuple, thickness) </a:t>
            </a:r>
          </a:p>
          <a:p>
            <a:r>
              <a:rPr lang="en-US" sz="2000" dirty="0"/>
              <a:t> </a:t>
            </a:r>
          </a:p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9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97990" y="350657"/>
            <a:ext cx="2374629" cy="682908"/>
          </a:xfrm>
          <a:custGeom>
            <a:avLst/>
            <a:gdLst/>
            <a:ahLst/>
            <a:cxnLst/>
            <a:rect l="l" t="t" r="r" b="b"/>
            <a:pathLst>
              <a:path w="2374629" h="682908" fill="none" extrusionOk="0">
                <a:moveTo>
                  <a:pt x="0" y="0"/>
                </a:moveTo>
                <a:cubicBezTo>
                  <a:pt x="131428" y="-36206"/>
                  <a:pt x="429568" y="49038"/>
                  <a:pt x="593657" y="0"/>
                </a:cubicBezTo>
                <a:cubicBezTo>
                  <a:pt x="757746" y="-49038"/>
                  <a:pt x="1097918" y="53842"/>
                  <a:pt x="1234807" y="0"/>
                </a:cubicBezTo>
                <a:cubicBezTo>
                  <a:pt x="1371696" y="-53842"/>
                  <a:pt x="2054204" y="66126"/>
                  <a:pt x="2374629" y="0"/>
                </a:cubicBezTo>
                <a:cubicBezTo>
                  <a:pt x="2405002" y="162524"/>
                  <a:pt x="2371205" y="264958"/>
                  <a:pt x="2374629" y="334625"/>
                </a:cubicBezTo>
                <a:cubicBezTo>
                  <a:pt x="2378053" y="404292"/>
                  <a:pt x="2347794" y="576645"/>
                  <a:pt x="2374629" y="682908"/>
                </a:cubicBezTo>
                <a:cubicBezTo>
                  <a:pt x="2238559" y="706138"/>
                  <a:pt x="2022244" y="650700"/>
                  <a:pt x="1757225" y="682908"/>
                </a:cubicBezTo>
                <a:cubicBezTo>
                  <a:pt x="1492206" y="715116"/>
                  <a:pt x="1476653" y="629947"/>
                  <a:pt x="1234807" y="682908"/>
                </a:cubicBezTo>
                <a:cubicBezTo>
                  <a:pt x="992961" y="735869"/>
                  <a:pt x="919868" y="629849"/>
                  <a:pt x="712389" y="682908"/>
                </a:cubicBezTo>
                <a:cubicBezTo>
                  <a:pt x="504910" y="735967"/>
                  <a:pt x="305855" y="663304"/>
                  <a:pt x="0" y="682908"/>
                </a:cubicBezTo>
                <a:cubicBezTo>
                  <a:pt x="-18065" y="557586"/>
                  <a:pt x="6995" y="450320"/>
                  <a:pt x="0" y="348283"/>
                </a:cubicBezTo>
                <a:cubicBezTo>
                  <a:pt x="-6995" y="246247"/>
                  <a:pt x="2488" y="107054"/>
                  <a:pt x="0" y="0"/>
                </a:cubicBezTo>
                <a:close/>
              </a:path>
              <a:path w="2374629" h="682908" extrusionOk="0">
                <a:moveTo>
                  <a:pt x="0" y="0"/>
                </a:moveTo>
                <a:cubicBezTo>
                  <a:pt x="311661" y="-61020"/>
                  <a:pt x="325144" y="53203"/>
                  <a:pt x="641150" y="0"/>
                </a:cubicBezTo>
                <a:cubicBezTo>
                  <a:pt x="957156" y="-53203"/>
                  <a:pt x="959195" y="19220"/>
                  <a:pt x="1234807" y="0"/>
                </a:cubicBezTo>
                <a:cubicBezTo>
                  <a:pt x="1510419" y="-19220"/>
                  <a:pt x="1584655" y="38722"/>
                  <a:pt x="1780972" y="0"/>
                </a:cubicBezTo>
                <a:cubicBezTo>
                  <a:pt x="1977289" y="-38722"/>
                  <a:pt x="2190607" y="69537"/>
                  <a:pt x="2374629" y="0"/>
                </a:cubicBezTo>
                <a:cubicBezTo>
                  <a:pt x="2385325" y="132255"/>
                  <a:pt x="2363129" y="182532"/>
                  <a:pt x="2374629" y="341454"/>
                </a:cubicBezTo>
                <a:cubicBezTo>
                  <a:pt x="2386129" y="500376"/>
                  <a:pt x="2370081" y="556976"/>
                  <a:pt x="2374629" y="682908"/>
                </a:cubicBezTo>
                <a:cubicBezTo>
                  <a:pt x="2124574" y="704019"/>
                  <a:pt x="1976947" y="673626"/>
                  <a:pt x="1780972" y="682908"/>
                </a:cubicBezTo>
                <a:cubicBezTo>
                  <a:pt x="1584997" y="692190"/>
                  <a:pt x="1379907" y="658257"/>
                  <a:pt x="1258553" y="682908"/>
                </a:cubicBezTo>
                <a:cubicBezTo>
                  <a:pt x="1137199" y="707559"/>
                  <a:pt x="917106" y="632366"/>
                  <a:pt x="712389" y="682908"/>
                </a:cubicBezTo>
                <a:cubicBezTo>
                  <a:pt x="507672" y="733450"/>
                  <a:pt x="205418" y="628160"/>
                  <a:pt x="0" y="682908"/>
                </a:cubicBezTo>
                <a:cubicBezTo>
                  <a:pt x="-31526" y="607460"/>
                  <a:pt x="16314" y="448776"/>
                  <a:pt x="0" y="361941"/>
                </a:cubicBezTo>
                <a:cubicBezTo>
                  <a:pt x="-16314" y="275106"/>
                  <a:pt x="37469" y="142419"/>
                  <a:pt x="0" y="0"/>
                </a:cubicBezTo>
                <a:close/>
              </a:path>
            </a:pathLst>
          </a:custGeom>
          <a:noFill/>
          <a:ln w="28575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53D30F-CC56-CA2E-308B-DFF3448F10C3}"/>
              </a:ext>
            </a:extLst>
          </p:cNvPr>
          <p:cNvSpPr txBox="1"/>
          <p:nvPr/>
        </p:nvSpPr>
        <p:spPr>
          <a:xfrm>
            <a:off x="3171828" y="-26035"/>
            <a:ext cx="45320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entury Gothic" panose="020B0502020202020204" pitchFamily="34" charset="0"/>
              </a:rPr>
              <a:t>pygame</a:t>
            </a:r>
            <a:r>
              <a:rPr lang="en-US" sz="4800" dirty="0">
                <a:latin typeface="Century Gothic" panose="020B0502020202020204" pitchFamily="34" charset="0"/>
              </a:rPr>
              <a:t> </a:t>
            </a:r>
            <a:r>
              <a:rPr lang="en-US" sz="4000" dirty="0">
                <a:latin typeface="Century Gothic" panose="020B0502020202020204" pitchFamily="34" charset="0"/>
              </a:rPr>
              <a:t>drawing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848CD1-DD4E-1F0A-3A71-FC8A2DC22B38}"/>
              </a:ext>
            </a:extLst>
          </p:cNvPr>
          <p:cNvSpPr txBox="1"/>
          <p:nvPr/>
        </p:nvSpPr>
        <p:spPr>
          <a:xfrm>
            <a:off x="203579" y="943752"/>
            <a:ext cx="817842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import pygame </a:t>
            </a:r>
          </a:p>
          <a:p>
            <a:r>
              <a:rPr lang="en-US" dirty="0"/>
              <a:t>2. pygame.init() </a:t>
            </a:r>
          </a:p>
          <a:p>
            <a:r>
              <a:rPr lang="en-US" dirty="0"/>
              <a:t>3. </a:t>
            </a:r>
          </a:p>
          <a:p>
            <a:r>
              <a:rPr lang="en-US" dirty="0"/>
              <a:t>4. white = (255, 255, 255) </a:t>
            </a:r>
          </a:p>
          <a:p>
            <a:r>
              <a:rPr lang="en-US" dirty="0"/>
              <a:t>5. green = (0, 255, 0) </a:t>
            </a:r>
          </a:p>
          <a:p>
            <a:r>
              <a:rPr lang="en-US" dirty="0"/>
              <a:t>6. blue = (0, 0, 128) </a:t>
            </a:r>
          </a:p>
          <a:p>
            <a:r>
              <a:rPr lang="en-US" dirty="0"/>
              <a:t>7. black = (0, 0, 0) </a:t>
            </a:r>
          </a:p>
          <a:p>
            <a:r>
              <a:rPr lang="en-US" dirty="0"/>
              <a:t>8. red = (255, 0, 0) </a:t>
            </a:r>
          </a:p>
          <a:p>
            <a:r>
              <a:rPr lang="en-US" dirty="0"/>
              <a:t>9. </a:t>
            </a:r>
          </a:p>
          <a:p>
            <a:r>
              <a:rPr lang="en-US" dirty="0"/>
              <a:t>10. </a:t>
            </a:r>
            <a:r>
              <a:rPr lang="en-US" dirty="0" err="1"/>
              <a:t>display_surface</a:t>
            </a:r>
            <a:r>
              <a:rPr lang="en-US" dirty="0"/>
              <a:t> = </a:t>
            </a:r>
            <a:r>
              <a:rPr lang="en-US" dirty="0" err="1"/>
              <a:t>pygame.display.set_mode</a:t>
            </a:r>
            <a:r>
              <a:rPr lang="en-US" dirty="0"/>
              <a:t>((400, 400 )) </a:t>
            </a:r>
          </a:p>
          <a:p>
            <a:r>
              <a:rPr lang="en-US" dirty="0"/>
              <a:t>11. </a:t>
            </a:r>
            <a:r>
              <a:rPr lang="en-US" dirty="0" err="1"/>
              <a:t>pygame.display.set_caption</a:t>
            </a:r>
            <a:r>
              <a:rPr lang="en-US" dirty="0"/>
              <a:t>('Drawing’) </a:t>
            </a:r>
          </a:p>
          <a:p>
            <a:r>
              <a:rPr lang="en-US" dirty="0"/>
              <a:t>12. </a:t>
            </a:r>
            <a:r>
              <a:rPr lang="en-US" dirty="0" err="1"/>
              <a:t>display_surface.fill</a:t>
            </a:r>
            <a:r>
              <a:rPr lang="en-US" dirty="0"/>
              <a:t>(white) </a:t>
            </a:r>
          </a:p>
          <a:p>
            <a:r>
              <a:rPr lang="en-US" dirty="0"/>
              <a:t>13. </a:t>
            </a:r>
          </a:p>
          <a:p>
            <a:r>
              <a:rPr lang="en-US" dirty="0"/>
              <a:t>14. </a:t>
            </a:r>
            <a:r>
              <a:rPr lang="en-US" dirty="0" err="1"/>
              <a:t>pygame.draw.polygon</a:t>
            </a:r>
            <a:r>
              <a:rPr lang="en-US" dirty="0"/>
              <a:t>(</a:t>
            </a:r>
            <a:r>
              <a:rPr lang="en-US" dirty="0" err="1"/>
              <a:t>display_surface</a:t>
            </a:r>
            <a:r>
              <a:rPr lang="en-US" dirty="0"/>
              <a:t>, blue, [(146, 0), (291, 106), (236, 277), (56, 277), (0, 106)]) </a:t>
            </a:r>
          </a:p>
          <a:p>
            <a:r>
              <a:rPr lang="en-US" dirty="0"/>
              <a:t>15. </a:t>
            </a:r>
            <a:r>
              <a:rPr lang="en-US" dirty="0" err="1"/>
              <a:t>pygame.draw.line</a:t>
            </a:r>
            <a:r>
              <a:rPr lang="en-US" dirty="0"/>
              <a:t>(</a:t>
            </a:r>
            <a:r>
              <a:rPr lang="en-US" dirty="0" err="1"/>
              <a:t>display_surface</a:t>
            </a:r>
            <a:r>
              <a:rPr lang="en-US" dirty="0"/>
              <a:t>, green, (60, 300), (120, 300), 4) </a:t>
            </a:r>
          </a:p>
          <a:p>
            <a:r>
              <a:rPr lang="en-US" dirty="0"/>
              <a:t>16. </a:t>
            </a:r>
            <a:r>
              <a:rPr lang="en-US" dirty="0" err="1"/>
              <a:t>pygame.draw.circle</a:t>
            </a:r>
            <a:r>
              <a:rPr lang="en-US" dirty="0"/>
              <a:t>(</a:t>
            </a:r>
            <a:r>
              <a:rPr lang="en-US" dirty="0" err="1"/>
              <a:t>display_surface</a:t>
            </a:r>
            <a:r>
              <a:rPr lang="en-US" dirty="0"/>
              <a:t>, green, (300, 50), 20, 0) </a:t>
            </a:r>
          </a:p>
          <a:p>
            <a:r>
              <a:rPr lang="en-US" dirty="0"/>
              <a:t>17. </a:t>
            </a:r>
            <a:r>
              <a:rPr lang="en-US" dirty="0" err="1"/>
              <a:t>pygame.draw.ellipse</a:t>
            </a:r>
            <a:r>
              <a:rPr lang="en-US" dirty="0"/>
              <a:t>(</a:t>
            </a:r>
            <a:r>
              <a:rPr lang="en-US" dirty="0" err="1"/>
              <a:t>display_surface</a:t>
            </a:r>
            <a:r>
              <a:rPr lang="en-US" dirty="0"/>
              <a:t>, black, (300, 250, 40, 80), 1) </a:t>
            </a:r>
          </a:p>
          <a:p>
            <a:r>
              <a:rPr lang="en-US" dirty="0"/>
              <a:t>18. </a:t>
            </a:r>
            <a:r>
              <a:rPr lang="en-US" dirty="0" err="1"/>
              <a:t>pygame.draw.rect</a:t>
            </a:r>
            <a:r>
              <a:rPr lang="en-US" dirty="0"/>
              <a:t>(</a:t>
            </a:r>
            <a:r>
              <a:rPr lang="en-US" dirty="0" err="1"/>
              <a:t>display_surface</a:t>
            </a:r>
            <a:r>
              <a:rPr lang="en-US" dirty="0"/>
              <a:t>, black, (150, 300, 100, 50)) </a:t>
            </a:r>
          </a:p>
          <a:p>
            <a:r>
              <a:rPr lang="en-US" dirty="0"/>
              <a:t>19. </a:t>
            </a:r>
          </a:p>
          <a:p>
            <a:r>
              <a:rPr lang="en-US" dirty="0"/>
              <a:t>20. while True : </a:t>
            </a:r>
          </a:p>
          <a:p>
            <a:r>
              <a:rPr lang="en-US" dirty="0"/>
              <a:t>21. 	for event in </a:t>
            </a:r>
            <a:r>
              <a:rPr lang="en-US" dirty="0" err="1"/>
              <a:t>pygame.event.get</a:t>
            </a:r>
            <a:r>
              <a:rPr lang="en-US" dirty="0"/>
              <a:t>() : </a:t>
            </a:r>
          </a:p>
          <a:p>
            <a:r>
              <a:rPr lang="en-US" dirty="0"/>
              <a:t>22. 		if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pygame.QUIT</a:t>
            </a:r>
            <a:r>
              <a:rPr lang="en-US" dirty="0"/>
              <a:t> : </a:t>
            </a:r>
          </a:p>
          <a:p>
            <a:r>
              <a:rPr lang="en-US" dirty="0"/>
              <a:t>23. 			</a:t>
            </a:r>
            <a:r>
              <a:rPr lang="en-US" dirty="0" err="1"/>
              <a:t>pygame.quit</a:t>
            </a:r>
            <a:r>
              <a:rPr lang="en-US" dirty="0"/>
              <a:t>() </a:t>
            </a:r>
          </a:p>
          <a:p>
            <a:r>
              <a:rPr lang="en-US" dirty="0"/>
              <a:t>24. 			quit() </a:t>
            </a:r>
          </a:p>
          <a:p>
            <a:r>
              <a:rPr lang="en-US" dirty="0"/>
              <a:t>25. 	</a:t>
            </a:r>
            <a:r>
              <a:rPr lang="en-US" dirty="0" err="1"/>
              <a:t>pygame.display.update</a:t>
            </a:r>
            <a:r>
              <a:rPr lang="en-US" dirty="0"/>
              <a:t>()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C641D4-8070-8012-EEFB-100F59F21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9" y="1837552"/>
            <a:ext cx="36957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693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6A69E9-9877-D9A6-2A1C-7AE297ACEAB9}"/>
              </a:ext>
            </a:extLst>
          </p:cNvPr>
          <p:cNvSpPr txBox="1"/>
          <p:nvPr/>
        </p:nvSpPr>
        <p:spPr>
          <a:xfrm>
            <a:off x="3429001" y="242887"/>
            <a:ext cx="40975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entury Gothic" panose="020B0502020202020204" pitchFamily="34" charset="0"/>
              </a:rPr>
              <a:t>pygame events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A7EBA9-4AD2-53A9-F22F-BFDDF010D19B}"/>
              </a:ext>
            </a:extLst>
          </p:cNvPr>
          <p:cNvSpPr txBox="1"/>
          <p:nvPr/>
        </p:nvSpPr>
        <p:spPr>
          <a:xfrm>
            <a:off x="732229" y="1209257"/>
            <a:ext cx="609361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1. import pygame</a:t>
            </a:r>
          </a:p>
          <a:p>
            <a:r>
              <a:rPr lang="en-US" sz="1600" dirty="0"/>
              <a:t>2. </a:t>
            </a:r>
          </a:p>
          <a:p>
            <a:r>
              <a:rPr lang="en-US" sz="1600" dirty="0"/>
              <a:t>3. import sys</a:t>
            </a:r>
          </a:p>
          <a:p>
            <a:r>
              <a:rPr lang="en-US" sz="1600" dirty="0"/>
              <a:t>4. </a:t>
            </a:r>
          </a:p>
          <a:p>
            <a:r>
              <a:rPr lang="en-US" sz="1600" dirty="0"/>
              <a:t>5. pygame.init()</a:t>
            </a:r>
          </a:p>
          <a:p>
            <a:r>
              <a:rPr lang="en-US" sz="1600" dirty="0"/>
              <a:t>6. </a:t>
            </a:r>
          </a:p>
          <a:p>
            <a:r>
              <a:rPr lang="en-US" sz="1600" dirty="0"/>
              <a:t>7. display = </a:t>
            </a:r>
            <a:r>
              <a:rPr lang="en-US" sz="1600" dirty="0" err="1"/>
              <a:t>pygame.display.set_mode</a:t>
            </a:r>
            <a:r>
              <a:rPr lang="en-US" sz="1600" dirty="0"/>
              <a:t>((300, 300))</a:t>
            </a:r>
          </a:p>
          <a:p>
            <a:r>
              <a:rPr lang="en-US" sz="1600" dirty="0"/>
              <a:t>8. </a:t>
            </a:r>
          </a:p>
          <a:p>
            <a:r>
              <a:rPr lang="en-US" sz="1600" dirty="0"/>
              <a:t>9. while True:</a:t>
            </a:r>
          </a:p>
          <a:p>
            <a:r>
              <a:rPr lang="en-US" sz="1600" dirty="0"/>
              <a:t>10. 	</a:t>
            </a:r>
          </a:p>
          <a:p>
            <a:r>
              <a:rPr lang="en-US" sz="1600" dirty="0"/>
              <a:t>11. 	for event in </a:t>
            </a:r>
            <a:r>
              <a:rPr lang="en-US" sz="1600" dirty="0" err="1"/>
              <a:t>pygame.event.get</a:t>
            </a:r>
            <a:r>
              <a:rPr lang="en-US" sz="1600" dirty="0"/>
              <a:t>():</a:t>
            </a:r>
          </a:p>
          <a:p>
            <a:r>
              <a:rPr lang="en-US" sz="1600" dirty="0"/>
              <a:t>12. 		if </a:t>
            </a:r>
            <a:r>
              <a:rPr lang="en-US" sz="1600" dirty="0" err="1"/>
              <a:t>event.type</a:t>
            </a:r>
            <a:r>
              <a:rPr lang="en-US" sz="1600" dirty="0"/>
              <a:t> == </a:t>
            </a:r>
            <a:r>
              <a:rPr lang="en-US" sz="1600" dirty="0" err="1"/>
              <a:t>pygame.QUIT</a:t>
            </a:r>
            <a:r>
              <a:rPr lang="en-US" sz="1600" dirty="0"/>
              <a:t>:</a:t>
            </a:r>
          </a:p>
          <a:p>
            <a:r>
              <a:rPr lang="en-US" sz="1600" dirty="0"/>
              <a:t>13. 			</a:t>
            </a:r>
            <a:r>
              <a:rPr lang="en-US" sz="1600" dirty="0" err="1"/>
              <a:t>pygame.quit</a:t>
            </a:r>
            <a:r>
              <a:rPr lang="en-US" sz="1600" dirty="0"/>
              <a:t>()</a:t>
            </a:r>
          </a:p>
          <a:p>
            <a:r>
              <a:rPr lang="en-US" sz="1600" dirty="0"/>
              <a:t>14. 			</a:t>
            </a:r>
            <a:r>
              <a:rPr lang="en-US" sz="1600" dirty="0" err="1"/>
              <a:t>sys.exit</a:t>
            </a:r>
            <a:r>
              <a:rPr lang="en-US" sz="1600" dirty="0"/>
              <a:t>()</a:t>
            </a:r>
          </a:p>
          <a:p>
            <a:r>
              <a:rPr lang="en-US" sz="1600" dirty="0"/>
              <a:t>15. 		</a:t>
            </a:r>
          </a:p>
          <a:p>
            <a:r>
              <a:rPr lang="en-US" sz="1600" dirty="0"/>
              <a:t>16.		</a:t>
            </a:r>
            <a:r>
              <a:rPr lang="en-US" sz="160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# checking if </a:t>
            </a:r>
            <a:r>
              <a:rPr lang="en-US" sz="1600" dirty="0" err="1">
                <a:solidFill>
                  <a:schemeClr val="bg2">
                    <a:lumMod val="25000"/>
                    <a:lumOff val="75000"/>
                  </a:schemeClr>
                </a:solidFill>
              </a:rPr>
              <a:t>keydown</a:t>
            </a:r>
            <a:r>
              <a:rPr lang="en-US" sz="160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 event happened or not</a:t>
            </a:r>
          </a:p>
          <a:p>
            <a:r>
              <a:rPr lang="en-US" sz="1600" dirty="0"/>
              <a:t>17.		if </a:t>
            </a:r>
            <a:r>
              <a:rPr lang="en-US" sz="1600" dirty="0" err="1"/>
              <a:t>event.type</a:t>
            </a:r>
            <a:r>
              <a:rPr lang="en-US" sz="1600" dirty="0"/>
              <a:t> == </a:t>
            </a:r>
            <a:r>
              <a:rPr lang="en-US" sz="1600" dirty="0" err="1"/>
              <a:t>pygame.KEYDOWN</a:t>
            </a:r>
            <a:r>
              <a:rPr lang="en-US" sz="1600" dirty="0"/>
              <a:t>:</a:t>
            </a:r>
          </a:p>
          <a:p>
            <a:r>
              <a:rPr lang="en-US" sz="1600" dirty="0"/>
              <a:t>18.		</a:t>
            </a:r>
          </a:p>
          <a:p>
            <a:r>
              <a:rPr lang="en-US" sz="1600" dirty="0"/>
              <a:t>19.			</a:t>
            </a:r>
            <a:r>
              <a:rPr lang="en-US" sz="160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# if </a:t>
            </a:r>
            <a:r>
              <a:rPr lang="en-US" sz="1600" dirty="0" err="1">
                <a:solidFill>
                  <a:schemeClr val="bg2">
                    <a:lumMod val="25000"/>
                    <a:lumOff val="75000"/>
                  </a:schemeClr>
                </a:solidFill>
              </a:rPr>
              <a:t>keydown</a:t>
            </a:r>
            <a:r>
              <a:rPr lang="en-US" sz="160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 event happened</a:t>
            </a:r>
          </a:p>
          <a:p>
            <a:r>
              <a:rPr lang="en-US" sz="1600" dirty="0">
                <a:solidFill>
                  <a:schemeClr val="tx1"/>
                </a:solidFill>
              </a:rPr>
              <a:t>20.</a:t>
            </a:r>
            <a:r>
              <a:rPr lang="en-US" sz="160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			# than printing a string to output</a:t>
            </a:r>
          </a:p>
          <a:p>
            <a:r>
              <a:rPr lang="en-US" sz="1600" dirty="0"/>
              <a:t>21.			print("A key has been pressed")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F620F7-12C7-B1D8-A886-187AE30CF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113" y="1280697"/>
            <a:ext cx="3773106" cy="4883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6A69E9-9877-D9A6-2A1C-7AE297ACEAB9}"/>
              </a:ext>
            </a:extLst>
          </p:cNvPr>
          <p:cNvSpPr txBox="1"/>
          <p:nvPr/>
        </p:nvSpPr>
        <p:spPr>
          <a:xfrm>
            <a:off x="3043235" y="242887"/>
            <a:ext cx="60740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entury Gothic" panose="020B0502020202020204" pitchFamily="34" charset="0"/>
              </a:rPr>
              <a:t>pygame custom events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688AC9-42AA-23DD-4A31-04DF5A05FF55}"/>
              </a:ext>
            </a:extLst>
          </p:cNvPr>
          <p:cNvSpPr txBox="1"/>
          <p:nvPr/>
        </p:nvSpPr>
        <p:spPr>
          <a:xfrm>
            <a:off x="1085851" y="1085850"/>
            <a:ext cx="1045190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entury Gothic" panose="020B0502020202020204" pitchFamily="34" charset="0"/>
              </a:rPr>
              <a:t>Although pygame comes with a set of events (</a:t>
            </a:r>
            <a:r>
              <a:rPr lang="en-US" sz="2000" dirty="0" err="1">
                <a:latin typeface="Century Gothic" panose="020B0502020202020204" pitchFamily="34" charset="0"/>
              </a:rPr>
              <a:t>Eg</a:t>
            </a:r>
            <a:r>
              <a:rPr lang="en-US" sz="2000" dirty="0">
                <a:latin typeface="Century Gothic" panose="020B0502020202020204" pitchFamily="34" charset="0"/>
              </a:rPr>
              <a:t>: KEYDOWN and KEYUP), it allows 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us to create our own additional custom events</a:t>
            </a:r>
            <a:r>
              <a:rPr lang="en-US" sz="2000" b="1" dirty="0">
                <a:latin typeface="Century Gothic" panose="020B0502020202020204" pitchFamily="34" charset="0"/>
              </a:rPr>
              <a:t> </a:t>
            </a:r>
            <a:r>
              <a:rPr lang="en-US" sz="2000" dirty="0">
                <a:latin typeface="Century Gothic" panose="020B0502020202020204" pitchFamily="34" charset="0"/>
              </a:rPr>
              <a:t>according to the requirements of 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our game.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DC7824-C534-7069-AE83-46DF64BE2DDB}"/>
              </a:ext>
            </a:extLst>
          </p:cNvPr>
          <p:cNvSpPr txBox="1"/>
          <p:nvPr/>
        </p:nvSpPr>
        <p:spPr>
          <a:xfrm>
            <a:off x="3592146" y="2361725"/>
            <a:ext cx="5439310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Here ADDITION and SUBTRACTION is the event name</a:t>
            </a:r>
          </a:p>
          <a:p>
            <a:r>
              <a:rPr lang="en-US" sz="1600" dirty="0"/>
              <a:t>ADDITION = </a:t>
            </a:r>
            <a:r>
              <a:rPr lang="en-US" sz="1600" dirty="0" err="1"/>
              <a:t>pygame.USEREVENT</a:t>
            </a:r>
            <a:r>
              <a:rPr lang="en-US" sz="1600" dirty="0"/>
              <a:t> + 1 </a:t>
            </a:r>
          </a:p>
          <a:p>
            <a:r>
              <a:rPr lang="en-US" sz="1600" dirty="0"/>
              <a:t>SUBTRACTION = </a:t>
            </a:r>
            <a:r>
              <a:rPr lang="en-US" sz="1600" dirty="0" err="1"/>
              <a:t>pygame.USEREVENT</a:t>
            </a:r>
            <a:r>
              <a:rPr lang="en-US" sz="1600" dirty="0"/>
              <a:t> + 2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E1B82A-90CE-9C05-ABD0-92961BF3DCD8}"/>
              </a:ext>
            </a:extLst>
          </p:cNvPr>
          <p:cNvSpPr txBox="1"/>
          <p:nvPr/>
        </p:nvSpPr>
        <p:spPr>
          <a:xfrm>
            <a:off x="1085851" y="3557587"/>
            <a:ext cx="6481261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Publishing our custom events can be done in two ways: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 </a:t>
            </a:r>
            <a:r>
              <a:rPr lang="en-US" sz="2000" b="1" dirty="0" err="1"/>
              <a:t>pygame.event.post</a:t>
            </a:r>
            <a:r>
              <a:rPr lang="en-US" sz="2000" b="1" dirty="0"/>
              <a:t>()</a:t>
            </a:r>
            <a:r>
              <a:rPr lang="en-US" sz="2000" dirty="0"/>
              <a:t> method.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 </a:t>
            </a:r>
            <a:r>
              <a:rPr lang="en-US" sz="2000" b="1" dirty="0" err="1"/>
              <a:t>pygame.time.set_timer</a:t>
            </a:r>
            <a:r>
              <a:rPr lang="en-US" sz="2000" b="1" dirty="0"/>
              <a:t>()</a:t>
            </a:r>
            <a:r>
              <a:rPr lang="en-US" sz="2000" dirty="0"/>
              <a:t> method.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738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C75CD-B4C8-7EC1-F587-483A569B3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79399"/>
            <a:ext cx="8429625" cy="649670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Using </a:t>
            </a:r>
            <a:r>
              <a:rPr lang="en-US" dirty="0" err="1">
                <a:effectLst/>
              </a:rPr>
              <a:t>pygame.event.post</a:t>
            </a:r>
            <a:r>
              <a:rPr lang="en-US" dirty="0">
                <a:effectLst/>
              </a:rPr>
              <a:t>() method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FE3EB6-BA3D-B43B-ECB7-824149C02094}"/>
              </a:ext>
            </a:extLst>
          </p:cNvPr>
          <p:cNvSpPr txBox="1"/>
          <p:nvPr/>
        </p:nvSpPr>
        <p:spPr>
          <a:xfrm>
            <a:off x="1157288" y="1285873"/>
            <a:ext cx="6588663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Step 1 – Convert event into event datatype of pygame </a:t>
            </a:r>
          </a:p>
          <a:p>
            <a:r>
              <a:rPr lang="en-US" sz="2000" dirty="0" err="1"/>
              <a:t>ADD_event</a:t>
            </a:r>
            <a:r>
              <a:rPr lang="en-US" sz="2000" dirty="0"/>
              <a:t> = </a:t>
            </a:r>
            <a:r>
              <a:rPr lang="en-US" sz="2000" dirty="0" err="1"/>
              <a:t>pygame.event.Event</a:t>
            </a:r>
            <a:r>
              <a:rPr lang="en-US" sz="2000" dirty="0"/>
              <a:t>(event)</a:t>
            </a:r>
          </a:p>
          <a:p>
            <a:endParaRPr lang="en-US" sz="2000" dirty="0">
              <a:solidFill>
                <a:schemeClr val="bg2">
                  <a:lumMod val="50000"/>
                  <a:lumOff val="50000"/>
                </a:schemeClr>
              </a:solidFill>
            </a:endParaRPr>
          </a:p>
          <a:p>
            <a:r>
              <a:rPr lang="en-US" sz="20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Step 2 – Post the event</a:t>
            </a:r>
          </a:p>
          <a:p>
            <a:r>
              <a:rPr lang="en-US" sz="2000" dirty="0" err="1"/>
              <a:t>pygame.event.post</a:t>
            </a:r>
            <a:r>
              <a:rPr lang="en-US" sz="2000" dirty="0"/>
              <a:t>(</a:t>
            </a:r>
            <a:r>
              <a:rPr lang="en-US" sz="2000" dirty="0" err="1"/>
              <a:t>ADD_event</a:t>
            </a:r>
            <a:r>
              <a:rPr lang="en-US" sz="2000" dirty="0"/>
              <a:t>)    </a:t>
            </a: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E0CA277-5D87-329A-FF13-5A4B589E2E67}"/>
              </a:ext>
            </a:extLst>
          </p:cNvPr>
          <p:cNvSpPr txBox="1">
            <a:spLocks/>
          </p:cNvSpPr>
          <p:nvPr/>
        </p:nvSpPr>
        <p:spPr>
          <a:xfrm>
            <a:off x="2305050" y="3725469"/>
            <a:ext cx="8277225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Using </a:t>
            </a:r>
            <a:r>
              <a:rPr lang="en-US" dirty="0" err="1"/>
              <a:t>pygame.event.timer</a:t>
            </a:r>
            <a:r>
              <a:rPr lang="en-US" dirty="0"/>
              <a:t>()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E5BC86-EB7D-375E-5D22-7CE721482280}"/>
              </a:ext>
            </a:extLst>
          </p:cNvPr>
          <p:cNvSpPr txBox="1"/>
          <p:nvPr/>
        </p:nvSpPr>
        <p:spPr>
          <a:xfrm>
            <a:off x="1443038" y="4572000"/>
            <a:ext cx="48510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</a:t>
            </a:r>
            <a:r>
              <a:rPr lang="en-US" sz="2000" dirty="0" err="1">
                <a:solidFill>
                  <a:schemeClr val="bg2">
                    <a:lumMod val="50000"/>
                    <a:lumOff val="50000"/>
                  </a:schemeClr>
                </a:solidFill>
              </a:rPr>
              <a:t>event_name</a:t>
            </a:r>
            <a:r>
              <a:rPr lang="en-US" sz="20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, time in </a:t>
            </a:r>
            <a:r>
              <a:rPr lang="en-US" sz="2000" dirty="0" err="1">
                <a:solidFill>
                  <a:schemeClr val="bg2">
                    <a:lumMod val="50000"/>
                    <a:lumOff val="50000"/>
                  </a:schemeClr>
                </a:solidFill>
              </a:rPr>
              <a:t>ms</a:t>
            </a:r>
            <a:endParaRPr lang="en-US" sz="2000" dirty="0">
              <a:solidFill>
                <a:schemeClr val="bg2">
                  <a:lumMod val="50000"/>
                  <a:lumOff val="50000"/>
                </a:schemeClr>
              </a:solidFill>
            </a:endParaRPr>
          </a:p>
          <a:p>
            <a:r>
              <a:rPr lang="en-US" sz="2000" dirty="0" err="1"/>
              <a:t>pygame.time.set_timer</a:t>
            </a:r>
            <a:r>
              <a:rPr lang="en-US" sz="2000" dirty="0"/>
              <a:t>(event, duration)  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812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9942E4-AABC-7CCC-58DF-DDFA3E1FE037}"/>
              </a:ext>
            </a:extLst>
          </p:cNvPr>
          <p:cNvSpPr txBox="1"/>
          <p:nvPr/>
        </p:nvSpPr>
        <p:spPr>
          <a:xfrm>
            <a:off x="823908" y="474345"/>
            <a:ext cx="463391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  import pygame </a:t>
            </a:r>
          </a:p>
          <a:p>
            <a:r>
              <a:rPr lang="en-US" dirty="0"/>
              <a:t>2.   pygame.init() </a:t>
            </a:r>
          </a:p>
          <a:p>
            <a:r>
              <a:rPr lang="en-US" dirty="0"/>
              <a:t>3.</a:t>
            </a:r>
          </a:p>
          <a:p>
            <a:r>
              <a:rPr lang="en-US" dirty="0"/>
              <a:t>4.   screen = </a:t>
            </a:r>
            <a:r>
              <a:rPr lang="en-US" dirty="0" err="1"/>
              <a:t>pygame.display.set_mode</a:t>
            </a:r>
            <a:r>
              <a:rPr lang="en-US" dirty="0"/>
              <a:t>((500, 500)) </a:t>
            </a:r>
          </a:p>
          <a:p>
            <a:r>
              <a:rPr lang="en-US" dirty="0"/>
              <a:t>5.   timer = </a:t>
            </a:r>
            <a:r>
              <a:rPr lang="en-US" dirty="0" err="1"/>
              <a:t>pygame.time.Clock</a:t>
            </a:r>
            <a:r>
              <a:rPr lang="en-US" dirty="0"/>
              <a:t>() </a:t>
            </a:r>
          </a:p>
          <a:p>
            <a:r>
              <a:rPr lang="en-US" dirty="0"/>
              <a:t>6.</a:t>
            </a:r>
          </a:p>
          <a:p>
            <a:r>
              <a:rPr lang="en-US" dirty="0"/>
              <a:t>7.   </a:t>
            </a:r>
            <a:r>
              <a:rPr lang="en-US" dirty="0" err="1"/>
              <a:t>pygame.display.set_caption</a:t>
            </a:r>
            <a:r>
              <a:rPr lang="en-US" dirty="0"/>
              <a:t>('Custom Events’) </a:t>
            </a:r>
          </a:p>
          <a:p>
            <a:r>
              <a:rPr lang="en-US" dirty="0"/>
              <a:t>8. </a:t>
            </a:r>
          </a:p>
          <a:p>
            <a:r>
              <a:rPr lang="en-US" dirty="0"/>
              <a:t>9.   WHITE = (255, 255, 255) </a:t>
            </a:r>
          </a:p>
          <a:p>
            <a:r>
              <a:rPr lang="en-US" dirty="0"/>
              <a:t>10. RED = (255, 0, 0) </a:t>
            </a:r>
          </a:p>
          <a:p>
            <a:r>
              <a:rPr lang="en-US" dirty="0"/>
              <a:t>11. GREEN = (0, 255, 0) </a:t>
            </a:r>
          </a:p>
          <a:p>
            <a:r>
              <a:rPr lang="en-US" dirty="0"/>
              <a:t>12. BLUE = (0, 0, 255) </a:t>
            </a:r>
          </a:p>
          <a:p>
            <a:r>
              <a:rPr lang="en-US" dirty="0"/>
              <a:t>13.</a:t>
            </a:r>
          </a:p>
          <a:p>
            <a:r>
              <a:rPr lang="en-US" dirty="0"/>
              <a:t>14. </a:t>
            </a:r>
            <a:r>
              <a:rPr lang="en-US" dirty="0" err="1"/>
              <a:t>bg_active_color</a:t>
            </a:r>
            <a:r>
              <a:rPr lang="en-US" dirty="0"/>
              <a:t> = WHITE </a:t>
            </a:r>
          </a:p>
          <a:p>
            <a:r>
              <a:rPr lang="en-US" dirty="0"/>
              <a:t>15. </a:t>
            </a:r>
            <a:r>
              <a:rPr lang="en-US" dirty="0" err="1"/>
              <a:t>screen.fill</a:t>
            </a:r>
            <a:r>
              <a:rPr lang="en-US" dirty="0"/>
              <a:t>(WHITE) </a:t>
            </a:r>
          </a:p>
          <a:p>
            <a:r>
              <a:rPr lang="en-US" dirty="0"/>
              <a:t>16.</a:t>
            </a:r>
          </a:p>
          <a:p>
            <a:r>
              <a:rPr lang="en-US" dirty="0"/>
              <a:t>17. 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custom user event to change color </a:t>
            </a:r>
          </a:p>
          <a:p>
            <a:r>
              <a:rPr lang="en-US" dirty="0"/>
              <a:t>18. CHANGE_COLOR = </a:t>
            </a:r>
            <a:r>
              <a:rPr lang="en-US" dirty="0" err="1"/>
              <a:t>pygame.USEREVENT</a:t>
            </a:r>
            <a:r>
              <a:rPr lang="en-US" dirty="0"/>
              <a:t> + 1</a:t>
            </a:r>
          </a:p>
          <a:p>
            <a:r>
              <a:rPr lang="en-US" dirty="0"/>
              <a:t>19.</a:t>
            </a:r>
          </a:p>
          <a:p>
            <a:r>
              <a:rPr lang="en-US" dirty="0"/>
              <a:t>20. 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custom user event to inflate </a:t>
            </a:r>
            <a:r>
              <a:rPr lang="en-US" dirty="0" err="1">
                <a:solidFill>
                  <a:schemeClr val="bg2">
                    <a:lumMod val="50000"/>
                    <a:lumOff val="50000"/>
                  </a:schemeClr>
                </a:solidFill>
              </a:rPr>
              <a:t>defalte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 box </a:t>
            </a:r>
          </a:p>
          <a:p>
            <a:r>
              <a:rPr lang="en-US" dirty="0"/>
              <a:t>21. ON_BOX = </a:t>
            </a:r>
            <a:r>
              <a:rPr lang="en-US" dirty="0" err="1"/>
              <a:t>pygame.USEREVENT</a:t>
            </a:r>
            <a:r>
              <a:rPr lang="en-US" dirty="0"/>
              <a:t> + 2</a:t>
            </a:r>
          </a:p>
          <a:p>
            <a:r>
              <a:rPr lang="en-US" dirty="0"/>
              <a:t>22.</a:t>
            </a:r>
          </a:p>
          <a:p>
            <a:r>
              <a:rPr lang="en-US" dirty="0"/>
              <a:t>23. box = </a:t>
            </a:r>
            <a:r>
              <a:rPr lang="en-US" dirty="0" err="1"/>
              <a:t>pygame.Rect</a:t>
            </a:r>
            <a:r>
              <a:rPr lang="en-US" dirty="0"/>
              <a:t>((225, 225, 50, 50)) </a:t>
            </a:r>
          </a:p>
          <a:p>
            <a:r>
              <a:rPr lang="en-US" dirty="0"/>
              <a:t>24. grow = True</a:t>
            </a:r>
          </a:p>
          <a:p>
            <a:r>
              <a:rPr lang="en-US" dirty="0"/>
              <a:t>25.</a:t>
            </a:r>
          </a:p>
          <a:p>
            <a:r>
              <a:rPr lang="en-US" dirty="0"/>
              <a:t>26. 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posting a event to switch color after every 500ms</a:t>
            </a:r>
            <a:r>
              <a:rPr lang="en-US" dirty="0"/>
              <a:t> </a:t>
            </a:r>
          </a:p>
          <a:p>
            <a:r>
              <a:rPr lang="en-US" dirty="0"/>
              <a:t>27.  </a:t>
            </a:r>
            <a:r>
              <a:rPr lang="en-US" dirty="0" err="1"/>
              <a:t>pygame.time.set_timer</a:t>
            </a:r>
            <a:r>
              <a:rPr lang="en-US" dirty="0"/>
              <a:t>(CHANGE_COLOR, 500)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84E599-7D46-8760-88AC-A646B4F9504D}"/>
              </a:ext>
            </a:extLst>
          </p:cNvPr>
          <p:cNvSpPr txBox="1"/>
          <p:nvPr/>
        </p:nvSpPr>
        <p:spPr>
          <a:xfrm>
            <a:off x="6096000" y="474345"/>
            <a:ext cx="5272092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28. running = True</a:t>
            </a:r>
          </a:p>
          <a:p>
            <a:r>
              <a:rPr lang="en-US" dirty="0"/>
              <a:t>29. while running: </a:t>
            </a:r>
          </a:p>
          <a:p>
            <a:r>
              <a:rPr lang="en-US" dirty="0"/>
              <a:t>30.	</a:t>
            </a:r>
          </a:p>
          <a:p>
            <a:r>
              <a:rPr lang="en-US" dirty="0"/>
              <a:t>31.    for event in </a:t>
            </a:r>
            <a:r>
              <a:rPr lang="en-US" dirty="0" err="1"/>
              <a:t>pygame.event.get</a:t>
            </a:r>
            <a:r>
              <a:rPr lang="en-US" dirty="0"/>
              <a:t>(): </a:t>
            </a:r>
          </a:p>
          <a:p>
            <a:r>
              <a:rPr lang="en-US" dirty="0"/>
              <a:t>32.		</a:t>
            </a:r>
          </a:p>
          <a:p>
            <a:r>
              <a:rPr lang="en-US" dirty="0"/>
              <a:t>33.	if </a:t>
            </a:r>
            <a:r>
              <a:rPr lang="en-US" dirty="0" err="1"/>
              <a:t>event.type</a:t>
            </a:r>
            <a:r>
              <a:rPr lang="en-US" dirty="0"/>
              <a:t> == CHANGE_COLOR: </a:t>
            </a:r>
          </a:p>
          <a:p>
            <a:r>
              <a:rPr lang="en-US" dirty="0"/>
              <a:t>34.		if </a:t>
            </a:r>
            <a:r>
              <a:rPr lang="en-US" dirty="0" err="1"/>
              <a:t>bg_active_color</a:t>
            </a:r>
            <a:r>
              <a:rPr lang="en-US" dirty="0"/>
              <a:t> == GREEN: </a:t>
            </a:r>
          </a:p>
          <a:p>
            <a:r>
              <a:rPr lang="en-US" dirty="0"/>
              <a:t>35.			</a:t>
            </a:r>
            <a:r>
              <a:rPr lang="en-US" dirty="0" err="1"/>
              <a:t>screen.fill</a:t>
            </a:r>
            <a:r>
              <a:rPr lang="en-US" dirty="0"/>
              <a:t>(GREEN) </a:t>
            </a:r>
          </a:p>
          <a:p>
            <a:r>
              <a:rPr lang="en-US" dirty="0"/>
              <a:t>36.			</a:t>
            </a:r>
            <a:r>
              <a:rPr lang="en-US" dirty="0" err="1"/>
              <a:t>bg_active_color</a:t>
            </a:r>
            <a:r>
              <a:rPr lang="en-US" dirty="0"/>
              <a:t> = WHITE </a:t>
            </a:r>
          </a:p>
          <a:p>
            <a:r>
              <a:rPr lang="en-US" dirty="0"/>
              <a:t>37.		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bg_active_color</a:t>
            </a:r>
            <a:r>
              <a:rPr lang="en-US" dirty="0"/>
              <a:t> == WHITE: </a:t>
            </a:r>
          </a:p>
          <a:p>
            <a:r>
              <a:rPr lang="en-US" dirty="0"/>
              <a:t>38.			</a:t>
            </a:r>
            <a:r>
              <a:rPr lang="en-US" dirty="0" err="1"/>
              <a:t>screen.fill</a:t>
            </a:r>
            <a:r>
              <a:rPr lang="en-US" dirty="0"/>
              <a:t>(WHITE) </a:t>
            </a:r>
          </a:p>
          <a:p>
            <a:r>
              <a:rPr lang="en-US" dirty="0"/>
              <a:t>39.			</a:t>
            </a:r>
            <a:r>
              <a:rPr lang="en-US" dirty="0" err="1"/>
              <a:t>bg_active_color</a:t>
            </a:r>
            <a:r>
              <a:rPr lang="en-US" dirty="0"/>
              <a:t> = GREEN </a:t>
            </a:r>
          </a:p>
          <a:p>
            <a:r>
              <a:rPr lang="en-US" dirty="0"/>
              <a:t>40.</a:t>
            </a:r>
          </a:p>
          <a:p>
            <a:r>
              <a:rPr lang="en-US" dirty="0"/>
              <a:t>41.	if </a:t>
            </a:r>
            <a:r>
              <a:rPr lang="en-US" dirty="0" err="1"/>
              <a:t>event.type</a:t>
            </a:r>
            <a:r>
              <a:rPr lang="en-US" dirty="0"/>
              <a:t> == ON_BOX: </a:t>
            </a:r>
          </a:p>
          <a:p>
            <a:r>
              <a:rPr lang="en-US" dirty="0"/>
              <a:t>42. 			</a:t>
            </a:r>
          </a:p>
          <a:p>
            <a:r>
              <a:rPr lang="en-US" dirty="0"/>
              <a:t>43.	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to inflate and deflate box </a:t>
            </a:r>
          </a:p>
          <a:p>
            <a:r>
              <a:rPr lang="en-US" dirty="0"/>
              <a:t>44.		if grow: </a:t>
            </a:r>
          </a:p>
          <a:p>
            <a:r>
              <a:rPr lang="en-US" dirty="0"/>
              <a:t>45.			</a:t>
            </a:r>
            <a:r>
              <a:rPr lang="en-US" dirty="0" err="1"/>
              <a:t>box.inflate_ip</a:t>
            </a:r>
            <a:r>
              <a:rPr lang="en-US" dirty="0"/>
              <a:t>(3, 3) </a:t>
            </a:r>
          </a:p>
          <a:p>
            <a:r>
              <a:rPr lang="en-US" dirty="0"/>
              <a:t>46.			grow = </a:t>
            </a:r>
            <a:r>
              <a:rPr lang="en-US" dirty="0" err="1"/>
              <a:t>box.width</a:t>
            </a:r>
            <a:r>
              <a:rPr lang="en-US" dirty="0"/>
              <a:t> &lt; 75</a:t>
            </a:r>
          </a:p>
          <a:p>
            <a:r>
              <a:rPr lang="en-US" dirty="0"/>
              <a:t>47.		else: </a:t>
            </a:r>
          </a:p>
          <a:p>
            <a:r>
              <a:rPr lang="en-US" dirty="0"/>
              <a:t>48.			</a:t>
            </a:r>
            <a:r>
              <a:rPr lang="en-US" dirty="0" err="1"/>
              <a:t>box.inflate_ip</a:t>
            </a:r>
            <a:r>
              <a:rPr lang="en-US" dirty="0"/>
              <a:t>(-3, -3) </a:t>
            </a:r>
          </a:p>
          <a:p>
            <a:r>
              <a:rPr lang="en-US" dirty="0"/>
              <a:t>49.			grow = </a:t>
            </a:r>
            <a:r>
              <a:rPr lang="en-US" dirty="0" err="1"/>
              <a:t>box.width</a:t>
            </a:r>
            <a:r>
              <a:rPr lang="en-US" dirty="0"/>
              <a:t> &lt; 50</a:t>
            </a:r>
          </a:p>
          <a:p>
            <a:r>
              <a:rPr lang="en-US" dirty="0"/>
              <a:t>50.</a:t>
            </a:r>
          </a:p>
          <a:p>
            <a:r>
              <a:rPr lang="en-US" dirty="0"/>
              <a:t>51.		if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pygame.QUIT</a:t>
            </a:r>
            <a:r>
              <a:rPr lang="en-US" dirty="0"/>
              <a:t>: </a:t>
            </a:r>
          </a:p>
          <a:p>
            <a:r>
              <a:rPr lang="en-US" dirty="0"/>
              <a:t>52.			running = False	</a:t>
            </a:r>
          </a:p>
        </p:txBody>
      </p:sp>
    </p:spTree>
    <p:extLst>
      <p:ext uri="{BB962C8B-B14F-4D97-AF65-F5344CB8AC3E}">
        <p14:creationId xmlns:p14="http://schemas.microsoft.com/office/powerpoint/2010/main" val="484731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F4CA94-22FF-715F-7EB9-F84B577C3DB4}"/>
              </a:ext>
            </a:extLst>
          </p:cNvPr>
          <p:cNvSpPr txBox="1"/>
          <p:nvPr/>
        </p:nvSpPr>
        <p:spPr>
          <a:xfrm>
            <a:off x="971543" y="757238"/>
            <a:ext cx="6210354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53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. # Posting event when the cursor is on top of the box </a:t>
            </a:r>
          </a:p>
          <a:p>
            <a:r>
              <a:rPr lang="en-US" dirty="0"/>
              <a:t>54. 	if </a:t>
            </a:r>
            <a:r>
              <a:rPr lang="en-US" dirty="0" err="1"/>
              <a:t>box.collidepoint</a:t>
            </a:r>
            <a:r>
              <a:rPr lang="en-US" dirty="0"/>
              <a:t>(</a:t>
            </a:r>
            <a:r>
              <a:rPr lang="en-US" dirty="0" err="1"/>
              <a:t>pygame.mouse.get_pos</a:t>
            </a:r>
            <a:r>
              <a:rPr lang="en-US" dirty="0"/>
              <a:t>()): </a:t>
            </a:r>
          </a:p>
          <a:p>
            <a:r>
              <a:rPr lang="en-US" dirty="0"/>
              <a:t>55.		</a:t>
            </a:r>
            <a:r>
              <a:rPr lang="en-US" dirty="0" err="1"/>
              <a:t>pygame.event.post</a:t>
            </a:r>
            <a:r>
              <a:rPr lang="en-US" dirty="0"/>
              <a:t>(</a:t>
            </a:r>
            <a:r>
              <a:rPr lang="en-US" dirty="0" err="1"/>
              <a:t>pygame.event.Event</a:t>
            </a:r>
            <a:r>
              <a:rPr lang="en-US" dirty="0"/>
              <a:t>(ON_BOX)) </a:t>
            </a:r>
          </a:p>
          <a:p>
            <a:r>
              <a:rPr lang="en-US" dirty="0"/>
              <a:t>56.</a:t>
            </a:r>
          </a:p>
          <a:p>
            <a:r>
              <a:rPr lang="en-US" dirty="0"/>
              <a:t>57.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Drawing rectangle on the screen </a:t>
            </a:r>
          </a:p>
          <a:p>
            <a:r>
              <a:rPr lang="en-US" dirty="0"/>
              <a:t>58.	</a:t>
            </a:r>
            <a:r>
              <a:rPr lang="en-US" dirty="0" err="1"/>
              <a:t>pygame.draw.rect</a:t>
            </a:r>
            <a:r>
              <a:rPr lang="en-US" dirty="0"/>
              <a:t>(screen, RED, box) </a:t>
            </a:r>
          </a:p>
          <a:p>
            <a:r>
              <a:rPr lang="en-US" dirty="0"/>
              <a:t>59.</a:t>
            </a:r>
          </a:p>
          <a:p>
            <a:r>
              <a:rPr lang="en-US" dirty="0"/>
              <a:t>60.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Updating Screen </a:t>
            </a:r>
          </a:p>
          <a:p>
            <a:r>
              <a:rPr lang="en-US" dirty="0"/>
              <a:t>61.	</a:t>
            </a:r>
            <a:r>
              <a:rPr lang="en-US" dirty="0" err="1"/>
              <a:t>pygame.display.update</a:t>
            </a:r>
            <a:r>
              <a:rPr lang="en-US" dirty="0"/>
              <a:t>() </a:t>
            </a:r>
          </a:p>
          <a:p>
            <a:r>
              <a:rPr lang="en-US" dirty="0"/>
              <a:t>62.	</a:t>
            </a:r>
          </a:p>
          <a:p>
            <a:r>
              <a:rPr lang="en-US" dirty="0"/>
              <a:t>63.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Setting Frames per Second </a:t>
            </a:r>
          </a:p>
          <a:p>
            <a:r>
              <a:rPr lang="en-US" dirty="0"/>
              <a:t>64.	</a:t>
            </a:r>
            <a:r>
              <a:rPr lang="en-US" dirty="0" err="1"/>
              <a:t>timer.tick</a:t>
            </a:r>
            <a:r>
              <a:rPr lang="en-US" dirty="0"/>
              <a:t>(30) </a:t>
            </a:r>
          </a:p>
          <a:p>
            <a:r>
              <a:rPr lang="en-US" dirty="0"/>
              <a:t>65.</a:t>
            </a:r>
          </a:p>
          <a:p>
            <a:r>
              <a:rPr lang="en-US" dirty="0"/>
              <a:t>66. </a:t>
            </a:r>
            <a:r>
              <a:rPr lang="en-US" dirty="0" err="1"/>
              <a:t>pygame.quit</a:t>
            </a:r>
            <a:r>
              <a:rPr lang="en-US" dirty="0"/>
              <a:t>()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131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286E2-5F80-C89B-10C9-FA9680162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0" y="83347"/>
            <a:ext cx="8662988" cy="692150"/>
          </a:xfrm>
        </p:spPr>
        <p:txBody>
          <a:bodyPr/>
          <a:lstStyle/>
          <a:p>
            <a:r>
              <a:rPr lang="en-US" dirty="0"/>
              <a:t>Display text to pygame window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586602-5F9C-982B-EEF2-5E5B09BC7F03}"/>
              </a:ext>
            </a:extLst>
          </p:cNvPr>
          <p:cNvSpPr txBox="1"/>
          <p:nvPr/>
        </p:nvSpPr>
        <p:spPr>
          <a:xfrm>
            <a:off x="365290" y="1128716"/>
            <a:ext cx="529255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import pygame</a:t>
            </a:r>
          </a:p>
          <a:p>
            <a:r>
              <a:rPr lang="en-US" dirty="0"/>
              <a:t>2. pygame.init()</a:t>
            </a:r>
          </a:p>
          <a:p>
            <a:r>
              <a:rPr lang="en-US" dirty="0"/>
              <a:t>3. </a:t>
            </a:r>
          </a:p>
          <a:p>
            <a:r>
              <a:rPr lang="en-US" dirty="0"/>
              <a:t>4. white = (255, 255, 255)</a:t>
            </a:r>
          </a:p>
          <a:p>
            <a:r>
              <a:rPr lang="en-US" dirty="0"/>
              <a:t>5. green = (0, 255, 0)</a:t>
            </a:r>
          </a:p>
          <a:p>
            <a:r>
              <a:rPr lang="en-US" dirty="0"/>
              <a:t>6. blue = (0, 0, 128)</a:t>
            </a:r>
          </a:p>
          <a:p>
            <a:r>
              <a:rPr lang="en-US" dirty="0"/>
              <a:t>7. </a:t>
            </a:r>
          </a:p>
          <a:p>
            <a:r>
              <a:rPr lang="en-US" dirty="0"/>
              <a:t>8. </a:t>
            </a:r>
            <a:r>
              <a:rPr lang="en-US" dirty="0" err="1"/>
              <a:t>display_surface</a:t>
            </a:r>
            <a:r>
              <a:rPr lang="en-US" dirty="0"/>
              <a:t> = </a:t>
            </a:r>
            <a:r>
              <a:rPr lang="en-US" dirty="0" err="1"/>
              <a:t>pygame.display.set_mode</a:t>
            </a:r>
            <a:r>
              <a:rPr lang="en-US" dirty="0"/>
              <a:t>((400, 400))</a:t>
            </a:r>
          </a:p>
          <a:p>
            <a:r>
              <a:rPr lang="en-US" dirty="0"/>
              <a:t>9. </a:t>
            </a:r>
            <a:r>
              <a:rPr lang="en-US" dirty="0" err="1"/>
              <a:t>pygame.display.set_caption</a:t>
            </a:r>
            <a:r>
              <a:rPr lang="en-US" dirty="0"/>
              <a:t>('Show Text’)</a:t>
            </a:r>
          </a:p>
          <a:p>
            <a:r>
              <a:rPr lang="en-US" dirty="0"/>
              <a:t>10. </a:t>
            </a:r>
          </a:p>
          <a:p>
            <a:r>
              <a:rPr lang="en-US" dirty="0"/>
              <a:t>11. 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create a font object</a:t>
            </a:r>
          </a:p>
          <a:p>
            <a:r>
              <a:rPr lang="en-US" dirty="0"/>
              <a:t>12. 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1st parameter is the font file</a:t>
            </a:r>
          </a:p>
          <a:p>
            <a:r>
              <a:rPr lang="en-US" dirty="0"/>
              <a:t>13. 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which is included in pygame</a:t>
            </a:r>
          </a:p>
          <a:p>
            <a:r>
              <a:rPr lang="en-US" dirty="0"/>
              <a:t>14. 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2nd parameter is size of the font</a:t>
            </a:r>
          </a:p>
          <a:p>
            <a:r>
              <a:rPr lang="en-US" dirty="0"/>
              <a:t>15. font = </a:t>
            </a:r>
            <a:r>
              <a:rPr lang="en-US" dirty="0" err="1"/>
              <a:t>pygame.font.Font</a:t>
            </a:r>
            <a:r>
              <a:rPr lang="en-US" dirty="0"/>
              <a:t>('</a:t>
            </a:r>
            <a:r>
              <a:rPr lang="en-US" dirty="0" err="1"/>
              <a:t>freesansbold.ttf</a:t>
            </a:r>
            <a:r>
              <a:rPr lang="en-US" dirty="0"/>
              <a:t>', 32)</a:t>
            </a:r>
          </a:p>
          <a:p>
            <a:r>
              <a:rPr lang="en-US" dirty="0"/>
              <a:t>16.</a:t>
            </a:r>
          </a:p>
          <a:p>
            <a:r>
              <a:rPr lang="en-US" dirty="0"/>
              <a:t>17. 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create a text surface object on which text is drawn on it</a:t>
            </a:r>
          </a:p>
          <a:p>
            <a:r>
              <a:rPr lang="en-US" dirty="0"/>
              <a:t>18. text = </a:t>
            </a:r>
            <a:r>
              <a:rPr lang="en-US" dirty="0" err="1"/>
              <a:t>font.render</a:t>
            </a:r>
            <a:r>
              <a:rPr lang="en-US" dirty="0"/>
              <a:t>(‘Python for Game Dev', True, green, blue)</a:t>
            </a:r>
          </a:p>
          <a:p>
            <a:r>
              <a:rPr lang="en-US" dirty="0"/>
              <a:t>19. </a:t>
            </a:r>
          </a:p>
          <a:p>
            <a:r>
              <a:rPr lang="en-US" dirty="0"/>
              <a:t>20. 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create a rectangular object for the text surface object</a:t>
            </a:r>
          </a:p>
          <a:p>
            <a:r>
              <a:rPr lang="en-US" dirty="0"/>
              <a:t>21. </a:t>
            </a:r>
            <a:r>
              <a:rPr lang="en-US" dirty="0" err="1"/>
              <a:t>textRect</a:t>
            </a:r>
            <a:r>
              <a:rPr lang="en-US" dirty="0"/>
              <a:t> = </a:t>
            </a:r>
            <a:r>
              <a:rPr lang="en-US" dirty="0" err="1"/>
              <a:t>text.get_rect</a:t>
            </a:r>
            <a:r>
              <a:rPr lang="en-US" dirty="0"/>
              <a:t>()</a:t>
            </a:r>
          </a:p>
          <a:p>
            <a:r>
              <a:rPr lang="en-US" dirty="0"/>
              <a:t>22. </a:t>
            </a:r>
          </a:p>
          <a:p>
            <a:r>
              <a:rPr lang="en-US" dirty="0"/>
              <a:t>23. # set the center of the rectangular object</a:t>
            </a:r>
          </a:p>
          <a:p>
            <a:r>
              <a:rPr lang="en-US" dirty="0"/>
              <a:t>24. </a:t>
            </a:r>
            <a:r>
              <a:rPr lang="en-US" dirty="0" err="1"/>
              <a:t>textRect.center</a:t>
            </a:r>
            <a:r>
              <a:rPr lang="en-US" dirty="0"/>
              <a:t> = (X // 2, Y // 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BF4EFF-0B50-3093-A8E6-5C8D5E5841A6}"/>
              </a:ext>
            </a:extLst>
          </p:cNvPr>
          <p:cNvSpPr txBox="1"/>
          <p:nvPr/>
        </p:nvSpPr>
        <p:spPr>
          <a:xfrm>
            <a:off x="5489976" y="1114428"/>
            <a:ext cx="609361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25. 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infinite loop</a:t>
            </a:r>
          </a:p>
          <a:p>
            <a:r>
              <a:rPr lang="en-US" dirty="0"/>
              <a:t>26. while True:</a:t>
            </a:r>
          </a:p>
          <a:p>
            <a:r>
              <a:rPr lang="en-US" dirty="0"/>
              <a:t>27.</a:t>
            </a:r>
          </a:p>
          <a:p>
            <a:r>
              <a:rPr lang="en-US" dirty="0"/>
              <a:t>28.	</a:t>
            </a:r>
            <a:r>
              <a:rPr lang="en-US" dirty="0" err="1"/>
              <a:t>display_surface.fill</a:t>
            </a:r>
            <a:r>
              <a:rPr lang="en-US" dirty="0"/>
              <a:t>(white)</a:t>
            </a:r>
          </a:p>
          <a:p>
            <a:r>
              <a:rPr lang="en-US" dirty="0"/>
              <a:t>29.</a:t>
            </a:r>
          </a:p>
          <a:p>
            <a:r>
              <a:rPr lang="en-US" dirty="0"/>
              <a:t>30.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copying the text surface object</a:t>
            </a:r>
          </a:p>
          <a:p>
            <a:r>
              <a:rPr lang="en-US" dirty="0"/>
              <a:t>31.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to the display surface object</a:t>
            </a:r>
          </a:p>
          <a:p>
            <a:r>
              <a:rPr lang="en-US" dirty="0"/>
              <a:t>32.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at the center coordinate.</a:t>
            </a:r>
          </a:p>
          <a:p>
            <a:r>
              <a:rPr lang="en-US" dirty="0"/>
              <a:t>33.	</a:t>
            </a:r>
            <a:r>
              <a:rPr lang="en-US" dirty="0" err="1"/>
              <a:t>display_surface.blit</a:t>
            </a:r>
            <a:r>
              <a:rPr lang="en-US" dirty="0"/>
              <a:t>(text, </a:t>
            </a:r>
            <a:r>
              <a:rPr lang="en-US" dirty="0" err="1"/>
              <a:t>textRect</a:t>
            </a:r>
            <a:r>
              <a:rPr lang="en-US" dirty="0"/>
              <a:t>)</a:t>
            </a:r>
          </a:p>
          <a:p>
            <a:r>
              <a:rPr lang="en-US" dirty="0"/>
              <a:t>34.</a:t>
            </a:r>
          </a:p>
          <a:p>
            <a:r>
              <a:rPr lang="en-US" dirty="0"/>
              <a:t>35.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iterate over the list of Event objects</a:t>
            </a:r>
          </a:p>
          <a:p>
            <a:r>
              <a:rPr lang="en-US" dirty="0"/>
              <a:t>36.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that was returned by </a:t>
            </a:r>
            <a:r>
              <a:rPr lang="en-US" dirty="0" err="1">
                <a:solidFill>
                  <a:schemeClr val="bg2">
                    <a:lumMod val="50000"/>
                    <a:lumOff val="50000"/>
                  </a:schemeClr>
                </a:solidFill>
              </a:rPr>
              <a:t>pygame.event.get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() method</a:t>
            </a:r>
          </a:p>
          <a:p>
            <a:r>
              <a:rPr lang="en-US" dirty="0"/>
              <a:t>37.	for event in </a:t>
            </a:r>
            <a:r>
              <a:rPr lang="en-US" dirty="0" err="1"/>
              <a:t>pygame.event.get</a:t>
            </a:r>
            <a:r>
              <a:rPr lang="en-US" dirty="0"/>
              <a:t>():</a:t>
            </a:r>
          </a:p>
          <a:p>
            <a:r>
              <a:rPr lang="en-US" dirty="0"/>
              <a:t>38.</a:t>
            </a:r>
          </a:p>
          <a:p>
            <a:r>
              <a:rPr lang="en-US" dirty="0"/>
              <a:t>39.			if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pygame.QUIT</a:t>
            </a:r>
            <a:r>
              <a:rPr lang="en-US" dirty="0"/>
              <a:t>:</a:t>
            </a:r>
          </a:p>
          <a:p>
            <a:r>
              <a:rPr lang="en-US" dirty="0"/>
              <a:t>40.</a:t>
            </a:r>
          </a:p>
          <a:p>
            <a:r>
              <a:rPr lang="en-US" dirty="0"/>
              <a:t>41.		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deactivates the pygame library</a:t>
            </a:r>
          </a:p>
          <a:p>
            <a:r>
              <a:rPr lang="en-US" dirty="0"/>
              <a:t>42.			</a:t>
            </a:r>
            <a:r>
              <a:rPr lang="en-US" dirty="0" err="1"/>
              <a:t>pygame.quit</a:t>
            </a:r>
            <a:r>
              <a:rPr lang="en-US" dirty="0"/>
              <a:t>()</a:t>
            </a:r>
          </a:p>
          <a:p>
            <a:r>
              <a:rPr lang="en-US" dirty="0"/>
              <a:t>43.</a:t>
            </a:r>
          </a:p>
          <a:p>
            <a:r>
              <a:rPr lang="en-US" dirty="0"/>
              <a:t>44.		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quit the program</a:t>
            </a:r>
          </a:p>
          <a:p>
            <a:r>
              <a:rPr lang="en-US" dirty="0"/>
              <a:t>45.			quit()</a:t>
            </a:r>
          </a:p>
          <a:p>
            <a:r>
              <a:rPr lang="en-US" dirty="0"/>
              <a:t>46.</a:t>
            </a:r>
          </a:p>
          <a:p>
            <a:r>
              <a:rPr lang="en-US" dirty="0"/>
              <a:t>47.	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Draws the surface object to the screen</a:t>
            </a:r>
          </a:p>
          <a:p>
            <a:r>
              <a:rPr lang="en-US" dirty="0"/>
              <a:t>48.		</a:t>
            </a:r>
            <a:r>
              <a:rPr lang="en-US" dirty="0" err="1"/>
              <a:t>pygame.display.update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864928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BAFB0-01A5-AFA1-5E12-BF506194B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096"/>
            <a:ext cx="10515600" cy="60642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Moving an Image with mouse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30048C-DA53-190E-EAEC-B9017417A2F6}"/>
              </a:ext>
            </a:extLst>
          </p:cNvPr>
          <p:cNvSpPr txBox="1"/>
          <p:nvPr/>
        </p:nvSpPr>
        <p:spPr>
          <a:xfrm>
            <a:off x="628650" y="871537"/>
            <a:ext cx="4136069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import pygame</a:t>
            </a:r>
          </a:p>
          <a:p>
            <a:r>
              <a:rPr lang="en-US" dirty="0"/>
              <a:t>2. from </a:t>
            </a:r>
            <a:r>
              <a:rPr lang="en-US" dirty="0" err="1"/>
              <a:t>pygame.locals</a:t>
            </a:r>
            <a:r>
              <a:rPr lang="en-US" dirty="0"/>
              <a:t> import *</a:t>
            </a:r>
          </a:p>
          <a:p>
            <a:r>
              <a:rPr lang="en-US" dirty="0"/>
              <a:t>3.</a:t>
            </a:r>
          </a:p>
          <a:p>
            <a:r>
              <a:rPr lang="en-US" dirty="0"/>
              <a:t>4. YELLOW = (255, 255, 0)</a:t>
            </a:r>
          </a:p>
          <a:p>
            <a:r>
              <a:rPr lang="en-US" dirty="0"/>
              <a:t>5. BLUE = (0, 0, 255)</a:t>
            </a:r>
          </a:p>
          <a:p>
            <a:r>
              <a:rPr lang="en-US" dirty="0"/>
              <a:t>6.</a:t>
            </a:r>
          </a:p>
          <a:p>
            <a:r>
              <a:rPr lang="en-US" dirty="0"/>
              <a:t>7. pygame.init()</a:t>
            </a:r>
          </a:p>
          <a:p>
            <a:r>
              <a:rPr lang="en-US" dirty="0"/>
              <a:t>8.</a:t>
            </a:r>
          </a:p>
          <a:p>
            <a:r>
              <a:rPr lang="en-US" dirty="0"/>
              <a:t>9. screen = </a:t>
            </a:r>
            <a:r>
              <a:rPr lang="en-US" dirty="0" err="1"/>
              <a:t>pygame.display.set_mode</a:t>
            </a:r>
            <a:r>
              <a:rPr lang="en-US" dirty="0"/>
              <a:t>((640, 350))</a:t>
            </a:r>
          </a:p>
          <a:p>
            <a:r>
              <a:rPr lang="en-US" dirty="0"/>
              <a:t>10. </a:t>
            </a:r>
          </a:p>
          <a:p>
            <a:r>
              <a:rPr lang="en-US" dirty="0"/>
              <a:t>11. </a:t>
            </a:r>
            <a:r>
              <a:rPr lang="en-US" dirty="0" err="1"/>
              <a:t>img</a:t>
            </a:r>
            <a:r>
              <a:rPr lang="en-US" dirty="0"/>
              <a:t> = </a:t>
            </a:r>
            <a:r>
              <a:rPr lang="en-US" dirty="0" err="1"/>
              <a:t>pygame.image.load</a:t>
            </a:r>
            <a:r>
              <a:rPr lang="en-US" dirty="0"/>
              <a:t>('</a:t>
            </a:r>
            <a:r>
              <a:rPr lang="en-US" dirty="0" err="1"/>
              <a:t>geek.jpg</a:t>
            </a:r>
            <a:r>
              <a:rPr lang="en-US" dirty="0"/>
              <a:t>’)</a:t>
            </a:r>
          </a:p>
          <a:p>
            <a:r>
              <a:rPr lang="en-US" dirty="0"/>
              <a:t>12. </a:t>
            </a:r>
            <a:r>
              <a:rPr lang="en-US" dirty="0" err="1"/>
              <a:t>img.convert</a:t>
            </a:r>
            <a:r>
              <a:rPr lang="en-US" dirty="0"/>
              <a:t>()</a:t>
            </a:r>
          </a:p>
          <a:p>
            <a:r>
              <a:rPr lang="en-US" dirty="0"/>
              <a:t>13. </a:t>
            </a:r>
          </a:p>
          <a:p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14. # Draw rectangle around the image</a:t>
            </a:r>
          </a:p>
          <a:p>
            <a:r>
              <a:rPr lang="en-US" dirty="0"/>
              <a:t>15. </a:t>
            </a:r>
            <a:r>
              <a:rPr lang="en-US" dirty="0" err="1"/>
              <a:t>rect</a:t>
            </a:r>
            <a:r>
              <a:rPr lang="en-US" dirty="0"/>
              <a:t> = </a:t>
            </a:r>
            <a:r>
              <a:rPr lang="en-US" dirty="0" err="1"/>
              <a:t>img.get_rect</a:t>
            </a:r>
            <a:r>
              <a:rPr lang="en-US" dirty="0"/>
              <a:t>()</a:t>
            </a:r>
          </a:p>
          <a:p>
            <a:r>
              <a:rPr lang="en-US" dirty="0"/>
              <a:t>16. </a:t>
            </a:r>
            <a:r>
              <a:rPr lang="en-US" dirty="0" err="1"/>
              <a:t>rect.center</a:t>
            </a:r>
            <a:r>
              <a:rPr lang="en-US" dirty="0"/>
              <a:t> = w//2, h//2</a:t>
            </a:r>
          </a:p>
          <a:p>
            <a:r>
              <a:rPr lang="en-US" dirty="0"/>
              <a:t>17. </a:t>
            </a:r>
          </a:p>
          <a:p>
            <a:r>
              <a:rPr lang="en-US" dirty="0"/>
              <a:t>18. # Set running and moving values</a:t>
            </a:r>
          </a:p>
          <a:p>
            <a:r>
              <a:rPr lang="en-US" dirty="0"/>
              <a:t>19. running = True</a:t>
            </a:r>
          </a:p>
          <a:p>
            <a:r>
              <a:rPr lang="en-US" dirty="0"/>
              <a:t>20. moving = False</a:t>
            </a:r>
          </a:p>
          <a:p>
            <a:r>
              <a:rPr lang="en-US" dirty="0"/>
              <a:t>21. </a:t>
            </a:r>
          </a:p>
          <a:p>
            <a:r>
              <a:rPr lang="en-US" dirty="0">
                <a:solidFill>
                  <a:schemeClr val="tx1"/>
                </a:solidFill>
              </a:rPr>
              <a:t>22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. # Setting what happens when game </a:t>
            </a:r>
          </a:p>
          <a:p>
            <a:r>
              <a:rPr lang="en-US" dirty="0">
                <a:solidFill>
                  <a:schemeClr val="tx1"/>
                </a:solidFill>
              </a:rPr>
              <a:t>23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. # is in running state</a:t>
            </a:r>
          </a:p>
          <a:p>
            <a:r>
              <a:rPr lang="en-US" dirty="0"/>
              <a:t>24. while running:</a:t>
            </a:r>
          </a:p>
          <a:p>
            <a:r>
              <a:rPr lang="en-US" dirty="0"/>
              <a:t>25. 	</a:t>
            </a:r>
          </a:p>
          <a:p>
            <a:r>
              <a:rPr lang="en-US" dirty="0"/>
              <a:t>26.	for event in </a:t>
            </a:r>
            <a:r>
              <a:rPr lang="en-US" dirty="0" err="1"/>
              <a:t>pygame.event.get</a:t>
            </a:r>
            <a:r>
              <a:rPr lang="en-US" dirty="0"/>
              <a:t>():</a:t>
            </a:r>
          </a:p>
          <a:p>
            <a:endParaRPr lang="en-US" dirty="0"/>
          </a:p>
          <a:p>
            <a:r>
              <a:rPr lang="en-US" dirty="0"/>
              <a:t>	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CC85A2-81CE-BA9C-60D5-67BCC5C706CE}"/>
              </a:ext>
            </a:extLst>
          </p:cNvPr>
          <p:cNvSpPr txBox="1"/>
          <p:nvPr/>
        </p:nvSpPr>
        <p:spPr>
          <a:xfrm>
            <a:off x="5114919" y="900107"/>
            <a:ext cx="658654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27.	if </a:t>
            </a:r>
            <a:r>
              <a:rPr lang="en-US" dirty="0" err="1"/>
              <a:t>event.type</a:t>
            </a:r>
            <a:r>
              <a:rPr lang="en-US" dirty="0"/>
              <a:t> == QUIT:</a:t>
            </a:r>
          </a:p>
          <a:p>
            <a:r>
              <a:rPr lang="en-US" dirty="0"/>
              <a:t>	28.		running = False</a:t>
            </a:r>
          </a:p>
          <a:p>
            <a:r>
              <a:rPr lang="en-US" dirty="0"/>
              <a:t>                   29.                  </a:t>
            </a:r>
          </a:p>
          <a:p>
            <a:r>
              <a:rPr lang="en-US" dirty="0"/>
              <a:t>	30.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Making the image move</a:t>
            </a:r>
          </a:p>
          <a:p>
            <a:r>
              <a:rPr lang="en-US" dirty="0"/>
              <a:t>	31.	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MOUSEBUTTONDOWN:</a:t>
            </a:r>
          </a:p>
          <a:p>
            <a:r>
              <a:rPr lang="en-US" dirty="0"/>
              <a:t>	32.		if </a:t>
            </a:r>
            <a:r>
              <a:rPr lang="en-US" dirty="0" err="1"/>
              <a:t>rect.collidepoint</a:t>
            </a:r>
            <a:r>
              <a:rPr lang="en-US" dirty="0"/>
              <a:t>(</a:t>
            </a:r>
            <a:r>
              <a:rPr lang="en-US" dirty="0" err="1"/>
              <a:t>event.pos</a:t>
            </a:r>
            <a:r>
              <a:rPr lang="en-US" dirty="0"/>
              <a:t>):</a:t>
            </a:r>
          </a:p>
          <a:p>
            <a:r>
              <a:rPr lang="en-US" dirty="0"/>
              <a:t>	33.			moving = True</a:t>
            </a:r>
          </a:p>
          <a:p>
            <a:r>
              <a:rPr lang="en-US" dirty="0"/>
              <a:t>                   34.</a:t>
            </a:r>
          </a:p>
          <a:p>
            <a:pPr marL="1839913" indent="-1839913"/>
            <a:r>
              <a:rPr lang="en-US" dirty="0"/>
              <a:t>                   35. 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Set moving as False if you want  to move the image #only with the mouse click. Set moving as True if you #want to move the image without the mouse click</a:t>
            </a:r>
          </a:p>
          <a:p>
            <a:r>
              <a:rPr lang="en-US" dirty="0"/>
              <a:t>	38.	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MOUSEBUTTONUP:</a:t>
            </a:r>
          </a:p>
          <a:p>
            <a:r>
              <a:rPr lang="en-US" dirty="0"/>
              <a:t>	39.		moving = False</a:t>
            </a:r>
          </a:p>
          <a:p>
            <a:r>
              <a:rPr lang="en-US" dirty="0"/>
              <a:t>                   40.</a:t>
            </a:r>
          </a:p>
          <a:p>
            <a:r>
              <a:rPr lang="en-US" dirty="0"/>
              <a:t>	41.	# Make your image move continuously</a:t>
            </a:r>
          </a:p>
          <a:p>
            <a:r>
              <a:rPr lang="en-US" dirty="0"/>
              <a:t>	42.	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MOUSEMOTION and moving:</a:t>
            </a:r>
          </a:p>
          <a:p>
            <a:r>
              <a:rPr lang="en-US" dirty="0"/>
              <a:t>	43.		</a:t>
            </a:r>
            <a:r>
              <a:rPr lang="en-US" dirty="0" err="1"/>
              <a:t>rect.move_ip</a:t>
            </a:r>
            <a:r>
              <a:rPr lang="en-US" dirty="0"/>
              <a:t>(</a:t>
            </a:r>
            <a:r>
              <a:rPr lang="en-US" dirty="0" err="1"/>
              <a:t>event.rel</a:t>
            </a:r>
            <a:r>
              <a:rPr lang="en-US" dirty="0"/>
              <a:t>)</a:t>
            </a:r>
          </a:p>
          <a:p>
            <a:r>
              <a:rPr lang="en-US" dirty="0"/>
              <a:t>                   44.</a:t>
            </a:r>
          </a:p>
          <a:p>
            <a:r>
              <a:rPr lang="en-US" dirty="0"/>
              <a:t>	45. </a:t>
            </a:r>
            <a:r>
              <a:rPr lang="en-US" dirty="0" err="1"/>
              <a:t>screen.fill</a:t>
            </a:r>
            <a:r>
              <a:rPr lang="en-US" dirty="0"/>
              <a:t>(YELLOW)</a:t>
            </a:r>
          </a:p>
          <a:p>
            <a:r>
              <a:rPr lang="en-US" dirty="0"/>
              <a:t>	46. </a:t>
            </a:r>
            <a:r>
              <a:rPr lang="en-US" dirty="0" err="1"/>
              <a:t>screen.blit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, </a:t>
            </a:r>
            <a:r>
              <a:rPr lang="en-US" dirty="0" err="1"/>
              <a:t>rect</a:t>
            </a:r>
            <a:endParaRPr lang="en-US" dirty="0"/>
          </a:p>
          <a:p>
            <a:r>
              <a:rPr lang="en-US" dirty="0"/>
              <a:t>                   47.</a:t>
            </a:r>
          </a:p>
          <a:p>
            <a:r>
              <a:rPr lang="en-US" dirty="0"/>
              <a:t>	48. 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Construct the border to the image</a:t>
            </a:r>
          </a:p>
          <a:p>
            <a:r>
              <a:rPr lang="en-US" dirty="0"/>
              <a:t>	49. </a:t>
            </a:r>
            <a:r>
              <a:rPr lang="en-US" dirty="0" err="1"/>
              <a:t>pygame.draw.rect</a:t>
            </a:r>
            <a:r>
              <a:rPr lang="en-US" dirty="0"/>
              <a:t>(screen, BLUE, </a:t>
            </a:r>
            <a:r>
              <a:rPr lang="en-US" dirty="0" err="1"/>
              <a:t>rect</a:t>
            </a:r>
            <a:r>
              <a:rPr lang="en-US" dirty="0"/>
              <a:t>, 2)</a:t>
            </a:r>
          </a:p>
          <a:p>
            <a:r>
              <a:rPr lang="en-US" dirty="0"/>
              <a:t>                   50.</a:t>
            </a:r>
          </a:p>
          <a:p>
            <a:r>
              <a:rPr lang="en-US" dirty="0"/>
              <a:t>	51. </a:t>
            </a:r>
            <a:r>
              <a:rPr lang="en-US" dirty="0" err="1"/>
              <a:t>pygame.display.update</a:t>
            </a:r>
            <a:r>
              <a:rPr lang="en-US" dirty="0"/>
              <a:t>()</a:t>
            </a:r>
          </a:p>
          <a:p>
            <a:r>
              <a:rPr lang="en-US" dirty="0"/>
              <a:t>                   52.</a:t>
            </a:r>
          </a:p>
          <a:p>
            <a:r>
              <a:rPr lang="en-US" dirty="0"/>
              <a:t>53. </a:t>
            </a:r>
            <a:r>
              <a:rPr lang="en-US" dirty="0" err="1"/>
              <a:t>pygame.quit</a:t>
            </a:r>
            <a:r>
              <a:rPr lang="en-US" dirty="0"/>
              <a:t>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CD65AC-0A58-2D8D-9E36-C4A1A0CAEF61}"/>
              </a:ext>
            </a:extLst>
          </p:cNvPr>
          <p:cNvSpPr/>
          <p:nvPr/>
        </p:nvSpPr>
        <p:spPr>
          <a:xfrm>
            <a:off x="6002229" y="2833361"/>
            <a:ext cx="435606" cy="328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E5B213-3E39-3CCA-55E2-AAFBF01BDBDA}"/>
              </a:ext>
            </a:extLst>
          </p:cNvPr>
          <p:cNvSpPr/>
          <p:nvPr/>
        </p:nvSpPr>
        <p:spPr>
          <a:xfrm>
            <a:off x="6012735" y="3033059"/>
            <a:ext cx="435606" cy="328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3399671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2E676-DD91-AD84-5AE6-C3C525436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6360"/>
            <a:ext cx="10906125" cy="863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pygame advance (creating interactive button)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2E3166-0DBC-88B4-ACFC-7C02D4C6C432}"/>
              </a:ext>
            </a:extLst>
          </p:cNvPr>
          <p:cNvSpPr txBox="1"/>
          <p:nvPr/>
        </p:nvSpPr>
        <p:spPr>
          <a:xfrm>
            <a:off x="285738" y="828662"/>
            <a:ext cx="4155305" cy="5478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   # open a window </a:t>
            </a:r>
          </a:p>
          <a:p>
            <a:r>
              <a:rPr lang="en-US" dirty="0"/>
              <a:t>2   screen = </a:t>
            </a:r>
            <a:r>
              <a:rPr lang="en-US" dirty="0" err="1"/>
              <a:t>pygame.display.set_mode</a:t>
            </a:r>
            <a:r>
              <a:rPr lang="en-US" dirty="0"/>
              <a:t>(720,720) </a:t>
            </a:r>
          </a:p>
          <a:p>
            <a:r>
              <a:rPr lang="en-US" dirty="0"/>
              <a:t>3</a:t>
            </a:r>
          </a:p>
          <a:p>
            <a:r>
              <a:rPr lang="en-US" dirty="0">
                <a:solidFill>
                  <a:schemeClr val="tx1"/>
                </a:solidFill>
              </a:rPr>
              <a:t>4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   # white color </a:t>
            </a:r>
          </a:p>
          <a:p>
            <a:r>
              <a:rPr lang="en-US" dirty="0"/>
              <a:t>5   color = (255,255,255) </a:t>
            </a:r>
          </a:p>
          <a:p>
            <a:r>
              <a:rPr lang="en-US" dirty="0"/>
              <a:t>6</a:t>
            </a:r>
          </a:p>
          <a:p>
            <a:r>
              <a:rPr lang="en-US" dirty="0">
                <a:solidFill>
                  <a:schemeClr val="tx1"/>
                </a:solidFill>
              </a:rPr>
              <a:t>7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   # light shade of the button </a:t>
            </a:r>
          </a:p>
          <a:p>
            <a:r>
              <a:rPr lang="en-US" dirty="0"/>
              <a:t>8   </a:t>
            </a:r>
            <a:r>
              <a:rPr lang="en-US" dirty="0" err="1"/>
              <a:t>color_light</a:t>
            </a:r>
            <a:r>
              <a:rPr lang="en-US" dirty="0"/>
              <a:t> = (170,170,170) </a:t>
            </a:r>
          </a:p>
          <a:p>
            <a:r>
              <a:rPr lang="en-US" dirty="0"/>
              <a:t>9</a:t>
            </a:r>
          </a:p>
          <a:p>
            <a:r>
              <a:rPr lang="en-US" dirty="0">
                <a:solidFill>
                  <a:schemeClr val="tx1"/>
                </a:solidFill>
              </a:rPr>
              <a:t>10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  # dark shade of the button </a:t>
            </a:r>
          </a:p>
          <a:p>
            <a:r>
              <a:rPr lang="en-US" dirty="0"/>
              <a:t>11   </a:t>
            </a:r>
            <a:r>
              <a:rPr lang="en-US" dirty="0" err="1"/>
              <a:t>color_dark</a:t>
            </a:r>
            <a:r>
              <a:rPr lang="en-US" dirty="0"/>
              <a:t> = (100,100,100) </a:t>
            </a:r>
          </a:p>
          <a:p>
            <a:r>
              <a:rPr lang="en-US" dirty="0"/>
              <a:t>12</a:t>
            </a:r>
          </a:p>
          <a:p>
            <a:r>
              <a:rPr lang="en-US" dirty="0">
                <a:solidFill>
                  <a:schemeClr val="tx1"/>
                </a:solidFill>
              </a:rPr>
              <a:t>13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  # stores the width of the screen</a:t>
            </a:r>
          </a:p>
          <a:p>
            <a:r>
              <a:rPr lang="en-US" dirty="0"/>
              <a:t>14   width = </a:t>
            </a:r>
            <a:r>
              <a:rPr lang="en-US" dirty="0" err="1"/>
              <a:t>screen.get_width</a:t>
            </a:r>
            <a:r>
              <a:rPr lang="en-US" dirty="0"/>
              <a:t>() </a:t>
            </a:r>
          </a:p>
          <a:p>
            <a:r>
              <a:rPr lang="en-US" dirty="0"/>
              <a:t>15 </a:t>
            </a:r>
          </a:p>
          <a:p>
            <a:r>
              <a:rPr lang="en-US" dirty="0">
                <a:solidFill>
                  <a:schemeClr val="tx1"/>
                </a:solidFill>
              </a:rPr>
              <a:t>16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  # stores the height of the screen</a:t>
            </a:r>
          </a:p>
          <a:p>
            <a:r>
              <a:rPr lang="en-US" dirty="0"/>
              <a:t>17   height = </a:t>
            </a:r>
            <a:r>
              <a:rPr lang="en-US" dirty="0" err="1"/>
              <a:t>screen.get_height</a:t>
            </a:r>
            <a:r>
              <a:rPr lang="en-US" dirty="0"/>
              <a:t>() </a:t>
            </a:r>
          </a:p>
          <a:p>
            <a:r>
              <a:rPr lang="en-US" dirty="0"/>
              <a:t>18</a:t>
            </a:r>
          </a:p>
          <a:p>
            <a:r>
              <a:rPr lang="en-US" dirty="0">
                <a:solidFill>
                  <a:schemeClr val="tx1"/>
                </a:solidFill>
              </a:rPr>
              <a:t>19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  # defining a font </a:t>
            </a:r>
          </a:p>
          <a:p>
            <a:r>
              <a:rPr lang="en-US" dirty="0"/>
              <a:t>20   </a:t>
            </a:r>
            <a:r>
              <a:rPr lang="en-US" dirty="0" err="1"/>
              <a:t>smallfont</a:t>
            </a:r>
            <a:r>
              <a:rPr lang="en-US" dirty="0"/>
              <a:t> = </a:t>
            </a:r>
            <a:r>
              <a:rPr lang="en-US" dirty="0" err="1"/>
              <a:t>pygame.font.SysFont</a:t>
            </a:r>
            <a:r>
              <a:rPr lang="en-US" dirty="0"/>
              <a:t>('Corbel',35) </a:t>
            </a:r>
          </a:p>
          <a:p>
            <a:r>
              <a:rPr lang="en-US" dirty="0"/>
              <a:t>21</a:t>
            </a:r>
          </a:p>
          <a:p>
            <a:r>
              <a:rPr lang="en-US" dirty="0">
                <a:solidFill>
                  <a:schemeClr val="tx1"/>
                </a:solidFill>
              </a:rPr>
              <a:t>22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  # rendering a text written in this font </a:t>
            </a:r>
          </a:p>
          <a:p>
            <a:r>
              <a:rPr lang="en-US" dirty="0"/>
              <a:t>23   text = </a:t>
            </a:r>
            <a:r>
              <a:rPr lang="en-US" dirty="0" err="1"/>
              <a:t>smallfont.render</a:t>
            </a:r>
            <a:r>
              <a:rPr lang="en-US" dirty="0"/>
              <a:t>('quit' , True , color)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D78A0-DB43-5FD1-BF54-9BC22C046BEE}"/>
              </a:ext>
            </a:extLst>
          </p:cNvPr>
          <p:cNvSpPr txBox="1"/>
          <p:nvPr/>
        </p:nvSpPr>
        <p:spPr>
          <a:xfrm>
            <a:off x="4429129" y="800079"/>
            <a:ext cx="7715249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24   while True: </a:t>
            </a:r>
          </a:p>
          <a:p>
            <a:r>
              <a:rPr lang="en-US" dirty="0"/>
              <a:t>25	for </a:t>
            </a:r>
            <a:r>
              <a:rPr lang="en-US" dirty="0" err="1"/>
              <a:t>ev</a:t>
            </a:r>
            <a:r>
              <a:rPr lang="en-US" dirty="0"/>
              <a:t> in </a:t>
            </a:r>
            <a:r>
              <a:rPr lang="en-US" dirty="0" err="1"/>
              <a:t>pygame.event.get</a:t>
            </a:r>
            <a:r>
              <a:rPr lang="en-US" dirty="0"/>
              <a:t>(): </a:t>
            </a:r>
          </a:p>
          <a:p>
            <a:r>
              <a:rPr lang="en-US" dirty="0"/>
              <a:t>26		if </a:t>
            </a:r>
            <a:r>
              <a:rPr lang="en-US" dirty="0" err="1"/>
              <a:t>ev.type</a:t>
            </a:r>
            <a:r>
              <a:rPr lang="en-US" dirty="0"/>
              <a:t> == </a:t>
            </a:r>
            <a:r>
              <a:rPr lang="en-US" dirty="0" err="1"/>
              <a:t>pygame.QUIT</a:t>
            </a:r>
            <a:r>
              <a:rPr lang="en-US" dirty="0"/>
              <a:t>: </a:t>
            </a:r>
          </a:p>
          <a:p>
            <a:r>
              <a:rPr lang="en-US" dirty="0"/>
              <a:t>27			</a:t>
            </a:r>
            <a:r>
              <a:rPr lang="en-US" dirty="0" err="1"/>
              <a:t>pygame.quit</a:t>
            </a:r>
            <a:r>
              <a:rPr lang="en-US" dirty="0"/>
              <a:t>() </a:t>
            </a:r>
          </a:p>
          <a:p>
            <a:r>
              <a:rPr lang="en-US" dirty="0"/>
              <a:t>28		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#checks if a mouse is clicked </a:t>
            </a:r>
          </a:p>
          <a:p>
            <a:r>
              <a:rPr lang="en-US" dirty="0"/>
              <a:t>29		if </a:t>
            </a:r>
            <a:r>
              <a:rPr lang="en-US" dirty="0" err="1"/>
              <a:t>ev.type</a:t>
            </a:r>
            <a:r>
              <a:rPr lang="en-US" dirty="0"/>
              <a:t> == </a:t>
            </a:r>
            <a:r>
              <a:rPr lang="en-US" dirty="0" err="1"/>
              <a:t>pygame.MOUSEBUTTONDOWN</a:t>
            </a:r>
            <a:r>
              <a:rPr lang="en-US" dirty="0"/>
              <a:t>: </a:t>
            </a:r>
          </a:p>
          <a:p>
            <a:r>
              <a:rPr lang="en-US" dirty="0"/>
              <a:t>30			</a:t>
            </a:r>
          </a:p>
          <a:p>
            <a:r>
              <a:rPr lang="en-US" dirty="0"/>
              <a:t>31		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    #if the mouse is clicked on the button the game is terminated </a:t>
            </a:r>
          </a:p>
          <a:p>
            <a:r>
              <a:rPr lang="en-US" dirty="0"/>
              <a:t>32		     </a:t>
            </a:r>
            <a:r>
              <a:rPr lang="en-US" sz="1200" dirty="0"/>
              <a:t>if width/2 &lt;= mouse[0] &lt;= width/2+140 and height/2 &lt;= mouse[1] &lt;= height/2+40: </a:t>
            </a:r>
          </a:p>
          <a:p>
            <a:r>
              <a:rPr lang="en-US" dirty="0"/>
              <a:t>33				</a:t>
            </a:r>
            <a:r>
              <a:rPr lang="en-US" dirty="0" err="1"/>
              <a:t>pygame.quit</a:t>
            </a:r>
            <a:r>
              <a:rPr lang="en-US" dirty="0"/>
              <a:t>() </a:t>
            </a:r>
          </a:p>
          <a:p>
            <a:r>
              <a:rPr lang="en-US" dirty="0"/>
              <a:t>34				</a:t>
            </a:r>
          </a:p>
          <a:p>
            <a:r>
              <a:rPr lang="en-US" dirty="0"/>
              <a:t>35	</a:t>
            </a:r>
            <a:r>
              <a:rPr lang="en-US" dirty="0" err="1"/>
              <a:t>screen.fill</a:t>
            </a:r>
            <a:r>
              <a:rPr lang="en-US" dirty="0"/>
              <a:t>((60,25,60)) </a:t>
            </a:r>
          </a:p>
          <a:p>
            <a:r>
              <a:rPr lang="en-US" dirty="0"/>
              <a:t>36	</a:t>
            </a:r>
          </a:p>
          <a:p>
            <a:r>
              <a:rPr lang="en-US" dirty="0"/>
              <a:t>37	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# stores the (</a:t>
            </a:r>
            <a:r>
              <a:rPr lang="en-US" dirty="0" err="1">
                <a:solidFill>
                  <a:schemeClr val="bg2">
                    <a:lumMod val="75000"/>
                    <a:lumOff val="25000"/>
                  </a:schemeClr>
                </a:solidFill>
              </a:rPr>
              <a:t>x,y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) coordinates into the variable as a tuple </a:t>
            </a:r>
          </a:p>
          <a:p>
            <a:r>
              <a:rPr lang="en-US" dirty="0"/>
              <a:t>38	mouse = </a:t>
            </a:r>
            <a:r>
              <a:rPr lang="en-US" dirty="0" err="1"/>
              <a:t>pygame.mouse.get_pos</a:t>
            </a:r>
            <a:r>
              <a:rPr lang="en-US" dirty="0"/>
              <a:t>() </a:t>
            </a:r>
          </a:p>
          <a:p>
            <a:r>
              <a:rPr lang="en-US" dirty="0"/>
              <a:t>39	</a:t>
            </a:r>
          </a:p>
          <a:p>
            <a:r>
              <a:rPr lang="en-US" dirty="0"/>
              <a:t>40	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# if mouse is hovered on a button it changes to lighter shade </a:t>
            </a:r>
          </a:p>
          <a:p>
            <a:r>
              <a:rPr lang="en-US" dirty="0"/>
              <a:t>41	if width/2 &lt;= mouse[0] &lt;= width/2+140 and height/2 &lt;= mouse[1] &lt;= height/2+40: </a:t>
            </a:r>
          </a:p>
          <a:p>
            <a:r>
              <a:rPr lang="en-US" dirty="0"/>
              <a:t>42		</a:t>
            </a:r>
            <a:r>
              <a:rPr lang="en-US" dirty="0" err="1"/>
              <a:t>pygame.draw.rect</a:t>
            </a:r>
            <a:r>
              <a:rPr lang="en-US" dirty="0"/>
              <a:t>(</a:t>
            </a:r>
            <a:r>
              <a:rPr lang="en-US" dirty="0" err="1"/>
              <a:t>screen,color_light</a:t>
            </a:r>
            <a:r>
              <a:rPr lang="en-US" dirty="0"/>
              <a:t>,[width/2,height/2,140,40]) </a:t>
            </a:r>
          </a:p>
          <a:p>
            <a:r>
              <a:rPr lang="en-US" dirty="0"/>
              <a:t>43		</a:t>
            </a:r>
          </a:p>
          <a:p>
            <a:r>
              <a:rPr lang="en-US" dirty="0"/>
              <a:t>44	else: </a:t>
            </a:r>
          </a:p>
          <a:p>
            <a:r>
              <a:rPr lang="en-US" dirty="0"/>
              <a:t>45		</a:t>
            </a:r>
            <a:r>
              <a:rPr lang="en-US" dirty="0" err="1"/>
              <a:t>pygame.draw.rect</a:t>
            </a:r>
            <a:r>
              <a:rPr lang="en-US" dirty="0"/>
              <a:t>(</a:t>
            </a:r>
            <a:r>
              <a:rPr lang="en-US" dirty="0" err="1"/>
              <a:t>screen,color_dark</a:t>
            </a:r>
            <a:r>
              <a:rPr lang="en-US" dirty="0"/>
              <a:t>,[width/2,height/2,140,40]) </a:t>
            </a:r>
          </a:p>
          <a:p>
            <a:r>
              <a:rPr lang="en-US" dirty="0"/>
              <a:t>46	</a:t>
            </a:r>
          </a:p>
          <a:p>
            <a:r>
              <a:rPr lang="en-US" dirty="0"/>
              <a:t>47	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# superimposing the text onto our button </a:t>
            </a:r>
          </a:p>
          <a:p>
            <a:r>
              <a:rPr lang="en-US" dirty="0"/>
              <a:t>48	</a:t>
            </a:r>
            <a:r>
              <a:rPr lang="en-US" dirty="0" err="1"/>
              <a:t>screen.blit</a:t>
            </a:r>
            <a:r>
              <a:rPr lang="en-US" dirty="0"/>
              <a:t>(text , (width/2+50,height/2)) </a:t>
            </a:r>
          </a:p>
          <a:p>
            <a:r>
              <a:rPr lang="en-US" dirty="0"/>
              <a:t>49	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# updates the frames of the game </a:t>
            </a:r>
          </a:p>
          <a:p>
            <a:r>
              <a:rPr lang="en-US" dirty="0"/>
              <a:t>50	</a:t>
            </a:r>
            <a:r>
              <a:rPr lang="en-US" dirty="0" err="1"/>
              <a:t>pygame.display.update</a:t>
            </a:r>
            <a:r>
              <a:rPr lang="en-US" dirty="0"/>
              <a:t>() </a:t>
            </a:r>
          </a:p>
        </p:txBody>
      </p:sp>
    </p:spTree>
    <p:extLst>
      <p:ext uri="{BB962C8B-B14F-4D97-AF65-F5344CB8AC3E}">
        <p14:creationId xmlns:p14="http://schemas.microsoft.com/office/powerpoint/2010/main" val="2349156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7B9D4-7F20-3604-D27A-188FD08B1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19"/>
            <a:ext cx="10515600" cy="8350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Moving an object in pygame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33946-6457-7FD4-938E-F0E141EC4E2B}"/>
              </a:ext>
            </a:extLst>
          </p:cNvPr>
          <p:cNvSpPr txBox="1"/>
          <p:nvPr/>
        </p:nvSpPr>
        <p:spPr>
          <a:xfrm>
            <a:off x="328608" y="757233"/>
            <a:ext cx="5503430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   # object current co-ordinates </a:t>
            </a:r>
          </a:p>
          <a:p>
            <a:r>
              <a:rPr lang="en-US" dirty="0"/>
              <a:t>2.  x = 200</a:t>
            </a:r>
          </a:p>
          <a:p>
            <a:r>
              <a:rPr lang="en-US" dirty="0"/>
              <a:t>3.  y = 200</a:t>
            </a:r>
          </a:p>
          <a:p>
            <a:r>
              <a:rPr lang="en-US" dirty="0">
                <a:solidFill>
                  <a:schemeClr val="tx1"/>
                </a:solidFill>
              </a:rPr>
              <a:t>4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   # dimensions of the object </a:t>
            </a:r>
          </a:p>
          <a:p>
            <a:r>
              <a:rPr lang="en-US" dirty="0"/>
              <a:t>5.  width = 20</a:t>
            </a:r>
          </a:p>
          <a:p>
            <a:r>
              <a:rPr lang="en-US" dirty="0"/>
              <a:t>6.  height = 20</a:t>
            </a:r>
          </a:p>
          <a:p>
            <a:r>
              <a:rPr lang="en-US" dirty="0">
                <a:solidFill>
                  <a:schemeClr val="tx1"/>
                </a:solidFill>
              </a:rPr>
              <a:t>7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.  # velocity / speed of movement </a:t>
            </a:r>
          </a:p>
          <a:p>
            <a:r>
              <a:rPr lang="en-US" dirty="0"/>
              <a:t>8.  vel = 10</a:t>
            </a:r>
          </a:p>
          <a:p>
            <a:r>
              <a:rPr lang="en-US" dirty="0">
                <a:solidFill>
                  <a:schemeClr val="tx1"/>
                </a:solidFill>
              </a:rPr>
              <a:t>9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.  # Indicates pygame is running </a:t>
            </a:r>
          </a:p>
          <a:p>
            <a:r>
              <a:rPr lang="en-US" dirty="0">
                <a:solidFill>
                  <a:schemeClr val="tx1"/>
                </a:solidFill>
              </a:rPr>
              <a:t>10. run = True</a:t>
            </a:r>
          </a:p>
          <a:p>
            <a:r>
              <a:rPr lang="en-US" dirty="0"/>
              <a:t>11. while run: </a:t>
            </a:r>
          </a:p>
          <a:p>
            <a:r>
              <a:rPr lang="en-US" dirty="0"/>
              <a:t>12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creates time delay of 10ms </a:t>
            </a:r>
          </a:p>
          <a:p>
            <a:r>
              <a:rPr lang="en-US" dirty="0"/>
              <a:t>13	</a:t>
            </a:r>
            <a:r>
              <a:rPr lang="en-US" dirty="0" err="1"/>
              <a:t>pygame.time.delay</a:t>
            </a:r>
            <a:r>
              <a:rPr lang="en-US" dirty="0"/>
              <a:t>(10) </a:t>
            </a:r>
          </a:p>
          <a:p>
            <a:r>
              <a:rPr lang="en-US" dirty="0"/>
              <a:t>14	</a:t>
            </a:r>
          </a:p>
          <a:p>
            <a:r>
              <a:rPr lang="en-US" dirty="0"/>
              <a:t>15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iterate over the list of Event objects </a:t>
            </a:r>
          </a:p>
          <a:p>
            <a:r>
              <a:rPr lang="en-US" dirty="0">
                <a:solidFill>
                  <a:schemeClr val="tx1"/>
                </a:solidFill>
              </a:rPr>
              <a:t>16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	# that was returned by </a:t>
            </a:r>
            <a:r>
              <a:rPr lang="en-US" dirty="0" err="1">
                <a:solidFill>
                  <a:schemeClr val="bg2">
                    <a:lumMod val="50000"/>
                    <a:lumOff val="50000"/>
                  </a:schemeClr>
                </a:solidFill>
              </a:rPr>
              <a:t>pygame.event.get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() method</a:t>
            </a:r>
            <a:endParaRPr lang="en-US" dirty="0"/>
          </a:p>
          <a:p>
            <a:r>
              <a:rPr lang="en-US" dirty="0"/>
              <a:t>17	for event in </a:t>
            </a:r>
            <a:r>
              <a:rPr lang="en-US" dirty="0" err="1"/>
              <a:t>pygame.event.get</a:t>
            </a:r>
            <a:r>
              <a:rPr lang="en-US" dirty="0"/>
              <a:t>(): </a:t>
            </a:r>
          </a:p>
          <a:p>
            <a:r>
              <a:rPr lang="en-US" dirty="0"/>
              <a:t>18		</a:t>
            </a:r>
          </a:p>
          <a:p>
            <a:r>
              <a:rPr lang="en-US" dirty="0"/>
              <a:t>19	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if event object type is QUIT </a:t>
            </a:r>
          </a:p>
          <a:p>
            <a:r>
              <a:rPr lang="en-US" dirty="0">
                <a:solidFill>
                  <a:schemeClr val="tx1"/>
                </a:solidFill>
              </a:rPr>
              <a:t>20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		# then quitting the pygame </a:t>
            </a:r>
          </a:p>
          <a:p>
            <a:r>
              <a:rPr lang="en-US" dirty="0">
                <a:solidFill>
                  <a:schemeClr val="tx1"/>
                </a:solidFill>
              </a:rPr>
              <a:t>21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		# and program both</a:t>
            </a:r>
          </a:p>
          <a:p>
            <a:r>
              <a:rPr lang="en-US" dirty="0"/>
              <a:t>22		if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pygame.QUIT</a:t>
            </a:r>
            <a:r>
              <a:rPr lang="en-US" dirty="0"/>
              <a:t>: </a:t>
            </a:r>
          </a:p>
          <a:p>
            <a:r>
              <a:rPr lang="en-US" dirty="0"/>
              <a:t>23			</a:t>
            </a:r>
          </a:p>
          <a:p>
            <a:r>
              <a:rPr lang="en-US" dirty="0"/>
              <a:t>24		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it will make exit the while loop </a:t>
            </a:r>
          </a:p>
          <a:p>
            <a:r>
              <a:rPr lang="en-US" dirty="0"/>
              <a:t>25			run = False</a:t>
            </a:r>
          </a:p>
          <a:p>
            <a:r>
              <a:rPr lang="en-US" dirty="0"/>
              <a:t>26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stores keys pressed </a:t>
            </a:r>
          </a:p>
          <a:p>
            <a:r>
              <a:rPr lang="en-US" dirty="0"/>
              <a:t>27	keys = </a:t>
            </a:r>
            <a:r>
              <a:rPr lang="en-US" dirty="0" err="1"/>
              <a:t>pygame.key.get_pressed</a:t>
            </a:r>
            <a:r>
              <a:rPr lang="en-US" dirty="0"/>
              <a:t>()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AF442-7510-F7E7-C9FD-D28AEEA6DBD9}"/>
              </a:ext>
            </a:extLst>
          </p:cNvPr>
          <p:cNvSpPr txBox="1"/>
          <p:nvPr/>
        </p:nvSpPr>
        <p:spPr>
          <a:xfrm>
            <a:off x="6437415" y="857244"/>
            <a:ext cx="548259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28.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  # if left arrow key is pressed </a:t>
            </a:r>
          </a:p>
          <a:p>
            <a:r>
              <a:rPr lang="en-US" dirty="0"/>
              <a:t>29	if keys[</a:t>
            </a:r>
            <a:r>
              <a:rPr lang="en-US" dirty="0" err="1"/>
              <a:t>pygame.K_LEFT</a:t>
            </a:r>
            <a:r>
              <a:rPr lang="en-US" dirty="0"/>
              <a:t>] and x&gt;0: </a:t>
            </a:r>
          </a:p>
          <a:p>
            <a:r>
              <a:rPr lang="en-US" dirty="0"/>
              <a:t>30	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decrement in x co-ordinate </a:t>
            </a:r>
          </a:p>
          <a:p>
            <a:r>
              <a:rPr lang="en-US" dirty="0"/>
              <a:t>31		x -= vel </a:t>
            </a:r>
          </a:p>
          <a:p>
            <a:r>
              <a:rPr lang="en-US" dirty="0"/>
              <a:t>32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if left arrow key is pressed </a:t>
            </a:r>
          </a:p>
          <a:p>
            <a:r>
              <a:rPr lang="en-US" dirty="0"/>
              <a:t>33	if keys[</a:t>
            </a:r>
            <a:r>
              <a:rPr lang="en-US" dirty="0" err="1"/>
              <a:t>pygame.K_RIGHT</a:t>
            </a:r>
            <a:r>
              <a:rPr lang="en-US" dirty="0"/>
              <a:t>] and x&lt;500-width: </a:t>
            </a:r>
          </a:p>
          <a:p>
            <a:r>
              <a:rPr lang="en-US" dirty="0"/>
              <a:t>34	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increment in x co-ordinate </a:t>
            </a:r>
          </a:p>
          <a:p>
            <a:r>
              <a:rPr lang="en-US" dirty="0"/>
              <a:t>35		x += vel </a:t>
            </a:r>
          </a:p>
          <a:p>
            <a:r>
              <a:rPr lang="en-US" dirty="0"/>
              <a:t>36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if left arrow key is pressed </a:t>
            </a:r>
          </a:p>
          <a:p>
            <a:r>
              <a:rPr lang="en-US" dirty="0"/>
              <a:t>37	if keys[</a:t>
            </a:r>
            <a:r>
              <a:rPr lang="en-US" dirty="0" err="1"/>
              <a:t>pygame.K_UP</a:t>
            </a:r>
            <a:r>
              <a:rPr lang="en-US" dirty="0"/>
              <a:t>] and y&gt;0: </a:t>
            </a:r>
          </a:p>
          <a:p>
            <a:r>
              <a:rPr lang="en-US" dirty="0"/>
              <a:t>38	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decrement in y co-ordinate </a:t>
            </a:r>
          </a:p>
          <a:p>
            <a:r>
              <a:rPr lang="en-US" dirty="0"/>
              <a:t>39		y -= vel </a:t>
            </a:r>
          </a:p>
          <a:p>
            <a:r>
              <a:rPr lang="en-US" dirty="0"/>
              <a:t>40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if left arrow key is pressed </a:t>
            </a:r>
          </a:p>
          <a:p>
            <a:r>
              <a:rPr lang="en-US" dirty="0"/>
              <a:t>41	if keys[</a:t>
            </a:r>
            <a:r>
              <a:rPr lang="en-US" dirty="0" err="1"/>
              <a:t>pygame.K_DOWN</a:t>
            </a:r>
            <a:r>
              <a:rPr lang="en-US" dirty="0"/>
              <a:t>] and y&lt;500-height: </a:t>
            </a:r>
          </a:p>
          <a:p>
            <a:r>
              <a:rPr lang="en-US" dirty="0"/>
              <a:t>42	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increment in y co-ordinate </a:t>
            </a:r>
          </a:p>
          <a:p>
            <a:r>
              <a:rPr lang="en-US" dirty="0"/>
              <a:t>43		y += vel </a:t>
            </a:r>
          </a:p>
          <a:p>
            <a:r>
              <a:rPr lang="en-US" dirty="0"/>
              <a:t>44	</a:t>
            </a:r>
            <a:r>
              <a:rPr lang="en-US" dirty="0" err="1"/>
              <a:t>win.fill</a:t>
            </a:r>
            <a:r>
              <a:rPr lang="en-US" dirty="0"/>
              <a:t>((0, 0, 0)) </a:t>
            </a:r>
          </a:p>
          <a:p>
            <a:r>
              <a:rPr lang="en-US" dirty="0"/>
              <a:t>45	</a:t>
            </a:r>
          </a:p>
          <a:p>
            <a:r>
              <a:rPr lang="en-US" dirty="0"/>
              <a:t>46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drawing object on screen which is rectangle here </a:t>
            </a:r>
          </a:p>
          <a:p>
            <a:r>
              <a:rPr lang="en-US" dirty="0"/>
              <a:t>47	</a:t>
            </a:r>
            <a:r>
              <a:rPr lang="en-US" dirty="0" err="1"/>
              <a:t>pygame.draw.rect</a:t>
            </a:r>
            <a:r>
              <a:rPr lang="en-US" dirty="0"/>
              <a:t>(win, (255, 0, 0), (x, y, width, height)) </a:t>
            </a:r>
          </a:p>
          <a:p>
            <a:r>
              <a:rPr lang="en-US" dirty="0"/>
              <a:t>48	</a:t>
            </a:r>
          </a:p>
          <a:p>
            <a:r>
              <a:rPr lang="en-US" dirty="0"/>
              <a:t>49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it refreshes the window </a:t>
            </a:r>
          </a:p>
          <a:p>
            <a:r>
              <a:rPr lang="en-US" dirty="0"/>
              <a:t>50	</a:t>
            </a:r>
            <a:r>
              <a:rPr lang="en-US" dirty="0" err="1"/>
              <a:t>pygame.display.update</a:t>
            </a:r>
            <a:r>
              <a:rPr lang="en-US" dirty="0"/>
              <a:t>() </a:t>
            </a:r>
          </a:p>
          <a:p>
            <a:r>
              <a:rPr lang="en-US" dirty="0"/>
              <a:t>51</a:t>
            </a:r>
          </a:p>
          <a:p>
            <a:r>
              <a:rPr lang="en-US" dirty="0">
                <a:solidFill>
                  <a:schemeClr val="tx1"/>
                </a:solidFill>
              </a:rPr>
              <a:t>52 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  # closes the pygame window </a:t>
            </a:r>
          </a:p>
          <a:p>
            <a:r>
              <a:rPr lang="en-US" dirty="0"/>
              <a:t>53.  </a:t>
            </a:r>
            <a:r>
              <a:rPr lang="en-US" dirty="0" err="1"/>
              <a:t>pygame.quit</a:t>
            </a:r>
            <a:r>
              <a:rPr lang="en-US" dirty="0"/>
              <a:t>()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425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316D-A0F7-E261-1576-27F50286C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69"/>
            <a:ext cx="10515600" cy="792163"/>
          </a:xfrm>
        </p:spPr>
        <p:txBody>
          <a:bodyPr/>
          <a:lstStyle/>
          <a:p>
            <a:pPr algn="ctr"/>
            <a:r>
              <a:rPr lang="en-US" dirty="0"/>
              <a:t>Playing audio file in Pygame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5A29B-AAA2-B997-284E-F94F08DD0ABD}"/>
              </a:ext>
            </a:extLst>
          </p:cNvPr>
          <p:cNvSpPr txBox="1"/>
          <p:nvPr/>
        </p:nvSpPr>
        <p:spPr>
          <a:xfrm>
            <a:off x="1357313" y="1014408"/>
            <a:ext cx="4233851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 from pygame import mixer 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3.  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Starting the mixer </a:t>
            </a:r>
          </a:p>
          <a:p>
            <a:r>
              <a:rPr lang="en-US" dirty="0"/>
              <a:t>4.  </a:t>
            </a:r>
            <a:r>
              <a:rPr lang="en-US" dirty="0" err="1"/>
              <a:t>mixer.init</a:t>
            </a:r>
            <a:r>
              <a:rPr lang="en-US" dirty="0"/>
              <a:t>() </a:t>
            </a:r>
          </a:p>
          <a:p>
            <a:r>
              <a:rPr lang="en-US" dirty="0"/>
              <a:t>5</a:t>
            </a:r>
          </a:p>
          <a:p>
            <a:r>
              <a:rPr lang="en-US" dirty="0"/>
              <a:t>6.  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Loading the song </a:t>
            </a:r>
          </a:p>
          <a:p>
            <a:r>
              <a:rPr lang="en-US" dirty="0"/>
              <a:t>7.  </a:t>
            </a:r>
            <a:r>
              <a:rPr lang="en-US" dirty="0" err="1"/>
              <a:t>mixer.music.load</a:t>
            </a:r>
            <a:r>
              <a:rPr lang="en-US" dirty="0"/>
              <a:t>("song.mp3") </a:t>
            </a:r>
          </a:p>
          <a:p>
            <a:r>
              <a:rPr lang="en-US" dirty="0"/>
              <a:t>8</a:t>
            </a:r>
          </a:p>
          <a:p>
            <a:r>
              <a:rPr lang="en-US" dirty="0"/>
              <a:t>9.  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Setting the volume </a:t>
            </a:r>
          </a:p>
          <a:p>
            <a:r>
              <a:rPr lang="en-US" dirty="0"/>
              <a:t>10. </a:t>
            </a:r>
            <a:r>
              <a:rPr lang="en-US" dirty="0" err="1"/>
              <a:t>mixer.music.set_volume</a:t>
            </a:r>
            <a:r>
              <a:rPr lang="en-US" dirty="0"/>
              <a:t>(0.7) </a:t>
            </a:r>
          </a:p>
          <a:p>
            <a:r>
              <a:rPr lang="en-US" dirty="0"/>
              <a:t>11</a:t>
            </a:r>
          </a:p>
          <a:p>
            <a:r>
              <a:rPr lang="en-US" dirty="0"/>
              <a:t>12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. # Start playing the song </a:t>
            </a:r>
          </a:p>
          <a:p>
            <a:r>
              <a:rPr lang="en-US" dirty="0"/>
              <a:t>13  </a:t>
            </a:r>
            <a:r>
              <a:rPr lang="en-US" dirty="0" err="1"/>
              <a:t>mixer.music.play</a:t>
            </a:r>
            <a:r>
              <a:rPr lang="en-US" dirty="0"/>
              <a:t>() </a:t>
            </a:r>
          </a:p>
          <a:p>
            <a:r>
              <a:rPr lang="en-US" dirty="0"/>
              <a:t>14</a:t>
            </a:r>
          </a:p>
          <a:p>
            <a:r>
              <a:rPr lang="en-US" dirty="0"/>
              <a:t>15. 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infinite loop </a:t>
            </a:r>
          </a:p>
          <a:p>
            <a:r>
              <a:rPr lang="en-US" dirty="0"/>
              <a:t>16  while True: </a:t>
            </a:r>
          </a:p>
          <a:p>
            <a:r>
              <a:rPr lang="en-US" dirty="0"/>
              <a:t>17	</a:t>
            </a:r>
          </a:p>
          <a:p>
            <a:r>
              <a:rPr lang="en-US" dirty="0"/>
              <a:t>18	print("Press 'p' to pause, 'r' to resume") </a:t>
            </a:r>
          </a:p>
          <a:p>
            <a:r>
              <a:rPr lang="en-US" dirty="0"/>
              <a:t>19	print("Press 'e' to exit the program") </a:t>
            </a:r>
          </a:p>
          <a:p>
            <a:r>
              <a:rPr lang="en-US" dirty="0"/>
              <a:t>20	query = input(" ") </a:t>
            </a:r>
          </a:p>
          <a:p>
            <a:r>
              <a:rPr lang="en-US" dirty="0"/>
              <a:t>21	</a:t>
            </a:r>
          </a:p>
          <a:p>
            <a:r>
              <a:rPr lang="en-US" dirty="0"/>
              <a:t>22	if query == 'p’: </a:t>
            </a:r>
          </a:p>
          <a:p>
            <a:r>
              <a:rPr lang="en-US" dirty="0"/>
              <a:t>23</a:t>
            </a:r>
          </a:p>
          <a:p>
            <a:r>
              <a:rPr lang="en-US" dirty="0"/>
              <a:t>24		# Pausing the music </a:t>
            </a:r>
          </a:p>
          <a:p>
            <a:r>
              <a:rPr lang="en-US" dirty="0"/>
              <a:t>25		</a:t>
            </a:r>
            <a:r>
              <a:rPr lang="en-US" dirty="0" err="1"/>
              <a:t>mixer.music.pause</a:t>
            </a:r>
            <a:r>
              <a:rPr lang="en-US" dirty="0"/>
              <a:t>()	 </a:t>
            </a:r>
          </a:p>
          <a:p>
            <a:r>
              <a:rPr lang="en-US" dirty="0"/>
              <a:t>26	</a:t>
            </a:r>
            <a:r>
              <a:rPr lang="en-US" dirty="0" err="1"/>
              <a:t>elif</a:t>
            </a:r>
            <a:r>
              <a:rPr lang="en-US" dirty="0"/>
              <a:t> query == 'r': 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232E2-02C9-D25F-D0FE-BC1008501D73}"/>
              </a:ext>
            </a:extLst>
          </p:cNvPr>
          <p:cNvSpPr txBox="1"/>
          <p:nvPr/>
        </p:nvSpPr>
        <p:spPr>
          <a:xfrm>
            <a:off x="6886575" y="1014412"/>
            <a:ext cx="389080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27   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Resuming the music </a:t>
            </a:r>
          </a:p>
          <a:p>
            <a:r>
              <a:rPr lang="en-US" dirty="0"/>
              <a:t>28		</a:t>
            </a:r>
            <a:r>
              <a:rPr lang="en-US" dirty="0" err="1"/>
              <a:t>mixer.music.unpause</a:t>
            </a:r>
            <a:r>
              <a:rPr lang="en-US" dirty="0"/>
              <a:t>() </a:t>
            </a:r>
          </a:p>
          <a:p>
            <a:r>
              <a:rPr lang="en-US" dirty="0"/>
              <a:t>29	</a:t>
            </a:r>
            <a:r>
              <a:rPr lang="en-US" dirty="0" err="1"/>
              <a:t>elif</a:t>
            </a:r>
            <a:r>
              <a:rPr lang="en-US" dirty="0"/>
              <a:t> query == 'e’: </a:t>
            </a:r>
          </a:p>
          <a:p>
            <a:r>
              <a:rPr lang="en-US" dirty="0"/>
              <a:t>30</a:t>
            </a:r>
          </a:p>
          <a:p>
            <a:r>
              <a:rPr lang="en-US" dirty="0"/>
              <a:t>31		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# Stop the mixer </a:t>
            </a:r>
          </a:p>
          <a:p>
            <a:r>
              <a:rPr lang="en-US" dirty="0"/>
              <a:t>32		</a:t>
            </a:r>
            <a:r>
              <a:rPr lang="en-US" dirty="0" err="1"/>
              <a:t>mixer.music.stop</a:t>
            </a:r>
            <a:r>
              <a:rPr lang="en-US" dirty="0"/>
              <a:t>() </a:t>
            </a:r>
          </a:p>
          <a:p>
            <a:r>
              <a:rPr lang="en-US" dirty="0"/>
              <a:t>33		break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069728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DarkSeed_2SEEDS">
      <a:dk1>
        <a:srgbClr val="000000"/>
      </a:dk1>
      <a:lt1>
        <a:srgbClr val="FFFFFF"/>
      </a:lt1>
      <a:dk2>
        <a:srgbClr val="1B2C30"/>
      </a:dk2>
      <a:lt2>
        <a:srgbClr val="F3F1F0"/>
      </a:lt2>
      <a:accent1>
        <a:srgbClr val="17AED5"/>
      </a:accent1>
      <a:accent2>
        <a:srgbClr val="20B596"/>
      </a:accent2>
      <a:accent3>
        <a:srgbClr val="2971E7"/>
      </a:accent3>
      <a:accent4>
        <a:srgbClr val="D51731"/>
      </a:accent4>
      <a:accent5>
        <a:srgbClr val="E75E29"/>
      </a:accent5>
      <a:accent6>
        <a:srgbClr val="D19817"/>
      </a:accent6>
      <a:hlink>
        <a:srgbClr val="A14EC4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4169</Words>
  <Application>Microsoft Macintosh PowerPoint</Application>
  <PresentationFormat>Widescreen</PresentationFormat>
  <Paragraphs>516</Paragraphs>
  <Slides>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Century Gothic</vt:lpstr>
      <vt:lpstr>Arial</vt:lpstr>
      <vt:lpstr>inter-regular</vt:lpstr>
      <vt:lpstr>BrushVTI</vt:lpstr>
      <vt:lpstr>Python – Library (Built-in Modules)</vt:lpstr>
      <vt:lpstr>Highlights!</vt:lpstr>
      <vt:lpstr>Library in Python</vt:lpstr>
      <vt:lpstr>PowerPoint Presentation</vt:lpstr>
      <vt:lpstr>pygame preparation</vt:lpstr>
      <vt:lpstr>PowerPoint Presentation</vt:lpstr>
      <vt:lpstr>PowerPoint Presentation</vt:lpstr>
      <vt:lpstr>PowerPoint Presentation</vt:lpstr>
      <vt:lpstr>pygame time()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pygame.event.post() method</vt:lpstr>
      <vt:lpstr>PowerPoint Presentation</vt:lpstr>
      <vt:lpstr>PowerPoint Presentation</vt:lpstr>
      <vt:lpstr>Display text to pygame window</vt:lpstr>
      <vt:lpstr>Moving an Image with mouse</vt:lpstr>
      <vt:lpstr>pygame advance (creating interactive button)</vt:lpstr>
      <vt:lpstr>Moving an object in pygame</vt:lpstr>
      <vt:lpstr>Playing audio file in Pygame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– The Programming Language</dc:title>
  <dc:creator>M.M. Mahbubul Syeed</dc:creator>
  <cp:lastModifiedBy>Razib Hayat Khan</cp:lastModifiedBy>
  <cp:revision>33</cp:revision>
  <dcterms:created xsi:type="dcterms:W3CDTF">2021-11-24T14:43:08Z</dcterms:created>
  <dcterms:modified xsi:type="dcterms:W3CDTF">2024-05-19T17:47:11Z</dcterms:modified>
</cp:coreProperties>
</file>