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6858000" cx="12192000"/>
  <p:notesSz cx="6858000" cy="9144000"/>
  <p:embeddedFontLst>
    <p:embeddedFont>
      <p:font typeface="Century Gothic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4" roundtripDataSignature="AMtx7mg1uaQKYJbIYapAcGghDklUoIEx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9452E5-4818-474F-B23A-36F902D53909}">
  <a:tblStyle styleId="{F29452E5-4818-474F-B23A-36F902D53909}" styleName="Table_0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1F7"/>
          </a:solidFill>
        </a:fill>
      </a:tcStyle>
    </a:wholeTbl>
    <a:band1H>
      <a:tcTxStyle b="off" i="off"/>
      <a:tcStyle>
        <a:fill>
          <a:solidFill>
            <a:srgbClr val="CAE3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E3EF"/>
          </a:solidFill>
        </a:fill>
      </a:tcStyle>
    </a:band1V>
    <a:band2V>
      <a:tcTxStyle b="off" i="off"/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CenturyGothic-bold.fntdata"/><Relationship Id="rId50" Type="http://schemas.openxmlformats.org/officeDocument/2006/relationships/font" Target="fonts/CenturyGothic-regular.fntdata"/><Relationship Id="rId53" Type="http://schemas.openxmlformats.org/officeDocument/2006/relationships/font" Target="fonts/CenturyGothic-boldItalic.fntdata"/><Relationship Id="rId52" Type="http://schemas.openxmlformats.org/officeDocument/2006/relationships/font" Target="fonts/CenturyGothic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0" name="Google Shape;360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9" name="Google Shape;369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9" name="Google Shape;379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4" name="Google Shape;394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5" name="Google Shape;405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3" name="Google Shape;413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4" name="Google Shape;424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4" name="Google Shape;434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4" name="Google Shape;444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4" name="Google Shape;454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5" name="Google Shape;465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6" name="Google Shape;476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8" name="Google Shape;488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2" name="Google Shape;502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5" name="Google Shape;515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0" name="Google Shape;520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1" name="Google Shape;521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1" name="Google Shape;531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0" name="Google Shape;540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16" name="Google Shape;16;p46"/>
          <p:cNvSpPr/>
          <p:nvPr/>
        </p:nvSpPr>
        <p:spPr>
          <a:xfrm flipH="1">
            <a:off x="2599854" y="527562"/>
            <a:ext cx="6992292" cy="5102484"/>
          </a:xfrm>
          <a:custGeom>
            <a:rect b="b" l="l" r="r" t="t"/>
            <a:pathLst>
              <a:path extrusionOk="0" h="5025119" w="6886274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" name="Google Shape;17;p46"/>
          <p:cNvSpPr txBox="1"/>
          <p:nvPr>
            <p:ph type="ctrTitle"/>
          </p:nvPr>
        </p:nvSpPr>
        <p:spPr>
          <a:xfrm>
            <a:off x="1508760" y="1591056"/>
            <a:ext cx="5705856" cy="32644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6"/>
          <p:cNvSpPr txBox="1"/>
          <p:nvPr>
            <p:ph idx="1" type="subTitle"/>
          </p:nvPr>
        </p:nvSpPr>
        <p:spPr>
          <a:xfrm>
            <a:off x="1524000" y="4928616"/>
            <a:ext cx="5705856" cy="996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cap="none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23" name="Google Shape;23;p47"/>
          <p:cNvSpPr/>
          <p:nvPr/>
        </p:nvSpPr>
        <p:spPr>
          <a:xfrm flipH="1">
            <a:off x="1" y="315111"/>
            <a:ext cx="3021543" cy="1435442"/>
          </a:xfrm>
          <a:custGeom>
            <a:rect b="b" l="l" r="r" t="t"/>
            <a:pathLst>
              <a:path extrusionOk="0" h="1435442" w="3021543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" name="Google Shape;24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7"/>
          <p:cNvSpPr txBox="1"/>
          <p:nvPr>
            <p:ph idx="1" type="body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30" name="Google Shape;30;p48"/>
          <p:cNvSpPr/>
          <p:nvPr/>
        </p:nvSpPr>
        <p:spPr>
          <a:xfrm>
            <a:off x="7209816" y="0"/>
            <a:ext cx="4143984" cy="5747660"/>
          </a:xfrm>
          <a:custGeom>
            <a:rect b="b" l="l" r="r" t="t"/>
            <a:pathLst>
              <a:path extrusionOk="0" h="5956080" w="384375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" name="Google Shape;31;p48"/>
          <p:cNvSpPr txBox="1"/>
          <p:nvPr>
            <p:ph type="title"/>
          </p:nvPr>
        </p:nvSpPr>
        <p:spPr>
          <a:xfrm>
            <a:off x="831850" y="1078991"/>
            <a:ext cx="5266944" cy="31363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8"/>
          <p:cNvSpPr txBox="1"/>
          <p:nvPr>
            <p:ph idx="1" type="body"/>
          </p:nvPr>
        </p:nvSpPr>
        <p:spPr>
          <a:xfrm>
            <a:off x="831850" y="4279392"/>
            <a:ext cx="5266944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cap="none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37" name="Google Shape;37;p49"/>
          <p:cNvSpPr/>
          <p:nvPr/>
        </p:nvSpPr>
        <p:spPr>
          <a:xfrm flipH="1">
            <a:off x="1" y="315111"/>
            <a:ext cx="3021543" cy="1435442"/>
          </a:xfrm>
          <a:custGeom>
            <a:rect b="b" l="l" r="r" t="t"/>
            <a:pathLst>
              <a:path extrusionOk="0" h="1435442" w="3021543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" name="Google Shape;38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9"/>
          <p:cNvSpPr txBox="1"/>
          <p:nvPr>
            <p:ph idx="1" type="body"/>
          </p:nvPr>
        </p:nvSpPr>
        <p:spPr>
          <a:xfrm>
            <a:off x="838200" y="2011680"/>
            <a:ext cx="4937760" cy="416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9"/>
          <p:cNvSpPr txBox="1"/>
          <p:nvPr>
            <p:ph idx="2" type="body"/>
          </p:nvPr>
        </p:nvSpPr>
        <p:spPr>
          <a:xfrm>
            <a:off x="6419088" y="2011680"/>
            <a:ext cx="4937760" cy="416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45" name="Google Shape;45;p50"/>
          <p:cNvSpPr/>
          <p:nvPr/>
        </p:nvSpPr>
        <p:spPr>
          <a:xfrm flipH="1">
            <a:off x="1" y="315111"/>
            <a:ext cx="3021543" cy="1435442"/>
          </a:xfrm>
          <a:custGeom>
            <a:rect b="b" l="l" r="r" t="t"/>
            <a:pathLst>
              <a:path extrusionOk="0" h="1435442" w="3021543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" name="Google Shape;46;p5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0"/>
          <p:cNvSpPr txBox="1"/>
          <p:nvPr>
            <p:ph idx="1" type="body"/>
          </p:nvPr>
        </p:nvSpPr>
        <p:spPr>
          <a:xfrm>
            <a:off x="839788" y="2011680"/>
            <a:ext cx="4937760" cy="9509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50"/>
          <p:cNvSpPr txBox="1"/>
          <p:nvPr>
            <p:ph idx="2" type="body"/>
          </p:nvPr>
        </p:nvSpPr>
        <p:spPr>
          <a:xfrm>
            <a:off x="839788" y="3127248"/>
            <a:ext cx="493776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50"/>
          <p:cNvSpPr txBox="1"/>
          <p:nvPr>
            <p:ph idx="3" type="body"/>
          </p:nvPr>
        </p:nvSpPr>
        <p:spPr>
          <a:xfrm>
            <a:off x="6419088" y="2011680"/>
            <a:ext cx="4937760" cy="9509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50"/>
          <p:cNvSpPr txBox="1"/>
          <p:nvPr>
            <p:ph idx="4" type="body"/>
          </p:nvPr>
        </p:nvSpPr>
        <p:spPr>
          <a:xfrm>
            <a:off x="6419088" y="3127248"/>
            <a:ext cx="493776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55" name="Google Shape;55;p51"/>
          <p:cNvSpPr/>
          <p:nvPr/>
        </p:nvSpPr>
        <p:spPr>
          <a:xfrm flipH="1">
            <a:off x="1969639" y="181596"/>
            <a:ext cx="8252722" cy="6022258"/>
          </a:xfrm>
          <a:custGeom>
            <a:rect b="b" l="l" r="r" t="t"/>
            <a:pathLst>
              <a:path extrusionOk="0" h="5025119" w="6886274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" name="Google Shape;56;p51"/>
          <p:cNvSpPr txBox="1"/>
          <p:nvPr>
            <p:ph type="title"/>
          </p:nvPr>
        </p:nvSpPr>
        <p:spPr>
          <a:xfrm>
            <a:off x="2843784" y="1572768"/>
            <a:ext cx="6501384" cy="4096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 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Mask ID=&#10;Mask position=bottom, center&#10;Mask family= brushstroke, landscape, wide" id="65" name="Google Shape;65;p53"/>
          <p:cNvSpPr/>
          <p:nvPr/>
        </p:nvSpPr>
        <p:spPr>
          <a:xfrm>
            <a:off x="1768100" y="-1"/>
            <a:ext cx="10423900" cy="5920155"/>
          </a:xfrm>
          <a:custGeom>
            <a:rect b="b" l="l" r="r" t="t"/>
            <a:pathLst>
              <a:path extrusionOk="0" h="5491534" w="10423900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70" name="Google Shape;70;p54"/>
          <p:cNvSpPr/>
          <p:nvPr/>
        </p:nvSpPr>
        <p:spPr>
          <a:xfrm>
            <a:off x="4726728" y="0"/>
            <a:ext cx="7472381" cy="6858000"/>
          </a:xfrm>
          <a:custGeom>
            <a:rect b="b" l="l" r="r" t="t"/>
            <a:pathLst>
              <a:path extrusionOk="0" h="6886575" w="7472381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71;p54"/>
          <p:cNvSpPr txBox="1"/>
          <p:nvPr>
            <p:ph type="title"/>
          </p:nvPr>
        </p:nvSpPr>
        <p:spPr>
          <a:xfrm>
            <a:off x="839788" y="640080"/>
            <a:ext cx="3886200" cy="29535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4"/>
          <p:cNvSpPr txBox="1"/>
          <p:nvPr>
            <p:ph idx="1" type="body"/>
          </p:nvPr>
        </p:nvSpPr>
        <p:spPr>
          <a:xfrm>
            <a:off x="7059168" y="640080"/>
            <a:ext cx="4489704" cy="5596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54"/>
          <p:cNvSpPr txBox="1"/>
          <p:nvPr>
            <p:ph idx="2" type="body"/>
          </p:nvPr>
        </p:nvSpPr>
        <p:spPr>
          <a:xfrm>
            <a:off x="839788" y="3776472"/>
            <a:ext cx="38862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78" name="Google Shape;78;p55"/>
          <p:cNvSpPr/>
          <p:nvPr/>
        </p:nvSpPr>
        <p:spPr>
          <a:xfrm>
            <a:off x="684965" y="1332237"/>
            <a:ext cx="5263732" cy="3841102"/>
          </a:xfrm>
          <a:custGeom>
            <a:rect b="b" l="l" r="r" t="t"/>
            <a:pathLst>
              <a:path extrusionOk="0" h="5025119" w="6886274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55"/>
          <p:cNvSpPr txBox="1"/>
          <p:nvPr>
            <p:ph type="title"/>
          </p:nvPr>
        </p:nvSpPr>
        <p:spPr>
          <a:xfrm>
            <a:off x="1399032" y="2523744"/>
            <a:ext cx="3831336" cy="14538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5"/>
          <p:cNvSpPr/>
          <p:nvPr>
            <p:ph idx="2" type="pic"/>
          </p:nvPr>
        </p:nvSpPr>
        <p:spPr>
          <a:xfrm>
            <a:off x="6711696" y="640079"/>
            <a:ext cx="4837176" cy="5568696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55"/>
          <p:cNvSpPr txBox="1"/>
          <p:nvPr>
            <p:ph idx="1" type="body"/>
          </p:nvPr>
        </p:nvSpPr>
        <p:spPr>
          <a:xfrm>
            <a:off x="1655064" y="4087368"/>
            <a:ext cx="3319272" cy="649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cap="none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2" name="Google Shape;82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b="0" i="0" sz="4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jpg"/><Relationship Id="rId4" Type="http://schemas.openxmlformats.org/officeDocument/2006/relationships/image" Target="../media/image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jpg"/><Relationship Id="rId4" Type="http://schemas.openxmlformats.org/officeDocument/2006/relationships/image" Target="../media/image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3" name="Google Shape;103;p1"/>
          <p:cNvSpPr txBox="1"/>
          <p:nvPr>
            <p:ph type="ctrTitle"/>
          </p:nvPr>
        </p:nvSpPr>
        <p:spPr>
          <a:xfrm>
            <a:off x="1329446" y="4331242"/>
            <a:ext cx="10100170" cy="6829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entury Gothic"/>
              <a:buNone/>
            </a:pPr>
            <a:r>
              <a:rPr b="1" lang="en-US" sz="3700"/>
              <a:t>Python – Loops (iteration)</a:t>
            </a:r>
            <a:endParaRPr/>
          </a:p>
        </p:txBody>
      </p:sp>
      <p:pic>
        <p:nvPicPr>
          <p:cNvPr descr="Aerial view of beach and waves" id="104" name="Google Shape;104;p1"/>
          <p:cNvPicPr preferRelativeResize="0"/>
          <p:nvPr/>
        </p:nvPicPr>
        <p:blipFill rotWithShape="1">
          <a:blip r:embed="rId3">
            <a:alphaModFix/>
          </a:blip>
          <a:srcRect b="32796" l="0" r="0" t="29137"/>
          <a:stretch/>
        </p:blipFill>
        <p:spPr>
          <a:xfrm>
            <a:off x="838201" y="10"/>
            <a:ext cx="10484412" cy="3811394"/>
          </a:xfrm>
          <a:custGeom>
            <a:rect b="b" l="l" r="r" t="t"/>
            <a:pathLst>
              <a:path extrusionOk="0" h="3811404" w="10484412">
                <a:moveTo>
                  <a:pt x="0" y="3811403"/>
                </a:moveTo>
                <a:lnTo>
                  <a:pt x="10484412" y="3811403"/>
                </a:lnTo>
                <a:lnTo>
                  <a:pt x="10484412" y="3811404"/>
                </a:lnTo>
                <a:lnTo>
                  <a:pt x="0" y="3811404"/>
                </a:lnTo>
                <a:close/>
                <a:moveTo>
                  <a:pt x="181717" y="0"/>
                </a:moveTo>
                <a:lnTo>
                  <a:pt x="10224015" y="0"/>
                </a:lnTo>
                <a:cubicBezTo>
                  <a:pt x="10261561" y="45054"/>
                  <a:pt x="10301611" y="85103"/>
                  <a:pt x="10369193" y="110134"/>
                </a:cubicBezTo>
                <a:cubicBezTo>
                  <a:pt x="10321635" y="167704"/>
                  <a:pt x="10236530" y="182722"/>
                  <a:pt x="10173954" y="222771"/>
                </a:cubicBezTo>
                <a:cubicBezTo>
                  <a:pt x="10168948" y="255310"/>
                  <a:pt x="10269071" y="245298"/>
                  <a:pt x="10241537" y="317887"/>
                </a:cubicBezTo>
                <a:cubicBezTo>
                  <a:pt x="10206494" y="418008"/>
                  <a:pt x="10241537" y="528142"/>
                  <a:pt x="10071328" y="573196"/>
                </a:cubicBezTo>
                <a:cubicBezTo>
                  <a:pt x="10023770" y="668312"/>
                  <a:pt x="10008751" y="820997"/>
                  <a:pt x="10113880" y="913610"/>
                </a:cubicBezTo>
                <a:cubicBezTo>
                  <a:pt x="10271573" y="1048774"/>
                  <a:pt x="10244040" y="1138885"/>
                  <a:pt x="10036285" y="1216478"/>
                </a:cubicBezTo>
                <a:cubicBezTo>
                  <a:pt x="10011255" y="1226491"/>
                  <a:pt x="9978715" y="1231497"/>
                  <a:pt x="9966200" y="1256528"/>
                </a:cubicBezTo>
                <a:cubicBezTo>
                  <a:pt x="9986224" y="1289067"/>
                  <a:pt x="10031280" y="1281557"/>
                  <a:pt x="10063819" y="1289067"/>
                </a:cubicBezTo>
                <a:cubicBezTo>
                  <a:pt x="10211500" y="1324110"/>
                  <a:pt x="10214003" y="1324110"/>
                  <a:pt x="10176457" y="1441752"/>
                </a:cubicBezTo>
                <a:cubicBezTo>
                  <a:pt x="10163942" y="1476795"/>
                  <a:pt x="10188972" y="1491813"/>
                  <a:pt x="10211500" y="1511838"/>
                </a:cubicBezTo>
                <a:cubicBezTo>
                  <a:pt x="10296604" y="1591936"/>
                  <a:pt x="10296604" y="1594439"/>
                  <a:pt x="10206494" y="1664523"/>
                </a:cubicBezTo>
                <a:cubicBezTo>
                  <a:pt x="10181463" y="1684547"/>
                  <a:pt x="10163942" y="1704572"/>
                  <a:pt x="10151426" y="1732106"/>
                </a:cubicBezTo>
                <a:cubicBezTo>
                  <a:pt x="10128899" y="1782166"/>
                  <a:pt x="10128899" y="1822216"/>
                  <a:pt x="10208996" y="1847246"/>
                </a:cubicBezTo>
                <a:cubicBezTo>
                  <a:pt x="10266568" y="1864767"/>
                  <a:pt x="10296604" y="1884791"/>
                  <a:pt x="10299107" y="1939858"/>
                </a:cubicBezTo>
                <a:cubicBezTo>
                  <a:pt x="10299107" y="1987416"/>
                  <a:pt x="10306617" y="2017452"/>
                  <a:pt x="10244040" y="2037477"/>
                </a:cubicBezTo>
                <a:cubicBezTo>
                  <a:pt x="10193979" y="2054998"/>
                  <a:pt x="10178960" y="2090041"/>
                  <a:pt x="10183966" y="2130089"/>
                </a:cubicBezTo>
                <a:cubicBezTo>
                  <a:pt x="10193979" y="2230211"/>
                  <a:pt x="10126396" y="2287781"/>
                  <a:pt x="10013758" y="2335339"/>
                </a:cubicBezTo>
                <a:cubicBezTo>
                  <a:pt x="9908629" y="2377890"/>
                  <a:pt x="9813513" y="2437963"/>
                  <a:pt x="9715893" y="2493030"/>
                </a:cubicBezTo>
                <a:cubicBezTo>
                  <a:pt x="9605758" y="2553103"/>
                  <a:pt x="9480605" y="2590649"/>
                  <a:pt x="9347942" y="2623189"/>
                </a:cubicBezTo>
                <a:cubicBezTo>
                  <a:pt x="9370469" y="2665740"/>
                  <a:pt x="9453071" y="2640710"/>
                  <a:pt x="9460580" y="2700783"/>
                </a:cubicBezTo>
                <a:cubicBezTo>
                  <a:pt x="9255329" y="2753346"/>
                  <a:pt x="9060089" y="2833444"/>
                  <a:pt x="8827305" y="2855971"/>
                </a:cubicBezTo>
                <a:cubicBezTo>
                  <a:pt x="9015035" y="2843456"/>
                  <a:pt x="9182740" y="2908535"/>
                  <a:pt x="9360458" y="2926056"/>
                </a:cubicBezTo>
                <a:cubicBezTo>
                  <a:pt x="9377980" y="2961099"/>
                  <a:pt x="9337930" y="2951087"/>
                  <a:pt x="9322912" y="2958595"/>
                </a:cubicBezTo>
                <a:cubicBezTo>
                  <a:pt x="9307893" y="2963602"/>
                  <a:pt x="9287869" y="2966105"/>
                  <a:pt x="9285366" y="2991135"/>
                </a:cubicBezTo>
                <a:cubicBezTo>
                  <a:pt x="9370469" y="3023675"/>
                  <a:pt x="9478102" y="2998644"/>
                  <a:pt x="9565709" y="3033687"/>
                </a:cubicBezTo>
                <a:cubicBezTo>
                  <a:pt x="9543182" y="3083748"/>
                  <a:pt x="9468090" y="3056214"/>
                  <a:pt x="9435550" y="3096263"/>
                </a:cubicBezTo>
                <a:cubicBezTo>
                  <a:pt x="9518151" y="3101269"/>
                  <a:pt x="9593243" y="3103772"/>
                  <a:pt x="9668335" y="3113784"/>
                </a:cubicBezTo>
                <a:cubicBezTo>
                  <a:pt x="9725905" y="3121294"/>
                  <a:pt x="9740924" y="3163845"/>
                  <a:pt x="9700875" y="3193882"/>
                </a:cubicBezTo>
                <a:cubicBezTo>
                  <a:pt x="9665832" y="3221415"/>
                  <a:pt x="9613268" y="3223918"/>
                  <a:pt x="9565709" y="3236434"/>
                </a:cubicBezTo>
                <a:cubicBezTo>
                  <a:pt x="9232801" y="3319034"/>
                  <a:pt x="8882372" y="3351573"/>
                  <a:pt x="8529440" y="3364088"/>
                </a:cubicBezTo>
                <a:cubicBezTo>
                  <a:pt x="7961245" y="3386616"/>
                  <a:pt x="7393049" y="3394125"/>
                  <a:pt x="6827357" y="3419155"/>
                </a:cubicBezTo>
                <a:cubicBezTo>
                  <a:pt x="6481933" y="3434173"/>
                  <a:pt x="6136510" y="3456701"/>
                  <a:pt x="5788584" y="3456701"/>
                </a:cubicBezTo>
                <a:cubicBezTo>
                  <a:pt x="5415628" y="3456701"/>
                  <a:pt x="5042671" y="3464210"/>
                  <a:pt x="4669714" y="3411646"/>
                </a:cubicBezTo>
                <a:cubicBezTo>
                  <a:pt x="4479481" y="3384113"/>
                  <a:pt x="4279236" y="3396628"/>
                  <a:pt x="4086500" y="3376603"/>
                </a:cubicBezTo>
                <a:cubicBezTo>
                  <a:pt x="3793641" y="3346568"/>
                  <a:pt x="3500782" y="3306518"/>
                  <a:pt x="3210426" y="3256458"/>
                </a:cubicBezTo>
                <a:cubicBezTo>
                  <a:pt x="3117813" y="3241439"/>
                  <a:pt x="3007678" y="3231428"/>
                  <a:pt x="2937592" y="3166348"/>
                </a:cubicBezTo>
                <a:cubicBezTo>
                  <a:pt x="2824954" y="3211403"/>
                  <a:pt x="2757372" y="3131305"/>
                  <a:pt x="2669765" y="3106275"/>
                </a:cubicBezTo>
                <a:cubicBezTo>
                  <a:pt x="2634722" y="3096263"/>
                  <a:pt x="2592169" y="3081245"/>
                  <a:pt x="2597176" y="3048705"/>
                </a:cubicBezTo>
                <a:cubicBezTo>
                  <a:pt x="2604685" y="3006154"/>
                  <a:pt x="2654746" y="2978620"/>
                  <a:pt x="2702304" y="2986130"/>
                </a:cubicBezTo>
                <a:cubicBezTo>
                  <a:pt x="2849986" y="3011160"/>
                  <a:pt x="2985150" y="2948584"/>
                  <a:pt x="3137838" y="2956093"/>
                </a:cubicBezTo>
                <a:cubicBezTo>
                  <a:pt x="3005175" y="2933565"/>
                  <a:pt x="2872513" y="2908535"/>
                  <a:pt x="2739850" y="2886007"/>
                </a:cubicBezTo>
                <a:cubicBezTo>
                  <a:pt x="2940095" y="2863480"/>
                  <a:pt x="3132831" y="2896020"/>
                  <a:pt x="3328071" y="2913541"/>
                </a:cubicBezTo>
                <a:cubicBezTo>
                  <a:pt x="3390647" y="2921050"/>
                  <a:pt x="3485763" y="2968608"/>
                  <a:pt x="3503285" y="2898523"/>
                </a:cubicBezTo>
                <a:cubicBezTo>
                  <a:pt x="3513297" y="2850965"/>
                  <a:pt x="3410671" y="2850965"/>
                  <a:pt x="3350598" y="2838450"/>
                </a:cubicBezTo>
                <a:cubicBezTo>
                  <a:pt x="3090279" y="2785886"/>
                  <a:pt x="2824954" y="2758353"/>
                  <a:pt x="2562133" y="2725813"/>
                </a:cubicBezTo>
                <a:cubicBezTo>
                  <a:pt x="2537102" y="2723310"/>
                  <a:pt x="2504562" y="2725813"/>
                  <a:pt x="2487041" y="2715801"/>
                </a:cubicBezTo>
                <a:cubicBezTo>
                  <a:pt x="2354378" y="2633200"/>
                  <a:pt x="2184170" y="2608170"/>
                  <a:pt x="1998943" y="2548097"/>
                </a:cubicBezTo>
                <a:cubicBezTo>
                  <a:pt x="2116587" y="2515558"/>
                  <a:pt x="2196685" y="2575630"/>
                  <a:pt x="2294304" y="2560612"/>
                </a:cubicBezTo>
                <a:cubicBezTo>
                  <a:pt x="2196685" y="2498036"/>
                  <a:pt x="2079041" y="2488024"/>
                  <a:pt x="1978918" y="2455485"/>
                </a:cubicBezTo>
                <a:cubicBezTo>
                  <a:pt x="1906330" y="2430454"/>
                  <a:pt x="1635999" y="2357866"/>
                  <a:pt x="1595950" y="2335339"/>
                </a:cubicBezTo>
                <a:cubicBezTo>
                  <a:pt x="1473299" y="2267756"/>
                  <a:pt x="1315606" y="2237720"/>
                  <a:pt x="1215483" y="2145108"/>
                </a:cubicBezTo>
                <a:cubicBezTo>
                  <a:pt x="1145398" y="2080028"/>
                  <a:pt x="1025251" y="2095047"/>
                  <a:pt x="942649" y="2049992"/>
                </a:cubicBezTo>
                <a:cubicBezTo>
                  <a:pt x="912613" y="2004937"/>
                  <a:pt x="972686" y="1994925"/>
                  <a:pt x="992711" y="1969894"/>
                </a:cubicBezTo>
                <a:cubicBezTo>
                  <a:pt x="1020244" y="1939858"/>
                  <a:pt x="972686" y="1922337"/>
                  <a:pt x="960170" y="1884791"/>
                </a:cubicBezTo>
                <a:cubicBezTo>
                  <a:pt x="1117863" y="1922337"/>
                  <a:pt x="1268048" y="1944864"/>
                  <a:pt x="1448268" y="1957380"/>
                </a:cubicBezTo>
                <a:cubicBezTo>
                  <a:pt x="1390698" y="1897306"/>
                  <a:pt x="1318109" y="1927343"/>
                  <a:pt x="1270551" y="1904815"/>
                </a:cubicBezTo>
                <a:cubicBezTo>
                  <a:pt x="1238011" y="1889797"/>
                  <a:pt x="1190453" y="1884791"/>
                  <a:pt x="1200466" y="1849749"/>
                </a:cubicBezTo>
                <a:cubicBezTo>
                  <a:pt x="1207974" y="1822216"/>
                  <a:pt x="1248023" y="1824718"/>
                  <a:pt x="1278060" y="1827221"/>
                </a:cubicBezTo>
                <a:cubicBezTo>
                  <a:pt x="1393201" y="1834730"/>
                  <a:pt x="1503336" y="1834730"/>
                  <a:pt x="1615974" y="1764645"/>
                </a:cubicBezTo>
                <a:cubicBezTo>
                  <a:pt x="1338134" y="1669530"/>
                  <a:pt x="1015238" y="1717087"/>
                  <a:pt x="767434" y="1576917"/>
                </a:cubicBezTo>
                <a:cubicBezTo>
                  <a:pt x="802477" y="1531862"/>
                  <a:pt x="852539" y="1554390"/>
                  <a:pt x="890085" y="1559396"/>
                </a:cubicBezTo>
                <a:cubicBezTo>
                  <a:pt x="1132882" y="1591936"/>
                  <a:pt x="2003949" y="1514341"/>
                  <a:pt x="2129102" y="1556893"/>
                </a:cubicBezTo>
                <a:cubicBezTo>
                  <a:pt x="2204195" y="1584426"/>
                  <a:pt x="2286796" y="1594439"/>
                  <a:pt x="2369396" y="1576917"/>
                </a:cubicBezTo>
                <a:cubicBezTo>
                  <a:pt x="2469519" y="1554390"/>
                  <a:pt x="1881298" y="1519347"/>
                  <a:pt x="1746133" y="1421728"/>
                </a:cubicBezTo>
                <a:cubicBezTo>
                  <a:pt x="1678551" y="1374170"/>
                  <a:pt x="1082821" y="1146394"/>
                  <a:pt x="819999" y="1083817"/>
                </a:cubicBezTo>
                <a:cubicBezTo>
                  <a:pt x="857545" y="1041266"/>
                  <a:pt x="952662" y="1066296"/>
                  <a:pt x="940146" y="993707"/>
                </a:cubicBezTo>
                <a:cubicBezTo>
                  <a:pt x="794969" y="956162"/>
                  <a:pt x="627263" y="961168"/>
                  <a:pt x="459558" y="903598"/>
                </a:cubicBezTo>
                <a:cubicBezTo>
                  <a:pt x="537153" y="858543"/>
                  <a:pt x="622257" y="883573"/>
                  <a:pt x="699852" y="868556"/>
                </a:cubicBezTo>
                <a:cubicBezTo>
                  <a:pt x="657300" y="813489"/>
                  <a:pt x="582208" y="823500"/>
                  <a:pt x="522134" y="813489"/>
                </a:cubicBezTo>
                <a:cubicBezTo>
                  <a:pt x="464564" y="803476"/>
                  <a:pt x="349423" y="708360"/>
                  <a:pt x="374453" y="713367"/>
                </a:cubicBezTo>
                <a:cubicBezTo>
                  <a:pt x="607238" y="750912"/>
                  <a:pt x="842526" y="735895"/>
                  <a:pt x="1075312" y="773440"/>
                </a:cubicBezTo>
                <a:cubicBezTo>
                  <a:pt x="1152907" y="785955"/>
                  <a:pt x="1238011" y="810986"/>
                  <a:pt x="1275557" y="728385"/>
                </a:cubicBezTo>
                <a:cubicBezTo>
                  <a:pt x="1285569" y="703355"/>
                  <a:pt x="1278060" y="695846"/>
                  <a:pt x="1385692" y="725882"/>
                </a:cubicBezTo>
                <a:cubicBezTo>
                  <a:pt x="1425741" y="738397"/>
                  <a:pt x="1483311" y="750912"/>
                  <a:pt x="1525863" y="718373"/>
                </a:cubicBezTo>
                <a:cubicBezTo>
                  <a:pt x="1498330" y="678325"/>
                  <a:pt x="1445765" y="690839"/>
                  <a:pt x="1408219" y="680828"/>
                </a:cubicBezTo>
                <a:cubicBezTo>
                  <a:pt x="1305594" y="653294"/>
                  <a:pt x="922624" y="548166"/>
                  <a:pt x="825005" y="518129"/>
                </a:cubicBezTo>
                <a:cubicBezTo>
                  <a:pt x="619754" y="453051"/>
                  <a:pt x="492098" y="475578"/>
                  <a:pt x="286846" y="405492"/>
                </a:cubicBezTo>
                <a:cubicBezTo>
                  <a:pt x="356932" y="407995"/>
                  <a:pt x="336907" y="380462"/>
                  <a:pt x="406993" y="380462"/>
                </a:cubicBezTo>
                <a:cubicBezTo>
                  <a:pt x="437030" y="380462"/>
                  <a:pt x="472073" y="372954"/>
                  <a:pt x="472073" y="342917"/>
                </a:cubicBezTo>
                <a:cubicBezTo>
                  <a:pt x="472073" y="315384"/>
                  <a:pt x="104123" y="170207"/>
                  <a:pt x="156686" y="155188"/>
                </a:cubicBezTo>
                <a:cubicBezTo>
                  <a:pt x="301865" y="115140"/>
                  <a:pt x="667312" y="227777"/>
                  <a:pt x="579705" y="175213"/>
                </a:cubicBezTo>
                <a:cubicBezTo>
                  <a:pt x="447042" y="92613"/>
                  <a:pt x="427018" y="77594"/>
                  <a:pt x="326895" y="67583"/>
                </a:cubicBezTo>
                <a:cubicBezTo>
                  <a:pt x="296858" y="62576"/>
                  <a:pt x="244294" y="35043"/>
                  <a:pt x="181717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descr="Logo&#10;&#10;Description automatically generated" id="105" name="Google Shape;10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830" y="3590767"/>
            <a:ext cx="2374629" cy="682908"/>
          </a:xfrm>
          <a:custGeom>
            <a:rect b="b" l="l" r="r" t="t"/>
            <a:pathLst>
              <a:path extrusionOk="0" fill="none" h="682908" w="2374629">
                <a:moveTo>
                  <a:pt x="0" y="0"/>
                </a:moveTo>
                <a:cubicBezTo>
                  <a:pt x="131428" y="-36206"/>
                  <a:pt x="429568" y="49038"/>
                  <a:pt x="593657" y="0"/>
                </a:cubicBezTo>
                <a:cubicBezTo>
                  <a:pt x="757746" y="-49038"/>
                  <a:pt x="1097918" y="53842"/>
                  <a:pt x="1234807" y="0"/>
                </a:cubicBezTo>
                <a:cubicBezTo>
                  <a:pt x="1371696" y="-53842"/>
                  <a:pt x="2054204" y="66126"/>
                  <a:pt x="2374629" y="0"/>
                </a:cubicBezTo>
                <a:cubicBezTo>
                  <a:pt x="2405002" y="162524"/>
                  <a:pt x="2371205" y="264958"/>
                  <a:pt x="2374629" y="334625"/>
                </a:cubicBezTo>
                <a:cubicBezTo>
                  <a:pt x="2378053" y="404292"/>
                  <a:pt x="2347794" y="576645"/>
                  <a:pt x="2374629" y="682908"/>
                </a:cubicBezTo>
                <a:cubicBezTo>
                  <a:pt x="2238559" y="706138"/>
                  <a:pt x="2022244" y="650700"/>
                  <a:pt x="1757225" y="682908"/>
                </a:cubicBezTo>
                <a:cubicBezTo>
                  <a:pt x="1492206" y="715116"/>
                  <a:pt x="1476653" y="629947"/>
                  <a:pt x="1234807" y="682908"/>
                </a:cubicBezTo>
                <a:cubicBezTo>
                  <a:pt x="992961" y="735869"/>
                  <a:pt x="919868" y="629849"/>
                  <a:pt x="712389" y="682908"/>
                </a:cubicBezTo>
                <a:cubicBezTo>
                  <a:pt x="504910" y="735967"/>
                  <a:pt x="305855" y="663304"/>
                  <a:pt x="0" y="682908"/>
                </a:cubicBezTo>
                <a:cubicBezTo>
                  <a:pt x="-18065" y="557586"/>
                  <a:pt x="6995" y="450320"/>
                  <a:pt x="0" y="348283"/>
                </a:cubicBezTo>
                <a:cubicBezTo>
                  <a:pt x="-6995" y="246247"/>
                  <a:pt x="2488" y="107054"/>
                  <a:pt x="0" y="0"/>
                </a:cubicBezTo>
                <a:close/>
              </a:path>
              <a:path extrusionOk="0" h="682908" w="2374629">
                <a:moveTo>
                  <a:pt x="0" y="0"/>
                </a:moveTo>
                <a:cubicBezTo>
                  <a:pt x="311661" y="-61020"/>
                  <a:pt x="325144" y="53203"/>
                  <a:pt x="641150" y="0"/>
                </a:cubicBezTo>
                <a:cubicBezTo>
                  <a:pt x="957156" y="-53203"/>
                  <a:pt x="959195" y="19220"/>
                  <a:pt x="1234807" y="0"/>
                </a:cubicBezTo>
                <a:cubicBezTo>
                  <a:pt x="1510419" y="-19220"/>
                  <a:pt x="1584655" y="38722"/>
                  <a:pt x="1780972" y="0"/>
                </a:cubicBezTo>
                <a:cubicBezTo>
                  <a:pt x="1977289" y="-38722"/>
                  <a:pt x="2190607" y="69537"/>
                  <a:pt x="2374629" y="0"/>
                </a:cubicBezTo>
                <a:cubicBezTo>
                  <a:pt x="2385325" y="132255"/>
                  <a:pt x="2363129" y="182532"/>
                  <a:pt x="2374629" y="341454"/>
                </a:cubicBezTo>
                <a:cubicBezTo>
                  <a:pt x="2386129" y="500376"/>
                  <a:pt x="2370081" y="556976"/>
                  <a:pt x="2374629" y="682908"/>
                </a:cubicBezTo>
                <a:cubicBezTo>
                  <a:pt x="2124574" y="704019"/>
                  <a:pt x="1976947" y="673626"/>
                  <a:pt x="1780972" y="682908"/>
                </a:cubicBezTo>
                <a:cubicBezTo>
                  <a:pt x="1584997" y="692190"/>
                  <a:pt x="1379907" y="658257"/>
                  <a:pt x="1258553" y="682908"/>
                </a:cubicBezTo>
                <a:cubicBezTo>
                  <a:pt x="1137199" y="707559"/>
                  <a:pt x="917106" y="632366"/>
                  <a:pt x="712389" y="682908"/>
                </a:cubicBezTo>
                <a:cubicBezTo>
                  <a:pt x="507672" y="733450"/>
                  <a:pt x="205418" y="628160"/>
                  <a:pt x="0" y="682908"/>
                </a:cubicBezTo>
                <a:cubicBezTo>
                  <a:pt x="-31526" y="607460"/>
                  <a:pt x="16314" y="448776"/>
                  <a:pt x="0" y="361941"/>
                </a:cubicBezTo>
                <a:cubicBezTo>
                  <a:pt x="-16314" y="275106"/>
                  <a:pt x="37469" y="142419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06" name="Google Shape;106;p1"/>
          <p:cNvSpPr txBox="1"/>
          <p:nvPr>
            <p:ph idx="1" type="subTitle"/>
          </p:nvPr>
        </p:nvSpPr>
        <p:spPr>
          <a:xfrm>
            <a:off x="1524000" y="5071718"/>
            <a:ext cx="9144000" cy="646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/>
              <a:t>M M Mahbubul syeed, phd. Associate professor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Highlight</a:t>
            </a:r>
            <a:endParaRPr/>
          </a:p>
        </p:txBody>
      </p:sp>
      <p:sp>
        <p:nvSpPr>
          <p:cNvPr id="113" name="Google Shape;113;p2"/>
          <p:cNvSpPr txBox="1"/>
          <p:nvPr>
            <p:ph idx="1" type="body"/>
          </p:nvPr>
        </p:nvSpPr>
        <p:spPr>
          <a:xfrm>
            <a:off x="721468" y="2177050"/>
            <a:ext cx="10515600" cy="3143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Loop</a:t>
            </a:r>
            <a:r>
              <a:rPr lang="en-US" sz="2000"/>
              <a:t> – what is it!!??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Types of Loop.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Use of Loop with examples.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Understanding fundamental building blocks of loop.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Understand in detail how to construct a loop from a problem definition.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Distinction between loop and a conditional statement!</a:t>
            </a:r>
            <a:endParaRPr/>
          </a:p>
        </p:txBody>
      </p:sp>
      <p:pic>
        <p:nvPicPr>
          <p:cNvPr descr="Logo&#10;&#10;Description automatically generated" id="114" name="Google Shape;1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/>
          <p:nvPr/>
        </p:nvSpPr>
        <p:spPr>
          <a:xfrm flipH="1">
            <a:off x="2599854" y="527562"/>
            <a:ext cx="6992292" cy="5102484"/>
          </a:xfrm>
          <a:custGeom>
            <a:rect b="b" l="l" r="r" t="t"/>
            <a:pathLst>
              <a:path extrusionOk="0" h="5025119" w="6886274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2" name="Google Shape;122;p3"/>
          <p:cNvSpPr/>
          <p:nvPr/>
        </p:nvSpPr>
        <p:spPr>
          <a:xfrm flipH="1">
            <a:off x="0" y="0"/>
            <a:ext cx="5962785" cy="6858000"/>
          </a:xfrm>
          <a:custGeom>
            <a:rect b="b" l="l" r="r" t="t"/>
            <a:pathLst>
              <a:path extrusionOk="0" h="6858000" w="5962785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3" name="Google Shape;123;p3"/>
          <p:cNvSpPr txBox="1"/>
          <p:nvPr>
            <p:ph type="title"/>
          </p:nvPr>
        </p:nvSpPr>
        <p:spPr>
          <a:xfrm>
            <a:off x="643468" y="643467"/>
            <a:ext cx="4620584" cy="4567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</a:pPr>
            <a:r>
              <a:rPr b="1" i="1" lang="en-US"/>
              <a:t>Loop</a:t>
            </a:r>
            <a:endParaRPr i="1"/>
          </a:p>
        </p:txBody>
      </p:sp>
      <p:pic>
        <p:nvPicPr>
          <p:cNvPr id="124" name="Google Shape;12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199" y="1453905"/>
            <a:ext cx="4233333" cy="47037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125" name="Google Shape;1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Loop – What is it?!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335280" y="1727509"/>
            <a:ext cx="6035040" cy="1701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 general, statements are executed sequentially!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There are many situations when we need to execute a block of code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several number of times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4101" y="1168589"/>
            <a:ext cx="4160351" cy="462261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4" name="Google Shape;134;p4"/>
          <p:cNvSpPr txBox="1"/>
          <p:nvPr/>
        </p:nvSpPr>
        <p:spPr>
          <a:xfrm>
            <a:off x="541868" y="4304715"/>
            <a:ext cx="5279812" cy="61555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loop statement allows us to execute a statement or group of statements multiple times.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" name="Google Shape;135;p4"/>
          <p:cNvCxnSpPr>
            <a:stCxn id="134" idx="3"/>
          </p:cNvCxnSpPr>
          <p:nvPr/>
        </p:nvCxnSpPr>
        <p:spPr>
          <a:xfrm flipH="1" rot="10800000">
            <a:off x="5821680" y="4053892"/>
            <a:ext cx="1554600" cy="5586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Logo&#10;&#10;Description automatically generated" id="136" name="Google Shape;13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Type of Loops</a:t>
            </a:r>
            <a:endParaRPr/>
          </a:p>
        </p:txBody>
      </p:sp>
      <p:graphicFrame>
        <p:nvGraphicFramePr>
          <p:cNvPr id="143" name="Google Shape;143;p5"/>
          <p:cNvGraphicFramePr/>
          <p:nvPr/>
        </p:nvGraphicFramePr>
        <p:xfrm>
          <a:off x="1429966" y="21887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{F29452E5-4818-474F-B23A-36F902D53909}</a:tableStyleId>
              </a:tblPr>
              <a:tblGrid>
                <a:gridCol w="1497325"/>
                <a:gridCol w="70892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Loop Type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Description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while loop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Repeats a statement or group of statements while a given condition is TRUE. It tests the condition before executing the loop body.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for loop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Executes a sequence of statements multiple times and abbreviates the code that manages the loop variable.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nested loops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You can use one or more loop inside any another while, or for loop.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descr="Logo&#10;&#10;Description automatically generated" id="144" name="Google Shape;14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 txBox="1"/>
          <p:nvPr>
            <p:ph type="title"/>
          </p:nvPr>
        </p:nvSpPr>
        <p:spPr>
          <a:xfrm>
            <a:off x="216309" y="795234"/>
            <a:ext cx="5196894" cy="4567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</a:pPr>
            <a:r>
              <a:rPr b="1" lang="en-US"/>
              <a:t>while Loop</a:t>
            </a:r>
            <a:endParaRPr i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while Loop</a:t>
            </a:r>
            <a:endParaRPr/>
          </a:p>
        </p:txBody>
      </p:sp>
      <p:pic>
        <p:nvPicPr>
          <p:cNvPr id="157" name="Google Shape;1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2177" y="1406013"/>
            <a:ext cx="3317507" cy="4887979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8" name="Google Shape;158;p7"/>
          <p:cNvSpPr txBox="1"/>
          <p:nvPr/>
        </p:nvSpPr>
        <p:spPr>
          <a:xfrm>
            <a:off x="422316" y="1726343"/>
            <a:ext cx="6902612" cy="4632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while loop </a:t>
            </a: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statement in Python programming language repeatedly executes a target statement if a given condition is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true</a:t>
            </a: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Syntax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while</a:t>
            </a: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expression: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Here,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statement(s)</a:t>
            </a: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may be a single statement or a block of statements with uniform indent.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The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condition</a:t>
            </a: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may be any expression.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loop iterates </a:t>
            </a: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while the condition is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true</a:t>
            </a: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When the condition becomes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false</a:t>
            </a: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program control passes to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line immediately following the loop</a:t>
            </a: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59" name="Google Shape;15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while Loop</a:t>
            </a:r>
            <a:endParaRPr/>
          </a:p>
        </p:txBody>
      </p:sp>
      <p:pic>
        <p:nvPicPr>
          <p:cNvPr id="166" name="Google Shape;16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2177" y="1406013"/>
            <a:ext cx="3317507" cy="4887979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7" name="Google Shape;167;p8"/>
          <p:cNvSpPr txBox="1"/>
          <p:nvPr/>
        </p:nvSpPr>
        <p:spPr>
          <a:xfrm>
            <a:off x="537453" y="1882940"/>
            <a:ext cx="4443109" cy="2783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 </a:t>
            </a: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'The count is:'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"Good bye!"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" name="Google Shape;168;p8"/>
          <p:cNvCxnSpPr/>
          <p:nvPr/>
        </p:nvCxnSpPr>
        <p:spPr>
          <a:xfrm>
            <a:off x="3307404" y="2782111"/>
            <a:ext cx="2130358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9" name="Google Shape;169;p8"/>
          <p:cNvSpPr txBox="1"/>
          <p:nvPr/>
        </p:nvSpPr>
        <p:spPr>
          <a:xfrm>
            <a:off x="5758415" y="2597445"/>
            <a:ext cx="1819729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Loop Condition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4980562" y="3083668"/>
            <a:ext cx="457200" cy="992218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1" name="Google Shape;171;p8"/>
          <p:cNvSpPr txBox="1"/>
          <p:nvPr/>
        </p:nvSpPr>
        <p:spPr>
          <a:xfrm>
            <a:off x="5758414" y="3207362"/>
            <a:ext cx="2340705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Loop Body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Must be indented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" name="Google Shape;172;p8"/>
          <p:cNvCxnSpPr/>
          <p:nvPr/>
        </p:nvCxnSpPr>
        <p:spPr>
          <a:xfrm>
            <a:off x="3307404" y="4464996"/>
            <a:ext cx="2130358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3" name="Google Shape;173;p8"/>
          <p:cNvSpPr txBox="1"/>
          <p:nvPr/>
        </p:nvSpPr>
        <p:spPr>
          <a:xfrm>
            <a:off x="5758414" y="4160285"/>
            <a:ext cx="2607373" cy="1400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First instruction after Loop.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instruction executed right after the loop ends.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74" name="Google Shape;1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while Loop</a:t>
            </a:r>
            <a:endParaRPr/>
          </a:p>
        </p:txBody>
      </p:sp>
      <p:sp>
        <p:nvSpPr>
          <p:cNvPr id="181" name="Google Shape;181;p9"/>
          <p:cNvSpPr txBox="1"/>
          <p:nvPr/>
        </p:nvSpPr>
        <p:spPr>
          <a:xfrm>
            <a:off x="537453" y="1882940"/>
            <a:ext cx="4443109" cy="2783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 </a:t>
            </a: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'The count is:'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"Good bye!"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p9"/>
          <p:cNvCxnSpPr/>
          <p:nvPr/>
        </p:nvCxnSpPr>
        <p:spPr>
          <a:xfrm>
            <a:off x="3307404" y="2782111"/>
            <a:ext cx="2130358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3" name="Google Shape;183;p9"/>
          <p:cNvSpPr txBox="1"/>
          <p:nvPr/>
        </p:nvSpPr>
        <p:spPr>
          <a:xfrm>
            <a:off x="5758415" y="2597445"/>
            <a:ext cx="1819729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Loop Condition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4980562" y="3083668"/>
            <a:ext cx="457200" cy="992218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5" name="Google Shape;185;p9"/>
          <p:cNvSpPr txBox="1"/>
          <p:nvPr/>
        </p:nvSpPr>
        <p:spPr>
          <a:xfrm>
            <a:off x="5758414" y="3207362"/>
            <a:ext cx="2340705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Loop Body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Must be indented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" name="Google Shape;186;p9"/>
          <p:cNvCxnSpPr/>
          <p:nvPr/>
        </p:nvCxnSpPr>
        <p:spPr>
          <a:xfrm>
            <a:off x="3307404" y="4464996"/>
            <a:ext cx="2130358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7" name="Google Shape;187;p9"/>
          <p:cNvSpPr txBox="1"/>
          <p:nvPr/>
        </p:nvSpPr>
        <p:spPr>
          <a:xfrm>
            <a:off x="5758414" y="4160285"/>
            <a:ext cx="2607373" cy="1400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First instruction after Loop.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instruction executed right after the loop ends.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9566188" y="2597445"/>
            <a:ext cx="2130358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count is: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count is: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count is: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count is: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count is: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count is: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count is: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count is: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count is: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Good bye!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9"/>
          <p:cNvSpPr txBox="1"/>
          <p:nvPr/>
        </p:nvSpPr>
        <p:spPr>
          <a:xfrm>
            <a:off x="9338552" y="1982916"/>
            <a:ext cx="10454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90" name="Google Shape;19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64466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while Loop - Example</a:t>
            </a:r>
            <a:endParaRPr/>
          </a:p>
        </p:txBody>
      </p:sp>
      <p:sp>
        <p:nvSpPr>
          <p:cNvPr id="197" name="Google Shape;197;p10"/>
          <p:cNvSpPr txBox="1"/>
          <p:nvPr/>
        </p:nvSpPr>
        <p:spPr>
          <a:xfrm>
            <a:off x="537453" y="1882940"/>
            <a:ext cx="4443109" cy="2783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 </a:t>
            </a: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'The count is:'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"Good bye!"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10"/>
          <p:cNvCxnSpPr/>
          <p:nvPr/>
        </p:nvCxnSpPr>
        <p:spPr>
          <a:xfrm>
            <a:off x="3307404" y="2782111"/>
            <a:ext cx="2130358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9" name="Google Shape;199;p10"/>
          <p:cNvSpPr txBox="1"/>
          <p:nvPr/>
        </p:nvSpPr>
        <p:spPr>
          <a:xfrm>
            <a:off x="5758415" y="2597445"/>
            <a:ext cx="1819729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Loop Condition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4980562" y="3083668"/>
            <a:ext cx="457200" cy="992218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1" name="Google Shape;201;p10"/>
          <p:cNvSpPr txBox="1"/>
          <p:nvPr/>
        </p:nvSpPr>
        <p:spPr>
          <a:xfrm>
            <a:off x="5758414" y="3207362"/>
            <a:ext cx="2340705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Loop Body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Must be indented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202;p10"/>
          <p:cNvCxnSpPr/>
          <p:nvPr/>
        </p:nvCxnSpPr>
        <p:spPr>
          <a:xfrm>
            <a:off x="3307404" y="4464996"/>
            <a:ext cx="2130358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3" name="Google Shape;203;p10"/>
          <p:cNvSpPr txBox="1"/>
          <p:nvPr/>
        </p:nvSpPr>
        <p:spPr>
          <a:xfrm>
            <a:off x="5758414" y="4160285"/>
            <a:ext cx="2607373" cy="1400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First instruction after Loop.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instruction executed right after the loop ends.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"/>
          <p:cNvSpPr txBox="1"/>
          <p:nvPr/>
        </p:nvSpPr>
        <p:spPr>
          <a:xfrm>
            <a:off x="9566188" y="2597445"/>
            <a:ext cx="2130358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count is: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count is: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count is: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count is: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count is: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count is: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count is: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count is: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count is: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Good bye!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0"/>
          <p:cNvSpPr txBox="1"/>
          <p:nvPr/>
        </p:nvSpPr>
        <p:spPr>
          <a:xfrm>
            <a:off x="9338552" y="1982916"/>
            <a:ext cx="10454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206" name="Google Shape;20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while Loop vs Conditional Statement</a:t>
            </a:r>
            <a:endParaRPr/>
          </a:p>
        </p:txBody>
      </p:sp>
      <p:sp>
        <p:nvSpPr>
          <p:cNvPr id="213" name="Google Shape;213;p11"/>
          <p:cNvSpPr txBox="1"/>
          <p:nvPr/>
        </p:nvSpPr>
        <p:spPr>
          <a:xfrm>
            <a:off x="527725" y="1844030"/>
            <a:ext cx="4443109" cy="2783198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 </a:t>
            </a: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'The count is:'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"Good bye!"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1"/>
          <p:cNvSpPr txBox="1"/>
          <p:nvPr/>
        </p:nvSpPr>
        <p:spPr>
          <a:xfrm>
            <a:off x="6195708" y="1844030"/>
            <a:ext cx="4443109" cy="2783198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 </a:t>
            </a: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'The count is:'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"Good bye!"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ape&#10;&#10;Description automatically generated" id="215" name="Google Shape;215;p11"/>
          <p:cNvPicPr preferRelativeResize="0"/>
          <p:nvPr/>
        </p:nvPicPr>
        <p:blipFill rotWithShape="1">
          <a:blip r:embed="rId3">
            <a:alphaModFix/>
          </a:blip>
          <a:srcRect b="3920" l="6779" r="12912" t="19840"/>
          <a:stretch/>
        </p:blipFill>
        <p:spPr>
          <a:xfrm>
            <a:off x="4883285" y="4780570"/>
            <a:ext cx="1498059" cy="1422163"/>
          </a:xfrm>
          <a:prstGeom prst="ellipse">
            <a:avLst/>
          </a:prstGeom>
          <a:noFill/>
          <a:ln>
            <a:noFill/>
          </a:ln>
        </p:spPr>
      </p:pic>
      <p:sp>
        <p:nvSpPr>
          <p:cNvPr id="216" name="Google Shape;216;p11"/>
          <p:cNvSpPr txBox="1"/>
          <p:nvPr/>
        </p:nvSpPr>
        <p:spPr>
          <a:xfrm>
            <a:off x="527725" y="4780570"/>
            <a:ext cx="12041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1"/>
          <p:cNvSpPr txBox="1"/>
          <p:nvPr/>
        </p:nvSpPr>
        <p:spPr>
          <a:xfrm>
            <a:off x="6691819" y="4780570"/>
            <a:ext cx="12041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218" name="Google Shape;21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Loop – Example</a:t>
            </a:r>
            <a:endParaRPr/>
          </a:p>
        </p:txBody>
      </p:sp>
      <p:sp>
        <p:nvSpPr>
          <p:cNvPr id="225" name="Google Shape;225;p12"/>
          <p:cNvSpPr txBox="1"/>
          <p:nvPr/>
        </p:nvSpPr>
        <p:spPr>
          <a:xfrm>
            <a:off x="450308" y="1782873"/>
            <a:ext cx="11077500" cy="4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entury Gothic"/>
              <a:buAutoNum type="arabicPeriod"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Write a program in Python to display the first 10 natural numbers.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entury Gothic"/>
              <a:buAutoNum type="arabicPeriod"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Write a Python program to find the sum of first 10 natural numbers.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entury Gothic"/>
              <a:buAutoNum type="arabicPeriod"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Write a Python program to find the sum of series 1+3+5+7..+N.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entury Gothic"/>
              <a:buAutoNum type="arabicPeriod"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Write a Python Program to find the sum of series 1^2+2^2+3^2...+N^2.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entury Gothic"/>
              <a:buAutoNum type="arabicPeriod"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Write a Python Program to find the sum of series 1^1+2^2+3^3...+N^N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entury Gothic"/>
              <a:buAutoNum type="arabicPeriod"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Write a Python Program to read the CGPAs of 5 students and print the max CGPA, min CGPA and average CGPA.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Write a Python program to display the cube of the number upto given an integer.</a:t>
            </a:r>
            <a:endParaRPr b="0" i="0" sz="17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Write a Python program to display the multiplication table of a given integer.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Write a Python program to display the n terms of odd natural number and their sum.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Write a Python program to calculate the factorial of a given number.</a:t>
            </a:r>
            <a:endParaRPr b="0" i="0" sz="17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Logo&#10;&#10;Description automatically generated" id="226" name="Google Shape;22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Loop – Example</a:t>
            </a:r>
            <a:endParaRPr/>
          </a:p>
        </p:txBody>
      </p:sp>
      <p:sp>
        <p:nvSpPr>
          <p:cNvPr id="233" name="Google Shape;233;p13"/>
          <p:cNvSpPr txBox="1"/>
          <p:nvPr/>
        </p:nvSpPr>
        <p:spPr>
          <a:xfrm>
            <a:off x="450308" y="1492878"/>
            <a:ext cx="11077373" cy="434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entury Gothic"/>
              <a:buAutoNum type="arabicPeriod"/>
            </a:pPr>
            <a:r>
              <a:rPr b="1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Write a program in Python to display the first 10 natural numbers.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450308" y="2506613"/>
            <a:ext cx="5327922" cy="4153711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Python code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start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end =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while start &lt;= end: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print(start)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start = start + 1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6413772" y="2506613"/>
            <a:ext cx="5327922" cy="4153711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Your Idea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236" name="Google Shape;23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Loop – Example</a:t>
            </a:r>
            <a:endParaRPr/>
          </a:p>
        </p:txBody>
      </p:sp>
      <p:sp>
        <p:nvSpPr>
          <p:cNvPr id="243" name="Google Shape;243;p14"/>
          <p:cNvSpPr txBox="1"/>
          <p:nvPr/>
        </p:nvSpPr>
        <p:spPr>
          <a:xfrm>
            <a:off x="489218" y="1549410"/>
            <a:ext cx="11077373" cy="434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2. Write a Python program to find the sum of first 10 natural numbers.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4"/>
          <p:cNvSpPr/>
          <p:nvPr/>
        </p:nvSpPr>
        <p:spPr>
          <a:xfrm>
            <a:off x="450308" y="2506613"/>
            <a:ext cx="5327922" cy="4153711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Python code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start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end =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sum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While start &lt;= end: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sum = sum + start     # sum += start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start = start + 1          # start +=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print(‘Sum is: ’, sum)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6413772" y="2506613"/>
            <a:ext cx="5327922" cy="4153711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Your Idea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246" name="Google Shape;24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Loop – Example</a:t>
            </a:r>
            <a:endParaRPr/>
          </a:p>
        </p:txBody>
      </p:sp>
      <p:sp>
        <p:nvSpPr>
          <p:cNvPr id="253" name="Google Shape;253;p15"/>
          <p:cNvSpPr txBox="1"/>
          <p:nvPr/>
        </p:nvSpPr>
        <p:spPr>
          <a:xfrm>
            <a:off x="469763" y="1573956"/>
            <a:ext cx="11077373" cy="434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3. Write a Python Program to find the sum of series 1^2+2^2+3^2...+N^2.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5"/>
          <p:cNvSpPr/>
          <p:nvPr/>
        </p:nvSpPr>
        <p:spPr>
          <a:xfrm>
            <a:off x="450308" y="2506613"/>
            <a:ext cx="5327922" cy="4153711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Python code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start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end = int(input(‘Enter series end value: ’))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sum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while start &lt;=end: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sum = sum + pow(start, 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start +=1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print(‘Power summation is: ’, sum)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5"/>
          <p:cNvSpPr/>
          <p:nvPr/>
        </p:nvSpPr>
        <p:spPr>
          <a:xfrm>
            <a:off x="6413772" y="2506613"/>
            <a:ext cx="5327922" cy="4153711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Your Idea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256" name="Google Shape;25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Loop – Example</a:t>
            </a:r>
            <a:endParaRPr/>
          </a:p>
        </p:txBody>
      </p:sp>
      <p:sp>
        <p:nvSpPr>
          <p:cNvPr id="263" name="Google Shape;263;p16"/>
          <p:cNvSpPr txBox="1"/>
          <p:nvPr/>
        </p:nvSpPr>
        <p:spPr>
          <a:xfrm>
            <a:off x="430853" y="1568865"/>
            <a:ext cx="11077373" cy="4148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5. Write a Python program to calculate the factorial of a given number.</a:t>
            </a:r>
            <a:endParaRPr b="1" i="0" sz="17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4" name="Google Shape;264;p16"/>
          <p:cNvSpPr/>
          <p:nvPr/>
        </p:nvSpPr>
        <p:spPr>
          <a:xfrm>
            <a:off x="450308" y="2506613"/>
            <a:ext cx="5327922" cy="4153711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Python code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6"/>
          <p:cNvSpPr/>
          <p:nvPr/>
        </p:nvSpPr>
        <p:spPr>
          <a:xfrm>
            <a:off x="6413772" y="2506613"/>
            <a:ext cx="5327922" cy="4153711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Your Idea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266" name="Google Shape;26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Loop – Example (Solution sheet)</a:t>
            </a:r>
            <a:endParaRPr/>
          </a:p>
        </p:txBody>
      </p:sp>
      <p:sp>
        <p:nvSpPr>
          <p:cNvPr id="273" name="Google Shape;273;p17"/>
          <p:cNvSpPr txBox="1"/>
          <p:nvPr/>
        </p:nvSpPr>
        <p:spPr>
          <a:xfrm>
            <a:off x="625002" y="1863485"/>
            <a:ext cx="2118198" cy="1477328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&lt;=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</a:t>
            </a: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4" name="Google Shape;274;p17"/>
          <p:cNvSpPr txBox="1"/>
          <p:nvPr/>
        </p:nvSpPr>
        <p:spPr>
          <a:xfrm>
            <a:off x="4292330" y="1863485"/>
            <a:ext cx="6094378" cy="2308324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&lt;=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'Sum of 10 natural numbers are: '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7"/>
          <p:cNvSpPr txBox="1"/>
          <p:nvPr/>
        </p:nvSpPr>
        <p:spPr>
          <a:xfrm>
            <a:off x="2823453" y="4344606"/>
            <a:ext cx="6094378" cy="2308324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'Enter Series end Number: '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&lt;=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+=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'Sum of </a:t>
            </a:r>
            <a:r>
              <a:rPr b="0" i="0" lang="en-US" sz="18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0" i="0" lang="en-US" sz="18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natural numbers are: '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7"/>
          <p:cNvSpPr txBox="1"/>
          <p:nvPr/>
        </p:nvSpPr>
        <p:spPr>
          <a:xfrm>
            <a:off x="437744" y="1494153"/>
            <a:ext cx="13676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Problem: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7"/>
          <p:cNvSpPr txBox="1"/>
          <p:nvPr/>
        </p:nvSpPr>
        <p:spPr>
          <a:xfrm>
            <a:off x="4173166" y="1494153"/>
            <a:ext cx="13676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Problem: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7"/>
          <p:cNvSpPr txBox="1"/>
          <p:nvPr/>
        </p:nvSpPr>
        <p:spPr>
          <a:xfrm>
            <a:off x="1059166" y="4445540"/>
            <a:ext cx="13676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Problem: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279" name="Google Shape;27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Loop – Example (Solution sheet)</a:t>
            </a:r>
            <a:endParaRPr/>
          </a:p>
        </p:txBody>
      </p:sp>
      <p:sp>
        <p:nvSpPr>
          <p:cNvPr id="286" name="Google Shape;286;p18"/>
          <p:cNvSpPr txBox="1"/>
          <p:nvPr/>
        </p:nvSpPr>
        <p:spPr>
          <a:xfrm>
            <a:off x="634728" y="1690688"/>
            <a:ext cx="7118217" cy="2308324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'Enter Series end Number: '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&lt;=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+=</a:t>
            </a: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pow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'Sum of </a:t>
            </a:r>
            <a:r>
              <a:rPr b="0" i="0" lang="en-US" sz="18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0" i="0" lang="en-US" sz="18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squared natural numbers are: '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8"/>
          <p:cNvSpPr txBox="1"/>
          <p:nvPr/>
        </p:nvSpPr>
        <p:spPr>
          <a:xfrm>
            <a:off x="3056916" y="4738549"/>
            <a:ext cx="8598441" cy="1754326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multiTable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'Which Multiplication table to generate: '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&lt;=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</a:t>
            </a: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0" i="0" lang="en-US" sz="18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multiTable</a:t>
            </a:r>
            <a:r>
              <a:rPr b="0" i="0" lang="en-US" sz="18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x </a:t>
            </a:r>
            <a:r>
              <a:rPr b="0" i="0" lang="en-US" sz="18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US" sz="18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= '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multiTable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*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8" name="Google Shape;288;p18"/>
          <p:cNvSpPr txBox="1"/>
          <p:nvPr/>
        </p:nvSpPr>
        <p:spPr>
          <a:xfrm>
            <a:off x="8057450" y="1750119"/>
            <a:ext cx="13676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Problem: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8"/>
          <p:cNvSpPr txBox="1"/>
          <p:nvPr/>
        </p:nvSpPr>
        <p:spPr>
          <a:xfrm>
            <a:off x="1264595" y="4797980"/>
            <a:ext cx="13676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Problem: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Loop – Example (Solution sheet)</a:t>
            </a:r>
            <a:endParaRPr/>
          </a:p>
        </p:txBody>
      </p:sp>
      <p:sp>
        <p:nvSpPr>
          <p:cNvPr id="296" name="Google Shape;296;p19"/>
          <p:cNvSpPr txBox="1"/>
          <p:nvPr/>
        </p:nvSpPr>
        <p:spPr>
          <a:xfrm>
            <a:off x="1782593" y="2885370"/>
            <a:ext cx="6094378" cy="2585323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fact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&lt;=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fact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*=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+=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'Factorial of </a:t>
            </a:r>
            <a:r>
              <a:rPr b="0" i="0" lang="en-US" sz="18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i="0" lang="en-US" sz="18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is'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fact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9"/>
          <p:cNvSpPr txBox="1"/>
          <p:nvPr/>
        </p:nvSpPr>
        <p:spPr>
          <a:xfrm>
            <a:off x="768485" y="2334638"/>
            <a:ext cx="14959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Problem: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Loop – Example </a:t>
            </a:r>
            <a:br>
              <a:rPr lang="en-US"/>
            </a:br>
            <a:r>
              <a:rPr lang="en-US"/>
              <a:t>(Solution sheet)</a:t>
            </a:r>
            <a:endParaRPr/>
          </a:p>
        </p:txBody>
      </p:sp>
      <p:sp>
        <p:nvSpPr>
          <p:cNvPr id="304" name="Google Shape;304;p20"/>
          <p:cNvSpPr txBox="1"/>
          <p:nvPr/>
        </p:nvSpPr>
        <p:spPr>
          <a:xfrm>
            <a:off x="768485" y="2334638"/>
            <a:ext cx="3861881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Problem: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Write a Python Program to read the CGPAs of 5 students and print the max CGPA, min CGPA and average CGPA.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5" name="Google Shape;305;p20"/>
          <p:cNvSpPr txBox="1"/>
          <p:nvPr/>
        </p:nvSpPr>
        <p:spPr>
          <a:xfrm>
            <a:off x="5262665" y="594348"/>
            <a:ext cx="6770450" cy="6001643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min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avg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= 5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cgpa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600" u="none" cap="none" strike="noStrike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'Enter CGPA: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</a:t>
            </a:r>
            <a:r>
              <a:rPr b="0" i="0" lang="en-US" sz="1600" u="none" cap="none" strike="noStrik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calculating minimum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</a:t>
            </a:r>
            <a:r>
              <a:rPr b="0" i="0" lang="en-US" sz="16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cgpa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min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min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cgpa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</a:t>
            </a:r>
            <a:r>
              <a:rPr b="0" i="0" lang="en-US" sz="1600" u="none" cap="none" strike="noStrik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#calculating maximum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</a:t>
            </a:r>
            <a:r>
              <a:rPr b="0" i="0" lang="en-US" sz="16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cgpa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cgpa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</a:t>
            </a:r>
            <a:r>
              <a:rPr b="0" i="0" lang="en-US" sz="1600" u="none" cap="none" strike="noStrik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#calculating average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avg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+=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cgpa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avg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avg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/ 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'i =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'mIn CGPA =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min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'Max CGPA =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'Avg CGPA =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avg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while Loop – </a:t>
            </a:r>
            <a:r>
              <a:rPr b="1" lang="en-US"/>
              <a:t>infinite loop</a:t>
            </a:r>
            <a:endParaRPr/>
          </a:p>
        </p:txBody>
      </p:sp>
      <p:pic>
        <p:nvPicPr>
          <p:cNvPr id="312" name="Google Shape;3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2177" y="1406013"/>
            <a:ext cx="3317507" cy="4887979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3" name="Google Shape;313;p21"/>
          <p:cNvSpPr txBox="1"/>
          <p:nvPr/>
        </p:nvSpPr>
        <p:spPr>
          <a:xfrm>
            <a:off x="342900" y="1951410"/>
            <a:ext cx="7400317" cy="3097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✔"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loop becomes </a:t>
            </a:r>
            <a:r>
              <a:rPr b="1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infinite loop </a:t>
            </a: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a condition </a:t>
            </a:r>
            <a:r>
              <a:rPr b="1" i="0" lang="en-US" sz="17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never becomes FALSE</a:t>
            </a: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✔"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results in a loop that </a:t>
            </a:r>
            <a:r>
              <a:rPr b="1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never ends</a:t>
            </a: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✔"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Such a loop is called an infinite loop.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28575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 infinite loop might be useful in client/server programming where the server needs to run continuously so that client programs can communicate with it as and when required.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while Loop – </a:t>
            </a:r>
            <a:r>
              <a:rPr b="1" lang="en-US"/>
              <a:t>infinite loop</a:t>
            </a:r>
            <a:endParaRPr/>
          </a:p>
        </p:txBody>
      </p:sp>
      <p:sp>
        <p:nvSpPr>
          <p:cNvPr id="320" name="Google Shape;320;p22"/>
          <p:cNvSpPr txBox="1"/>
          <p:nvPr/>
        </p:nvSpPr>
        <p:spPr>
          <a:xfrm>
            <a:off x="342900" y="1690688"/>
            <a:ext cx="7400317" cy="9042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✔"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loop becomes </a:t>
            </a:r>
            <a:r>
              <a:rPr b="1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infinite loop </a:t>
            </a: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a condition </a:t>
            </a:r>
            <a:r>
              <a:rPr b="1" i="0" lang="en-US" sz="17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never becomes FALSE</a:t>
            </a: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✔"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results in a loop that </a:t>
            </a:r>
            <a:r>
              <a:rPr b="1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never ends</a:t>
            </a: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2"/>
          <p:cNvSpPr txBox="1"/>
          <p:nvPr/>
        </p:nvSpPr>
        <p:spPr>
          <a:xfrm>
            <a:off x="472546" y="3016251"/>
            <a:ext cx="6534556" cy="2320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7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b="0" i="0" lang="en-US" sz="17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b="0" i="0" lang="en-US" sz="1700" u="none" cap="none" strike="noStrik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This constructs an infinite loop</a:t>
            </a:r>
            <a:endParaRPr b="0" i="0" sz="1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  </a:t>
            </a: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700" u="none" cap="none" strike="noStrike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7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7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"Enter a number :"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  </a:t>
            </a:r>
            <a:r>
              <a:rPr b="0" i="0" lang="en-US" sz="17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7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"You entered: "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7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"Good bye!"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2"/>
          <p:cNvSpPr txBox="1"/>
          <p:nvPr/>
        </p:nvSpPr>
        <p:spPr>
          <a:xfrm>
            <a:off x="7811311" y="2831585"/>
            <a:ext cx="36615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condition never turns False!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472546" y="3526571"/>
            <a:ext cx="6288177" cy="491473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24" name="Google Shape;324;p22"/>
          <p:cNvCxnSpPr>
            <a:stCxn id="323" idx="0"/>
            <a:endCxn id="322" idx="1"/>
          </p:cNvCxnSpPr>
          <p:nvPr/>
        </p:nvCxnSpPr>
        <p:spPr>
          <a:xfrm rot="-5400000">
            <a:off x="5458785" y="1174121"/>
            <a:ext cx="510300" cy="4194600"/>
          </a:xfrm>
          <a:prstGeom prst="bent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Logo&#10;&#10;Description automatically generated" id="325" name="Google Shape;3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while Loop – </a:t>
            </a:r>
            <a:r>
              <a:rPr b="1" lang="en-US"/>
              <a:t>infinite loop</a:t>
            </a:r>
            <a:endParaRPr/>
          </a:p>
        </p:txBody>
      </p:sp>
      <p:sp>
        <p:nvSpPr>
          <p:cNvPr id="332" name="Google Shape;332;p23"/>
          <p:cNvSpPr txBox="1"/>
          <p:nvPr/>
        </p:nvSpPr>
        <p:spPr>
          <a:xfrm>
            <a:off x="342900" y="1690688"/>
            <a:ext cx="7400317" cy="9042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✔"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loop becomes </a:t>
            </a:r>
            <a:r>
              <a:rPr b="1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infinite loop </a:t>
            </a: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a condition </a:t>
            </a:r>
            <a:r>
              <a:rPr b="1" i="0" lang="en-US" sz="17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never becomes FALSE</a:t>
            </a: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✔"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results in a loop that </a:t>
            </a:r>
            <a:r>
              <a:rPr b="1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never ends</a:t>
            </a: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3"/>
          <p:cNvSpPr txBox="1"/>
          <p:nvPr/>
        </p:nvSpPr>
        <p:spPr>
          <a:xfrm>
            <a:off x="472546" y="3016251"/>
            <a:ext cx="6534556" cy="2320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7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b="0" i="0" lang="en-US" sz="17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b="0" i="0" lang="en-US" sz="1700" u="none" cap="none" strike="noStrik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This constructs an infinite loop</a:t>
            </a:r>
            <a:endParaRPr b="0" i="0" sz="1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  </a:t>
            </a: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700" u="none" cap="none" strike="noStrike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7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7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"Enter a number :"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  </a:t>
            </a:r>
            <a:r>
              <a:rPr b="0" i="0" lang="en-US" sz="17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7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"You entered: "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7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7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"Good bye!"</a:t>
            </a:r>
            <a:r>
              <a:rPr b="0" i="0" lang="en-US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3"/>
          <p:cNvSpPr txBox="1"/>
          <p:nvPr/>
        </p:nvSpPr>
        <p:spPr>
          <a:xfrm>
            <a:off x="7278721" y="2930739"/>
            <a:ext cx="5425602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Enter a number :10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 entered: 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Enter a number :10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 entered: 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Enter a number :10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 entered: 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Enter a number :23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 entered:  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Enter a number :^C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Traceback (most recent call last):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File "c:\Users\M SYEED\OneDrive - American International University-Bangladesh\Desktop\Lab19\loop.py", line 3, in &lt;module&gt;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num = int(input("Enter a number :"))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EOFError</a:t>
            </a:r>
            <a:endParaRPr b="0" i="0" sz="1500" u="none" cap="none" strike="noStrike">
              <a:solidFill>
                <a:srgbClr val="FF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5" name="Google Shape;335;p23"/>
          <p:cNvSpPr txBox="1"/>
          <p:nvPr/>
        </p:nvSpPr>
        <p:spPr>
          <a:xfrm>
            <a:off x="7889132" y="2410244"/>
            <a:ext cx="10454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336" name="Google Shape;33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while Loop – </a:t>
            </a:r>
            <a:r>
              <a:rPr b="1" lang="en-US"/>
              <a:t>infinite loop</a:t>
            </a:r>
            <a:endParaRPr/>
          </a:p>
        </p:txBody>
      </p:sp>
      <p:sp>
        <p:nvSpPr>
          <p:cNvPr id="343" name="Google Shape;343;p24"/>
          <p:cNvSpPr txBox="1"/>
          <p:nvPr/>
        </p:nvSpPr>
        <p:spPr>
          <a:xfrm>
            <a:off x="342900" y="1690688"/>
            <a:ext cx="7400317" cy="9042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✔"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loop becomes </a:t>
            </a:r>
            <a:r>
              <a:rPr b="1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infinite loop </a:t>
            </a: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a condition </a:t>
            </a:r>
            <a:r>
              <a:rPr b="1" i="0" lang="en-US" sz="17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never becomes FALSE</a:t>
            </a: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✔"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results in a loop that </a:t>
            </a:r>
            <a:r>
              <a:rPr b="1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never ends</a:t>
            </a: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4"/>
          <p:cNvSpPr txBox="1"/>
          <p:nvPr/>
        </p:nvSpPr>
        <p:spPr>
          <a:xfrm>
            <a:off x="498543" y="3334675"/>
            <a:ext cx="5597457" cy="1530099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b="0" i="0" lang="en-US" sz="1600" u="none" cap="none" strike="noStrik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This constructs an infinite loop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 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600" u="none" cap="none" strike="noStrike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"Enter a number :"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  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"You entered: 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"Good bye!"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4"/>
          <p:cNvSpPr txBox="1"/>
          <p:nvPr/>
        </p:nvSpPr>
        <p:spPr>
          <a:xfrm>
            <a:off x="6753427" y="3334675"/>
            <a:ext cx="5221322" cy="1530099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b="0" i="0" lang="en-US" sz="1600" u="none" cap="none" strike="noStrik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This constructs an infinite loop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 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600" u="none" cap="none" strike="noStrike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"Enter a number :"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  </a:t>
            </a:r>
            <a:r>
              <a:rPr b="0" i="0" lang="en-US" sz="16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"You entered: 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"Good bye!"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4"/>
          <p:cNvSpPr txBox="1"/>
          <p:nvPr/>
        </p:nvSpPr>
        <p:spPr>
          <a:xfrm>
            <a:off x="4027164" y="5787957"/>
            <a:ext cx="41376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Press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Ctrl + C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terminate the loop!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347" name="Google Shape;34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while Loop – </a:t>
            </a:r>
            <a:r>
              <a:rPr b="1" lang="en-US"/>
              <a:t>infinite loop</a:t>
            </a:r>
            <a:endParaRPr/>
          </a:p>
        </p:txBody>
      </p:sp>
      <p:sp>
        <p:nvSpPr>
          <p:cNvPr id="354" name="Google Shape;354;p25"/>
          <p:cNvSpPr txBox="1"/>
          <p:nvPr/>
        </p:nvSpPr>
        <p:spPr>
          <a:xfrm>
            <a:off x="663103" y="1933892"/>
            <a:ext cx="3675434" cy="133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800" u="none" cap="none" strike="noStrike">
                <a:solidFill>
                  <a:srgbClr val="CD313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"i value: 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5"/>
          <p:cNvSpPr txBox="1"/>
          <p:nvPr/>
        </p:nvSpPr>
        <p:spPr>
          <a:xfrm>
            <a:off x="6935821" y="1942035"/>
            <a:ext cx="3704860" cy="1286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How many times it will print?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When will the program end?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356" name="Google Shape;35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while Loop – </a:t>
            </a:r>
            <a:r>
              <a:rPr b="1" lang="en-US"/>
              <a:t>infinite loop</a:t>
            </a:r>
            <a:endParaRPr/>
          </a:p>
        </p:txBody>
      </p:sp>
      <p:sp>
        <p:nvSpPr>
          <p:cNvPr id="363" name="Google Shape;363;p26"/>
          <p:cNvSpPr txBox="1"/>
          <p:nvPr/>
        </p:nvSpPr>
        <p:spPr>
          <a:xfrm>
            <a:off x="663103" y="1933892"/>
            <a:ext cx="3675434" cy="133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800" u="none" cap="none" strike="noStrike">
                <a:solidFill>
                  <a:srgbClr val="CD313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"j value: 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6"/>
          <p:cNvSpPr txBox="1"/>
          <p:nvPr/>
        </p:nvSpPr>
        <p:spPr>
          <a:xfrm>
            <a:off x="6935821" y="1942035"/>
            <a:ext cx="3704860" cy="1286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How many times it will print?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When will the program end?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365" name="Google Shape;36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while Loop – </a:t>
            </a:r>
            <a:r>
              <a:rPr b="1" lang="en-US"/>
              <a:t>infinite loop</a:t>
            </a:r>
            <a:endParaRPr/>
          </a:p>
        </p:txBody>
      </p:sp>
      <p:sp>
        <p:nvSpPr>
          <p:cNvPr id="372" name="Google Shape;372;p27"/>
          <p:cNvSpPr txBox="1"/>
          <p:nvPr/>
        </p:nvSpPr>
        <p:spPr>
          <a:xfrm>
            <a:off x="575554" y="2517551"/>
            <a:ext cx="3675434" cy="1338788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"j value: 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7"/>
          <p:cNvSpPr txBox="1"/>
          <p:nvPr/>
        </p:nvSpPr>
        <p:spPr>
          <a:xfrm>
            <a:off x="680937" y="1533474"/>
            <a:ext cx="6543779" cy="870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 there any difference between the two while loops?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Try to trace output and find the answer. 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4" name="Google Shape;374;p27"/>
          <p:cNvSpPr txBox="1"/>
          <p:nvPr/>
        </p:nvSpPr>
        <p:spPr>
          <a:xfrm>
            <a:off x="7122268" y="2513727"/>
            <a:ext cx="4231532" cy="2169784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'Number: '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"j value: 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'Number: '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375" name="Google Shape;37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8"/>
          <p:cNvSpPr txBox="1"/>
          <p:nvPr>
            <p:ph type="title"/>
          </p:nvPr>
        </p:nvSpPr>
        <p:spPr>
          <a:xfrm>
            <a:off x="216309" y="795234"/>
            <a:ext cx="5196894" cy="4567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</a:pPr>
            <a:r>
              <a:rPr b="1" lang="en-US"/>
              <a:t>Break statement in Loop</a:t>
            </a:r>
            <a:endParaRPr i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break</a:t>
            </a:r>
            <a:r>
              <a:rPr lang="en-US"/>
              <a:t> statement with Loop</a:t>
            </a:r>
            <a:endParaRPr b="1"/>
          </a:p>
        </p:txBody>
      </p:sp>
      <p:sp>
        <p:nvSpPr>
          <p:cNvPr id="388" name="Google Shape;388;p29"/>
          <p:cNvSpPr txBox="1"/>
          <p:nvPr/>
        </p:nvSpPr>
        <p:spPr>
          <a:xfrm>
            <a:off x="717807" y="1909353"/>
            <a:ext cx="10274448" cy="3039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</a:t>
            </a:r>
            <a:r>
              <a:rPr b="1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break</a:t>
            </a: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statement in Python </a:t>
            </a:r>
            <a:r>
              <a:rPr b="1" i="0" lang="en-US" sz="17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terminates the current loop </a:t>
            </a: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 resumes execution at the next statement, just like the traditional break found in C.</a:t>
            </a:r>
            <a:endParaRPr b="1" i="0" sz="17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Syntax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while expression: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    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    if condition: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              </a:t>
            </a:r>
            <a:r>
              <a:rPr b="1" i="0" lang="en-US" sz="17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&#10;&#10;Description automatically generated" id="389" name="Google Shape;38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4534" y="2854560"/>
            <a:ext cx="3062895" cy="3557257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Logo&#10;&#10;Description automatically generated" id="390" name="Google Shape;39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break</a:t>
            </a:r>
            <a:r>
              <a:rPr lang="en-US"/>
              <a:t> statement with Loop</a:t>
            </a:r>
            <a:endParaRPr b="1"/>
          </a:p>
        </p:txBody>
      </p:sp>
      <p:pic>
        <p:nvPicPr>
          <p:cNvPr descr="Diagram&#10;&#10;Description automatically generated" id="397" name="Google Shape;39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2823" y="1718994"/>
            <a:ext cx="3062895" cy="3557257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8" name="Google Shape;398;p30"/>
          <p:cNvSpPr txBox="1"/>
          <p:nvPr/>
        </p:nvSpPr>
        <p:spPr>
          <a:xfrm>
            <a:off x="838200" y="1815326"/>
            <a:ext cx="5747426" cy="2846933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while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&lt;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'i =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+=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</a:t>
            </a:r>
            <a:r>
              <a:rPr b="0" i="0" lang="en-US" sz="16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==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'program breaks out from here!!'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</a:t>
            </a:r>
            <a:r>
              <a:rPr b="0" i="0" lang="en-US" sz="16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break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'The program ends.'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0"/>
          <p:cNvSpPr txBox="1"/>
          <p:nvPr/>
        </p:nvSpPr>
        <p:spPr>
          <a:xfrm>
            <a:off x="9020630" y="5824955"/>
            <a:ext cx="3062895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 =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 = 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 breaks out from here!!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program ends.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0"/>
          <p:cNvSpPr txBox="1"/>
          <p:nvPr/>
        </p:nvSpPr>
        <p:spPr>
          <a:xfrm>
            <a:off x="8162823" y="5455623"/>
            <a:ext cx="10454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401" name="Google Shape;40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else</a:t>
            </a:r>
            <a:r>
              <a:rPr lang="en-US"/>
              <a:t> clause with Loop</a:t>
            </a:r>
            <a:endParaRPr b="1"/>
          </a:p>
        </p:txBody>
      </p:sp>
      <p:sp>
        <p:nvSpPr>
          <p:cNvPr id="408" name="Google Shape;408;p31"/>
          <p:cNvSpPr txBox="1"/>
          <p:nvPr/>
        </p:nvSpPr>
        <p:spPr>
          <a:xfrm>
            <a:off x="630258" y="1862530"/>
            <a:ext cx="10931484" cy="4582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</a:t>
            </a:r>
            <a:r>
              <a:rPr b="1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else</a:t>
            </a: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clause can be used with a loop statement in Python!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1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Else clause gets executed only if: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15938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loop has completed its execution fully </a:t>
            </a:r>
            <a:r>
              <a:rPr b="1" i="0" lang="en-US" sz="17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without</a:t>
            </a:r>
            <a:r>
              <a:rPr b="0" i="0" lang="en-US" sz="17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hitting a break statement / the loop ends normally.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Syntax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while expression: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else: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409" name="Google Shape;40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2"/>
          <p:cNvSpPr txBox="1"/>
          <p:nvPr>
            <p:ph type="title"/>
          </p:nvPr>
        </p:nvSpPr>
        <p:spPr>
          <a:xfrm>
            <a:off x="721468" y="41319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else</a:t>
            </a:r>
            <a:r>
              <a:rPr lang="en-US"/>
              <a:t> clause with Loop - Example</a:t>
            </a:r>
            <a:endParaRPr b="1"/>
          </a:p>
        </p:txBody>
      </p:sp>
      <p:sp>
        <p:nvSpPr>
          <p:cNvPr id="416" name="Google Shape;416;p32"/>
          <p:cNvSpPr txBox="1"/>
          <p:nvPr/>
        </p:nvSpPr>
        <p:spPr>
          <a:xfrm>
            <a:off x="387484" y="1688866"/>
            <a:ext cx="5342107" cy="2308324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while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&lt;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'i =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+=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'The loop executed successfully!'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'The program ends.'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2"/>
          <p:cNvSpPr txBox="1"/>
          <p:nvPr/>
        </p:nvSpPr>
        <p:spPr>
          <a:xfrm>
            <a:off x="6097622" y="1697874"/>
            <a:ext cx="5706894" cy="2800767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while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&lt;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'i =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+=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</a:t>
            </a:r>
            <a:r>
              <a:rPr b="0" i="0" lang="en-US" sz="16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==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</a:t>
            </a:r>
            <a:r>
              <a:rPr b="0" i="0" lang="en-US" sz="16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break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'The loop executed successfully!'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'The program ends.'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2"/>
          <p:cNvSpPr txBox="1"/>
          <p:nvPr/>
        </p:nvSpPr>
        <p:spPr>
          <a:xfrm>
            <a:off x="7405181" y="5710535"/>
            <a:ext cx="326606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 =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 = 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program ends.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2"/>
          <p:cNvSpPr txBox="1"/>
          <p:nvPr/>
        </p:nvSpPr>
        <p:spPr>
          <a:xfrm>
            <a:off x="721468" y="4833372"/>
            <a:ext cx="4065352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 =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 = 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 = 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 = 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loop executed successfully!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program ends.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420" name="Google Shape;42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3"/>
          <p:cNvSpPr/>
          <p:nvPr/>
        </p:nvSpPr>
        <p:spPr>
          <a:xfrm flipH="1">
            <a:off x="2599854" y="527562"/>
            <a:ext cx="6992292" cy="5102484"/>
          </a:xfrm>
          <a:custGeom>
            <a:rect b="b" l="l" r="r" t="t"/>
            <a:pathLst>
              <a:path extrusionOk="0" h="5025119" w="6886274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7" name="Google Shape;427;p3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8" name="Google Shape;428;p33"/>
          <p:cNvSpPr/>
          <p:nvPr/>
        </p:nvSpPr>
        <p:spPr>
          <a:xfrm flipH="1">
            <a:off x="0" y="0"/>
            <a:ext cx="5962785" cy="6858000"/>
          </a:xfrm>
          <a:custGeom>
            <a:rect b="b" l="l" r="r" t="t"/>
            <a:pathLst>
              <a:path extrusionOk="0" h="6858000" w="5962785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9" name="Google Shape;429;p33"/>
          <p:cNvSpPr txBox="1"/>
          <p:nvPr>
            <p:ph type="title"/>
          </p:nvPr>
        </p:nvSpPr>
        <p:spPr>
          <a:xfrm>
            <a:off x="216309" y="795234"/>
            <a:ext cx="5196894" cy="4567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</a:pPr>
            <a:r>
              <a:rPr b="1" lang="en-US"/>
              <a:t>for Loop</a:t>
            </a:r>
            <a:endParaRPr i="1"/>
          </a:p>
        </p:txBody>
      </p:sp>
      <p:pic>
        <p:nvPicPr>
          <p:cNvPr id="430" name="Google Shape;43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1080" y="1106681"/>
            <a:ext cx="5469576" cy="4834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for Loop</a:t>
            </a:r>
            <a:endParaRPr/>
          </a:p>
        </p:txBody>
      </p:sp>
      <p:sp>
        <p:nvSpPr>
          <p:cNvPr id="437" name="Google Shape;437;p34"/>
          <p:cNvSpPr txBox="1"/>
          <p:nvPr/>
        </p:nvSpPr>
        <p:spPr>
          <a:xfrm>
            <a:off x="293652" y="1690688"/>
            <a:ext cx="6123839" cy="2532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 loop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 used for iterating over a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sequence.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8032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8032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tuple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8032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dictionary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8032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8032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string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oogle Shape;43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5560" y="1463722"/>
            <a:ext cx="5469576" cy="483481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4"/>
          <p:cNvSpPr txBox="1"/>
          <p:nvPr/>
        </p:nvSpPr>
        <p:spPr>
          <a:xfrm>
            <a:off x="333053" y="4884843"/>
            <a:ext cx="5900786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is less like the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</a:t>
            </a: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in other programming languages,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Works more like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 iterator </a:t>
            </a: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method as found in other object-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oriented</a:t>
            </a: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programming languages.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440" name="Google Shape;44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for Loop</a:t>
            </a:r>
            <a:endParaRPr/>
          </a:p>
        </p:txBody>
      </p:sp>
      <p:sp>
        <p:nvSpPr>
          <p:cNvPr id="447" name="Google Shape;447;p35"/>
          <p:cNvSpPr txBox="1"/>
          <p:nvPr/>
        </p:nvSpPr>
        <p:spPr>
          <a:xfrm>
            <a:off x="949960" y="3285876"/>
            <a:ext cx="4923719" cy="870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iterating_var in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sequence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460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statements(s)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8" name="Google Shape;44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5560" y="1463722"/>
            <a:ext cx="5469576" cy="483481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35"/>
          <p:cNvSpPr txBox="1"/>
          <p:nvPr/>
        </p:nvSpPr>
        <p:spPr>
          <a:xfrm>
            <a:off x="579120" y="2767449"/>
            <a:ext cx="9925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Syntax: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450" name="Google Shape;450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for Loop</a:t>
            </a:r>
            <a:endParaRPr/>
          </a:p>
        </p:txBody>
      </p:sp>
      <p:sp>
        <p:nvSpPr>
          <p:cNvPr id="457" name="Google Shape;457;p36"/>
          <p:cNvSpPr txBox="1"/>
          <p:nvPr/>
        </p:nvSpPr>
        <p:spPr>
          <a:xfrm>
            <a:off x="7632862" y="1255344"/>
            <a:ext cx="4923719" cy="870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iterating_var in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sequence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460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statements(s)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6"/>
          <p:cNvSpPr txBox="1"/>
          <p:nvPr/>
        </p:nvSpPr>
        <p:spPr>
          <a:xfrm>
            <a:off x="7359298" y="886012"/>
            <a:ext cx="9925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Syntax: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6"/>
          <p:cNvSpPr txBox="1"/>
          <p:nvPr/>
        </p:nvSpPr>
        <p:spPr>
          <a:xfrm>
            <a:off x="7632862" y="2671617"/>
            <a:ext cx="12041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36"/>
          <p:cNvSpPr txBox="1"/>
          <p:nvPr/>
        </p:nvSpPr>
        <p:spPr>
          <a:xfrm>
            <a:off x="386674" y="2310698"/>
            <a:ext cx="6218400" cy="3294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letter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'Python'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'Current Letter :'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letter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fruits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[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'banana'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'apple'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'mango'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f 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fruits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# traversal of List sequence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'Current fruit :'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"Good bye!"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461" name="Google Shape;46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for Loop</a:t>
            </a:r>
            <a:endParaRPr/>
          </a:p>
        </p:txBody>
      </p:sp>
      <p:sp>
        <p:nvSpPr>
          <p:cNvPr id="468" name="Google Shape;468;p37"/>
          <p:cNvSpPr txBox="1"/>
          <p:nvPr/>
        </p:nvSpPr>
        <p:spPr>
          <a:xfrm>
            <a:off x="7632862" y="1255344"/>
            <a:ext cx="4923719" cy="870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iterating_var in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sequence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460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statements(s)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37"/>
          <p:cNvSpPr txBox="1"/>
          <p:nvPr/>
        </p:nvSpPr>
        <p:spPr>
          <a:xfrm>
            <a:off x="7359298" y="886012"/>
            <a:ext cx="9925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Syntax: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7"/>
          <p:cNvSpPr txBox="1"/>
          <p:nvPr/>
        </p:nvSpPr>
        <p:spPr>
          <a:xfrm>
            <a:off x="458820" y="2008771"/>
            <a:ext cx="11019817" cy="23480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range()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function: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function can be used to iterate over a range of values in a sequence (e.g., list, tuples) of values.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Syntax: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range</a:t>
            </a:r>
            <a:r>
              <a:rPr b="0" i="1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(start, stop, step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471" name="Google Shape;47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472" name="Google Shape;47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68881" y="4601506"/>
            <a:ext cx="9109756" cy="200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for Loop</a:t>
            </a:r>
            <a:endParaRPr/>
          </a:p>
        </p:txBody>
      </p:sp>
      <p:sp>
        <p:nvSpPr>
          <p:cNvPr id="479" name="Google Shape;479;p38"/>
          <p:cNvSpPr txBox="1"/>
          <p:nvPr/>
        </p:nvSpPr>
        <p:spPr>
          <a:xfrm>
            <a:off x="333983" y="1473749"/>
            <a:ext cx="11407302" cy="1855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range()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function: This function can be used to iterate over a range of values in a sequence (e.g., list, tuples) of values.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Syntax: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range</a:t>
            </a:r>
            <a:r>
              <a:rPr b="0" i="1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</a:t>
            </a:r>
            <a:r>
              <a:rPr b="0" i="1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start</a:t>
            </a:r>
            <a:r>
              <a:rPr b="0" i="1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b="1" i="1" lang="en-US" sz="1800" u="none" cap="none" strike="noStrike">
                <a:solidFill>
                  <a:srgbClr val="056AB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stop</a:t>
            </a:r>
            <a:r>
              <a:rPr b="0" i="1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b="0" i="1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step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480" name="Google Shape;48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481" name="Google Shape;481;p38"/>
          <p:cNvSpPr txBox="1"/>
          <p:nvPr/>
        </p:nvSpPr>
        <p:spPr>
          <a:xfrm>
            <a:off x="4768177" y="3261221"/>
            <a:ext cx="3509253" cy="323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7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7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700" u="none" cap="none" strike="noStrike">
                <a:solidFill>
                  <a:srgbClr val="267F99"/>
                </a:solidFill>
                <a:latin typeface="Arial"/>
                <a:ea typeface="Arial"/>
                <a:cs typeface="Arial"/>
                <a:sym typeface="Arial"/>
              </a:rPr>
              <a:t>range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7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</a:t>
            </a:r>
            <a:r>
              <a:rPr b="0" i="0" lang="en-US" sz="17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7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7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</a:t>
            </a:r>
            <a:r>
              <a:rPr b="0" i="0" lang="en-US" sz="17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 '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b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b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7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7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700" u="none" cap="none" strike="noStrike">
                <a:solidFill>
                  <a:srgbClr val="267F99"/>
                </a:solidFill>
                <a:latin typeface="Arial"/>
                <a:ea typeface="Arial"/>
                <a:cs typeface="Arial"/>
                <a:sym typeface="Arial"/>
              </a:rPr>
              <a:t>range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7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7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</a:t>
            </a:r>
            <a:r>
              <a:rPr b="0" i="0" lang="en-US" sz="17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7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7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</a:t>
            </a:r>
            <a:r>
              <a:rPr b="0" i="0" lang="en-US" sz="17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 '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b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b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7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7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700" u="none" cap="none" strike="noStrike">
                <a:solidFill>
                  <a:srgbClr val="267F99"/>
                </a:solidFill>
                <a:latin typeface="Arial"/>
                <a:ea typeface="Arial"/>
                <a:cs typeface="Arial"/>
                <a:sym typeface="Arial"/>
              </a:rPr>
              <a:t>range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7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7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7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</a:t>
            </a:r>
            <a:r>
              <a:rPr b="0" i="0" lang="en-US" sz="17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7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7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</a:t>
            </a:r>
            <a:r>
              <a:rPr b="0" i="0" lang="en-US" sz="17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 '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38"/>
          <p:cNvSpPr txBox="1"/>
          <p:nvPr/>
        </p:nvSpPr>
        <p:spPr>
          <a:xfrm>
            <a:off x="9680642" y="3794853"/>
            <a:ext cx="1943100" cy="1286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0 1 2 3 4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3 4 5 6 7 8 9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5 7 9 11 13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38"/>
          <p:cNvSpPr txBox="1"/>
          <p:nvPr/>
        </p:nvSpPr>
        <p:spPr>
          <a:xfrm>
            <a:off x="9680642" y="3329322"/>
            <a:ext cx="12041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4" name="Google Shape;484;p38"/>
          <p:cNvCxnSpPr/>
          <p:nvPr/>
        </p:nvCxnSpPr>
        <p:spPr>
          <a:xfrm>
            <a:off x="8745167" y="3161489"/>
            <a:ext cx="0" cy="3696511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for Loop</a:t>
            </a:r>
            <a:endParaRPr/>
          </a:p>
        </p:txBody>
      </p:sp>
      <p:sp>
        <p:nvSpPr>
          <p:cNvPr id="491" name="Google Shape;491;p39"/>
          <p:cNvSpPr txBox="1"/>
          <p:nvPr/>
        </p:nvSpPr>
        <p:spPr>
          <a:xfrm>
            <a:off x="7632862" y="1255344"/>
            <a:ext cx="4923719" cy="870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iterating_var in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sequence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460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statements(s)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9"/>
          <p:cNvSpPr txBox="1"/>
          <p:nvPr/>
        </p:nvSpPr>
        <p:spPr>
          <a:xfrm>
            <a:off x="7359298" y="886012"/>
            <a:ext cx="9925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Syntax: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39"/>
          <p:cNvSpPr txBox="1"/>
          <p:nvPr/>
        </p:nvSpPr>
        <p:spPr>
          <a:xfrm>
            <a:off x="497730" y="1954501"/>
            <a:ext cx="11019817" cy="454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range()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function: 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39"/>
          <p:cNvSpPr txBox="1"/>
          <p:nvPr/>
        </p:nvSpPr>
        <p:spPr>
          <a:xfrm>
            <a:off x="7855587" y="2630541"/>
            <a:ext cx="12041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495" name="Google Shape;49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496" name="Google Shape;496;p39"/>
          <p:cNvSpPr txBox="1"/>
          <p:nvPr/>
        </p:nvSpPr>
        <p:spPr>
          <a:xfrm>
            <a:off x="1723309" y="3332814"/>
            <a:ext cx="3802002" cy="2231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700" u="none" cap="none" strike="noStrike">
                <a:solidFill>
                  <a:srgbClr val="267F99"/>
                </a:solidFill>
                <a:latin typeface="Arial"/>
                <a:ea typeface="Arial"/>
                <a:cs typeface="Arial"/>
                <a:sym typeface="Arial"/>
              </a:rPr>
              <a:t>range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7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b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mylist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700" u="none" cap="none" strike="noStrike">
                <a:solidFill>
                  <a:srgbClr val="267F99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700" u="none" cap="none" strike="noStrike">
                <a:solidFill>
                  <a:srgbClr val="267F99"/>
                </a:solidFill>
                <a:latin typeface="Arial"/>
                <a:ea typeface="Arial"/>
                <a:cs typeface="Arial"/>
                <a:sym typeface="Arial"/>
              </a:rPr>
              <a:t>range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7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17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17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7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mylist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b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7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7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7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mylist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</a:t>
            </a:r>
            <a:r>
              <a:rPr b="0" i="0" lang="en-US" sz="17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7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7" name="Google Shape;497;p39"/>
          <p:cNvCxnSpPr/>
          <p:nvPr/>
        </p:nvCxnSpPr>
        <p:spPr>
          <a:xfrm>
            <a:off x="6011695" y="3239310"/>
            <a:ext cx="0" cy="3696511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8" name="Google Shape;498;p39"/>
          <p:cNvSpPr txBox="1"/>
          <p:nvPr/>
        </p:nvSpPr>
        <p:spPr>
          <a:xfrm>
            <a:off x="7716130" y="3429000"/>
            <a:ext cx="2687266" cy="2185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range(0, 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[2, 5, 8, 11, 14, 17]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0"/>
          <p:cNvSpPr txBox="1"/>
          <p:nvPr>
            <p:ph type="title"/>
          </p:nvPr>
        </p:nvSpPr>
        <p:spPr>
          <a:xfrm>
            <a:off x="7657289" y="106979"/>
            <a:ext cx="2751306" cy="7535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for Loop</a:t>
            </a:r>
            <a:endParaRPr/>
          </a:p>
        </p:txBody>
      </p:sp>
      <p:sp>
        <p:nvSpPr>
          <p:cNvPr id="505" name="Google Shape;505;p40"/>
          <p:cNvSpPr txBox="1"/>
          <p:nvPr/>
        </p:nvSpPr>
        <p:spPr>
          <a:xfrm>
            <a:off x="7766728" y="1410236"/>
            <a:ext cx="4217750" cy="870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iterating_var in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sequence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460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statements(s)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40"/>
          <p:cNvSpPr txBox="1"/>
          <p:nvPr/>
        </p:nvSpPr>
        <p:spPr>
          <a:xfrm>
            <a:off x="7766727" y="1018089"/>
            <a:ext cx="9925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Syntax: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40"/>
          <p:cNvSpPr txBox="1"/>
          <p:nvPr/>
        </p:nvSpPr>
        <p:spPr>
          <a:xfrm>
            <a:off x="375327" y="483757"/>
            <a:ext cx="3924299" cy="454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range()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function: 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40"/>
          <p:cNvSpPr txBox="1"/>
          <p:nvPr/>
        </p:nvSpPr>
        <p:spPr>
          <a:xfrm>
            <a:off x="5128530" y="5395103"/>
            <a:ext cx="12041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509" name="Google Shape;50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510" name="Google Shape;510;p40"/>
          <p:cNvSpPr txBox="1"/>
          <p:nvPr/>
        </p:nvSpPr>
        <p:spPr>
          <a:xfrm>
            <a:off x="375327" y="1166842"/>
            <a:ext cx="5957379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fruits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[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'apple'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'pineapple'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'banana'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'mango'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numbers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500" u="none" cap="none" strike="noStrike">
                <a:solidFill>
                  <a:srgbClr val="267F99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267F99"/>
                </a:solidFill>
                <a:latin typeface="Arial"/>
                <a:ea typeface="Arial"/>
                <a:cs typeface="Arial"/>
                <a:sym typeface="Arial"/>
              </a:rPr>
              <a:t>range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267F99"/>
                </a:solidFill>
                <a:latin typeface="Arial"/>
                <a:ea typeface="Arial"/>
                <a:cs typeface="Arial"/>
                <a:sym typeface="Arial"/>
              </a:rPr>
              <a:t>range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len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fruits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fruits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],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 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267F99"/>
                </a:solidFill>
                <a:latin typeface="Arial"/>
                <a:ea typeface="Arial"/>
                <a:cs typeface="Arial"/>
                <a:sym typeface="Arial"/>
              </a:rPr>
              <a:t>range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len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numbers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numbers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],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 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267F99"/>
                </a:solidFill>
                <a:latin typeface="Arial"/>
                <a:ea typeface="Arial"/>
                <a:cs typeface="Arial"/>
                <a:sym typeface="Arial"/>
              </a:rPr>
              <a:t>range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267F99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len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numbers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)//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</a:t>
            </a: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numbers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],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 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40"/>
          <p:cNvSpPr txBox="1"/>
          <p:nvPr/>
        </p:nvSpPr>
        <p:spPr>
          <a:xfrm>
            <a:off x="187256" y="5839911"/>
            <a:ext cx="12004744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apple banana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1 3 5 7 9 11 13 15 17 19 21 23 25 27 29 31 33 35 37 39 41 43 45 47 49 51 53 55 57 59 61 63 65 67 69 71 73 75 77 79 81 83 85 87 89 91 93 95 97 99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2 4 6 8 10 12 14 16 18 20 22 24 26 28 30 32 34 36 38 40 42 44 46 48 50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1"/>
          <p:cNvSpPr txBox="1"/>
          <p:nvPr>
            <p:ph type="title"/>
          </p:nvPr>
        </p:nvSpPr>
        <p:spPr>
          <a:xfrm>
            <a:off x="216309" y="795234"/>
            <a:ext cx="5196894" cy="4567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</a:pPr>
            <a:r>
              <a:rPr b="1" i="1" lang="en-US"/>
              <a:t>Nested Loops</a:t>
            </a:r>
            <a:endParaRPr i="1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Nested Loop</a:t>
            </a:r>
            <a:endParaRPr/>
          </a:p>
        </p:txBody>
      </p:sp>
      <p:sp>
        <p:nvSpPr>
          <p:cNvPr id="524" name="Google Shape;524;p42"/>
          <p:cNvSpPr txBox="1"/>
          <p:nvPr/>
        </p:nvSpPr>
        <p:spPr>
          <a:xfrm>
            <a:off x="637486" y="3059668"/>
            <a:ext cx="9925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Syntax: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42"/>
          <p:cNvSpPr txBox="1"/>
          <p:nvPr/>
        </p:nvSpPr>
        <p:spPr>
          <a:xfrm>
            <a:off x="429639" y="1783999"/>
            <a:ext cx="10698804" cy="870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Python programming language allows the use of one loop inside another loop. The following section shows a few examples to illustrate the concept.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42"/>
          <p:cNvSpPr txBox="1"/>
          <p:nvPr/>
        </p:nvSpPr>
        <p:spPr>
          <a:xfrm>
            <a:off x="1337555" y="3429000"/>
            <a:ext cx="3137168" cy="2121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while expression: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statement(s)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while expression: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statement(s)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527" name="Google Shape;52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Nested Loop</a:t>
            </a:r>
            <a:endParaRPr/>
          </a:p>
        </p:txBody>
      </p:sp>
      <p:sp>
        <p:nvSpPr>
          <p:cNvPr id="534" name="Google Shape;534;p43"/>
          <p:cNvSpPr txBox="1"/>
          <p:nvPr/>
        </p:nvSpPr>
        <p:spPr>
          <a:xfrm>
            <a:off x="546370" y="1573956"/>
            <a:ext cx="9881681" cy="291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Write a program in Python to display the pattern like right angle triangle with a number.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pattern like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1234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43"/>
          <p:cNvSpPr/>
          <p:nvPr/>
        </p:nvSpPr>
        <p:spPr>
          <a:xfrm>
            <a:off x="4357991" y="2898843"/>
            <a:ext cx="7509754" cy="374514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Sketch Your solution here: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536" name="Google Shape;53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Nested Loop</a:t>
            </a:r>
            <a:endParaRPr/>
          </a:p>
        </p:txBody>
      </p:sp>
      <p:sp>
        <p:nvSpPr>
          <p:cNvPr id="543" name="Google Shape;543;p44"/>
          <p:cNvSpPr txBox="1"/>
          <p:nvPr/>
        </p:nvSpPr>
        <p:spPr>
          <a:xfrm>
            <a:off x="9612550" y="659556"/>
            <a:ext cx="2371928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pattern like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1234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44"/>
          <p:cNvSpPr txBox="1"/>
          <p:nvPr/>
        </p:nvSpPr>
        <p:spPr>
          <a:xfrm>
            <a:off x="443420" y="1787517"/>
            <a:ext cx="4546869" cy="3742948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600" u="none" cap="none" strike="noStrike">
                <a:solidFill>
                  <a:srgbClr val="267F99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'Number of lines: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while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&lt;=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</a:t>
            </a:r>
            <a:r>
              <a:rPr b="0" i="0" lang="en-US" sz="16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while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&lt;=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+=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+=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545" name="Google Shape;54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546" name="Google Shape;546;p44"/>
          <p:cNvSpPr txBox="1"/>
          <p:nvPr/>
        </p:nvSpPr>
        <p:spPr>
          <a:xfrm>
            <a:off x="9376652" y="3070247"/>
            <a:ext cx="2371928" cy="2339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Write a code to create the pattern like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4 5 6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7 8 9 10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rushVTI">
  <a:themeElements>
    <a:clrScheme name="AnalogousFromDarkSeed_2SEEDS">
      <a:dk1>
        <a:srgbClr val="000000"/>
      </a:dk1>
      <a:lt1>
        <a:srgbClr val="FFFFFF"/>
      </a:lt1>
      <a:dk2>
        <a:srgbClr val="1B2C30"/>
      </a:dk2>
      <a:lt2>
        <a:srgbClr val="F3F1F0"/>
      </a:lt2>
      <a:accent1>
        <a:srgbClr val="17AED5"/>
      </a:accent1>
      <a:accent2>
        <a:srgbClr val="20B596"/>
      </a:accent2>
      <a:accent3>
        <a:srgbClr val="2971E7"/>
      </a:accent3>
      <a:accent4>
        <a:srgbClr val="D51731"/>
      </a:accent4>
      <a:accent5>
        <a:srgbClr val="E75E29"/>
      </a:accent5>
      <a:accent6>
        <a:srgbClr val="D19817"/>
      </a:accent6>
      <a:hlink>
        <a:srgbClr val="A14EC4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2021-11-24T14:43:08Z</dcterms:created>
  <dc:creator>M.M. Mahbubul Syeed</dc:creator>
</cp:coreProperties>
</file>