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gLcajWf4PWJmwuKgoGKdRl4RVP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9CE74C-283C-467C-B3FF-6878FDBF5C7F}">
  <a:tblStyle styleId="{BF9CE74C-283C-467C-B3FF-6878FDBF5C7F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7"/>
          </a:solidFill>
        </a:fill>
      </a:tcStyle>
    </a:wholeTbl>
    <a:band1H>
      <a:tcTxStyle/>
      <a:tcStyle>
        <a:tcBdr/>
        <a:fill>
          <a:solidFill>
            <a:srgbClr val="CAE3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3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615"/>
  </p:normalViewPr>
  <p:slideViewPr>
    <p:cSldViewPr snapToGrid="0">
      <p:cViewPr varScale="1">
        <p:scale>
          <a:sx n="102" d="100"/>
          <a:sy n="102" d="100"/>
        </p:scale>
        <p:origin x="6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 descr="Tag=AccentColor&#10;Flavor=Light&#10;Target=Fill"/>
          <p:cNvSpPr/>
          <p:nvPr/>
        </p:nvSpPr>
        <p:spPr>
          <a:xfrm flipH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24"/>
          <p:cNvSpPr txBox="1"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 descr="Tag=AccentColor&#10;Flavor=Light&#10;Target=Fill"/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 extrusionOk="0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 descr="Tag=AccentColor&#10;Flavor=Light&#10;Target=Fill"/>
          <p:cNvSpPr/>
          <p:nvPr/>
        </p:nvSpPr>
        <p:spPr>
          <a:xfrm>
            <a:off x="7209816" y="0"/>
            <a:ext cx="4143984" cy="5747660"/>
          </a:xfrm>
          <a:custGeom>
            <a:avLst/>
            <a:gdLst/>
            <a:ahLst/>
            <a:cxnLst/>
            <a:rect l="l" t="t" r="r" b="b"/>
            <a:pathLst>
              <a:path w="3843750" h="5956080" extrusionOk="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 descr="Tag=AccentColor&#10;Flavor=Light&#10;Target=Fill"/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 extrusionOk="0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3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1"/>
          </p:nvPr>
        </p:nvSpPr>
        <p:spPr>
          <a:xfrm>
            <a:off x="838200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2"/>
          </p:nvPr>
        </p:nvSpPr>
        <p:spPr>
          <a:xfrm>
            <a:off x="6419088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 descr="Tag=AccentColor&#10;Flavor=Light&#10;Target=Fill"/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 extrusionOk="0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body" idx="2"/>
          </p:nvPr>
        </p:nvSpPr>
        <p:spPr>
          <a:xfrm>
            <a:off x="8397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body" idx="3"/>
          </p:nvPr>
        </p:nvSpPr>
        <p:spPr>
          <a:xfrm>
            <a:off x="64190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4"/>
          </p:nvPr>
        </p:nvSpPr>
        <p:spPr>
          <a:xfrm>
            <a:off x="64190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 descr="Tag=AccentColor&#10;Flavor=Light&#10;Target=Fill"/>
          <p:cNvSpPr/>
          <p:nvPr/>
        </p:nvSpPr>
        <p:spPr>
          <a:xfrm flipH="1">
            <a:off x="1969639" y="181596"/>
            <a:ext cx="8252722" cy="6022258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2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 descr="Mask ID=&#10;Mask position=bottom, center&#10;Mask family= brushstroke, landscape, wide"/>
          <p:cNvSpPr/>
          <p:nvPr/>
        </p:nvSpPr>
        <p:spPr>
          <a:xfrm>
            <a:off x="1768100" y="-1"/>
            <a:ext cx="10423900" cy="5920155"/>
          </a:xfrm>
          <a:custGeom>
            <a:avLst/>
            <a:gdLst/>
            <a:ahLst/>
            <a:cxnLst/>
            <a:rect l="l" t="t" r="r" b="b"/>
            <a:pathLst>
              <a:path w="10423900" h="5491534" extrusionOk="0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 descr="Tag=AccentColor&#10;Flavor=Light&#10;Target=Fill"/>
          <p:cNvSpPr/>
          <p:nvPr/>
        </p:nvSpPr>
        <p:spPr>
          <a:xfrm>
            <a:off x="4726728" y="0"/>
            <a:ext cx="7472381" cy="6858000"/>
          </a:xfrm>
          <a:custGeom>
            <a:avLst/>
            <a:gdLst/>
            <a:ahLst/>
            <a:cxnLst/>
            <a:rect l="l" t="t" r="r" b="b"/>
            <a:pathLst>
              <a:path w="7472381" h="6886575" extrusionOk="0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32"/>
          <p:cNvSpPr txBox="1"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body" idx="1"/>
          </p:nvPr>
        </p:nvSpPr>
        <p:spPr>
          <a:xfrm>
            <a:off x="7059168" y="640080"/>
            <a:ext cx="4489704" cy="5596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body" idx="2"/>
          </p:nvPr>
        </p:nvSpPr>
        <p:spPr>
          <a:xfrm>
            <a:off x="839788" y="3776472"/>
            <a:ext cx="38862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 descr="Tag=AccentColor&#10;Flavor=Light&#10;Target=Fill"/>
          <p:cNvSpPr/>
          <p:nvPr/>
        </p:nvSpPr>
        <p:spPr>
          <a:xfrm>
            <a:off x="684965" y="1332237"/>
            <a:ext cx="5263732" cy="3841102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33"/>
          <p:cNvSpPr txBox="1"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3"/>
          <p:cNvSpPr>
            <a:spLocks noGrp="1"/>
          </p:cNvSpPr>
          <p:nvPr>
            <p:ph type="pic" idx="2"/>
          </p:nvPr>
        </p:nvSpPr>
        <p:spPr>
          <a:xfrm>
            <a:off x="6711696" y="640079"/>
            <a:ext cx="4837176" cy="556869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33"/>
          <p:cNvSpPr txBox="1">
            <a:spLocks noGrp="1"/>
          </p:cNvSpPr>
          <p:nvPr>
            <p:ph type="body" idx="1"/>
          </p:nvPr>
        </p:nvSpPr>
        <p:spPr>
          <a:xfrm>
            <a:off x="1655064" y="4087368"/>
            <a:ext cx="3319272" cy="64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329446" y="4331242"/>
            <a:ext cx="10100170" cy="68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lang="en-US" sz="3700" b="1" dirty="0"/>
              <a:t>Python –</a:t>
            </a:r>
            <a:r>
              <a:rPr lang="en-GB" sz="3700" b="1" dirty="0"/>
              <a:t> Class, Objects</a:t>
            </a:r>
            <a:endParaRPr dirty="0"/>
          </a:p>
        </p:txBody>
      </p:sp>
      <p:pic>
        <p:nvPicPr>
          <p:cNvPr id="105" name="Google Shape;105;p1" descr="Aerial view of beach and waves"/>
          <p:cNvPicPr preferRelativeResize="0"/>
          <p:nvPr/>
        </p:nvPicPr>
        <p:blipFill rotWithShape="1">
          <a:blip r:embed="rId3">
            <a:alphaModFix/>
          </a:blip>
          <a:srcRect t="29137" b="32796"/>
          <a:stretch/>
        </p:blipFill>
        <p:spPr>
          <a:xfrm>
            <a:off x="838201" y="10"/>
            <a:ext cx="10484412" cy="3811394"/>
          </a:xfrm>
          <a:custGeom>
            <a:avLst/>
            <a:gdLst/>
            <a:ahLst/>
            <a:cxnLst/>
            <a:rect l="l" t="t" r="r" b="b"/>
            <a:pathLst>
              <a:path w="10484412" h="3811404" extrusionOk="0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6" name="Google Shape;106;p1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830" y="3590767"/>
            <a:ext cx="2374629" cy="682908"/>
          </a:xfrm>
          <a:custGeom>
            <a:avLst/>
            <a:gdLst/>
            <a:ahLst/>
            <a:cxnLst/>
            <a:rect l="l" t="t" r="r" b="b"/>
            <a:pathLst>
              <a:path w="2374629" h="682908" fill="none" extrusionOk="0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w="2374629" h="682908" extrusionOk="0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Highlight</a:t>
            </a:r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721468" y="2177050"/>
            <a:ext cx="10515600" cy="314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 b="1" dirty="0"/>
              <a:t>Class, object</a:t>
            </a:r>
            <a:r>
              <a:rPr lang="en-US" sz="2000" dirty="0"/>
              <a:t> – what is it!!??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Accessing </a:t>
            </a:r>
            <a:r>
              <a:rPr lang="en-GB" sz="2000" dirty="0"/>
              <a:t>class and object</a:t>
            </a:r>
            <a:r>
              <a:rPr lang="en-US" sz="2000" dirty="0"/>
              <a:t>.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Different </a:t>
            </a:r>
            <a:r>
              <a:rPr lang="en-GB" sz="2000" dirty="0"/>
              <a:t>OOP concepts</a:t>
            </a:r>
            <a:r>
              <a:rPr lang="en-US" sz="2000" dirty="0"/>
              <a:t>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Exercises.</a:t>
            </a:r>
            <a:endParaRPr dirty="0"/>
          </a:p>
        </p:txBody>
      </p:sp>
      <p:pic>
        <p:nvPicPr>
          <p:cNvPr id="114" name="Google Shape;114;p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5383" y="154634"/>
            <a:ext cx="1356523" cy="390116"/>
          </a:xfrm>
          <a:custGeom>
            <a:avLst/>
            <a:gdLst/>
            <a:ahLst/>
            <a:cxnLst/>
            <a:rect l="l" t="t" r="r" b="b"/>
            <a:pathLst>
              <a:path w="1356523" h="390116" fill="none" extrusionOk="0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w="1356523" h="390116" extrusionOk="0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 flipH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 extrusionOk="0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3"/>
          <p:cNvSpPr/>
          <p:nvPr/>
        </p:nvSpPr>
        <p:spPr>
          <a:xfrm flipH="1">
            <a:off x="0" y="0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p3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5383" y="154634"/>
            <a:ext cx="1356523" cy="390116"/>
          </a:xfrm>
          <a:custGeom>
            <a:avLst/>
            <a:gdLst/>
            <a:ahLst/>
            <a:cxnLst/>
            <a:rect l="l" t="t" r="r" b="b"/>
            <a:pathLst>
              <a:path w="1356523" h="390116" fill="none" extrusionOk="0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w="1356523" h="390116" extrusionOk="0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889C99-89D7-92E7-FEEA-785BAE5B20F3}"/>
              </a:ext>
            </a:extLst>
          </p:cNvPr>
          <p:cNvSpPr txBox="1"/>
          <p:nvPr/>
        </p:nvSpPr>
        <p:spPr>
          <a:xfrm>
            <a:off x="4429065" y="349692"/>
            <a:ext cx="41335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400" dirty="0"/>
              <a:t>Whats next …..</a:t>
            </a:r>
            <a:endParaRPr lang="en-BD" sz="4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3E45B9-28F4-39A8-E848-0C8A0EFA6555}"/>
              </a:ext>
            </a:extLst>
          </p:cNvPr>
          <p:cNvGrpSpPr/>
          <p:nvPr/>
        </p:nvGrpSpPr>
        <p:grpSpPr>
          <a:xfrm>
            <a:off x="916520" y="1636184"/>
            <a:ext cx="4226984" cy="4067502"/>
            <a:chOff x="2863849" y="1636184"/>
            <a:chExt cx="4226984" cy="406750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4D0B87D-872F-A783-8FA8-87FF28763287}"/>
                </a:ext>
              </a:extLst>
            </p:cNvPr>
            <p:cNvSpPr/>
            <p:nvPr/>
          </p:nvSpPr>
          <p:spPr>
            <a:xfrm>
              <a:off x="2863849" y="1636184"/>
              <a:ext cx="1538817" cy="73448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Plain code</a:t>
              </a:r>
              <a:endParaRPr lang="en-BD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5AB2AB-C080-3634-BF8D-A9FEF212AEAD}"/>
                </a:ext>
              </a:extLst>
            </p:cNvPr>
            <p:cNvSpPr/>
            <p:nvPr/>
          </p:nvSpPr>
          <p:spPr>
            <a:xfrm>
              <a:off x="4402666" y="3294589"/>
              <a:ext cx="1538817" cy="73448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GB" dirty="0"/>
                <a:t>Code in functions</a:t>
              </a:r>
              <a:endParaRPr lang="en-BD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0095085-3445-CC75-5EB9-39441D838126}"/>
                </a:ext>
              </a:extLst>
            </p:cNvPr>
            <p:cNvSpPr/>
            <p:nvPr/>
          </p:nvSpPr>
          <p:spPr>
            <a:xfrm>
              <a:off x="5547518" y="4934245"/>
              <a:ext cx="1543315" cy="7694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GB" dirty="0"/>
                <a:t>Code in class and functions (OOP)</a:t>
              </a:r>
              <a:endParaRPr lang="en-BD" dirty="0"/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7C6DDC7D-6C34-5131-BA59-46E02ADB7C2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890720" y="2446364"/>
              <a:ext cx="877326" cy="76723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7B6731F4-153B-79E4-C729-E9A684FB673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175409" y="4096271"/>
              <a:ext cx="877326" cy="76723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A91534-7C56-B8BF-8A61-DF4FED41124C}"/>
              </a:ext>
            </a:extLst>
          </p:cNvPr>
          <p:cNvGrpSpPr/>
          <p:nvPr/>
        </p:nvGrpSpPr>
        <p:grpSpPr>
          <a:xfrm>
            <a:off x="7271206" y="2483874"/>
            <a:ext cx="3627655" cy="2219459"/>
            <a:chOff x="6996040" y="2060542"/>
            <a:chExt cx="3627655" cy="2219459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C06929F-9B5C-DCCF-7011-8DC7ED9BF7CB}"/>
                </a:ext>
              </a:extLst>
            </p:cNvPr>
            <p:cNvSpPr/>
            <p:nvPr/>
          </p:nvSpPr>
          <p:spPr>
            <a:xfrm>
              <a:off x="7630133" y="2060542"/>
              <a:ext cx="2025651" cy="769441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2000" b="1" dirty="0"/>
                <a:t>Class</a:t>
              </a:r>
              <a:endParaRPr lang="en-BD" sz="2000" b="1" dirty="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C75CC2E-F4DC-189A-4EAD-80E0ABD8A10F}"/>
                </a:ext>
              </a:extLst>
            </p:cNvPr>
            <p:cNvSpPr/>
            <p:nvPr/>
          </p:nvSpPr>
          <p:spPr>
            <a:xfrm>
              <a:off x="6996040" y="3711570"/>
              <a:ext cx="1255720" cy="564703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2000" b="1" dirty="0"/>
                <a:t>Object</a:t>
              </a:r>
              <a:r>
                <a:rPr lang="en-GB" sz="2000" b="1" baseline="-25000" dirty="0"/>
                <a:t>1</a:t>
              </a:r>
              <a:endParaRPr lang="en-BD" sz="2000" b="1" baseline="-25000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09E3382-9893-3213-6E3D-23B8E888D5C8}"/>
                </a:ext>
              </a:extLst>
            </p:cNvPr>
            <p:cNvSpPr/>
            <p:nvPr/>
          </p:nvSpPr>
          <p:spPr>
            <a:xfrm>
              <a:off x="9367974" y="3715297"/>
              <a:ext cx="1255721" cy="564704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2000" b="1" dirty="0"/>
                <a:t>Object</a:t>
              </a:r>
              <a:r>
                <a:rPr lang="en-GB" sz="2000" b="1" baseline="-25000" dirty="0"/>
                <a:t>n</a:t>
              </a:r>
              <a:endParaRPr lang="en-BD" sz="2000" b="1" baseline="-250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BFF2D1-68B3-9609-78D4-3FB3854AD0B1}"/>
                </a:ext>
              </a:extLst>
            </p:cNvPr>
            <p:cNvSpPr txBox="1"/>
            <p:nvPr/>
          </p:nvSpPr>
          <p:spPr>
            <a:xfrm>
              <a:off x="8304676" y="3768296"/>
              <a:ext cx="10807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2000" b="1" dirty="0"/>
                <a:t>. . . . . .</a:t>
              </a:r>
              <a:endParaRPr lang="en-BD" sz="2000" b="1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B80BEC4-C9A7-4B5D-82CA-D831F8E7C3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3233" y="2863589"/>
              <a:ext cx="488683" cy="8373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AF70529-1550-B2CA-9F01-C3F4651185C6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46" y="2819400"/>
              <a:ext cx="484487" cy="88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>
            <a:spLocks noGrp="1"/>
          </p:cNvSpPr>
          <p:nvPr>
            <p:ph type="title"/>
          </p:nvPr>
        </p:nvSpPr>
        <p:spPr>
          <a:xfrm>
            <a:off x="838200" y="111128"/>
            <a:ext cx="3805766" cy="661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GB" dirty="0"/>
              <a:t>Class, Object</a:t>
            </a:r>
            <a:endParaRPr dirty="0"/>
          </a:p>
        </p:txBody>
      </p:sp>
      <p:pic>
        <p:nvPicPr>
          <p:cNvPr id="136" name="Google Shape;136;p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5383" y="154634"/>
            <a:ext cx="1356523" cy="390116"/>
          </a:xfrm>
          <a:custGeom>
            <a:avLst/>
            <a:gdLst/>
            <a:ahLst/>
            <a:cxnLst/>
            <a:rect l="l" t="t" r="r" b="b"/>
            <a:pathLst>
              <a:path w="1356523" h="390116" fill="none" extrusionOk="0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w="1356523" h="390116" extrusionOk="0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3584B-87D4-E376-533D-FC5BC494F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383" y="3358086"/>
            <a:ext cx="7385523" cy="3441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45D0C76-C0FF-3AED-D238-CCC9E5ACA285}"/>
              </a:ext>
            </a:extLst>
          </p:cNvPr>
          <p:cNvSpPr/>
          <p:nvPr/>
        </p:nvSpPr>
        <p:spPr>
          <a:xfrm>
            <a:off x="572557" y="1162875"/>
            <a:ext cx="6931025" cy="1911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F6BBD-F389-7A95-1862-E4EAF660E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917" y="1256126"/>
            <a:ext cx="6286500" cy="1765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9AF2D6-250F-9E77-0B07-8541B48ED75A}"/>
              </a:ext>
            </a:extLst>
          </p:cNvPr>
          <p:cNvSpPr txBox="1"/>
          <p:nvPr/>
        </p:nvSpPr>
        <p:spPr>
          <a:xfrm>
            <a:off x="3482976" y="1150294"/>
            <a:ext cx="1160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b="1" dirty="0"/>
              <a:t>Object</a:t>
            </a:r>
            <a:endParaRPr lang="en-BD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2636308" y="55271"/>
            <a:ext cx="6919383" cy="97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GB" dirty="0"/>
              <a:t>Creating class and object</a:t>
            </a:r>
            <a:endParaRPr dirty="0"/>
          </a:p>
        </p:txBody>
      </p:sp>
      <p:sp>
        <p:nvSpPr>
          <p:cNvPr id="144" name="Google Shape;144;p5"/>
          <p:cNvSpPr txBox="1"/>
          <p:nvPr/>
        </p:nvSpPr>
        <p:spPr>
          <a:xfrm>
            <a:off x="1843617" y="1826201"/>
            <a:ext cx="3022154" cy="133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 </a:t>
            </a:r>
            <a:r>
              <a:rPr lang="en-GB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class_name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   </a:t>
            </a:r>
            <a:endParaRPr lang="en-GB" sz="1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</a:t>
            </a:r>
            <a:r>
              <a:rPr lang="en-GB" sz="1800" dirty="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color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“b</a:t>
            </a:r>
            <a:r>
              <a:rPr lang="en-GB" sz="1800" dirty="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rown</a:t>
            </a:r>
            <a:r>
              <a:rPr lang="en-US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lang="en-GB" sz="1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entury Gothic"/>
                <a:sym typeface="Century Gothic"/>
              </a:rPr>
              <a:t>	def </a:t>
            </a:r>
            <a:r>
              <a:rPr lang="en-GB" sz="1800" dirty="0" err="1">
                <a:solidFill>
                  <a:schemeClr val="dk1"/>
                </a:solidFill>
                <a:latin typeface="Century Gothic"/>
                <a:sym typeface="Century Gothic"/>
              </a:rPr>
              <a:t>func</a:t>
            </a:r>
            <a:r>
              <a:rPr lang="en-GB" sz="1800" dirty="0">
                <a:solidFill>
                  <a:schemeClr val="dk1"/>
                </a:solidFill>
                <a:latin typeface="Century Gothic"/>
                <a:sym typeface="Century Gothic"/>
              </a:rPr>
              <a:t>( )</a:t>
            </a:r>
            <a:endParaRPr dirty="0"/>
          </a:p>
        </p:txBody>
      </p:sp>
      <p:pic>
        <p:nvPicPr>
          <p:cNvPr id="145" name="Google Shape;145;p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5383" y="154634"/>
            <a:ext cx="1356523" cy="390116"/>
          </a:xfrm>
          <a:custGeom>
            <a:avLst/>
            <a:gdLst/>
            <a:ahLst/>
            <a:cxnLst/>
            <a:rect l="l" t="t" r="r" b="b"/>
            <a:pathLst>
              <a:path w="1356523" h="390116" fill="none" extrusionOk="0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w="1356523" h="390116" extrusionOk="0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5" name="Google Shape;144;p5">
            <a:extLst>
              <a:ext uri="{FF2B5EF4-FFF2-40B4-BE49-F238E27FC236}">
                <a16:creationId xmlns:a16="http://schemas.microsoft.com/office/drawing/2014/main" id="{D6561F99-6AE6-D7D8-4A44-C1EA69623227}"/>
              </a:ext>
            </a:extLst>
          </p:cNvPr>
          <p:cNvSpPr txBox="1"/>
          <p:nvPr/>
        </p:nvSpPr>
        <p:spPr>
          <a:xfrm>
            <a:off x="5230282" y="3533444"/>
            <a:ext cx="3750733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Century Gothic" panose="020B0502020202020204" pitchFamily="34" charset="0"/>
              </a:rPr>
              <a:t>object_name = class_name ()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Century Gothic" panose="020B0502020202020204" pitchFamily="34" charset="0"/>
              </a:rPr>
              <a:t>print (</a:t>
            </a:r>
            <a:r>
              <a:rPr lang="en-GB" sz="1800" dirty="0" err="1">
                <a:latin typeface="Century Gothic" panose="020B0502020202020204" pitchFamily="34" charset="0"/>
              </a:rPr>
              <a:t>object_name.color</a:t>
            </a:r>
            <a:r>
              <a:rPr lang="en-GB" sz="1800" dirty="0">
                <a:latin typeface="Century Gothic" panose="020B0502020202020204" pitchFamily="34" charset="0"/>
              </a:rPr>
              <a:t>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latin typeface="Century Gothic" panose="020B0502020202020204" pitchFamily="34" charset="0"/>
              </a:rPr>
              <a:t>object_name.func</a:t>
            </a:r>
            <a:r>
              <a:rPr lang="en-GB" sz="1800" dirty="0">
                <a:latin typeface="Century Gothic" panose="020B0502020202020204" pitchFamily="34" charset="0"/>
              </a:rPr>
              <a:t>( 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9E4227-6B9F-C34B-47C7-C7846456CE24}"/>
              </a:ext>
            </a:extLst>
          </p:cNvPr>
          <p:cNvSpPr/>
          <p:nvPr/>
        </p:nvSpPr>
        <p:spPr>
          <a:xfrm>
            <a:off x="1843617" y="1777999"/>
            <a:ext cx="3236383" cy="14908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D9F65B-E92F-90F0-D51A-89AA42B8911E}"/>
              </a:ext>
            </a:extLst>
          </p:cNvPr>
          <p:cNvSpPr/>
          <p:nvPr/>
        </p:nvSpPr>
        <p:spPr>
          <a:xfrm>
            <a:off x="5166784" y="3521590"/>
            <a:ext cx="3575049" cy="1590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>
            <a:spLocks noGrp="1"/>
          </p:cNvSpPr>
          <p:nvPr>
            <p:ph type="title"/>
          </p:nvPr>
        </p:nvSpPr>
        <p:spPr>
          <a:xfrm>
            <a:off x="838200" y="187562"/>
            <a:ext cx="105156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GB" dirty="0"/>
              <a:t>Example Code</a:t>
            </a:r>
            <a:endParaRPr dirty="0"/>
          </a:p>
        </p:txBody>
      </p:sp>
      <p:pic>
        <p:nvPicPr>
          <p:cNvPr id="153" name="Google Shape;153;p6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5383" y="154634"/>
            <a:ext cx="1356523" cy="390116"/>
          </a:xfrm>
          <a:custGeom>
            <a:avLst/>
            <a:gdLst/>
            <a:ahLst/>
            <a:cxnLst/>
            <a:rect l="l" t="t" r="r" b="b"/>
            <a:pathLst>
              <a:path w="1356523" h="390116" fill="none" extrusionOk="0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w="1356523" h="390116" extrusionOk="0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w="28575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1FEF07-5071-5EBD-0D97-081DAF4893F2}"/>
              </a:ext>
            </a:extLst>
          </p:cNvPr>
          <p:cNvSpPr txBox="1"/>
          <p:nvPr/>
        </p:nvSpPr>
        <p:spPr>
          <a:xfrm>
            <a:off x="3047999" y="1404892"/>
            <a:ext cx="632883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entury Gothic" panose="020B0502020202020204" pitchFamily="34" charset="0"/>
              </a:rPr>
              <a:t>#  instantiating a class</a:t>
            </a:r>
          </a:p>
          <a:p>
            <a:r>
              <a:rPr lang="en-GB" sz="2000" b="1" dirty="0">
                <a:latin typeface="Century Gothic" panose="020B0502020202020204" pitchFamily="34" charset="0"/>
              </a:rPr>
              <a:t>class Animal:</a:t>
            </a:r>
            <a:r>
              <a:rPr lang="en-GB" sz="2000" dirty="0">
                <a:latin typeface="Century Gothic" panose="020B0502020202020204" pitchFamily="34" charset="0"/>
              </a:rPr>
              <a:t>   </a:t>
            </a:r>
            <a:r>
              <a:rPr lang="en-GB" dirty="0">
                <a:latin typeface="Century Gothic" panose="020B0502020202020204" pitchFamily="34" charset="0"/>
              </a:rPr>
              <a:t> </a:t>
            </a:r>
          </a:p>
          <a:p>
            <a:endParaRPr lang="en-GB" dirty="0">
              <a:latin typeface="Century Gothic" panose="020B0502020202020204" pitchFamily="34" charset="0"/>
            </a:endParaRPr>
          </a:p>
          <a:p>
            <a:r>
              <a:rPr lang="en-GB" dirty="0">
                <a:latin typeface="Century Gothic" panose="020B0502020202020204" pitchFamily="34" charset="0"/>
              </a:rPr>
              <a:t>	# A simple class attribute    </a:t>
            </a:r>
          </a:p>
          <a:p>
            <a:r>
              <a:rPr lang="en-GB" dirty="0">
                <a:latin typeface="Century Gothic" panose="020B0502020202020204" pitchFamily="34" charset="0"/>
              </a:rPr>
              <a:t>	</a:t>
            </a:r>
            <a:r>
              <a:rPr lang="en-GB" sz="2000" b="1" dirty="0" err="1">
                <a:latin typeface="Century Gothic" panose="020B0502020202020204" pitchFamily="34" charset="0"/>
              </a:rPr>
              <a:t>attr1</a:t>
            </a:r>
            <a:r>
              <a:rPr lang="en-GB" sz="2000" b="1" dirty="0">
                <a:latin typeface="Century Gothic" panose="020B0502020202020204" pitchFamily="34" charset="0"/>
              </a:rPr>
              <a:t> = "mammal"    </a:t>
            </a:r>
          </a:p>
          <a:p>
            <a:r>
              <a:rPr lang="en-GB" sz="2000" b="1" dirty="0">
                <a:latin typeface="Century Gothic" panose="020B0502020202020204" pitchFamily="34" charset="0"/>
              </a:rPr>
              <a:t>	</a:t>
            </a:r>
            <a:r>
              <a:rPr lang="en-GB" sz="2000" b="1" dirty="0" err="1">
                <a:latin typeface="Century Gothic" panose="020B0502020202020204" pitchFamily="34" charset="0"/>
              </a:rPr>
              <a:t>attr2</a:t>
            </a:r>
            <a:r>
              <a:rPr lang="en-GB" sz="2000" b="1" dirty="0">
                <a:latin typeface="Century Gothic" panose="020B0502020202020204" pitchFamily="34" charset="0"/>
              </a:rPr>
              <a:t> = "dog"    </a:t>
            </a:r>
          </a:p>
          <a:p>
            <a:endParaRPr lang="en-GB" dirty="0">
              <a:latin typeface="Century Gothic" panose="020B0502020202020204" pitchFamily="34" charset="0"/>
            </a:endParaRPr>
          </a:p>
          <a:p>
            <a:r>
              <a:rPr lang="en-GB" dirty="0">
                <a:latin typeface="Century Gothic" panose="020B0502020202020204" pitchFamily="34" charset="0"/>
              </a:rPr>
              <a:t>	# A sample method    </a:t>
            </a:r>
          </a:p>
          <a:p>
            <a:r>
              <a:rPr lang="en-GB" dirty="0">
                <a:latin typeface="Century Gothic" panose="020B0502020202020204" pitchFamily="34" charset="0"/>
              </a:rPr>
              <a:t>	</a:t>
            </a:r>
            <a:r>
              <a:rPr lang="en-GB" sz="2000" b="1" dirty="0">
                <a:latin typeface="Century Gothic" panose="020B0502020202020204" pitchFamily="34" charset="0"/>
              </a:rPr>
              <a:t>def </a:t>
            </a:r>
            <a:r>
              <a:rPr lang="en-GB" sz="2000" b="1" dirty="0" err="1">
                <a:latin typeface="Century Gothic" panose="020B0502020202020204" pitchFamily="34" charset="0"/>
              </a:rPr>
              <a:t>func</a:t>
            </a:r>
            <a:r>
              <a:rPr lang="en-GB" sz="2000" b="1" dirty="0">
                <a:latin typeface="Century Gothic" panose="020B0502020202020204" pitchFamily="34" charset="0"/>
              </a:rPr>
              <a:t>(self):        </a:t>
            </a:r>
          </a:p>
          <a:p>
            <a:r>
              <a:rPr lang="en-GB" sz="2000" b="1" dirty="0">
                <a:latin typeface="Century Gothic" panose="020B0502020202020204" pitchFamily="34" charset="0"/>
              </a:rPr>
              <a:t>		print("I'm a", </a:t>
            </a:r>
            <a:r>
              <a:rPr lang="en-GB" sz="2000" b="1" dirty="0" err="1">
                <a:latin typeface="Century Gothic" panose="020B0502020202020204" pitchFamily="34" charset="0"/>
              </a:rPr>
              <a:t>self.attr1</a:t>
            </a:r>
            <a:r>
              <a:rPr lang="en-GB" sz="2000" b="1" dirty="0">
                <a:latin typeface="Century Gothic" panose="020B0502020202020204" pitchFamily="34" charset="0"/>
              </a:rPr>
              <a:t>)        </a:t>
            </a:r>
          </a:p>
          <a:p>
            <a:r>
              <a:rPr lang="en-GB" sz="2000" b="1" dirty="0">
                <a:latin typeface="Century Gothic" panose="020B0502020202020204" pitchFamily="34" charset="0"/>
              </a:rPr>
              <a:t>		print("I'm a", </a:t>
            </a:r>
            <a:r>
              <a:rPr lang="en-GB" sz="2000" b="1" dirty="0" err="1">
                <a:latin typeface="Century Gothic" panose="020B0502020202020204" pitchFamily="34" charset="0"/>
              </a:rPr>
              <a:t>self.attr2</a:t>
            </a:r>
            <a:r>
              <a:rPr lang="en-GB" sz="2000" b="1" dirty="0">
                <a:latin typeface="Century Gothic" panose="020B0502020202020204" pitchFamily="34" charset="0"/>
              </a:rPr>
              <a:t>)</a:t>
            </a:r>
          </a:p>
          <a:p>
            <a:r>
              <a:rPr lang="en-GB" dirty="0">
                <a:latin typeface="Century Gothic" panose="020B0502020202020204" pitchFamily="34" charset="0"/>
              </a:rPr>
              <a:t>	</a:t>
            </a:r>
          </a:p>
          <a:p>
            <a:r>
              <a:rPr lang="en-GB" dirty="0">
                <a:latin typeface="Century Gothic" panose="020B0502020202020204" pitchFamily="34" charset="0"/>
              </a:rPr>
              <a:t># Driver code</a:t>
            </a:r>
          </a:p>
          <a:p>
            <a:r>
              <a:rPr lang="en-GB" dirty="0">
                <a:latin typeface="Century Gothic" panose="020B0502020202020204" pitchFamily="34" charset="0"/>
              </a:rPr>
              <a:t># Object instantiation</a:t>
            </a:r>
          </a:p>
          <a:p>
            <a:r>
              <a:rPr lang="en-GB" sz="2000" b="1" dirty="0">
                <a:latin typeface="Century Gothic" panose="020B0502020202020204" pitchFamily="34" charset="0"/>
              </a:rPr>
              <a:t>Rodger = Animal()</a:t>
            </a:r>
          </a:p>
          <a:p>
            <a:endParaRPr lang="en-GB" dirty="0">
              <a:latin typeface="Century Gothic" panose="020B0502020202020204" pitchFamily="34" charset="0"/>
            </a:endParaRPr>
          </a:p>
          <a:p>
            <a:r>
              <a:rPr lang="en-GB" dirty="0">
                <a:latin typeface="Century Gothic" panose="020B0502020202020204" pitchFamily="34" charset="0"/>
              </a:rPr>
              <a:t># Accessing class attributes# and method through objects</a:t>
            </a:r>
          </a:p>
          <a:p>
            <a:r>
              <a:rPr lang="en-GB" sz="2000" b="1" dirty="0">
                <a:latin typeface="Century Gothic" panose="020B0502020202020204" pitchFamily="34" charset="0"/>
              </a:rPr>
              <a:t>print(</a:t>
            </a:r>
            <a:r>
              <a:rPr lang="en-GB" sz="2000" b="1" dirty="0" err="1">
                <a:latin typeface="Century Gothic" panose="020B0502020202020204" pitchFamily="34" charset="0"/>
              </a:rPr>
              <a:t>Rodger.attr1</a:t>
            </a:r>
            <a:r>
              <a:rPr lang="en-GB" sz="2000" b="1" dirty="0">
                <a:latin typeface="Century Gothic" panose="020B0502020202020204" pitchFamily="34" charset="0"/>
              </a:rPr>
              <a:t>)</a:t>
            </a:r>
          </a:p>
          <a:p>
            <a:r>
              <a:rPr lang="en-GB" sz="2000" b="1" dirty="0" err="1">
                <a:latin typeface="Century Gothic" panose="020B0502020202020204" pitchFamily="34" charset="0"/>
              </a:rPr>
              <a:t>Rodger.func</a:t>
            </a:r>
            <a:r>
              <a:rPr lang="en-GB" sz="2000" b="1" dirty="0">
                <a:latin typeface="Century Gothic" panose="020B0502020202020204" pitchFamily="34" charset="0"/>
              </a:rPr>
              <a:t>()</a:t>
            </a:r>
            <a:endParaRPr lang="en-BD" sz="20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DarkSeed_2SEEDS">
      <a:dk1>
        <a:srgbClr val="000000"/>
      </a:dk1>
      <a:lt1>
        <a:srgbClr val="FFFFFF"/>
      </a:lt1>
      <a:dk2>
        <a:srgbClr val="1B2C30"/>
      </a:dk2>
      <a:lt2>
        <a:srgbClr val="F3F1F0"/>
      </a:lt2>
      <a:accent1>
        <a:srgbClr val="17AED5"/>
      </a:accent1>
      <a:accent2>
        <a:srgbClr val="20B596"/>
      </a:accent2>
      <a:accent3>
        <a:srgbClr val="2971E7"/>
      </a:accent3>
      <a:accent4>
        <a:srgbClr val="D51731"/>
      </a:accent4>
      <a:accent5>
        <a:srgbClr val="E75E29"/>
      </a:accent5>
      <a:accent6>
        <a:srgbClr val="D19817"/>
      </a:accent6>
      <a:hlink>
        <a:srgbClr val="A14EC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2329</Words>
  <Application>Microsoft Office PowerPoint</Application>
  <PresentationFormat>Widescreen</PresentationFormat>
  <Paragraphs>297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BrushVTI</vt:lpstr>
      <vt:lpstr>Python – Class, Objects</vt:lpstr>
      <vt:lpstr>Highlight</vt:lpstr>
      <vt:lpstr>PowerPoint Presentation</vt:lpstr>
      <vt:lpstr>Class, Object</vt:lpstr>
      <vt:lpstr>Creating class and object</vt:lpstr>
      <vt:lpstr>Example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– Files</dc:title>
  <dc:creator>M.M. Mahbubul Syeed</dc:creator>
  <cp:lastModifiedBy>Razib Hayat Khan</cp:lastModifiedBy>
  <cp:revision>8</cp:revision>
  <dcterms:created xsi:type="dcterms:W3CDTF">2021-11-24T14:43:08Z</dcterms:created>
  <dcterms:modified xsi:type="dcterms:W3CDTF">2024-12-11T04:22:50Z</dcterms:modified>
</cp:coreProperties>
</file>