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6858000" cx="12192000"/>
  <p:notesSz cx="6858000" cy="9144000"/>
  <p:embeddedFontLst>
    <p:embeddedFont>
      <p:font typeface="Century Gothic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1" roundtripDataSignature="AMtx7mhHcKNh4lcMoqNVngVV/FMTzPI/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4927B4-425B-4156-A245-3842D4017E7E}">
  <a:tblStyle styleId="{434927B4-425B-4156-A245-3842D4017E7E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7"/>
          </a:solidFill>
        </a:fill>
      </a:tcStyle>
    </a:wholeTbl>
    <a:band1H>
      <a:tcTxStyle b="off" i="off"/>
      <a:tcStyle>
        <a:fill>
          <a:solidFill>
            <a:srgbClr val="CAE3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E3EF"/>
          </a:solidFill>
        </a:fill>
      </a:tcStyle>
    </a:band1V>
    <a:band2V>
      <a:tcTxStyle b="off" i="off"/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CenturyGothic-bold.fntdata"/><Relationship Id="rId47" Type="http://schemas.openxmlformats.org/officeDocument/2006/relationships/font" Target="fonts/CenturyGothic-regular.fntdata"/><Relationship Id="rId49" Type="http://schemas.openxmlformats.org/officeDocument/2006/relationships/font" Target="fonts/CenturyGothic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customschemas.google.com/relationships/presentationmetadata" Target="metadata"/><Relationship Id="rId50" Type="http://schemas.openxmlformats.org/officeDocument/2006/relationships/font" Target="fonts/CenturyGothic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7" name="Google Shape;36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8" name="Google Shape;37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4" name="Google Shape;38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7" name="Google Shape;43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5" name="Google Shape;44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7" name="Google Shape;45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3" name="Google Shape;463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4" name="Google Shape;47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0" name="Google Shape;480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16" name="Google Shape;16;p44"/>
          <p:cNvSpPr/>
          <p:nvPr/>
        </p:nvSpPr>
        <p:spPr>
          <a:xfrm flipH="1">
            <a:off x="2599854" y="527562"/>
            <a:ext cx="6992292" cy="5102484"/>
          </a:xfrm>
          <a:custGeom>
            <a:rect b="b" l="l" r="r" t="t"/>
            <a:pathLst>
              <a:path extrusionOk="0" h="5025119" w="6886274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" name="Google Shape;17;p44"/>
          <p:cNvSpPr txBox="1"/>
          <p:nvPr>
            <p:ph type="ctrTitle"/>
          </p:nvPr>
        </p:nvSpPr>
        <p:spPr>
          <a:xfrm>
            <a:off x="1508760" y="1591056"/>
            <a:ext cx="5705856" cy="32644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4"/>
          <p:cNvSpPr txBox="1"/>
          <p:nvPr>
            <p:ph idx="1" type="subTitle"/>
          </p:nvPr>
        </p:nvSpPr>
        <p:spPr>
          <a:xfrm>
            <a:off x="1524000" y="4928616"/>
            <a:ext cx="5705856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cap="none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23" name="Google Shape;23;p45"/>
          <p:cNvSpPr/>
          <p:nvPr/>
        </p:nvSpPr>
        <p:spPr>
          <a:xfrm flipH="1">
            <a:off x="1" y="315111"/>
            <a:ext cx="3021543" cy="1435442"/>
          </a:xfrm>
          <a:custGeom>
            <a:rect b="b" l="l" r="r" t="t"/>
            <a:pathLst>
              <a:path extrusionOk="0" h="1435442" w="3021543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" name="Google Shape;24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5"/>
          <p:cNvSpPr txBox="1"/>
          <p:nvPr>
            <p:ph idx="1" type="body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30" name="Google Shape;30;p46"/>
          <p:cNvSpPr/>
          <p:nvPr/>
        </p:nvSpPr>
        <p:spPr>
          <a:xfrm>
            <a:off x="7209816" y="0"/>
            <a:ext cx="4143984" cy="5747660"/>
          </a:xfrm>
          <a:custGeom>
            <a:rect b="b" l="l" r="r" t="t"/>
            <a:pathLst>
              <a:path extrusionOk="0" h="5956080" w="384375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" name="Google Shape;31;p46"/>
          <p:cNvSpPr txBox="1"/>
          <p:nvPr>
            <p:ph type="title"/>
          </p:nvPr>
        </p:nvSpPr>
        <p:spPr>
          <a:xfrm>
            <a:off x="831850" y="1078991"/>
            <a:ext cx="5266944" cy="31363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6"/>
          <p:cNvSpPr txBox="1"/>
          <p:nvPr>
            <p:ph idx="1" type="body"/>
          </p:nvPr>
        </p:nvSpPr>
        <p:spPr>
          <a:xfrm>
            <a:off x="831850" y="4279392"/>
            <a:ext cx="5266944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Mask ID=&#10;Mask position=bottom, center&#10;Mask family= brushstroke, landscape, wide" id="37" name="Google Shape;37;p47"/>
          <p:cNvSpPr/>
          <p:nvPr/>
        </p:nvSpPr>
        <p:spPr>
          <a:xfrm>
            <a:off x="1768100" y="-1"/>
            <a:ext cx="10423900" cy="5920155"/>
          </a:xfrm>
          <a:custGeom>
            <a:rect b="b" l="l" r="r" t="t"/>
            <a:pathLst>
              <a:path extrusionOk="0" h="5491534" w="10423900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" name="Google Shape;38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 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46" name="Google Shape;46;p49"/>
          <p:cNvSpPr/>
          <p:nvPr/>
        </p:nvSpPr>
        <p:spPr>
          <a:xfrm flipH="1">
            <a:off x="1" y="315111"/>
            <a:ext cx="3021543" cy="1435442"/>
          </a:xfrm>
          <a:custGeom>
            <a:rect b="b" l="l" r="r" t="t"/>
            <a:pathLst>
              <a:path extrusionOk="0" h="1435442" w="3021543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" name="Google Shape;47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9"/>
          <p:cNvSpPr txBox="1"/>
          <p:nvPr>
            <p:ph idx="1" type="body"/>
          </p:nvPr>
        </p:nvSpPr>
        <p:spPr>
          <a:xfrm>
            <a:off x="838200" y="2011680"/>
            <a:ext cx="493776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49"/>
          <p:cNvSpPr txBox="1"/>
          <p:nvPr>
            <p:ph idx="2" type="body"/>
          </p:nvPr>
        </p:nvSpPr>
        <p:spPr>
          <a:xfrm>
            <a:off x="6419088" y="2011680"/>
            <a:ext cx="493776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54" name="Google Shape;54;p50"/>
          <p:cNvSpPr/>
          <p:nvPr/>
        </p:nvSpPr>
        <p:spPr>
          <a:xfrm flipH="1">
            <a:off x="1" y="315111"/>
            <a:ext cx="3021543" cy="1435442"/>
          </a:xfrm>
          <a:custGeom>
            <a:rect b="b" l="l" r="r" t="t"/>
            <a:pathLst>
              <a:path extrusionOk="0" h="1435442" w="3021543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" name="Google Shape;55;p5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0"/>
          <p:cNvSpPr txBox="1"/>
          <p:nvPr>
            <p:ph idx="1" type="body"/>
          </p:nvPr>
        </p:nvSpPr>
        <p:spPr>
          <a:xfrm>
            <a:off x="839788" y="2011680"/>
            <a:ext cx="4937760" cy="9509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50"/>
          <p:cNvSpPr txBox="1"/>
          <p:nvPr>
            <p:ph idx="2" type="body"/>
          </p:nvPr>
        </p:nvSpPr>
        <p:spPr>
          <a:xfrm>
            <a:off x="839788" y="3127248"/>
            <a:ext cx="493776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50"/>
          <p:cNvSpPr txBox="1"/>
          <p:nvPr>
            <p:ph idx="3" type="body"/>
          </p:nvPr>
        </p:nvSpPr>
        <p:spPr>
          <a:xfrm>
            <a:off x="6419088" y="2011680"/>
            <a:ext cx="4937760" cy="9509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50"/>
          <p:cNvSpPr txBox="1"/>
          <p:nvPr>
            <p:ph idx="4" type="body"/>
          </p:nvPr>
        </p:nvSpPr>
        <p:spPr>
          <a:xfrm>
            <a:off x="6419088" y="3127248"/>
            <a:ext cx="493776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64" name="Google Shape;64;p51"/>
          <p:cNvSpPr/>
          <p:nvPr/>
        </p:nvSpPr>
        <p:spPr>
          <a:xfrm flipH="1">
            <a:off x="1969639" y="181596"/>
            <a:ext cx="8252722" cy="6022258"/>
          </a:xfrm>
          <a:custGeom>
            <a:rect b="b" l="l" r="r" t="t"/>
            <a:pathLst>
              <a:path extrusionOk="0" h="5025119" w="6886274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5" name="Google Shape;65;p51"/>
          <p:cNvSpPr txBox="1"/>
          <p:nvPr>
            <p:ph type="title"/>
          </p:nvPr>
        </p:nvSpPr>
        <p:spPr>
          <a:xfrm>
            <a:off x="2843784" y="1572768"/>
            <a:ext cx="6501384" cy="4096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70" name="Google Shape;70;p52"/>
          <p:cNvSpPr/>
          <p:nvPr/>
        </p:nvSpPr>
        <p:spPr>
          <a:xfrm>
            <a:off x="4726728" y="0"/>
            <a:ext cx="7472381" cy="6858000"/>
          </a:xfrm>
          <a:custGeom>
            <a:rect b="b" l="l" r="r" t="t"/>
            <a:pathLst>
              <a:path extrusionOk="0" h="6886575" w="7472381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52"/>
          <p:cNvSpPr txBox="1"/>
          <p:nvPr>
            <p:ph type="title"/>
          </p:nvPr>
        </p:nvSpPr>
        <p:spPr>
          <a:xfrm>
            <a:off x="839788" y="640080"/>
            <a:ext cx="3886200" cy="29535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2"/>
          <p:cNvSpPr txBox="1"/>
          <p:nvPr>
            <p:ph idx="1" type="body"/>
          </p:nvPr>
        </p:nvSpPr>
        <p:spPr>
          <a:xfrm>
            <a:off x="7059168" y="640080"/>
            <a:ext cx="4489704" cy="5596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52"/>
          <p:cNvSpPr txBox="1"/>
          <p:nvPr>
            <p:ph idx="2" type="body"/>
          </p:nvPr>
        </p:nvSpPr>
        <p:spPr>
          <a:xfrm>
            <a:off x="839788" y="3776472"/>
            <a:ext cx="38862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78" name="Google Shape;78;p53"/>
          <p:cNvSpPr/>
          <p:nvPr/>
        </p:nvSpPr>
        <p:spPr>
          <a:xfrm>
            <a:off x="684965" y="1332237"/>
            <a:ext cx="5263732" cy="3841102"/>
          </a:xfrm>
          <a:custGeom>
            <a:rect b="b" l="l" r="r" t="t"/>
            <a:pathLst>
              <a:path extrusionOk="0" h="5025119" w="6886274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53"/>
          <p:cNvSpPr txBox="1"/>
          <p:nvPr>
            <p:ph type="title"/>
          </p:nvPr>
        </p:nvSpPr>
        <p:spPr>
          <a:xfrm>
            <a:off x="1399032" y="2523744"/>
            <a:ext cx="3831336" cy="14538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3"/>
          <p:cNvSpPr/>
          <p:nvPr>
            <p:ph idx="2" type="pic"/>
          </p:nvPr>
        </p:nvSpPr>
        <p:spPr>
          <a:xfrm>
            <a:off x="6711696" y="640079"/>
            <a:ext cx="4837176" cy="5568696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53"/>
          <p:cNvSpPr txBox="1"/>
          <p:nvPr>
            <p:ph idx="1" type="body"/>
          </p:nvPr>
        </p:nvSpPr>
        <p:spPr>
          <a:xfrm>
            <a:off x="1655064" y="4087368"/>
            <a:ext cx="3319272" cy="649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cap="none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2" name="Google Shape;82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5_2_Tuple.pptx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" name="Google Shape;103;p1"/>
          <p:cNvSpPr txBox="1"/>
          <p:nvPr>
            <p:ph type="ctrTitle"/>
          </p:nvPr>
        </p:nvSpPr>
        <p:spPr>
          <a:xfrm>
            <a:off x="1329446" y="4331242"/>
            <a:ext cx="10100170" cy="6829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entury Gothic"/>
              <a:buNone/>
            </a:pPr>
            <a:r>
              <a:rPr b="1" lang="en-US" sz="3700"/>
              <a:t>Python – </a:t>
            </a:r>
            <a:r>
              <a:rPr b="1" lang="en-US" sz="3700">
                <a:solidFill>
                  <a:schemeClr val="dk1"/>
                </a:solidFill>
              </a:rPr>
              <a:t>Dictionary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Aerial view of beach and waves" id="104" name="Google Shape;104;p1"/>
          <p:cNvPicPr preferRelativeResize="0"/>
          <p:nvPr/>
        </p:nvPicPr>
        <p:blipFill rotWithShape="1">
          <a:blip r:embed="rId3">
            <a:alphaModFix/>
          </a:blip>
          <a:srcRect b="32796" l="0" r="0" t="29137"/>
          <a:stretch/>
        </p:blipFill>
        <p:spPr>
          <a:xfrm>
            <a:off x="838201" y="10"/>
            <a:ext cx="10484412" cy="3811394"/>
          </a:xfrm>
          <a:custGeom>
            <a:rect b="b" l="l" r="r" t="t"/>
            <a:pathLst>
              <a:path extrusionOk="0" h="3811404" w="10484412">
                <a:moveTo>
                  <a:pt x="0" y="3811403"/>
                </a:moveTo>
                <a:lnTo>
                  <a:pt x="10484412" y="3811403"/>
                </a:lnTo>
                <a:lnTo>
                  <a:pt x="10484412" y="3811404"/>
                </a:lnTo>
                <a:lnTo>
                  <a:pt x="0" y="3811404"/>
                </a:lnTo>
                <a:close/>
                <a:moveTo>
                  <a:pt x="181717" y="0"/>
                </a:moveTo>
                <a:lnTo>
                  <a:pt x="10224015" y="0"/>
                </a:lnTo>
                <a:cubicBezTo>
                  <a:pt x="10261561" y="45054"/>
                  <a:pt x="10301611" y="85103"/>
                  <a:pt x="10369193" y="110134"/>
                </a:cubicBezTo>
                <a:cubicBezTo>
                  <a:pt x="10321635" y="167704"/>
                  <a:pt x="10236530" y="182722"/>
                  <a:pt x="10173954" y="222771"/>
                </a:cubicBezTo>
                <a:cubicBezTo>
                  <a:pt x="10168948" y="255310"/>
                  <a:pt x="10269071" y="245298"/>
                  <a:pt x="10241537" y="317887"/>
                </a:cubicBezTo>
                <a:cubicBezTo>
                  <a:pt x="10206494" y="418008"/>
                  <a:pt x="10241537" y="528142"/>
                  <a:pt x="10071328" y="573196"/>
                </a:cubicBezTo>
                <a:cubicBezTo>
                  <a:pt x="10023770" y="668312"/>
                  <a:pt x="10008751" y="820997"/>
                  <a:pt x="10113880" y="913610"/>
                </a:cubicBezTo>
                <a:cubicBezTo>
                  <a:pt x="10271573" y="1048774"/>
                  <a:pt x="10244040" y="1138885"/>
                  <a:pt x="10036285" y="1216478"/>
                </a:cubicBezTo>
                <a:cubicBezTo>
                  <a:pt x="10011255" y="1226491"/>
                  <a:pt x="9978715" y="1231497"/>
                  <a:pt x="9966200" y="1256528"/>
                </a:cubicBezTo>
                <a:cubicBezTo>
                  <a:pt x="9986224" y="1289067"/>
                  <a:pt x="10031280" y="1281557"/>
                  <a:pt x="10063819" y="1289067"/>
                </a:cubicBezTo>
                <a:cubicBezTo>
                  <a:pt x="10211500" y="1324110"/>
                  <a:pt x="10214003" y="1324110"/>
                  <a:pt x="10176457" y="1441752"/>
                </a:cubicBezTo>
                <a:cubicBezTo>
                  <a:pt x="10163942" y="1476795"/>
                  <a:pt x="10188972" y="1491813"/>
                  <a:pt x="10211500" y="1511838"/>
                </a:cubicBezTo>
                <a:cubicBezTo>
                  <a:pt x="10296604" y="1591936"/>
                  <a:pt x="10296604" y="1594439"/>
                  <a:pt x="10206494" y="1664523"/>
                </a:cubicBezTo>
                <a:cubicBezTo>
                  <a:pt x="10181463" y="1684547"/>
                  <a:pt x="10163942" y="1704572"/>
                  <a:pt x="10151426" y="1732106"/>
                </a:cubicBezTo>
                <a:cubicBezTo>
                  <a:pt x="10128899" y="1782166"/>
                  <a:pt x="10128899" y="1822216"/>
                  <a:pt x="10208996" y="1847246"/>
                </a:cubicBezTo>
                <a:cubicBezTo>
                  <a:pt x="10266568" y="1864767"/>
                  <a:pt x="10296604" y="1884791"/>
                  <a:pt x="10299107" y="1939858"/>
                </a:cubicBezTo>
                <a:cubicBezTo>
                  <a:pt x="10299107" y="1987416"/>
                  <a:pt x="10306617" y="2017452"/>
                  <a:pt x="10244040" y="2037477"/>
                </a:cubicBezTo>
                <a:cubicBezTo>
                  <a:pt x="10193979" y="2054998"/>
                  <a:pt x="10178960" y="2090041"/>
                  <a:pt x="10183966" y="2130089"/>
                </a:cubicBezTo>
                <a:cubicBezTo>
                  <a:pt x="10193979" y="2230211"/>
                  <a:pt x="10126396" y="2287781"/>
                  <a:pt x="10013758" y="2335339"/>
                </a:cubicBezTo>
                <a:cubicBezTo>
                  <a:pt x="9908629" y="2377890"/>
                  <a:pt x="9813513" y="2437963"/>
                  <a:pt x="9715893" y="2493030"/>
                </a:cubicBezTo>
                <a:cubicBezTo>
                  <a:pt x="9605758" y="2553103"/>
                  <a:pt x="9480605" y="2590649"/>
                  <a:pt x="9347942" y="2623189"/>
                </a:cubicBezTo>
                <a:cubicBezTo>
                  <a:pt x="9370469" y="2665740"/>
                  <a:pt x="9453071" y="2640710"/>
                  <a:pt x="9460580" y="2700783"/>
                </a:cubicBezTo>
                <a:cubicBezTo>
                  <a:pt x="9255329" y="2753346"/>
                  <a:pt x="9060089" y="2833444"/>
                  <a:pt x="8827305" y="2855971"/>
                </a:cubicBezTo>
                <a:cubicBezTo>
                  <a:pt x="9015035" y="2843456"/>
                  <a:pt x="9182740" y="2908535"/>
                  <a:pt x="9360458" y="2926056"/>
                </a:cubicBezTo>
                <a:cubicBezTo>
                  <a:pt x="9377980" y="2961099"/>
                  <a:pt x="9337930" y="2951087"/>
                  <a:pt x="9322912" y="2958595"/>
                </a:cubicBezTo>
                <a:cubicBezTo>
                  <a:pt x="9307893" y="2963602"/>
                  <a:pt x="9287869" y="2966105"/>
                  <a:pt x="9285366" y="2991135"/>
                </a:cubicBezTo>
                <a:cubicBezTo>
                  <a:pt x="9370469" y="3023675"/>
                  <a:pt x="9478102" y="2998644"/>
                  <a:pt x="9565709" y="3033687"/>
                </a:cubicBezTo>
                <a:cubicBezTo>
                  <a:pt x="9543182" y="3083748"/>
                  <a:pt x="9468090" y="3056214"/>
                  <a:pt x="9435550" y="3096263"/>
                </a:cubicBezTo>
                <a:cubicBezTo>
                  <a:pt x="9518151" y="3101269"/>
                  <a:pt x="9593243" y="3103772"/>
                  <a:pt x="9668335" y="3113784"/>
                </a:cubicBezTo>
                <a:cubicBezTo>
                  <a:pt x="9725905" y="3121294"/>
                  <a:pt x="9740924" y="3163845"/>
                  <a:pt x="9700875" y="3193882"/>
                </a:cubicBezTo>
                <a:cubicBezTo>
                  <a:pt x="9665832" y="3221415"/>
                  <a:pt x="9613268" y="3223918"/>
                  <a:pt x="9565709" y="3236434"/>
                </a:cubicBezTo>
                <a:cubicBezTo>
                  <a:pt x="9232801" y="3319034"/>
                  <a:pt x="8882372" y="3351573"/>
                  <a:pt x="8529440" y="3364088"/>
                </a:cubicBezTo>
                <a:cubicBezTo>
                  <a:pt x="7961245" y="3386616"/>
                  <a:pt x="7393049" y="3394125"/>
                  <a:pt x="6827357" y="3419155"/>
                </a:cubicBezTo>
                <a:cubicBezTo>
                  <a:pt x="6481933" y="3434173"/>
                  <a:pt x="6136510" y="3456701"/>
                  <a:pt x="5788584" y="3456701"/>
                </a:cubicBezTo>
                <a:cubicBezTo>
                  <a:pt x="5415628" y="3456701"/>
                  <a:pt x="5042671" y="3464210"/>
                  <a:pt x="4669714" y="3411646"/>
                </a:cubicBezTo>
                <a:cubicBezTo>
                  <a:pt x="4479481" y="3384113"/>
                  <a:pt x="4279236" y="3396628"/>
                  <a:pt x="4086500" y="3376603"/>
                </a:cubicBezTo>
                <a:cubicBezTo>
                  <a:pt x="3793641" y="3346568"/>
                  <a:pt x="3500782" y="3306518"/>
                  <a:pt x="3210426" y="3256458"/>
                </a:cubicBezTo>
                <a:cubicBezTo>
                  <a:pt x="3117813" y="3241439"/>
                  <a:pt x="3007678" y="3231428"/>
                  <a:pt x="2937592" y="3166348"/>
                </a:cubicBezTo>
                <a:cubicBezTo>
                  <a:pt x="2824954" y="3211403"/>
                  <a:pt x="2757372" y="3131305"/>
                  <a:pt x="2669765" y="3106275"/>
                </a:cubicBezTo>
                <a:cubicBezTo>
                  <a:pt x="2634722" y="3096263"/>
                  <a:pt x="2592169" y="3081245"/>
                  <a:pt x="2597176" y="3048705"/>
                </a:cubicBezTo>
                <a:cubicBezTo>
                  <a:pt x="2604685" y="3006154"/>
                  <a:pt x="2654746" y="2978620"/>
                  <a:pt x="2702304" y="2986130"/>
                </a:cubicBezTo>
                <a:cubicBezTo>
                  <a:pt x="2849986" y="3011160"/>
                  <a:pt x="2985150" y="2948584"/>
                  <a:pt x="3137838" y="2956093"/>
                </a:cubicBezTo>
                <a:cubicBezTo>
                  <a:pt x="3005175" y="2933565"/>
                  <a:pt x="2872513" y="2908535"/>
                  <a:pt x="2739850" y="2886007"/>
                </a:cubicBezTo>
                <a:cubicBezTo>
                  <a:pt x="2940095" y="2863480"/>
                  <a:pt x="3132831" y="2896020"/>
                  <a:pt x="3328071" y="2913541"/>
                </a:cubicBezTo>
                <a:cubicBezTo>
                  <a:pt x="3390647" y="2921050"/>
                  <a:pt x="3485763" y="2968608"/>
                  <a:pt x="3503285" y="2898523"/>
                </a:cubicBezTo>
                <a:cubicBezTo>
                  <a:pt x="3513297" y="2850965"/>
                  <a:pt x="3410671" y="2850965"/>
                  <a:pt x="3350598" y="2838450"/>
                </a:cubicBezTo>
                <a:cubicBezTo>
                  <a:pt x="3090279" y="2785886"/>
                  <a:pt x="2824954" y="2758353"/>
                  <a:pt x="2562133" y="2725813"/>
                </a:cubicBezTo>
                <a:cubicBezTo>
                  <a:pt x="2537102" y="2723310"/>
                  <a:pt x="2504562" y="2725813"/>
                  <a:pt x="2487041" y="2715801"/>
                </a:cubicBezTo>
                <a:cubicBezTo>
                  <a:pt x="2354378" y="2633200"/>
                  <a:pt x="2184170" y="2608170"/>
                  <a:pt x="1998943" y="2548097"/>
                </a:cubicBezTo>
                <a:cubicBezTo>
                  <a:pt x="2116587" y="2515558"/>
                  <a:pt x="2196685" y="2575630"/>
                  <a:pt x="2294304" y="2560612"/>
                </a:cubicBezTo>
                <a:cubicBezTo>
                  <a:pt x="2196685" y="2498036"/>
                  <a:pt x="2079041" y="2488024"/>
                  <a:pt x="1978918" y="2455485"/>
                </a:cubicBezTo>
                <a:cubicBezTo>
                  <a:pt x="1906330" y="2430454"/>
                  <a:pt x="1635999" y="2357866"/>
                  <a:pt x="1595950" y="2335339"/>
                </a:cubicBezTo>
                <a:cubicBezTo>
                  <a:pt x="1473299" y="2267756"/>
                  <a:pt x="1315606" y="2237720"/>
                  <a:pt x="1215483" y="2145108"/>
                </a:cubicBezTo>
                <a:cubicBezTo>
                  <a:pt x="1145398" y="2080028"/>
                  <a:pt x="1025251" y="2095047"/>
                  <a:pt x="942649" y="2049992"/>
                </a:cubicBezTo>
                <a:cubicBezTo>
                  <a:pt x="912613" y="2004937"/>
                  <a:pt x="972686" y="1994925"/>
                  <a:pt x="992711" y="1969894"/>
                </a:cubicBezTo>
                <a:cubicBezTo>
                  <a:pt x="1020244" y="1939858"/>
                  <a:pt x="972686" y="1922337"/>
                  <a:pt x="960170" y="1884791"/>
                </a:cubicBezTo>
                <a:cubicBezTo>
                  <a:pt x="1117863" y="1922337"/>
                  <a:pt x="1268048" y="1944864"/>
                  <a:pt x="1448268" y="1957380"/>
                </a:cubicBezTo>
                <a:cubicBezTo>
                  <a:pt x="1390698" y="1897306"/>
                  <a:pt x="1318109" y="1927343"/>
                  <a:pt x="1270551" y="1904815"/>
                </a:cubicBezTo>
                <a:cubicBezTo>
                  <a:pt x="1238011" y="1889797"/>
                  <a:pt x="1190453" y="1884791"/>
                  <a:pt x="1200466" y="1849749"/>
                </a:cubicBezTo>
                <a:cubicBezTo>
                  <a:pt x="1207974" y="1822216"/>
                  <a:pt x="1248023" y="1824718"/>
                  <a:pt x="1278060" y="1827221"/>
                </a:cubicBezTo>
                <a:cubicBezTo>
                  <a:pt x="1393201" y="1834730"/>
                  <a:pt x="1503336" y="1834730"/>
                  <a:pt x="1615974" y="1764645"/>
                </a:cubicBezTo>
                <a:cubicBezTo>
                  <a:pt x="1338134" y="1669530"/>
                  <a:pt x="1015238" y="1717087"/>
                  <a:pt x="767434" y="1576917"/>
                </a:cubicBezTo>
                <a:cubicBezTo>
                  <a:pt x="802477" y="1531862"/>
                  <a:pt x="852539" y="1554390"/>
                  <a:pt x="890085" y="1559396"/>
                </a:cubicBezTo>
                <a:cubicBezTo>
                  <a:pt x="1132882" y="1591936"/>
                  <a:pt x="2003949" y="1514341"/>
                  <a:pt x="2129102" y="1556893"/>
                </a:cubicBezTo>
                <a:cubicBezTo>
                  <a:pt x="2204195" y="1584426"/>
                  <a:pt x="2286796" y="1594439"/>
                  <a:pt x="2369396" y="1576917"/>
                </a:cubicBezTo>
                <a:cubicBezTo>
                  <a:pt x="2469519" y="1554390"/>
                  <a:pt x="1881298" y="1519347"/>
                  <a:pt x="1746133" y="1421728"/>
                </a:cubicBezTo>
                <a:cubicBezTo>
                  <a:pt x="1678551" y="1374170"/>
                  <a:pt x="1082821" y="1146394"/>
                  <a:pt x="819999" y="1083817"/>
                </a:cubicBezTo>
                <a:cubicBezTo>
                  <a:pt x="857545" y="1041266"/>
                  <a:pt x="952662" y="1066296"/>
                  <a:pt x="940146" y="993707"/>
                </a:cubicBezTo>
                <a:cubicBezTo>
                  <a:pt x="794969" y="956162"/>
                  <a:pt x="627263" y="961168"/>
                  <a:pt x="459558" y="903598"/>
                </a:cubicBezTo>
                <a:cubicBezTo>
                  <a:pt x="537153" y="858543"/>
                  <a:pt x="622257" y="883573"/>
                  <a:pt x="699852" y="868556"/>
                </a:cubicBezTo>
                <a:cubicBezTo>
                  <a:pt x="657300" y="813489"/>
                  <a:pt x="582208" y="823500"/>
                  <a:pt x="522134" y="813489"/>
                </a:cubicBezTo>
                <a:cubicBezTo>
                  <a:pt x="464564" y="803476"/>
                  <a:pt x="349423" y="708360"/>
                  <a:pt x="374453" y="713367"/>
                </a:cubicBezTo>
                <a:cubicBezTo>
                  <a:pt x="607238" y="750912"/>
                  <a:pt x="842526" y="735895"/>
                  <a:pt x="1075312" y="773440"/>
                </a:cubicBezTo>
                <a:cubicBezTo>
                  <a:pt x="1152907" y="785955"/>
                  <a:pt x="1238011" y="810986"/>
                  <a:pt x="1275557" y="728385"/>
                </a:cubicBezTo>
                <a:cubicBezTo>
                  <a:pt x="1285569" y="703355"/>
                  <a:pt x="1278060" y="695846"/>
                  <a:pt x="1385692" y="725882"/>
                </a:cubicBezTo>
                <a:cubicBezTo>
                  <a:pt x="1425741" y="738397"/>
                  <a:pt x="1483311" y="750912"/>
                  <a:pt x="1525863" y="718373"/>
                </a:cubicBezTo>
                <a:cubicBezTo>
                  <a:pt x="1498330" y="678325"/>
                  <a:pt x="1445765" y="690839"/>
                  <a:pt x="1408219" y="680828"/>
                </a:cubicBezTo>
                <a:cubicBezTo>
                  <a:pt x="1305594" y="653294"/>
                  <a:pt x="922624" y="548166"/>
                  <a:pt x="825005" y="518129"/>
                </a:cubicBezTo>
                <a:cubicBezTo>
                  <a:pt x="619754" y="453051"/>
                  <a:pt x="492098" y="475578"/>
                  <a:pt x="286846" y="405492"/>
                </a:cubicBezTo>
                <a:cubicBezTo>
                  <a:pt x="356932" y="407995"/>
                  <a:pt x="336907" y="380462"/>
                  <a:pt x="406993" y="380462"/>
                </a:cubicBezTo>
                <a:cubicBezTo>
                  <a:pt x="437030" y="380462"/>
                  <a:pt x="472073" y="372954"/>
                  <a:pt x="472073" y="342917"/>
                </a:cubicBezTo>
                <a:cubicBezTo>
                  <a:pt x="472073" y="315384"/>
                  <a:pt x="104123" y="170207"/>
                  <a:pt x="156686" y="155188"/>
                </a:cubicBezTo>
                <a:cubicBezTo>
                  <a:pt x="301865" y="115140"/>
                  <a:pt x="667312" y="227777"/>
                  <a:pt x="579705" y="175213"/>
                </a:cubicBezTo>
                <a:cubicBezTo>
                  <a:pt x="447042" y="92613"/>
                  <a:pt x="427018" y="77594"/>
                  <a:pt x="326895" y="67583"/>
                </a:cubicBezTo>
                <a:cubicBezTo>
                  <a:pt x="296858" y="62576"/>
                  <a:pt x="244294" y="35043"/>
                  <a:pt x="181717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descr="Logo&#10;&#10;Description automatically generated" id="105" name="Google Shape;10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830" y="3590767"/>
            <a:ext cx="2374629" cy="682908"/>
          </a:xfrm>
          <a:custGeom>
            <a:rect b="b" l="l" r="r" t="t"/>
            <a:pathLst>
              <a:path extrusionOk="0" fill="none" h="682908" w="2374629">
                <a:moveTo>
                  <a:pt x="0" y="0"/>
                </a:moveTo>
                <a:cubicBezTo>
                  <a:pt x="131428" y="-36206"/>
                  <a:pt x="429568" y="49038"/>
                  <a:pt x="593657" y="0"/>
                </a:cubicBezTo>
                <a:cubicBezTo>
                  <a:pt x="757746" y="-49038"/>
                  <a:pt x="1097918" y="53842"/>
                  <a:pt x="1234807" y="0"/>
                </a:cubicBezTo>
                <a:cubicBezTo>
                  <a:pt x="1371696" y="-53842"/>
                  <a:pt x="2054204" y="66126"/>
                  <a:pt x="2374629" y="0"/>
                </a:cubicBezTo>
                <a:cubicBezTo>
                  <a:pt x="2405002" y="162524"/>
                  <a:pt x="2371205" y="264958"/>
                  <a:pt x="2374629" y="334625"/>
                </a:cubicBezTo>
                <a:cubicBezTo>
                  <a:pt x="2378053" y="404292"/>
                  <a:pt x="2347794" y="576645"/>
                  <a:pt x="2374629" y="682908"/>
                </a:cubicBezTo>
                <a:cubicBezTo>
                  <a:pt x="2238559" y="706138"/>
                  <a:pt x="2022244" y="650700"/>
                  <a:pt x="1757225" y="682908"/>
                </a:cubicBezTo>
                <a:cubicBezTo>
                  <a:pt x="1492206" y="715116"/>
                  <a:pt x="1476653" y="629947"/>
                  <a:pt x="1234807" y="682908"/>
                </a:cubicBezTo>
                <a:cubicBezTo>
                  <a:pt x="992961" y="735869"/>
                  <a:pt x="919868" y="629849"/>
                  <a:pt x="712389" y="682908"/>
                </a:cubicBezTo>
                <a:cubicBezTo>
                  <a:pt x="504910" y="735967"/>
                  <a:pt x="305855" y="663304"/>
                  <a:pt x="0" y="682908"/>
                </a:cubicBezTo>
                <a:cubicBezTo>
                  <a:pt x="-18065" y="557586"/>
                  <a:pt x="6995" y="450320"/>
                  <a:pt x="0" y="348283"/>
                </a:cubicBezTo>
                <a:cubicBezTo>
                  <a:pt x="-6995" y="246247"/>
                  <a:pt x="2488" y="107054"/>
                  <a:pt x="0" y="0"/>
                </a:cubicBezTo>
                <a:close/>
              </a:path>
              <a:path extrusionOk="0" h="682908" w="2374629">
                <a:moveTo>
                  <a:pt x="0" y="0"/>
                </a:moveTo>
                <a:cubicBezTo>
                  <a:pt x="311661" y="-61020"/>
                  <a:pt x="325144" y="53203"/>
                  <a:pt x="641150" y="0"/>
                </a:cubicBezTo>
                <a:cubicBezTo>
                  <a:pt x="957156" y="-53203"/>
                  <a:pt x="959195" y="19220"/>
                  <a:pt x="1234807" y="0"/>
                </a:cubicBezTo>
                <a:cubicBezTo>
                  <a:pt x="1510419" y="-19220"/>
                  <a:pt x="1584655" y="38722"/>
                  <a:pt x="1780972" y="0"/>
                </a:cubicBezTo>
                <a:cubicBezTo>
                  <a:pt x="1977289" y="-38722"/>
                  <a:pt x="2190607" y="69537"/>
                  <a:pt x="2374629" y="0"/>
                </a:cubicBezTo>
                <a:cubicBezTo>
                  <a:pt x="2385325" y="132255"/>
                  <a:pt x="2363129" y="182532"/>
                  <a:pt x="2374629" y="341454"/>
                </a:cubicBezTo>
                <a:cubicBezTo>
                  <a:pt x="2386129" y="500376"/>
                  <a:pt x="2370081" y="556976"/>
                  <a:pt x="2374629" y="682908"/>
                </a:cubicBezTo>
                <a:cubicBezTo>
                  <a:pt x="2124574" y="704019"/>
                  <a:pt x="1976947" y="673626"/>
                  <a:pt x="1780972" y="682908"/>
                </a:cubicBezTo>
                <a:cubicBezTo>
                  <a:pt x="1584997" y="692190"/>
                  <a:pt x="1379907" y="658257"/>
                  <a:pt x="1258553" y="682908"/>
                </a:cubicBezTo>
                <a:cubicBezTo>
                  <a:pt x="1137199" y="707559"/>
                  <a:pt x="917106" y="632366"/>
                  <a:pt x="712389" y="682908"/>
                </a:cubicBezTo>
                <a:cubicBezTo>
                  <a:pt x="507672" y="733450"/>
                  <a:pt x="205418" y="628160"/>
                  <a:pt x="0" y="682908"/>
                </a:cubicBezTo>
                <a:cubicBezTo>
                  <a:pt x="-31526" y="607460"/>
                  <a:pt x="16314" y="448776"/>
                  <a:pt x="0" y="361941"/>
                </a:cubicBezTo>
                <a:cubicBezTo>
                  <a:pt x="-16314" y="275106"/>
                  <a:pt x="37469" y="142419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1524000" y="5071718"/>
            <a:ext cx="9144000" cy="646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M M Mahbubul syeed, phd. Associate professor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Highlight</a:t>
            </a:r>
            <a:endParaRPr/>
          </a:p>
        </p:txBody>
      </p:sp>
      <p:sp>
        <p:nvSpPr>
          <p:cNvPr id="113" name="Google Shape;113;p2"/>
          <p:cNvSpPr txBox="1"/>
          <p:nvPr>
            <p:ph idx="1" type="body"/>
          </p:nvPr>
        </p:nvSpPr>
        <p:spPr>
          <a:xfrm>
            <a:off x="721468" y="2177050"/>
            <a:ext cx="10515600" cy="3143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Dictionary</a:t>
            </a:r>
            <a:r>
              <a:rPr lang="en-US" sz="2000"/>
              <a:t> – what is it!!??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Why we use </a:t>
            </a:r>
            <a:r>
              <a:rPr b="1" lang="en-US" sz="2000"/>
              <a:t>Dictionary</a:t>
            </a:r>
            <a:r>
              <a:rPr lang="en-US" sz="2000"/>
              <a:t>?!.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Construction (memory and index) of a </a:t>
            </a:r>
            <a:r>
              <a:rPr b="1" lang="en-US" sz="2000"/>
              <a:t>Dictionary</a:t>
            </a:r>
            <a:r>
              <a:rPr lang="en-US" sz="2000"/>
              <a:t>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Dictionary</a:t>
            </a:r>
            <a:r>
              <a:rPr lang="en-US" sz="2000"/>
              <a:t> operations (basic).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Dictionary</a:t>
            </a:r>
            <a:r>
              <a:rPr lang="en-US" sz="2000"/>
              <a:t> operations (built in functions).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Dictionary</a:t>
            </a:r>
            <a:r>
              <a:rPr lang="en-US" sz="2000"/>
              <a:t> operations (tuple functions).</a:t>
            </a:r>
            <a:endParaRPr/>
          </a:p>
        </p:txBody>
      </p:sp>
      <p:pic>
        <p:nvPicPr>
          <p:cNvPr descr="Logo&#10;&#10;Description automatically generated" id="114" name="Google Shape;1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/>
          <p:nvPr/>
        </p:nvSpPr>
        <p:spPr>
          <a:xfrm flipH="1">
            <a:off x="2599854" y="527562"/>
            <a:ext cx="6992292" cy="5102484"/>
          </a:xfrm>
          <a:custGeom>
            <a:rect b="b" l="l" r="r" t="t"/>
            <a:pathLst>
              <a:path extrusionOk="0" h="5025119" w="6886274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2" name="Google Shape;122;p3"/>
          <p:cNvSpPr/>
          <p:nvPr/>
        </p:nvSpPr>
        <p:spPr>
          <a:xfrm flipH="1">
            <a:off x="0" y="0"/>
            <a:ext cx="5962785" cy="6858000"/>
          </a:xfrm>
          <a:custGeom>
            <a:rect b="b" l="l" r="r" t="t"/>
            <a:pathLst>
              <a:path extrusionOk="0" h="6858000" w="5962785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" name="Google Shape;123;p3"/>
          <p:cNvSpPr txBox="1"/>
          <p:nvPr>
            <p:ph type="title"/>
          </p:nvPr>
        </p:nvSpPr>
        <p:spPr>
          <a:xfrm>
            <a:off x="643468" y="643467"/>
            <a:ext cx="4620584" cy="4567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b="1" lang="en-US" sz="4800"/>
              <a:t>Dictionary</a:t>
            </a:r>
            <a:endParaRPr i="1"/>
          </a:p>
        </p:txBody>
      </p:sp>
      <p:pic>
        <p:nvPicPr>
          <p:cNvPr descr="Logo&#10;&#10;Description automatically generated" id="124" name="Google Shape;1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 sz="4000"/>
              <a:t>Dictionary</a:t>
            </a:r>
            <a:r>
              <a:rPr lang="en-US"/>
              <a:t> – What is it?!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535077" y="1767782"/>
            <a:ext cx="10515599" cy="2163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Dictionaries are used to store data values in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key:value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pairs.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dictionary is a collection which is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ordered (python 3.7 and above).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changeable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▪"/>
            </a:pP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 not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allow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duplicates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32" name="Google Shape;1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 sz="4000"/>
              <a:t>Dictionary</a:t>
            </a:r>
            <a:r>
              <a:rPr lang="en-US"/>
              <a:t> – Declare</a:t>
            </a:r>
            <a:endParaRPr/>
          </a:p>
        </p:txBody>
      </p:sp>
      <p:pic>
        <p:nvPicPr>
          <p:cNvPr descr="Logo&#10;&#10;Description automatically generated" id="139" name="Google Shape;13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40" name="Google Shape;140;p5"/>
          <p:cNvSpPr txBox="1"/>
          <p:nvPr/>
        </p:nvSpPr>
        <p:spPr>
          <a:xfrm>
            <a:off x="1733955" y="2643998"/>
            <a:ext cx="2818589" cy="3062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dict_name =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    key1 : value,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    key2 : value,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    key3 : value,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    ..........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    Key</a:t>
            </a:r>
            <a:r>
              <a:rPr b="1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 :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6459165" y="1716513"/>
            <a:ext cx="3575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Give a name to the dictionary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5"/>
          <p:cNvCxnSpPr>
            <a:stCxn id="141" idx="1"/>
          </p:cNvCxnSpPr>
          <p:nvPr/>
        </p:nvCxnSpPr>
        <p:spPr>
          <a:xfrm flipH="1">
            <a:off x="2558265" y="1901179"/>
            <a:ext cx="3900900" cy="742800"/>
          </a:xfrm>
          <a:prstGeom prst="bentConnector3">
            <a:avLst>
              <a:gd fmla="val 99872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3" name="Google Shape;143;p5"/>
          <p:cNvSpPr txBox="1"/>
          <p:nvPr/>
        </p:nvSpPr>
        <p:spPr>
          <a:xfrm>
            <a:off x="6459165" y="2643998"/>
            <a:ext cx="48461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Have key, value pairs separated by colon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5"/>
          <p:cNvCxnSpPr>
            <a:stCxn id="143" idx="1"/>
          </p:cNvCxnSpPr>
          <p:nvPr/>
        </p:nvCxnSpPr>
        <p:spPr>
          <a:xfrm flipH="1">
            <a:off x="3143265" y="2828664"/>
            <a:ext cx="3315900" cy="332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5" name="Google Shape;145;p5"/>
          <p:cNvSpPr txBox="1"/>
          <p:nvPr/>
        </p:nvSpPr>
        <p:spPr>
          <a:xfrm>
            <a:off x="6477468" y="3412642"/>
            <a:ext cx="39805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Each pair is separated by comma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Google Shape;146;p5"/>
          <p:cNvCxnSpPr>
            <a:stCxn id="145" idx="1"/>
          </p:cNvCxnSpPr>
          <p:nvPr/>
        </p:nvCxnSpPr>
        <p:spPr>
          <a:xfrm flipH="1">
            <a:off x="4221768" y="3597308"/>
            <a:ext cx="2255700" cy="18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7" name="Google Shape;147;p5"/>
          <p:cNvSpPr txBox="1"/>
          <p:nvPr/>
        </p:nvSpPr>
        <p:spPr>
          <a:xfrm>
            <a:off x="6459165" y="4249266"/>
            <a:ext cx="39052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Starts and ends with 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rly braces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p5"/>
          <p:cNvCxnSpPr>
            <a:stCxn id="147" idx="1"/>
          </p:cNvCxnSpPr>
          <p:nvPr/>
        </p:nvCxnSpPr>
        <p:spPr>
          <a:xfrm rot="10800000">
            <a:off x="3997965" y="2828632"/>
            <a:ext cx="2461200" cy="1605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9" name="Google Shape;149;p5"/>
          <p:cNvCxnSpPr>
            <a:stCxn id="147" idx="1"/>
          </p:cNvCxnSpPr>
          <p:nvPr/>
        </p:nvCxnSpPr>
        <p:spPr>
          <a:xfrm flipH="1">
            <a:off x="2830665" y="4433932"/>
            <a:ext cx="3628500" cy="1062300"/>
          </a:xfrm>
          <a:prstGeom prst="bentConnector3">
            <a:avLst>
              <a:gd fmla="val 33645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 sz="4000"/>
              <a:t>Dictionary</a:t>
            </a:r>
            <a:r>
              <a:rPr lang="en-US"/>
              <a:t> – Declare</a:t>
            </a:r>
            <a:endParaRPr/>
          </a:p>
        </p:txBody>
      </p:sp>
      <p:pic>
        <p:nvPicPr>
          <p:cNvPr descr="Logo&#10;&#10;Description automatically generated" id="156" name="Google Shape;1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57" name="Google Shape;157;p6"/>
          <p:cNvSpPr txBox="1"/>
          <p:nvPr/>
        </p:nvSpPr>
        <p:spPr>
          <a:xfrm>
            <a:off x="683368" y="1901179"/>
            <a:ext cx="2818589" cy="3062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dict_name =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    key1 : value,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    key2 : value,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    key3 : value,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    ..........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    Key</a:t>
            </a:r>
            <a:r>
              <a:rPr b="1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 :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8" name="Google Shape;158;p6"/>
          <p:cNvGraphicFramePr/>
          <p:nvPr/>
        </p:nvGraphicFramePr>
        <p:xfrm>
          <a:off x="5967260" y="50802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{434927B4-425B-4156-A245-3842D4017E7E}</a:tableStyleId>
              </a:tblPr>
              <a:tblGrid>
                <a:gridCol w="1077300"/>
                <a:gridCol w="1077300"/>
                <a:gridCol w="1077300"/>
                <a:gridCol w="1077300"/>
                <a:gridCol w="10773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val1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val2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val3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val4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val5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59" name="Google Shape;159;p6"/>
          <p:cNvGraphicFramePr/>
          <p:nvPr/>
        </p:nvGraphicFramePr>
        <p:xfrm>
          <a:off x="5967260" y="43280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{434927B4-425B-4156-A245-3842D4017E7E}</a:tableStyleId>
              </a:tblPr>
              <a:tblGrid>
                <a:gridCol w="1077300"/>
                <a:gridCol w="1077300"/>
                <a:gridCol w="1077300"/>
                <a:gridCol w="1077300"/>
                <a:gridCol w="10773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key1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C72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key2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C72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key3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C72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key4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C72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key5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C7211"/>
                    </a:solidFill>
                  </a:tcPr>
                </a:tc>
              </a:tr>
            </a:tbl>
          </a:graphicData>
        </a:graphic>
      </p:graphicFrame>
      <p:sp>
        <p:nvSpPr>
          <p:cNvPr id="160" name="Google Shape;160;p6"/>
          <p:cNvSpPr txBox="1"/>
          <p:nvPr/>
        </p:nvSpPr>
        <p:spPr>
          <a:xfrm>
            <a:off x="4727643" y="4299547"/>
            <a:ext cx="6639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4727643" y="5021684"/>
            <a:ext cx="8980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6"/>
          <p:cNvCxnSpPr/>
          <p:nvPr/>
        </p:nvCxnSpPr>
        <p:spPr>
          <a:xfrm>
            <a:off x="6527260" y="4668879"/>
            <a:ext cx="0" cy="411409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3" name="Google Shape;163;p6"/>
          <p:cNvCxnSpPr/>
          <p:nvPr/>
        </p:nvCxnSpPr>
        <p:spPr>
          <a:xfrm>
            <a:off x="7632971" y="4685090"/>
            <a:ext cx="0" cy="411409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4" name="Google Shape;164;p6"/>
          <p:cNvCxnSpPr/>
          <p:nvPr/>
        </p:nvCxnSpPr>
        <p:spPr>
          <a:xfrm>
            <a:off x="8644654" y="4675364"/>
            <a:ext cx="0" cy="411409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5" name="Google Shape;165;p6"/>
          <p:cNvCxnSpPr/>
          <p:nvPr/>
        </p:nvCxnSpPr>
        <p:spPr>
          <a:xfrm>
            <a:off x="9721186" y="4701302"/>
            <a:ext cx="0" cy="411409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6" name="Google Shape;166;p6"/>
          <p:cNvCxnSpPr/>
          <p:nvPr/>
        </p:nvCxnSpPr>
        <p:spPr>
          <a:xfrm>
            <a:off x="10797714" y="4698057"/>
            <a:ext cx="0" cy="411409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7" name="Google Shape;167;p6"/>
          <p:cNvCxnSpPr/>
          <p:nvPr/>
        </p:nvCxnSpPr>
        <p:spPr>
          <a:xfrm>
            <a:off x="3317132" y="2558374"/>
            <a:ext cx="3210000" cy="1468800"/>
          </a:xfrm>
          <a:prstGeom prst="bentConnector3">
            <a:avLst>
              <a:gd fmla="val 100004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8" name="Google Shape;168;p6"/>
          <p:cNvCxnSpPr/>
          <p:nvPr/>
        </p:nvCxnSpPr>
        <p:spPr>
          <a:xfrm>
            <a:off x="3346315" y="2986391"/>
            <a:ext cx="4182900" cy="1031100"/>
          </a:xfrm>
          <a:prstGeom prst="bentConnector3">
            <a:avLst>
              <a:gd fmla="val 10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9" name="Google Shape;169;p6"/>
          <p:cNvSpPr txBox="1"/>
          <p:nvPr/>
        </p:nvSpPr>
        <p:spPr>
          <a:xfrm>
            <a:off x="8028573" y="5771748"/>
            <a:ext cx="16804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dict_name 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 sz="4000"/>
              <a:t>Dictionary</a:t>
            </a:r>
            <a:r>
              <a:rPr lang="en-US"/>
              <a:t> – Declare</a:t>
            </a:r>
            <a:endParaRPr/>
          </a:p>
        </p:txBody>
      </p:sp>
      <p:pic>
        <p:nvPicPr>
          <p:cNvPr descr="Logo&#10;&#10;Description automatically generated" id="176" name="Google Shape;1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77" name="Google Shape;177;p7"/>
          <p:cNvSpPr txBox="1"/>
          <p:nvPr/>
        </p:nvSpPr>
        <p:spPr>
          <a:xfrm>
            <a:off x="719442" y="2401325"/>
            <a:ext cx="2818589" cy="3062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dict_name =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    key1 : value,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    key2 : value,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    key3 : value,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    ..........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    Key</a:t>
            </a:r>
            <a:r>
              <a:rPr b="1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 :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6237863" y="1593412"/>
            <a:ext cx="4686628" cy="233910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cardict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 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"brand"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"Ford"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"electric"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"year"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1964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"colors"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[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"red"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"white"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"blue"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6237863" y="4368436"/>
            <a:ext cx="5532605" cy="1954381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astudentdict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 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"name"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”Adam"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"dept"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'CSE'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"year"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2021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"courses"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[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"CSC101"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"CSC200"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"CNA123"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 sz="4000"/>
              <a:t>Dictionary</a:t>
            </a:r>
            <a:r>
              <a:rPr lang="en-US"/>
              <a:t> – Declare</a:t>
            </a:r>
            <a:endParaRPr/>
          </a:p>
        </p:txBody>
      </p:sp>
      <p:pic>
        <p:nvPicPr>
          <p:cNvPr descr="Logo&#10;&#10;Description automatically generated" id="186" name="Google Shape;18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graphicFrame>
        <p:nvGraphicFramePr>
          <p:cNvPr id="187" name="Google Shape;187;p8"/>
          <p:cNvGraphicFramePr/>
          <p:nvPr/>
        </p:nvGraphicFramePr>
        <p:xfrm>
          <a:off x="1377376" y="5210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{434927B4-425B-4156-A245-3842D4017E7E}</a:tableStyleId>
              </a:tblPr>
              <a:tblGrid>
                <a:gridCol w="1268925"/>
                <a:gridCol w="1431525"/>
                <a:gridCol w="1475975"/>
                <a:gridCol w="340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Ford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1964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[red | white | blue]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88" name="Google Shape;188;p8"/>
          <p:cNvGraphicFramePr/>
          <p:nvPr/>
        </p:nvGraphicFramePr>
        <p:xfrm>
          <a:off x="3013659" y="43411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{434927B4-425B-4156-A245-3842D4017E7E}</a:tableStyleId>
              </a:tblPr>
              <a:tblGrid>
                <a:gridCol w="1077300"/>
                <a:gridCol w="1077300"/>
                <a:gridCol w="1077300"/>
                <a:gridCol w="10773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brand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C72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electric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C72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year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C72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colors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C7211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8"/>
          <p:cNvSpPr txBox="1"/>
          <p:nvPr/>
        </p:nvSpPr>
        <p:spPr>
          <a:xfrm>
            <a:off x="9612887" y="4341129"/>
            <a:ext cx="6639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9612887" y="5210800"/>
            <a:ext cx="8980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838200" y="1544090"/>
            <a:ext cx="4686628" cy="2339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cardict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 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"brand"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"Ford"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"electric"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"year"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1964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"colors"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[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"red"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"white"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"blue"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 txBox="1"/>
          <p:nvPr/>
        </p:nvSpPr>
        <p:spPr>
          <a:xfrm>
            <a:off x="4632798" y="6056700"/>
            <a:ext cx="13270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cardict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93" name="Google Shape;193;p8"/>
          <p:cNvCxnSpPr/>
          <p:nvPr/>
        </p:nvCxnSpPr>
        <p:spPr>
          <a:xfrm flipH="1">
            <a:off x="2256817" y="4710461"/>
            <a:ext cx="1264596" cy="50033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4" name="Google Shape;194;p8"/>
          <p:cNvCxnSpPr/>
          <p:nvPr/>
        </p:nvCxnSpPr>
        <p:spPr>
          <a:xfrm flipH="1">
            <a:off x="3579779" y="4710461"/>
            <a:ext cx="1053019" cy="45944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5" name="Google Shape;195;p8"/>
          <p:cNvCxnSpPr/>
          <p:nvPr/>
        </p:nvCxnSpPr>
        <p:spPr>
          <a:xfrm flipH="1">
            <a:off x="5048655" y="4710461"/>
            <a:ext cx="665129" cy="50033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6" name="Google Shape;196;p8"/>
          <p:cNvCxnSpPr/>
          <p:nvPr/>
        </p:nvCxnSpPr>
        <p:spPr>
          <a:xfrm>
            <a:off x="6790278" y="4690768"/>
            <a:ext cx="223365" cy="49626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7" name="Google Shape;197;p8"/>
          <p:cNvSpPr/>
          <p:nvPr/>
        </p:nvSpPr>
        <p:spPr>
          <a:xfrm>
            <a:off x="683855" y="2013626"/>
            <a:ext cx="154345" cy="1415374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98" name="Google Shape;198;p8"/>
          <p:cNvCxnSpPr>
            <a:stCxn id="197" idx="1"/>
          </p:cNvCxnSpPr>
          <p:nvPr/>
        </p:nvCxnSpPr>
        <p:spPr>
          <a:xfrm>
            <a:off x="683855" y="2721313"/>
            <a:ext cx="2156700" cy="1802100"/>
          </a:xfrm>
          <a:prstGeom prst="bentConnector3">
            <a:avLst>
              <a:gd fmla="val -106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9" name="Google Shape;199;p8"/>
          <p:cNvSpPr/>
          <p:nvPr/>
        </p:nvSpPr>
        <p:spPr>
          <a:xfrm>
            <a:off x="5524828" y="1916349"/>
            <a:ext cx="188956" cy="1512651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00" name="Google Shape;200;p8"/>
          <p:cNvCxnSpPr>
            <a:stCxn id="199" idx="1"/>
          </p:cNvCxnSpPr>
          <p:nvPr/>
        </p:nvCxnSpPr>
        <p:spPr>
          <a:xfrm>
            <a:off x="5713784" y="2672674"/>
            <a:ext cx="5327100" cy="2745600"/>
          </a:xfrm>
          <a:prstGeom prst="bentConnector3">
            <a:avLst>
              <a:gd fmla="val 106656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 txBox="1"/>
          <p:nvPr>
            <p:ph type="title"/>
          </p:nvPr>
        </p:nvSpPr>
        <p:spPr>
          <a:xfrm>
            <a:off x="831850" y="1078991"/>
            <a:ext cx="5266944" cy="31363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b="1" lang="en-US"/>
              <a:t>Accessing</a:t>
            </a:r>
            <a:r>
              <a:rPr lang="en-US"/>
              <a:t> </a:t>
            </a:r>
            <a:br>
              <a:rPr lang="en-US"/>
            </a:br>
            <a:r>
              <a:rPr lang="en-US"/>
              <a:t>the </a:t>
            </a:r>
            <a:br>
              <a:rPr lang="en-US"/>
            </a:br>
            <a:r>
              <a:rPr b="1" lang="en-US"/>
              <a:t>Dictionary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 sz="4000"/>
              <a:t>Dictionary</a:t>
            </a:r>
            <a:r>
              <a:rPr lang="en-US"/>
              <a:t> – Accessing items</a:t>
            </a:r>
            <a:endParaRPr/>
          </a:p>
        </p:txBody>
      </p:sp>
      <p:pic>
        <p:nvPicPr>
          <p:cNvPr descr="Logo&#10;&#10;Description automatically generated" id="212" name="Google Shape;21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13" name="Google Shape;213;p10"/>
          <p:cNvSpPr txBox="1"/>
          <p:nvPr/>
        </p:nvSpPr>
        <p:spPr>
          <a:xfrm>
            <a:off x="300094" y="1484484"/>
            <a:ext cx="4539574" cy="2246769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cardict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 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"brand"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"Ford"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"electric"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"year"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1964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"colors"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[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"red"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"white"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"blue"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0"/>
          <p:cNvSpPr txBox="1"/>
          <p:nvPr/>
        </p:nvSpPr>
        <p:spPr>
          <a:xfrm>
            <a:off x="5729434" y="1469314"/>
            <a:ext cx="6094378" cy="321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# use the 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square brackets </a:t>
            </a:r>
            <a:r>
              <a:rPr b="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along with the key to obtain its value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cardict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'brand'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cardict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'colors'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# Use method </a:t>
            </a: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get() </a:t>
            </a:r>
            <a:r>
              <a:rPr b="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to do the same as above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carColors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cardict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'colors'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'using get method: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carColors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 txBox="1"/>
          <p:nvPr/>
        </p:nvSpPr>
        <p:spPr>
          <a:xfrm>
            <a:off x="5729434" y="5700807"/>
            <a:ext cx="609437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['red', 'white', 'blue']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['red', 'white', 'blue']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5729434" y="5204020"/>
            <a:ext cx="10454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10"/>
          <p:cNvCxnSpPr/>
          <p:nvPr/>
        </p:nvCxnSpPr>
        <p:spPr>
          <a:xfrm>
            <a:off x="5817140" y="4970834"/>
            <a:ext cx="637486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 sz="4000"/>
              <a:t>Dictionary</a:t>
            </a:r>
            <a:r>
              <a:rPr lang="en-US"/>
              <a:t> – Accessing items</a:t>
            </a:r>
            <a:endParaRPr/>
          </a:p>
        </p:txBody>
      </p:sp>
      <p:pic>
        <p:nvPicPr>
          <p:cNvPr descr="Logo&#10;&#10;Description automatically generated" id="224" name="Google Shape;22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25" name="Google Shape;225;p11"/>
          <p:cNvSpPr txBox="1"/>
          <p:nvPr/>
        </p:nvSpPr>
        <p:spPr>
          <a:xfrm>
            <a:off x="300094" y="2793832"/>
            <a:ext cx="4539574" cy="2246769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cardict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 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"brand"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"Ford"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"electric"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"year"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1964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"colors"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[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"red"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"white"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"blue"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5729434" y="2815775"/>
            <a:ext cx="6094378" cy="815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cardict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‘name'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5729434" y="4832048"/>
            <a:ext cx="626477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Traceback (most recent call last):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File "c:\Users\M SYEED\OneDrive - American International University-Bangladesh\Desktop\Lab19\dictionary.py", line 16, in &lt;module&gt;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print(cardict['name'])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KeyError: 'name'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5729434" y="4220424"/>
            <a:ext cx="10454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p11"/>
          <p:cNvCxnSpPr/>
          <p:nvPr/>
        </p:nvCxnSpPr>
        <p:spPr>
          <a:xfrm>
            <a:off x="5729434" y="3784060"/>
            <a:ext cx="637486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0" name="Google Shape;230;p11"/>
          <p:cNvSpPr txBox="1"/>
          <p:nvPr/>
        </p:nvSpPr>
        <p:spPr>
          <a:xfrm>
            <a:off x="229332" y="1507522"/>
            <a:ext cx="11327128" cy="870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we attempt to access a data item with a key, which is not a part of the dictionary, we get an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error</a:t>
            </a: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as follows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4523283" y="6158516"/>
            <a:ext cx="1079770" cy="24319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07E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 sz="4000"/>
              <a:t>Dictionary</a:t>
            </a:r>
            <a:r>
              <a:rPr lang="en-US"/>
              <a:t> – Accessing items</a:t>
            </a:r>
            <a:endParaRPr/>
          </a:p>
        </p:txBody>
      </p:sp>
      <p:pic>
        <p:nvPicPr>
          <p:cNvPr descr="Logo&#10;&#10;Description automatically generated" id="238" name="Google Shape;23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39" name="Google Shape;239;p12"/>
          <p:cNvSpPr txBox="1"/>
          <p:nvPr/>
        </p:nvSpPr>
        <p:spPr>
          <a:xfrm>
            <a:off x="300094" y="1630005"/>
            <a:ext cx="5850777" cy="4862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accessing items with the key name: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7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'year'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b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accessing item with get() method: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brand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7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7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'brand'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brand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b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get list of all keys with keys() method: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keylist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7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keys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keylist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b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get list of all values with values() method: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valuelist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7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values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valuelist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2"/>
          <p:cNvSpPr txBox="1"/>
          <p:nvPr/>
        </p:nvSpPr>
        <p:spPr>
          <a:xfrm>
            <a:off x="8561273" y="4746820"/>
            <a:ext cx="10454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2"/>
          <p:cNvSpPr txBox="1"/>
          <p:nvPr/>
        </p:nvSpPr>
        <p:spPr>
          <a:xfrm>
            <a:off x="6489245" y="5333760"/>
            <a:ext cx="5702755" cy="1369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dict_keys(['brand', 'electric', 'year', 'colors'])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dict_values(['Ford', False, 1964, ['red', 'white', 'blue']])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p12"/>
          <p:cNvCxnSpPr/>
          <p:nvPr/>
        </p:nvCxnSpPr>
        <p:spPr>
          <a:xfrm rot="10800000">
            <a:off x="6096000" y="1690688"/>
            <a:ext cx="54871" cy="5167312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3" name="Google Shape;243;p12"/>
          <p:cNvSpPr txBox="1"/>
          <p:nvPr/>
        </p:nvSpPr>
        <p:spPr>
          <a:xfrm>
            <a:off x="6814226" y="1878598"/>
            <a:ext cx="4539574" cy="2246769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cardict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 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"brand"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"Ford"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"electric"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"year"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1964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"colors"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[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"red"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"white"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"blue"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"/>
          <p:cNvSpPr txBox="1"/>
          <p:nvPr>
            <p:ph type="title"/>
          </p:nvPr>
        </p:nvSpPr>
        <p:spPr>
          <a:xfrm>
            <a:off x="831850" y="1078991"/>
            <a:ext cx="5266944" cy="31363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b="1" lang="en-US"/>
              <a:t>Accessing</a:t>
            </a:r>
            <a:r>
              <a:rPr lang="en-US"/>
              <a:t> </a:t>
            </a:r>
            <a:br>
              <a:rPr lang="en-US"/>
            </a:br>
            <a:r>
              <a:rPr lang="en-US"/>
              <a:t>the </a:t>
            </a:r>
            <a:br>
              <a:rPr lang="en-US"/>
            </a:br>
            <a:r>
              <a:rPr b="1" lang="en-US"/>
              <a:t>Dictionary</a:t>
            </a:r>
            <a:endParaRPr/>
          </a:p>
        </p:txBody>
      </p:sp>
      <p:sp>
        <p:nvSpPr>
          <p:cNvPr id="249" name="Google Shape;249;p13"/>
          <p:cNvSpPr txBox="1"/>
          <p:nvPr/>
        </p:nvSpPr>
        <p:spPr>
          <a:xfrm>
            <a:off x="8268511" y="2832842"/>
            <a:ext cx="1795684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 sz="4000"/>
              <a:t>Dictionary</a:t>
            </a:r>
            <a:r>
              <a:rPr lang="en-US"/>
              <a:t> – Accessing items using loop</a:t>
            </a:r>
            <a:endParaRPr/>
          </a:p>
        </p:txBody>
      </p:sp>
      <p:pic>
        <p:nvPicPr>
          <p:cNvPr descr="Logo&#10;&#10;Description automatically generated" id="256" name="Google Shape;25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57" name="Google Shape;257;p14"/>
          <p:cNvSpPr txBox="1"/>
          <p:nvPr/>
        </p:nvSpPr>
        <p:spPr>
          <a:xfrm>
            <a:off x="368188" y="2172534"/>
            <a:ext cx="4310816" cy="2154436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cardict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 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"brand"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"Ford"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"electric"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"year"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1964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"colors"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[</a:t>
            </a:r>
            <a:r>
              <a:rPr b="0" i="0" lang="en-US" sz="14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"red"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"white"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"blue"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4"/>
          <p:cNvSpPr txBox="1"/>
          <p:nvPr/>
        </p:nvSpPr>
        <p:spPr>
          <a:xfrm>
            <a:off x="1556425" y="4447136"/>
            <a:ext cx="6653720" cy="2185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Print all key names in the dictionary, one by one: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7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7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b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b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7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7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keys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7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4"/>
          <p:cNvSpPr txBox="1"/>
          <p:nvPr/>
        </p:nvSpPr>
        <p:spPr>
          <a:xfrm>
            <a:off x="10022007" y="3374608"/>
            <a:ext cx="1456632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electric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year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electric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year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4"/>
          <p:cNvSpPr txBox="1"/>
          <p:nvPr/>
        </p:nvSpPr>
        <p:spPr>
          <a:xfrm>
            <a:off x="10012643" y="2624981"/>
            <a:ext cx="10454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218470" y="1692353"/>
            <a:ext cx="65564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can loop through a dictionary by using a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 loop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 sz="4000"/>
              <a:t>Dictionary</a:t>
            </a:r>
            <a:r>
              <a:rPr lang="en-US"/>
              <a:t> – Accessing items using loop</a:t>
            </a:r>
            <a:endParaRPr/>
          </a:p>
        </p:txBody>
      </p:sp>
      <p:pic>
        <p:nvPicPr>
          <p:cNvPr descr="Logo&#10;&#10;Description automatically generated" id="268" name="Google Shape;2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69" name="Google Shape;269;p15"/>
          <p:cNvSpPr txBox="1"/>
          <p:nvPr/>
        </p:nvSpPr>
        <p:spPr>
          <a:xfrm>
            <a:off x="432480" y="2504091"/>
            <a:ext cx="8176500" cy="3493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Print all values in the dictionary, one by one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AF00D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7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7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b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b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You can also use the values() method to return values of a dictionary: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AF00D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aValue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7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7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values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7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aValue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5"/>
          <p:cNvSpPr txBox="1"/>
          <p:nvPr/>
        </p:nvSpPr>
        <p:spPr>
          <a:xfrm>
            <a:off x="9382654" y="3287059"/>
            <a:ext cx="230545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['red', 'white', 'blue']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['red', 'white', 'blue']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5"/>
          <p:cNvSpPr txBox="1"/>
          <p:nvPr/>
        </p:nvSpPr>
        <p:spPr>
          <a:xfrm>
            <a:off x="10012643" y="2624981"/>
            <a:ext cx="10454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218470" y="1692353"/>
            <a:ext cx="65564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can loop through a dictionary by using a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 loop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 sz="4000"/>
              <a:t>Dictionary</a:t>
            </a:r>
            <a:r>
              <a:rPr lang="en-US"/>
              <a:t> – Accessing items using loop</a:t>
            </a:r>
            <a:endParaRPr/>
          </a:p>
        </p:txBody>
      </p:sp>
      <p:pic>
        <p:nvPicPr>
          <p:cNvPr descr="Logo&#10;&#10;Description automatically generated" id="279" name="Google Shape;2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80" name="Google Shape;280;p16"/>
          <p:cNvSpPr txBox="1"/>
          <p:nvPr/>
        </p:nvSpPr>
        <p:spPr>
          <a:xfrm>
            <a:off x="432479" y="2504091"/>
            <a:ext cx="8409963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#Loop through both keys and values, by using the items() method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aKey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aValue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aKey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aValue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6"/>
          <p:cNvSpPr txBox="1"/>
          <p:nvPr/>
        </p:nvSpPr>
        <p:spPr>
          <a:xfrm>
            <a:off x="8049966" y="4534928"/>
            <a:ext cx="3381656" cy="1308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brand Ford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electric 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year 1964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colors ['red', 'white', 'blue']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6"/>
          <p:cNvSpPr txBox="1"/>
          <p:nvPr/>
        </p:nvSpPr>
        <p:spPr>
          <a:xfrm>
            <a:off x="8971784" y="3957233"/>
            <a:ext cx="10454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6"/>
          <p:cNvSpPr/>
          <p:nvPr/>
        </p:nvSpPr>
        <p:spPr>
          <a:xfrm>
            <a:off x="218470" y="1692353"/>
            <a:ext cx="65564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can loop through a dictionary by using a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 loop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7"/>
          <p:cNvSpPr txBox="1"/>
          <p:nvPr>
            <p:ph type="title"/>
          </p:nvPr>
        </p:nvSpPr>
        <p:spPr>
          <a:xfrm>
            <a:off x="831850" y="1078991"/>
            <a:ext cx="5266944" cy="31363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b="1" lang="en-US"/>
              <a:t>Updating</a:t>
            </a:r>
            <a:r>
              <a:rPr lang="en-US"/>
              <a:t> </a:t>
            </a:r>
            <a:br>
              <a:rPr lang="en-US"/>
            </a:br>
            <a:r>
              <a:rPr lang="en-US"/>
              <a:t>the </a:t>
            </a:r>
            <a:br>
              <a:rPr lang="en-US"/>
            </a:br>
            <a:r>
              <a:rPr b="1" lang="en-US"/>
              <a:t>Dictionary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 sz="4000"/>
              <a:t>Dictionary</a:t>
            </a:r>
            <a:r>
              <a:rPr lang="en-US"/>
              <a:t> – Updating</a:t>
            </a:r>
            <a:endParaRPr/>
          </a:p>
        </p:txBody>
      </p:sp>
      <p:pic>
        <p:nvPicPr>
          <p:cNvPr descr="Logo&#10;&#10;Description automatically generated" id="295" name="Google Shape;2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96" name="Google Shape;296;p18"/>
          <p:cNvSpPr/>
          <p:nvPr/>
        </p:nvSpPr>
        <p:spPr>
          <a:xfrm>
            <a:off x="1278784" y="2358379"/>
            <a:ext cx="5618127" cy="1661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can update a dictionary by –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3972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 adding a new entry or a key-value pair.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3972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 modifying an existing entry, or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3972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 deleting an existing entry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 sz="4000"/>
              <a:t>Dictionary</a:t>
            </a:r>
            <a:r>
              <a:rPr lang="en-US"/>
              <a:t> – Add values</a:t>
            </a:r>
            <a:endParaRPr/>
          </a:p>
        </p:txBody>
      </p:sp>
      <p:pic>
        <p:nvPicPr>
          <p:cNvPr descr="Logo&#10;&#10;Description automatically generated" id="303" name="Google Shape;30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04" name="Google Shape;304;p19"/>
          <p:cNvSpPr txBox="1"/>
          <p:nvPr/>
        </p:nvSpPr>
        <p:spPr>
          <a:xfrm>
            <a:off x="8621587" y="2183281"/>
            <a:ext cx="10454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9"/>
          <p:cNvSpPr txBox="1"/>
          <p:nvPr/>
        </p:nvSpPr>
        <p:spPr>
          <a:xfrm>
            <a:off x="586091" y="1850616"/>
            <a:ext cx="5133773" cy="443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cardict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"brand"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"Ford"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"electric"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"year"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1964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"colors"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[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"red"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"white"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"blue"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cardict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#add a new key value pair data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cardict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'price'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=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12345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cardict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9"/>
          <p:cNvSpPr txBox="1"/>
          <p:nvPr/>
        </p:nvSpPr>
        <p:spPr>
          <a:xfrm>
            <a:off x="6905502" y="2855706"/>
            <a:ext cx="490112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{'brand': 'Ford', 'electric': False, 'year': 1964, 'colors': ['red', 'white', 'blue’]}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{'brand': 'Ford', 'electric': False, 'year': 1964, 'colors': ['red', 'white', 'blue'], 'price': 12345}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p19"/>
          <p:cNvCxnSpPr/>
          <p:nvPr/>
        </p:nvCxnSpPr>
        <p:spPr>
          <a:xfrm>
            <a:off x="6361890" y="2451370"/>
            <a:ext cx="0" cy="440663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 sz="4000"/>
              <a:t>Dictionary</a:t>
            </a:r>
            <a:r>
              <a:rPr lang="en-US"/>
              <a:t> – Update values</a:t>
            </a:r>
            <a:endParaRPr/>
          </a:p>
        </p:txBody>
      </p:sp>
      <p:pic>
        <p:nvPicPr>
          <p:cNvPr descr="Logo&#10;&#10;Description automatically generated" id="314" name="Google Shape;31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15" name="Google Shape;315;p20"/>
          <p:cNvSpPr txBox="1"/>
          <p:nvPr/>
        </p:nvSpPr>
        <p:spPr>
          <a:xfrm>
            <a:off x="8621587" y="2183281"/>
            <a:ext cx="10454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385378" y="1722338"/>
            <a:ext cx="5305303" cy="4770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"brand"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"Ford"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"electric"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"year"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1964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"colors"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"red"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"white"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"blue"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update a value using key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'brand'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'Audi'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'year'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2022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update with update() function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"year"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2018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0"/>
          <p:cNvSpPr txBox="1"/>
          <p:nvPr/>
        </p:nvSpPr>
        <p:spPr>
          <a:xfrm>
            <a:off x="6491674" y="2904344"/>
            <a:ext cx="530530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{'brand': 'Ford', 'electric': False, 'year': 1964, 'colors': ['red', 'white', 'blue’]}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{'brand': 'Audi', 'electric': False, 'year': 2022, 'colors': ['red', 'white', 'blue’]}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{'brand': 'Audi', 'electric': False, 'year': 2018, 'colors': ['red', 'white', 'blue']}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p20"/>
          <p:cNvCxnSpPr/>
          <p:nvPr/>
        </p:nvCxnSpPr>
        <p:spPr>
          <a:xfrm>
            <a:off x="6096000" y="2451370"/>
            <a:ext cx="0" cy="440663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1"/>
          <p:cNvSpPr txBox="1"/>
          <p:nvPr>
            <p:ph type="title"/>
          </p:nvPr>
        </p:nvSpPr>
        <p:spPr>
          <a:xfrm>
            <a:off x="537452" y="3450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 sz="4000"/>
              <a:t>Dictionary</a:t>
            </a:r>
            <a:r>
              <a:rPr lang="en-US"/>
              <a:t> – Delete</a:t>
            </a:r>
            <a:endParaRPr/>
          </a:p>
        </p:txBody>
      </p:sp>
      <p:pic>
        <p:nvPicPr>
          <p:cNvPr descr="Logo&#10;&#10;Description automatically generated" id="325" name="Google Shape;3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26" name="Google Shape;326;p21"/>
          <p:cNvSpPr txBox="1"/>
          <p:nvPr/>
        </p:nvSpPr>
        <p:spPr>
          <a:xfrm>
            <a:off x="8621587" y="2183281"/>
            <a:ext cx="10454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229531" y="1496179"/>
            <a:ext cx="6681766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"brand"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"Ford"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"electric"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"year"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1964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"colors"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"red"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"white"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"blue"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remove an entry with a key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del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'brand'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remove all entries in dict (the dictionary is empty now)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clear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delete entire dictionary from memory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del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7645940" y="2855706"/>
            <a:ext cx="4160682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{'brand': 'Ford', 'electric': False, 'year': 1964, 'colors': ['red', 'white', 'blue’]}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{'electric': False, 'year': 1964, 'colors': ['red', 'white', 'blue’]}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Traceback (most recent call last):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File "c:\Users\M SYEED\OneDrive - American International University-Bangladesh\Desktop\Lab19\dictionary.py", line 20, in &lt;module&gt;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print(cardict)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NameError: name 'cardict' is not defined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9" name="Google Shape;329;p21"/>
          <p:cNvCxnSpPr/>
          <p:nvPr/>
        </p:nvCxnSpPr>
        <p:spPr>
          <a:xfrm>
            <a:off x="7149830" y="2451370"/>
            <a:ext cx="0" cy="440663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2"/>
          <p:cNvSpPr txBox="1"/>
          <p:nvPr>
            <p:ph type="title"/>
          </p:nvPr>
        </p:nvSpPr>
        <p:spPr>
          <a:xfrm>
            <a:off x="829056" y="2343587"/>
            <a:ext cx="5266944" cy="31363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r>
              <a:rPr lang="en-US"/>
              <a:t>Properties of Dictionary </a:t>
            </a:r>
            <a:br>
              <a:rPr lang="en-US"/>
            </a:br>
            <a:br>
              <a:rPr lang="en-US"/>
            </a:br>
            <a:r>
              <a:rPr b="1" lang="en-US"/>
              <a:t>Keys </a:t>
            </a:r>
            <a:br>
              <a:rPr lang="en-US"/>
            </a:br>
            <a:r>
              <a:rPr b="1" lang="en-US"/>
              <a:t>Values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 sz="4000"/>
              <a:t>Dictionary</a:t>
            </a:r>
            <a:r>
              <a:rPr lang="en-US"/>
              <a:t> – Values</a:t>
            </a:r>
            <a:endParaRPr/>
          </a:p>
        </p:txBody>
      </p:sp>
      <p:pic>
        <p:nvPicPr>
          <p:cNvPr descr="Logo&#10;&#10;Description automatically generated" id="341" name="Google Shape;34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42" name="Google Shape;342;p23"/>
          <p:cNvSpPr/>
          <p:nvPr/>
        </p:nvSpPr>
        <p:spPr>
          <a:xfrm>
            <a:off x="787214" y="2244836"/>
            <a:ext cx="10426430" cy="800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Dictionary </a:t>
            </a:r>
            <a:r>
              <a:rPr b="1" i="0" lang="en-US" sz="1800" u="none" cap="none" strike="noStrike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values have no restrictions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can be any arbitrary Python object, either standard objects or user-defined objects.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 sz="4000"/>
              <a:t>Dictionary</a:t>
            </a:r>
            <a:r>
              <a:rPr lang="en-US"/>
              <a:t> – Keys</a:t>
            </a:r>
            <a:endParaRPr/>
          </a:p>
        </p:txBody>
      </p:sp>
      <p:pic>
        <p:nvPicPr>
          <p:cNvPr descr="Logo&#10;&#10;Description automatically generated" id="349" name="Google Shape;3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50" name="Google Shape;350;p24"/>
          <p:cNvSpPr txBox="1"/>
          <p:nvPr/>
        </p:nvSpPr>
        <p:spPr>
          <a:xfrm>
            <a:off x="8716514" y="3244334"/>
            <a:ext cx="10454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4"/>
          <p:cNvSpPr txBox="1"/>
          <p:nvPr/>
        </p:nvSpPr>
        <p:spPr>
          <a:xfrm>
            <a:off x="6780346" y="3964797"/>
            <a:ext cx="47671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{'brand': 'Toyota', 'electric': False, 'year': 1964}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4"/>
          <p:cNvSpPr txBox="1"/>
          <p:nvPr/>
        </p:nvSpPr>
        <p:spPr>
          <a:xfrm>
            <a:off x="397295" y="1690688"/>
            <a:ext cx="10040483" cy="870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Duplicate Key is allowed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!!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When duplicate keys are encountered during assignment, the last assignment wins.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4"/>
          <p:cNvSpPr txBox="1"/>
          <p:nvPr/>
        </p:nvSpPr>
        <p:spPr>
          <a:xfrm>
            <a:off x="644457" y="2978118"/>
            <a:ext cx="3373066" cy="3371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"brand"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"Ford"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"electric"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"year"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1964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"brand"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"Toyota"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4"/>
          <p:cNvSpPr/>
          <p:nvPr/>
        </p:nvSpPr>
        <p:spPr>
          <a:xfrm>
            <a:off x="4017523" y="3540868"/>
            <a:ext cx="817124" cy="194553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07E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5" name="Google Shape;355;p24"/>
          <p:cNvSpPr/>
          <p:nvPr/>
        </p:nvSpPr>
        <p:spPr>
          <a:xfrm>
            <a:off x="4017523" y="4825160"/>
            <a:ext cx="817124" cy="194553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07E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 sz="4000"/>
              <a:t>Dictionary</a:t>
            </a:r>
            <a:r>
              <a:rPr lang="en-US"/>
              <a:t> – Keys</a:t>
            </a:r>
            <a:endParaRPr/>
          </a:p>
        </p:txBody>
      </p:sp>
      <p:pic>
        <p:nvPicPr>
          <p:cNvPr descr="Logo&#10;&#10;Description automatically generated" id="362" name="Google Shape;3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63" name="Google Shape;363;p25"/>
          <p:cNvSpPr txBox="1"/>
          <p:nvPr/>
        </p:nvSpPr>
        <p:spPr>
          <a:xfrm>
            <a:off x="659942" y="2459173"/>
            <a:ext cx="8319219" cy="1593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Keys must be immutable.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means you </a:t>
            </a:r>
            <a:r>
              <a:rPr b="1" i="0" lang="en-US" sz="1800" u="sng" cap="none" strike="noStrike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 use strings, numbers or tuples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as dictionary keys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but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can’t use List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 keys!!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6"/>
          <p:cNvSpPr txBox="1"/>
          <p:nvPr>
            <p:ph type="title"/>
          </p:nvPr>
        </p:nvSpPr>
        <p:spPr>
          <a:xfrm>
            <a:off x="537453" y="1399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 sz="4000"/>
              <a:t>Dictionary</a:t>
            </a:r>
            <a:r>
              <a:rPr lang="en-US"/>
              <a:t> – Keys</a:t>
            </a:r>
            <a:endParaRPr/>
          </a:p>
        </p:txBody>
      </p:sp>
      <p:pic>
        <p:nvPicPr>
          <p:cNvPr descr="Logo&#10;&#10;Description automatically generated" id="370" name="Google Shape;3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71" name="Google Shape;371;p26"/>
          <p:cNvSpPr txBox="1"/>
          <p:nvPr/>
        </p:nvSpPr>
        <p:spPr>
          <a:xfrm>
            <a:off x="9397450" y="2254773"/>
            <a:ext cx="10454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6"/>
          <p:cNvSpPr txBox="1"/>
          <p:nvPr/>
        </p:nvSpPr>
        <p:spPr>
          <a:xfrm>
            <a:off x="7368869" y="2951536"/>
            <a:ext cx="4767197" cy="26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{('brand', 'country'): 'Ford, usa', 'electric': False, 'year': 1964, 'brand': 'Toyota’}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Traceback (most recent call last):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File "c:\Users\M SYEED\OneDrive - American International University-Bangladesh\Desktop\Lab19\dictionary.py", line 12, in &lt;module&gt;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cardict ={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TypeError: unhashable type: 'list'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6"/>
          <p:cNvSpPr txBox="1"/>
          <p:nvPr/>
        </p:nvSpPr>
        <p:spPr>
          <a:xfrm>
            <a:off x="644456" y="1428042"/>
            <a:ext cx="5532607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a tuple can be a key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(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"brand"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'country'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"Ford, usa"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"electric"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"year"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1964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"brand"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"Toyota"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a list can’t be a key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[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"brand"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'country'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]: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"Ford, usa"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"electric"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"year"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1964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"brand"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"Toyota"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6070143" y="2060220"/>
            <a:ext cx="817124" cy="194553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07E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5" name="Google Shape;375;p26"/>
          <p:cNvSpPr/>
          <p:nvPr/>
        </p:nvSpPr>
        <p:spPr>
          <a:xfrm>
            <a:off x="6070143" y="4880013"/>
            <a:ext cx="817124" cy="194553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7"/>
          <p:cNvSpPr txBox="1"/>
          <p:nvPr>
            <p:ph type="title"/>
          </p:nvPr>
        </p:nvSpPr>
        <p:spPr>
          <a:xfrm>
            <a:off x="829056" y="2139306"/>
            <a:ext cx="5266944" cy="31363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b="1" lang="en-US"/>
              <a:t>Built in functions for Dictionary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&#10;&#10;Description automatically generated" id="386" name="Google Shape;38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87" name="Google Shape;387;p28"/>
          <p:cNvSpPr txBox="1"/>
          <p:nvPr/>
        </p:nvSpPr>
        <p:spPr>
          <a:xfrm>
            <a:off x="9258708" y="3021816"/>
            <a:ext cx="10454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8"/>
          <p:cNvSpPr txBox="1"/>
          <p:nvPr/>
        </p:nvSpPr>
        <p:spPr>
          <a:xfrm>
            <a:off x="7470724" y="3836184"/>
            <a:ext cx="462144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{'brand': 'Toyota', 'electric': False, 'year': 1964}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items: 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{'brand': 'Toyota', 'electric': False, 'year': 1964}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8"/>
          <p:cNvSpPr txBox="1"/>
          <p:nvPr/>
        </p:nvSpPr>
        <p:spPr>
          <a:xfrm>
            <a:off x="411800" y="1353599"/>
            <a:ext cx="5814711" cy="4785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cardict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b="0" i="0" lang="en-US" sz="17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"brand"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7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"Ford"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b="0" i="0" lang="en-US" sz="17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"electric"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b="0" i="0" lang="en-US" sz="17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"year"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7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1964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b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7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cardict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b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# Get the number of items in the list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numItems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7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len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7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cardict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7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'total items: '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numItems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b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# Get a string representation of the dictionary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7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str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7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cardict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8"/>
          <p:cNvSpPr/>
          <p:nvPr/>
        </p:nvSpPr>
        <p:spPr>
          <a:xfrm>
            <a:off x="5496127" y="4303351"/>
            <a:ext cx="817124" cy="194553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07E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1" name="Google Shape;391;p28"/>
          <p:cNvSpPr/>
          <p:nvPr/>
        </p:nvSpPr>
        <p:spPr>
          <a:xfrm>
            <a:off x="5496127" y="5786503"/>
            <a:ext cx="817124" cy="194553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07E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92" name="Google Shape;392;p28"/>
          <p:cNvCxnSpPr/>
          <p:nvPr/>
        </p:nvCxnSpPr>
        <p:spPr>
          <a:xfrm>
            <a:off x="7081736" y="2439440"/>
            <a:ext cx="0" cy="441856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9"/>
          <p:cNvSpPr txBox="1"/>
          <p:nvPr>
            <p:ph type="title"/>
          </p:nvPr>
        </p:nvSpPr>
        <p:spPr>
          <a:xfrm>
            <a:off x="829056" y="2139306"/>
            <a:ext cx="5266944" cy="31363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b="1" lang="en-US"/>
              <a:t>Dictionary</a:t>
            </a:r>
            <a:br>
              <a:rPr b="1" lang="en-US"/>
            </a:br>
            <a:r>
              <a:rPr b="1" lang="en-US"/>
              <a:t>functions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0"/>
          <p:cNvSpPr txBox="1"/>
          <p:nvPr>
            <p:ph type="title"/>
          </p:nvPr>
        </p:nvSpPr>
        <p:spPr>
          <a:xfrm>
            <a:off x="537453" y="1399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 sz="4000"/>
              <a:t>Dictionary</a:t>
            </a:r>
            <a:r>
              <a:rPr lang="en-US"/>
              <a:t> – Copy</a:t>
            </a:r>
            <a:endParaRPr/>
          </a:p>
        </p:txBody>
      </p:sp>
      <p:pic>
        <p:nvPicPr>
          <p:cNvPr descr="Logo&#10;&#10;Description automatically generated" id="404" name="Google Shape;40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405" name="Google Shape;405;p30"/>
          <p:cNvSpPr txBox="1"/>
          <p:nvPr/>
        </p:nvSpPr>
        <p:spPr>
          <a:xfrm>
            <a:off x="9397450" y="2254773"/>
            <a:ext cx="10454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0"/>
          <p:cNvSpPr txBox="1"/>
          <p:nvPr/>
        </p:nvSpPr>
        <p:spPr>
          <a:xfrm>
            <a:off x="7368870" y="2951536"/>
            <a:ext cx="4615608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{'brand': 'Toyota', 'electric': False, 'year': 1964}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2257696373440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2257696373504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{'brand': 'Toyota', 'electric': True, 'year': 1964}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{'brand': 'Toyota', 'electric': False, 'year': 1964}</a:t>
            </a:r>
            <a:endParaRPr b="1" i="0" sz="1500" u="none" cap="none" strike="noStrike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7" name="Google Shape;407;p30"/>
          <p:cNvSpPr txBox="1"/>
          <p:nvPr/>
        </p:nvSpPr>
        <p:spPr>
          <a:xfrm>
            <a:off x="391537" y="1214034"/>
            <a:ext cx="5532607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"brand"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"Ford"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"electric"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"year"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1964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"brand"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"Toyota"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creating a copy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copy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'electric'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cardict2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0"/>
          <p:cNvSpPr/>
          <p:nvPr/>
        </p:nvSpPr>
        <p:spPr>
          <a:xfrm>
            <a:off x="3842509" y="4072728"/>
            <a:ext cx="817124" cy="194553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07E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9" name="Google Shape;409;p30"/>
          <p:cNvSpPr/>
          <p:nvPr/>
        </p:nvSpPr>
        <p:spPr>
          <a:xfrm>
            <a:off x="3842509" y="5833324"/>
            <a:ext cx="817124" cy="194553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1"/>
          <p:cNvSpPr txBox="1"/>
          <p:nvPr>
            <p:ph type="title"/>
          </p:nvPr>
        </p:nvSpPr>
        <p:spPr>
          <a:xfrm>
            <a:off x="537453" y="1399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 sz="4000"/>
              <a:t>Dictionary</a:t>
            </a:r>
            <a:r>
              <a:rPr lang="en-US"/>
              <a:t> – fromkeys() </a:t>
            </a:r>
            <a:endParaRPr/>
          </a:p>
        </p:txBody>
      </p:sp>
      <p:pic>
        <p:nvPicPr>
          <p:cNvPr descr="Logo&#10;&#10;Description automatically generated" id="416" name="Google Shape;41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417" name="Google Shape;417;p31"/>
          <p:cNvSpPr txBox="1"/>
          <p:nvPr/>
        </p:nvSpPr>
        <p:spPr>
          <a:xfrm>
            <a:off x="9489904" y="3331723"/>
            <a:ext cx="10454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1"/>
          <p:cNvSpPr/>
          <p:nvPr/>
        </p:nvSpPr>
        <p:spPr>
          <a:xfrm>
            <a:off x="4902824" y="3331723"/>
            <a:ext cx="817124" cy="194553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07E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9" name="Google Shape;419;p31"/>
          <p:cNvSpPr/>
          <p:nvPr/>
        </p:nvSpPr>
        <p:spPr>
          <a:xfrm>
            <a:off x="4978129" y="5782980"/>
            <a:ext cx="817124" cy="194553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0" name="Google Shape;420;p31"/>
          <p:cNvSpPr txBox="1"/>
          <p:nvPr/>
        </p:nvSpPr>
        <p:spPr>
          <a:xfrm>
            <a:off x="420721" y="1339557"/>
            <a:ext cx="11087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method fromkeys() creates a new dictionary with keys from seq and values set to value.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1"/>
          <p:cNvSpPr txBox="1"/>
          <p:nvPr/>
        </p:nvSpPr>
        <p:spPr>
          <a:xfrm>
            <a:off x="420721" y="2070108"/>
            <a:ext cx="7565688" cy="4016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mykeys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(</a:t>
            </a:r>
            <a:r>
              <a:rPr b="0" i="0" lang="en-US" sz="17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'name'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7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'age'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7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‘course'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b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creating a dictionary with the set of keys from mykeys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dict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700" u="none" cap="none" strike="noStrike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dict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7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fromkeys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mykeys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700" u="none" cap="none" strike="noStrike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dict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b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creating a dictionary with the set of keys from mykeys with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default values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dict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dict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7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fromkeys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mykeys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7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700" u="none" cap="none" strike="noStrike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dict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1"/>
          <p:cNvSpPr txBox="1"/>
          <p:nvPr/>
        </p:nvSpPr>
        <p:spPr>
          <a:xfrm>
            <a:off x="7833714" y="3882060"/>
            <a:ext cx="4464994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{'name': None, 'age': None, ‘course': None}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{'name': 10, 'age': 10, ‘course': 10}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3" name="Google Shape;423;p31"/>
          <p:cNvCxnSpPr/>
          <p:nvPr/>
        </p:nvCxnSpPr>
        <p:spPr>
          <a:xfrm>
            <a:off x="7840785" y="2397875"/>
            <a:ext cx="0" cy="441856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2"/>
          <p:cNvSpPr txBox="1"/>
          <p:nvPr>
            <p:ph type="title"/>
          </p:nvPr>
        </p:nvSpPr>
        <p:spPr>
          <a:xfrm>
            <a:off x="829056" y="2139306"/>
            <a:ext cx="5266944" cy="31363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b="1" lang="en-US"/>
              <a:t>Dictionary</a:t>
            </a:r>
            <a:br>
              <a:rPr b="1" lang="en-US"/>
            </a:br>
            <a:r>
              <a:rPr b="1" lang="en-US"/>
              <a:t>Exercises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3"/>
          <p:cNvSpPr/>
          <p:nvPr/>
        </p:nvSpPr>
        <p:spPr>
          <a:xfrm>
            <a:off x="573931" y="963197"/>
            <a:ext cx="77234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get() method to print the value of the "model" key of the car dictionary.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3"/>
          <p:cNvSpPr/>
          <p:nvPr/>
        </p:nvSpPr>
        <p:spPr>
          <a:xfrm>
            <a:off x="865761" y="1887640"/>
            <a:ext cx="3517245" cy="2927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 = { "brand": "Ford",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"model": "Mustang",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"year": 1964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}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carmodel =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print(‘The model of the car is: ’,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??)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4"/>
          <p:cNvSpPr/>
          <p:nvPr/>
        </p:nvSpPr>
        <p:spPr>
          <a:xfrm>
            <a:off x="573931" y="963197"/>
            <a:ext cx="43079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the "year" value from 1964 to 2020.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4"/>
          <p:cNvSpPr/>
          <p:nvPr/>
        </p:nvSpPr>
        <p:spPr>
          <a:xfrm>
            <a:off x="992219" y="1576354"/>
            <a:ext cx="4016081" cy="2927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 = { "brand": "Ford",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"model": "Mustang",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"year": 1964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??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print(‘After change the year is: ’, 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??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4"/>
          <p:cNvSpPr/>
          <p:nvPr/>
        </p:nvSpPr>
        <p:spPr>
          <a:xfrm>
            <a:off x="6405280" y="2068908"/>
            <a:ext cx="57802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the “brand" value to Toyota using update() method.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4"/>
          <p:cNvSpPr/>
          <p:nvPr/>
        </p:nvSpPr>
        <p:spPr>
          <a:xfrm>
            <a:off x="7769155" y="2701520"/>
            <a:ext cx="4016081" cy="2927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 = { "brand": "Ford",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"model": "Mustang",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"year": 1964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??  =  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print(‘After change the year is: ’,  ??)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5"/>
          <p:cNvSpPr/>
          <p:nvPr/>
        </p:nvSpPr>
        <p:spPr>
          <a:xfrm>
            <a:off x="1371599" y="1469990"/>
            <a:ext cx="3200401" cy="44044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 = { "brand": "Ford",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"model": "Mustang",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"year": 1964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}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?? = 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#print the full dictionary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#print the color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5"/>
          <p:cNvSpPr/>
          <p:nvPr/>
        </p:nvSpPr>
        <p:spPr>
          <a:xfrm>
            <a:off x="573932" y="710279"/>
            <a:ext cx="57324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the key/value pair "color" : "red" to the car dictionary.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6"/>
          <p:cNvSpPr/>
          <p:nvPr/>
        </p:nvSpPr>
        <p:spPr>
          <a:xfrm>
            <a:off x="1037616" y="1451134"/>
            <a:ext cx="5126478" cy="4850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 = { "brand": "Ford",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"model": "Mustang",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"year": 2020,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“color”: “red”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}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#use update() method to change the values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?? = ??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#print the full dictionary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#print the available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6"/>
          <p:cNvSpPr/>
          <p:nvPr/>
        </p:nvSpPr>
        <p:spPr>
          <a:xfrm>
            <a:off x="573932" y="710279"/>
            <a:ext cx="69548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the “model” value to a list of models as  ‘prius’, ‘premio’, ‘axio’.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7"/>
          <p:cNvSpPr/>
          <p:nvPr/>
        </p:nvSpPr>
        <p:spPr>
          <a:xfrm>
            <a:off x="573932" y="710279"/>
            <a:ext cx="65677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pop() method to remove the model entry from the dictionary.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7"/>
          <p:cNvSpPr/>
          <p:nvPr/>
        </p:nvSpPr>
        <p:spPr>
          <a:xfrm>
            <a:off x="969522" y="1197666"/>
            <a:ext cx="6053848" cy="5493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 = { "brand": "Ford",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"model": ['prius', 'corolla', 'axio’],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"year": 2020,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“color”: “red”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}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#print the car dictionary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??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# use pop() method to remove the model list</a:t>
            </a:r>
            <a:b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#print the car dictionary again to see the difference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??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# use a for loop to print individual models</a:t>
            </a:r>
            <a:b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 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9"/>
          <p:cNvSpPr/>
          <p:nvPr/>
        </p:nvSpPr>
        <p:spPr>
          <a:xfrm>
            <a:off x="573932" y="710279"/>
            <a:ext cx="10391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clear the car dictionary.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Does the clear operation remove only the values or the entire key-value set??!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9"/>
          <p:cNvSpPr/>
          <p:nvPr/>
        </p:nvSpPr>
        <p:spPr>
          <a:xfrm>
            <a:off x="969522" y="1667025"/>
            <a:ext cx="6053848" cy="45550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 = { "brand": "Ford",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"year": 2020,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“color”: “red”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}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#print the car dictionary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??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# clear the dictionary</a:t>
            </a:r>
            <a:b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#print the car dictionary again to see the difference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??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0"/>
          <p:cNvSpPr txBox="1"/>
          <p:nvPr>
            <p:ph type="title"/>
          </p:nvPr>
        </p:nvSpPr>
        <p:spPr>
          <a:xfrm>
            <a:off x="478860" y="2372770"/>
            <a:ext cx="7546459" cy="31363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b="1" lang="en-US"/>
              <a:t>Dictionary</a:t>
            </a:r>
            <a:br>
              <a:rPr b="1" lang="en-US"/>
            </a:br>
            <a:r>
              <a:rPr b="1" lang="en-US"/>
              <a:t>Simple Problem Solving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1"/>
          <p:cNvSpPr/>
          <p:nvPr/>
        </p:nvSpPr>
        <p:spPr>
          <a:xfrm>
            <a:off x="291831" y="391822"/>
            <a:ext cx="9602950" cy="2523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Create a dictionary with name “student”. Take input from user to store information of the student.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Each time the program will ask user to enter a key and the value for the key.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Upon entering the information, the program will ask user whether they want to input more?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If selected yes by the user, the program will again ask for a key and value from the user.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 While selected no for more input,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the program will then print the full student dictionary.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41"/>
          <p:cNvSpPr/>
          <p:nvPr/>
        </p:nvSpPr>
        <p:spPr>
          <a:xfrm>
            <a:off x="5473721" y="2803679"/>
            <a:ext cx="6491592" cy="39927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Sample input /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Key: 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value: rajit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more? (yes or no): 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Key: 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value: 123456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more? (yes or no): 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Key: gpa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value: 3.45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more? (yes or no): 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student dictionary is:  {'name': 'rajit', 'id': '123456', 'gpa': '3.45'}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2"/>
          <p:cNvSpPr txBox="1"/>
          <p:nvPr/>
        </p:nvSpPr>
        <p:spPr>
          <a:xfrm>
            <a:off x="6313250" y="1266869"/>
            <a:ext cx="5988186" cy="43242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student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{}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'Enter key name: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'Enter key value: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student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{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input_more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'Want to input more?(yes/no):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input_more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'yes'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'Enter key name: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'Enter key value: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student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5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input_more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'Want to input more?(yes/no):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'The student dictionary is:'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student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2"/>
          <p:cNvSpPr txBox="1"/>
          <p:nvPr/>
        </p:nvSpPr>
        <p:spPr>
          <a:xfrm>
            <a:off x="124027" y="1001074"/>
            <a:ext cx="6104106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#Creating a student dictonary with no data in it.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student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{}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#we need an infinite while loop to take user input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5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key and value input from the user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'Enter key: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'Enter value: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5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#store / add this key value in the dictionary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student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5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#ask user to decide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ask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'Enter more student info? (yes/no):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5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#decide what to do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5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ask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'no'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5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b="0" i="0" lang="en-US" sz="1500" u="none" cap="none" strike="noStrike">
                <a:solidFill>
                  <a:srgbClr val="CD313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'Student dictionary is: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student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84" name="Google Shape;484;p42"/>
          <p:cNvCxnSpPr/>
          <p:nvPr/>
        </p:nvCxnSpPr>
        <p:spPr>
          <a:xfrm>
            <a:off x="5992238" y="272374"/>
            <a:ext cx="0" cy="6585626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rushVTI">
  <a:themeElements>
    <a:clrScheme name="AnalogousFromDarkSeed_2SEEDS">
      <a:dk1>
        <a:srgbClr val="000000"/>
      </a:dk1>
      <a:lt1>
        <a:srgbClr val="FFFFFF"/>
      </a:lt1>
      <a:dk2>
        <a:srgbClr val="1B2C30"/>
      </a:dk2>
      <a:lt2>
        <a:srgbClr val="F3F1F0"/>
      </a:lt2>
      <a:accent1>
        <a:srgbClr val="17AED5"/>
      </a:accent1>
      <a:accent2>
        <a:srgbClr val="20B596"/>
      </a:accent2>
      <a:accent3>
        <a:srgbClr val="2971E7"/>
      </a:accent3>
      <a:accent4>
        <a:srgbClr val="D51731"/>
      </a:accent4>
      <a:accent5>
        <a:srgbClr val="E75E29"/>
      </a:accent5>
      <a:accent6>
        <a:srgbClr val="D19817"/>
      </a:accent6>
      <a:hlink>
        <a:srgbClr val="A14EC4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2021-11-24T14:43:08Z</dcterms:created>
  <dc:creator>M.M. Mahbubul Syeed</dc:creator>
</cp:coreProperties>
</file>